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0" d="100"/>
          <a:sy n="40" d="100"/>
        </p:scale>
        <p:origin x="54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FE1F01-AC9A-4FF2-9F2F-2D4DEC1F6F51}" type="datetimeFigureOut">
              <a:rPr lang="fr-FR" smtClean="0"/>
              <a:t>30/10/2026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EE9853-85B7-43E1-9A79-C456EC95E136}" type="slidenum">
              <a:rPr lang="fr-FR" smtClean="0"/>
              <a:t>‹N°›</a:t>
            </a:fld>
            <a:endParaRPr lang="fr-FR"/>
          </a:p>
        </p:txBody>
      </p:sp>
    </p:spTree>
    <p:extLst>
      <p:ext uri="{BB962C8B-B14F-4D97-AF65-F5344CB8AC3E}">
        <p14:creationId xmlns:p14="http://schemas.microsoft.com/office/powerpoint/2010/main" val="299471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Présentation de GPIEXALT (Gestion du Parc Informatique eXalt, anciennement Prisme) : fonctions, procédures, règles de gestion, architecture, sécurité, sauvegarde, recette et risques. Version 6.0 : thème et logo eXalt, retour prévu et alertes de retard, actions groupées, scan rapide, rapport par email, destinataire au choix. Version 7.0 : rapport propre à chaque page, fiche d'emprunt réorganisée. Version 7.4 : onglet Inventaire (stock, achats, prix et dépenses), stock jamais négatif et matériel épuisé grisé dans Emprunter, calendrier et listes de l'application, rapport de l'Inventaire.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a:t>
            </a:fld>
            <a:endParaRPr lang="fr-FR"/>
          </a:p>
        </p:txBody>
      </p:sp>
    </p:spTree>
    <p:extLst>
      <p:ext uri="{BB962C8B-B14F-4D97-AF65-F5344CB8AC3E}">
        <p14:creationId xmlns:p14="http://schemas.microsoft.com/office/powerpoint/2010/main" val="3457530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noms du vérificateur et de l'approbateur restent à renseigner.</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a:t>
            </a:fld>
            <a:endParaRPr lang="fr-FR"/>
          </a:p>
        </p:txBody>
      </p:sp>
    </p:spTree>
    <p:extLst>
      <p:ext uri="{BB962C8B-B14F-4D97-AF65-F5344CB8AC3E}">
        <p14:creationId xmlns:p14="http://schemas.microsoft.com/office/powerpoint/2010/main" val="812297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dossier PDF détaille chaque partie (100 pages, procédures, plan de recette, registre des risques).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a:t>
            </a:fld>
            <a:endParaRPr lang="fr-FR"/>
          </a:p>
        </p:txBody>
      </p:sp>
    </p:spTree>
    <p:extLst>
      <p:ext uri="{BB962C8B-B14F-4D97-AF65-F5344CB8AC3E}">
        <p14:creationId xmlns:p14="http://schemas.microsoft.com/office/powerpoint/2010/main" val="3750322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Qui a quel matériel, qu'est-ce qui a été rendu (avec preuve), qu'est-ce qui a été perdu.</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5</a:t>
            </a:fld>
            <a:endParaRPr lang="fr-FR"/>
          </a:p>
        </p:txBody>
      </p:sp>
    </p:spTree>
    <p:extLst>
      <p:ext uri="{BB962C8B-B14F-4D97-AF65-F5344CB8AC3E}">
        <p14:creationId xmlns:p14="http://schemas.microsoft.com/office/powerpoint/2010/main" val="1262088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variante perdu / volé / abîmé remplace l'attestation et alimente l'onglet Matériel perdu.</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6</a:t>
            </a:fld>
            <a:endParaRPr lang="fr-FR"/>
          </a:p>
        </p:txBody>
      </p:sp>
    </p:spTree>
    <p:extLst>
      <p:ext uri="{BB962C8B-B14F-4D97-AF65-F5344CB8AC3E}">
        <p14:creationId xmlns:p14="http://schemas.microsoft.com/office/powerpoint/2010/main" val="3635941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Sur PC : menu latéral repliable ; sur téléphone et tablette en portrait : barre d'onglets en bas. Raccourcis 1 à 8.</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7</a:t>
            </a:fld>
            <a:endParaRPr lang="fr-FR"/>
          </a:p>
        </p:txBody>
      </p:sp>
    </p:spTree>
    <p:extLst>
      <p:ext uri="{BB962C8B-B14F-4D97-AF65-F5344CB8AC3E}">
        <p14:creationId xmlns:p14="http://schemas.microsoft.com/office/powerpoint/2010/main" val="1850891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indicateurs (dont « Retours en retard », visible seulement s'il y en a, et « À commander ») ouvrent l'onglet concerné avec le filtre déjà appliqué. Le bandeau « PDF à archiver » n'apparaît que s'il y en a. Le parc matériel affiche aussi le stock ; la synthèse du stock par type est la même que dans l'Inventaire. Les dernières activités ne sont plus sur l'Accueil : elles se consultent dans Activités récentes.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9</a:t>
            </a:fld>
            <a:endParaRPr lang="fr-FR"/>
          </a:p>
        </p:txBody>
      </p:sp>
    </p:spTree>
    <p:extLst>
      <p:ext uri="{BB962C8B-B14F-4D97-AF65-F5344CB8AC3E}">
        <p14:creationId xmlns:p14="http://schemas.microsoft.com/office/powerpoint/2010/main" val="258620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fiche s'ouvre dans une fenêtre avec trois étapes. Un équipement peut être emprunté et restitué plusieurs fois. Annuler (10 secondes) supprime l'emprunt qui vient d'être saisi.</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10</a:t>
            </a:fld>
            <a:endParaRPr lang="fr-FR"/>
          </a:p>
        </p:txBody>
      </p:sp>
    </p:spTree>
    <p:extLst>
      <p:ext uri="{BB962C8B-B14F-4D97-AF65-F5344CB8AC3E}">
        <p14:creationId xmlns:p14="http://schemas.microsoft.com/office/powerpoint/2010/main" val="1833031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bouton + Nouvel emprunt ouvre directement la fiche : nom et prénom obligatoires, fonction, email et téléphone facultatifs. À l'enregistrement, le collaborateur est ajouté à la liste et l'emprunt enregistré ; un nom déjà présent n'est pas dupliqué. Tout le matériel se prête par quantité, dans la limite du stock (20 si aucun achat). Pour un ordinateur portable ou un Mac, un champ de recherche de PC par exemplaire (nom ou numéro de série) ; un PC déjà choisi ou prêté n'est plus proposé.</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11</a:t>
            </a:fld>
            <a:endParaRPr lang="fr-FR"/>
          </a:p>
        </p:txBody>
      </p:sp>
    </p:spTree>
    <p:extLst>
      <p:ext uri="{BB962C8B-B14F-4D97-AF65-F5344CB8AC3E}">
        <p14:creationId xmlns:p14="http://schemas.microsoft.com/office/powerpoint/2010/main" val="3577591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Chargeur (USB-C, HP, Asus, Mac, Acer, Dell) et Écran (Dell, MiniFire, Samsung) sont des familles : une seule ligne dans Emprunter, Restituer, l'Inventaire et à l'achat. Quand la ligne est cochée, une liste Modèle (un par chargeur) ou Marque (une par écran) s'affiche pour chaque exemplaire, avec le stock restant ; le choix est obligatoire. Chaque modèle est ensuite enregistré, restitué et compté sous son propre nom. Dans l'Inventaire, un seul anneau additionne les modèles.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12</a:t>
            </a:fld>
            <a:endParaRPr lang="fr-FR"/>
          </a:p>
        </p:txBody>
      </p:sp>
    </p:spTree>
    <p:extLst>
      <p:ext uri="{BB962C8B-B14F-4D97-AF65-F5344CB8AC3E}">
        <p14:creationId xmlns:p14="http://schemas.microsoft.com/office/powerpoint/2010/main" val="3338163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Prolonger : bouton sur la ligne du matériel (Restituer et fiche d'Emprunter) quand l'emprunt a une date de retour. La fenêtre propose + 1 semaine, + 2 semaines, + 1 mois, + 3 mois ou une date libre, avec un motif facultatif ; si l'échéance est dépassée, le calcul part d'aujourd'hui. L'ancienne et la nouvelle date, l'auteur et le motif sont consignés sur l'emprunt ; Annuler rétablit la date d'origine. Doublons : une pastille orange « Déjà 1 ordinateur » ou « Déjà 3 chargeurs » prévient quand la personne a déjà un ordinateur (PC ou Mac) ou un chargeur ; une confirmation à l'enregistrement laisse décider, sans jamais bloquer.</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13</a:t>
            </a:fld>
            <a:endParaRPr lang="fr-FR"/>
          </a:p>
        </p:txBody>
      </p:sp>
    </p:spTree>
    <p:extLst>
      <p:ext uri="{BB962C8B-B14F-4D97-AF65-F5344CB8AC3E}">
        <p14:creationId xmlns:p14="http://schemas.microsoft.com/office/powerpoint/2010/main" val="3648547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Chaque ligne affiche le dernier mouvement de la personne : le matériel, la date d'emprunt, puis le retour prévu (en rouge s'il est dépassé) ou la date de rendu. Le bouton Historique ouvre tout le matériel de la personne. Le sélecteur de tri a été retiré.</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14</a:t>
            </a:fld>
            <a:endParaRPr lang="fr-FR"/>
          </a:p>
        </p:txBody>
      </p:sp>
    </p:spTree>
    <p:extLst>
      <p:ext uri="{BB962C8B-B14F-4D97-AF65-F5344CB8AC3E}">
        <p14:creationId xmlns:p14="http://schemas.microsoft.com/office/powerpoint/2010/main" val="42673888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Rien n'est envoyé automatiquement : la personne connectée envoie elle-même le message préparé. Par email : un aperçu du PDF s'affiche d'abord. Les déclarations sont irréversibles (confirmation demandée).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15</a:t>
            </a:fld>
            <a:endParaRPr lang="fr-FR"/>
          </a:p>
        </p:txBody>
      </p:sp>
    </p:spTree>
    <p:extLst>
      <p:ext uri="{BB962C8B-B14F-4D97-AF65-F5344CB8AC3E}">
        <p14:creationId xmlns:p14="http://schemas.microsoft.com/office/powerpoint/2010/main" val="1851656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L'application prépare chaque relance selon l'échéance : rappel aimable à J-3, message neutre le jour du retour, message plus ferme après une semaine, puis au-delà de 15 jours avec le responsable en copie. Un bandeau dans Restituer annonce les relances à envoyer ; le bouton Préparer les relances ouvre la file (Préparer, Ignorer). Le message s'ouvre dans Teams, déjà écrit : il suffit de relire et d'appuyer sur Entrée. Une relance ouverte dans Teams est consignée sur l'emprunt et n'est plus reproposée tant que la date de retour ne change pas. Rien n'est envoyé automatiquement.</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16</a:t>
            </a:fld>
            <a:endParaRPr lang="fr-FR"/>
          </a:p>
        </p:txBody>
      </p:sp>
    </p:spTree>
    <p:extLst>
      <p:ext uri="{BB962C8B-B14F-4D97-AF65-F5344CB8AC3E}">
        <p14:creationId xmlns:p14="http://schemas.microsoft.com/office/powerpoint/2010/main" val="22711072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date de retour prévue est facultative. Dépassée, elle déclenche une fenêtre d'alerte à l'ouverture (au plus une fois par jour, ou si le nombre augmente), la carte rouge Retours en retard, les pastilles du menu et le filtre En retard de retour. Aucune notification n'est envoyée à l'extérieur : l'alerte n'apparaît que lorsque quelqu'un ouvre GPIEXALT.</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17</a:t>
            </a:fld>
            <a:endParaRPr lang="fr-FR"/>
          </a:p>
        </p:txBody>
      </p:sp>
    </p:spTree>
    <p:extLst>
      <p:ext uri="{BB962C8B-B14F-4D97-AF65-F5344CB8AC3E}">
        <p14:creationId xmlns:p14="http://schemas.microsoft.com/office/powerpoint/2010/main" val="2712342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Chaque ligne affiche un cycle de vie : Envoyée, Signée, PDF archivé. En attente : jours d'attente, rouge à partir de 3 jours (REMINDER_AFTER_DAYS). Le bouton Relancer est masqué par défaut (SHOW_REMIND_BUTTON).</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18</a:t>
            </a:fld>
            <a:endParaRPr lang="fr-FR"/>
          </a:p>
        </p:txBody>
      </p:sp>
    </p:spTree>
    <p:extLst>
      <p:ext uri="{BB962C8B-B14F-4D97-AF65-F5344CB8AC3E}">
        <p14:creationId xmlns:p14="http://schemas.microsoft.com/office/powerpoint/2010/main" val="26655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Une case par ligne et « Sélectionner toutes les attestations en attente de cette liste » (suit la recherche, les filtres et la période). La barre d'actions apparaît en bas de la liste. La signature groupée exige une date (jamais dans le futur) et une mention écrite ; elle archive un PDF par attestation et n'envoie aucun message.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19</a:t>
            </a:fld>
            <a:endParaRPr lang="fr-FR"/>
          </a:p>
        </p:txBody>
      </p:sp>
    </p:spTree>
    <p:extLst>
      <p:ext uri="{BB962C8B-B14F-4D97-AF65-F5344CB8AC3E}">
        <p14:creationId xmlns:p14="http://schemas.microsoft.com/office/powerpoint/2010/main" val="2685132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date ne peut pas être dans le futur. Un tracé (doigt, stylet, souris) ou une mention écrite est obligatoire. La mention (140 caractères) permet de signer à la place de quelqu'un. Annuler pendant 10 secondes.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20</a:t>
            </a:fld>
            <a:endParaRPr lang="fr-FR"/>
          </a:p>
        </p:txBody>
      </p:sp>
    </p:spTree>
    <p:extLst>
      <p:ext uri="{BB962C8B-B14F-4D97-AF65-F5344CB8AC3E}">
        <p14:creationId xmlns:p14="http://schemas.microsoft.com/office/powerpoint/2010/main" val="275268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message part de la boîte Outlook de l'utilisateur par le connecteur Microsoft 365, après un clic sur Envoyer maintenant. Le destinataire est l'adresse de l'annuaire : à contrôler dans la fenêtre. L'envoi réel reste à éprouver (CR-37).</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21</a:t>
            </a:fld>
            <a:endParaRPr lang="fr-FR"/>
          </a:p>
        </p:txBody>
      </p:sp>
    </p:spTree>
    <p:extLst>
      <p:ext uri="{BB962C8B-B14F-4D97-AF65-F5344CB8AC3E}">
        <p14:creationId xmlns:p14="http://schemas.microsoft.com/office/powerpoint/2010/main" val="31376838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L'aperçu utilise la bibliothèque pdf.js chargée à la demande. L'annulation est refusée si une autre action a été enregistrée depuis pour la même personne.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22</a:t>
            </a:fld>
            <a:endParaRPr lang="fr-FR"/>
          </a:p>
        </p:txBody>
      </p:sp>
    </p:spTree>
    <p:extLst>
      <p:ext uri="{BB962C8B-B14F-4D97-AF65-F5344CB8AC3E}">
        <p14:creationId xmlns:p14="http://schemas.microsoft.com/office/powerpoint/2010/main" val="5349381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PDF est créé dans le navigateur, une page A4. Version émise (à l'envoi) et version signée (après Marquer comme signée) ; la mention de signature figure dans le bloc de suivi et sous la case du collaborateur.</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23</a:t>
            </a:fld>
            <a:endParaRPr lang="fr-FR"/>
          </a:p>
        </p:txBody>
      </p:sp>
    </p:spTree>
    <p:extLst>
      <p:ext uri="{BB962C8B-B14F-4D97-AF65-F5344CB8AC3E}">
        <p14:creationId xmlns:p14="http://schemas.microsoft.com/office/powerpoint/2010/main" val="25465134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PDF archivé est stocké dans la base (collection documents), de 6 à 15 Ko. Télécharger restitue exactement le fichier produit à la signature. Dans cette capture, trois attestations signées attendent encore leur archivage.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24</a:t>
            </a:fld>
            <a:endParaRPr lang="fr-FR"/>
          </a:p>
        </p:txBody>
      </p:sp>
    </p:spTree>
    <p:extLst>
      <p:ext uri="{BB962C8B-B14F-4D97-AF65-F5344CB8AC3E}">
        <p14:creationId xmlns:p14="http://schemas.microsoft.com/office/powerpoint/2010/main" val="3045238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Liste déroulante pour choisir le type ; les deux premiers indicateurs suivent le filtre. La date de perte n'est volontairement pas affichée.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25</a:t>
            </a:fld>
            <a:endParaRPr lang="fr-FR"/>
          </a:p>
        </p:txBody>
      </p:sp>
    </p:spTree>
    <p:extLst>
      <p:ext uri="{BB962C8B-B14F-4D97-AF65-F5344CB8AC3E}">
        <p14:creationId xmlns:p14="http://schemas.microsoft.com/office/powerpoint/2010/main" val="2081650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Stock = acheté − chez les personnes − restitutions en attente de signature − perdu ; jamais négatif (affiché à 0). Seuls les achats se saisissent : prêts, retours signés et pertes sont lus dans les fiches. À commander = stock à 0 (un type sans stock ne peut plus être prêté). Le filtre Type de matériel limite aussi la vue d'ensemble à ce type. Les types sans achat enregistré affichent un tiret. Chargeur et Écran sont des familles : un seul anneau additionne leurs modèles. Survoler une pastille de la légende (À commander, En stock, Chez les personnes, À signer, Perdu) change le chiffre au centre de chaque anneau ; un clic épingle la couleur. Le volet Achats et la liste détaillée par type ont été retirés.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26</a:t>
            </a:fld>
            <a:endParaRPr lang="fr-FR"/>
          </a:p>
        </p:txBody>
      </p:sp>
    </p:spTree>
    <p:extLst>
      <p:ext uri="{BB962C8B-B14F-4D97-AF65-F5344CB8AC3E}">
        <p14:creationId xmlns:p14="http://schemas.microsoft.com/office/powerpoint/2010/main" val="1164183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Au survol d'un anneau (ou au toucher sur tablette) s'affiche une carte : acheté au total, en stock, chez les personnes, à signer, perdu ou abîmé, à remettre aux personnes. Chaque ligne est cliquable : Contrôle des prix (acheté), Emprunter (en stock, à remettre), Restituer (chez les personnes), Attestations (à signer), Matériel perdu. Pour Chargeur et Écran, la carte détaille aussi chaque modèle.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27</a:t>
            </a:fld>
            <a:endParaRPr lang="fr-FR"/>
          </a:p>
        </p:txBody>
      </p:sp>
    </p:spTree>
    <p:extLst>
      <p:ext uri="{BB962C8B-B14F-4D97-AF65-F5344CB8AC3E}">
        <p14:creationId xmlns:p14="http://schemas.microsoft.com/office/powerpoint/2010/main" val="21171865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montants viennent uniquement des entrées de stock : ils ne changent jamais avec un prêt, un retour ou une perte. Chaque mois du graphique est cliquable : un clic filtre la page sur ce mois, un second clic retire le filtre. Le contrôle des prix signale une entrée dont le prix unitaire s'écarte d'au moins 25 % de la moyenne du type.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28</a:t>
            </a:fld>
            <a:endParaRPr lang="fr-FR"/>
          </a:p>
        </p:txBody>
      </p:sp>
    </p:spTree>
    <p:extLst>
      <p:ext uri="{BB962C8B-B14F-4D97-AF65-F5344CB8AC3E}">
        <p14:creationId xmlns:p14="http://schemas.microsoft.com/office/powerpoint/2010/main" val="28283353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À l'achat, le type de matériel se choisit dans la liste ; pour Chargeur (USB-C, HP, Asus, Mac, Acer, Dell) et Écran (Dell, MiniFire, Samsung), la liste Modèle ou Marque est obligatoire. Pour un ordinateur portable, la liste Marque (Acer, HP, Asus, Lenovo, Dell) est obligatoire. On saisit ensuite le nom du PC et le numéro de série de chaque exemplaire (60 au plus) : ils sont proposés à l'emprunt (Ordinateur portable 1, 2, …), affichés dans Restituer et sur l'attestation. En haut de la fenêtre, Importer la facture : un PDF glissé ou choisi remplit le formulaire (type, marque ou modèle, quantité, date, prix TTC TVA comprise, fournisseur, numéros de série) ; chaque champ rempli est contouré et reste modifiable, et ce qui n'est pas trouvé est signalé. Seuls les PDF contenant du texte sont lus. En dessous, Ou saisir à la main. Le bouton Factures permet de relire, télécharger et rechercher les factures.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29</a:t>
            </a:fld>
            <a:endParaRPr lang="fr-FR"/>
          </a:p>
        </p:txBody>
      </p:sp>
    </p:spTree>
    <p:extLst>
      <p:ext uri="{BB962C8B-B14F-4D97-AF65-F5344CB8AC3E}">
        <p14:creationId xmlns:p14="http://schemas.microsoft.com/office/powerpoint/2010/main" val="10875465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Enregistrer un achat : type, nature (achat ou retrait), quantité, date, prix facultatif : par unité ou au total, TTC ou HT, taux de TVA au choix (liste, autre taux ou TTC seul) ; les quatre prix se calculent entre eux, note. Un retrait supérieur au stock est refusé. Dans Emprunter, un type dont le stock est à 0 est grisé avec la pastille « Plus en stock » ; « Sélectionner tout » l'ignore et l'enregistrement est refusé s'il dépasse le stock. Un type sans achat enregistré n'est pas limité.</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30</a:t>
            </a:fld>
            <a:endParaRPr lang="fr-FR"/>
          </a:p>
        </p:txBody>
      </p:sp>
    </p:spTree>
    <p:extLst>
      <p:ext uri="{BB962C8B-B14F-4D97-AF65-F5344CB8AC3E}">
        <p14:creationId xmlns:p14="http://schemas.microsoft.com/office/powerpoint/2010/main" val="16721544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quatre indicateurs servent aussi de filtres ; un second clic retire le filtre. 50 événements affichés à la fois. La mention de signature figure sous l'événement « attestation signée ».</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31</a:t>
            </a:fld>
            <a:endParaRPr lang="fr-FR"/>
          </a:p>
        </p:txBody>
      </p:sp>
    </p:spTree>
    <p:extLst>
      <p:ext uri="{BB962C8B-B14F-4D97-AF65-F5344CB8AC3E}">
        <p14:creationId xmlns:p14="http://schemas.microsoft.com/office/powerpoint/2010/main" val="9026417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filtre ne modifie aucune donnée : il restreint l'affichage, les indicateurs et les exports de l'onglet. Réinitialiser rétablit toutes les dates.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32</a:t>
            </a:fld>
            <a:endParaRPr lang="fr-FR"/>
          </a:p>
        </p:txBody>
      </p:sp>
    </p:spTree>
    <p:extLst>
      <p:ext uri="{BB962C8B-B14F-4D97-AF65-F5344CB8AC3E}">
        <p14:creationId xmlns:p14="http://schemas.microsoft.com/office/powerpoint/2010/main" val="3876735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étiquettes se génèrent depuis la fiche d'une personne. Le scanner de QR (caméra, photo, saisie) a été retiré de l'interface à la version 7.1 : aucun bouton « Scanner un QR » n'existe plus. Bibliothèque qrcode-generator chargée à la demande.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33</a:t>
            </a:fld>
            <a:endParaRPr lang="fr-FR"/>
          </a:p>
        </p:txBody>
      </p:sp>
    </p:spTree>
    <p:extLst>
      <p:ext uri="{BB962C8B-B14F-4D97-AF65-F5344CB8AC3E}">
        <p14:creationId xmlns:p14="http://schemas.microsoft.com/office/powerpoint/2010/main" val="28765466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À partir de 1 480 px de large, la fiche s'affiche à droite ; une confirmation est demandée avant d'abandonner un matériel coché mais non enregistré. En dessous de 1 480 px, la fiche reste une fenêtre.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34</a:t>
            </a:fld>
            <a:endParaRPr lang="fr-FR"/>
          </a:p>
        </p:txBody>
      </p:sp>
    </p:spTree>
    <p:extLst>
      <p:ext uri="{BB962C8B-B14F-4D97-AF65-F5344CB8AC3E}">
        <p14:creationId xmlns:p14="http://schemas.microsoft.com/office/powerpoint/2010/main" val="21957472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commentaires sont un fil horodaté par personne ; chacun peut modifier ses propres commentaires.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35</a:t>
            </a:fld>
            <a:endParaRPr lang="fr-FR"/>
          </a:p>
        </p:txBody>
      </p:sp>
    </p:spTree>
    <p:extLst>
      <p:ext uri="{BB962C8B-B14F-4D97-AF65-F5344CB8AC3E}">
        <p14:creationId xmlns:p14="http://schemas.microsoft.com/office/powerpoint/2010/main" val="18131412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Avec le connecteur Microsoft 365 autorisé : aperçu du PDF puis brouillon Outlook avec pièce jointe. Sinon : repli. La création du brouillon a été testée avec un connecteur simulé ; le premier essai réel est à vérifier (CR-12).</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36</a:t>
            </a:fld>
            <a:endParaRPr lang="fr-FR"/>
          </a:p>
        </p:txBody>
      </p:sp>
    </p:spTree>
    <p:extLst>
      <p:ext uri="{BB962C8B-B14F-4D97-AF65-F5344CB8AC3E}">
        <p14:creationId xmlns:p14="http://schemas.microsoft.com/office/powerpoint/2010/main" val="7947554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choix est mémorisé dans le navigateur de chaque personne (pas partagé, pas synchronisé entre appareils). Le rouge et le vert ne sont pas proposés comme accents car ils signalent perdu et signé.</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37</a:t>
            </a:fld>
            <a:endParaRPr lang="fr-FR"/>
          </a:p>
        </p:txBody>
      </p:sp>
    </p:spTree>
    <p:extLst>
      <p:ext uri="{BB962C8B-B14F-4D97-AF65-F5344CB8AC3E}">
        <p14:creationId xmlns:p14="http://schemas.microsoft.com/office/powerpoint/2010/main" val="40328234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bouton Rechercher figure en haut de chaque page ; Ctrl K ouvre la même fenêtre, qui cherche dans toute l'application (stock, achats et factures, PC et Mac, attestations, archives, pertes, activités  ; voir la diapositive suivante). Un code (AP-1) ou un numéro de série affiche l'équipement et ouvre la fiche de la personne. Entrée ouvre l'action la plus utile sur une personne, Maj + Entrée l'autre.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38</a:t>
            </a:fld>
            <a:endParaRPr lang="fr-FR"/>
          </a:p>
        </p:txBody>
      </p:sp>
    </p:spTree>
    <p:extLst>
      <p:ext uri="{BB962C8B-B14F-4D97-AF65-F5344CB8AC3E}">
        <p14:creationId xmlns:p14="http://schemas.microsoft.com/office/powerpoint/2010/main" val="8453615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barre de recherche rapide (Ctrl K ou bouton Rechercher) cherche dans toute l'application : types de matériel avec leur stock, achats et factures (type, date, montant, note, fournisseur, nom de fichier, marque, nom ou numéro de série), PC et Mac, personnes, et le nombre de résultats dans Attestations, Archives PDF, Matériel perdu et Activités récentes. Un clic ouvre la page déjà filtrée. Les boutons de l'Inventaire (Stock, Prix et dépenses, Factures, Enregistrer un achat) sont aussi proposés comme actions.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39</a:t>
            </a:fld>
            <a:endParaRPr lang="fr-FR"/>
          </a:p>
        </p:txBody>
      </p:sp>
    </p:spTree>
    <p:extLst>
      <p:ext uri="{BB962C8B-B14F-4D97-AF65-F5344CB8AC3E}">
        <p14:creationId xmlns:p14="http://schemas.microsoft.com/office/powerpoint/2010/main" val="31997801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bouton Guide figure tout à gauche des boutons d'en-tête de chaque page. Il ouvre un guide en rubriques (par exemple Emprunter : Faire un emprunt, Cas particuliers, Historique et corrections), un encadré À retenir et une rubrique Partout commune à toutes les pages. Le bouton orange lance une démonstration : le vrai écran est mis en surbrillance étape par étape, avec une carte explicative (Précédent, Suivant, Passer ou la croix). La démonstration ouvre une fiche, coche une ligne et affiche les vraies fenêtres, mais n'enregistre rien : tout est refermé à la fin ou avec Échap. Démonstrations : Emprunter, Restituer sans attestation, Restituer avec attestation par email (aperçu, destinataire, signature, message), Enregistrer un achat, Prix et dépenses, tour de l'Accueil.</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40</a:t>
            </a:fld>
            <a:endParaRPr lang="fr-FR"/>
          </a:p>
        </p:txBody>
      </p:sp>
    </p:spTree>
    <p:extLst>
      <p:ext uri="{BB962C8B-B14F-4D97-AF65-F5344CB8AC3E}">
        <p14:creationId xmlns:p14="http://schemas.microsoft.com/office/powerpoint/2010/main" val="13908137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rapports sont créés dans le navigateur (jsPDF et autotable pour le PDF, ExcelJS pour Excel, chargées à la demande). Ils sont réservés aux rôles Administrateur full, Super utilisateur et Lecteur.</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41</a:t>
            </a:fld>
            <a:endParaRPr lang="fr-FR"/>
          </a:p>
        </p:txBody>
      </p:sp>
    </p:spTree>
    <p:extLst>
      <p:ext uri="{BB962C8B-B14F-4D97-AF65-F5344CB8AC3E}">
        <p14:creationId xmlns:p14="http://schemas.microsoft.com/office/powerpoint/2010/main" val="7369233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bouton Rapport figure en haut à droite d'Accueil, Emprunter, Restituer, Attestations, Archives PDF, Matériel perdu et Inventaire (masqué pour un Agent IT). La période s'applique à l'activité de la page ; les situations (parc, attestations en attente) sont celles d'aujourd'hui. Fichiers : rapport_gpiexalt_emprunts, restitutions, attestations, archives, perdu ; l'Accueil produit le rapport complet.</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42</a:t>
            </a:fld>
            <a:endParaRPr lang="fr-FR"/>
          </a:p>
        </p:txBody>
      </p:sp>
    </p:spTree>
    <p:extLst>
      <p:ext uri="{BB962C8B-B14F-4D97-AF65-F5344CB8AC3E}">
        <p14:creationId xmlns:p14="http://schemas.microsoft.com/office/powerpoint/2010/main" val="34977804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message part de la boîte Outlook de l'utilisateur par le connecteur Microsoft 365, après un clic sur Envoyer maintenant. Jusqu'à 10 adresses. Au-delà de 2,9 Mo (limite de Microsoft Graph), l'envoi direct est refusé : télécharger le rapport et le joindre à un message. Sans connecteur : fichier .eml.</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43</a:t>
            </a:fld>
            <a:endParaRPr lang="fr-FR"/>
          </a:p>
        </p:txBody>
      </p:sp>
    </p:spTree>
    <p:extLst>
      <p:ext uri="{BB962C8B-B14F-4D97-AF65-F5344CB8AC3E}">
        <p14:creationId xmlns:p14="http://schemas.microsoft.com/office/powerpoint/2010/main" val="26007329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Seul « Peut consulter » interdit techniquement toute écriture ; les rôles Agent IT et Lecteur restreignent l'affichage. Les droits réels passeront par Entra ID.</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44</a:t>
            </a:fld>
            <a:endParaRPr lang="fr-FR"/>
          </a:p>
        </p:txBody>
      </p:sp>
    </p:spTree>
    <p:extLst>
      <p:ext uri="{BB962C8B-B14F-4D97-AF65-F5344CB8AC3E}">
        <p14:creationId xmlns:p14="http://schemas.microsoft.com/office/powerpoint/2010/main" val="35576423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Un compte non rattaché voit « Compte non rattaché » et son identifiant, à communiquer à l'administrateur.</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45</a:t>
            </a:fld>
            <a:endParaRPr lang="fr-FR"/>
          </a:p>
        </p:txBody>
      </p:sp>
    </p:spTree>
    <p:extLst>
      <p:ext uri="{BB962C8B-B14F-4D97-AF65-F5344CB8AC3E}">
        <p14:creationId xmlns:p14="http://schemas.microsoft.com/office/powerpoint/2010/main" val="11890681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Lecture seule via le connecteur Microsoft 365 (list-users, list-groups, list-group-members). Le parc réel n'est pas importé : le connecteur ne donne pas accès à Intune. Les données importées sont personnelles : validation du DPO avant un import complet.</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46</a:t>
            </a:fld>
            <a:endParaRPr lang="fr-FR"/>
          </a:p>
        </p:txBody>
      </p:sp>
    </p:spTree>
    <p:extLst>
      <p:ext uri="{BB962C8B-B14F-4D97-AF65-F5344CB8AC3E}">
        <p14:creationId xmlns:p14="http://schemas.microsoft.com/office/powerpoint/2010/main" val="12395236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Barre de progression et compteurs animés au chargement, impression en noir sur blanc, focus géré dans les fenêtres, animations réduites si le système le demande. Thème, couleur, densité et visite guidée sont mémorisés par navigateur.</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47</a:t>
            </a:fld>
            <a:endParaRPr lang="fr-FR"/>
          </a:p>
        </p:txBody>
      </p:sp>
    </p:spTree>
    <p:extLst>
      <p:ext uri="{BB962C8B-B14F-4D97-AF65-F5344CB8AC3E}">
        <p14:creationId xmlns:p14="http://schemas.microsoft.com/office/powerpoint/2010/main" val="33435268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calendrier remplace le sélecteur du navigateur : mois précédent et suivant, choix rapide du mois et de l'année, Aujourd'hui, Effacer, dates interdites grisées. La fenêtre « Autoriser cet artefact à télécharger un fichier ? » est celle de la plateforme Claude : elle ne peut pas être modifiée. L'application affiche une carte « Fichier prêt » (format, nom, taille) et propose Enregistrer si la demande est annulée par mégarde.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48</a:t>
            </a:fld>
            <a:endParaRPr lang="fr-FR"/>
          </a:p>
        </p:txBody>
      </p:sp>
    </p:spTree>
    <p:extLst>
      <p:ext uri="{BB962C8B-B14F-4D97-AF65-F5344CB8AC3E}">
        <p14:creationId xmlns:p14="http://schemas.microsoft.com/office/powerpoint/2010/main" val="27468903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Mise en page vérifiée de 320 à plus de 2 000 px dans des fenêtres simulées (pas encore sur de vrais iPhone, Android ou iPad : cas CR-74). Barre d'onglets en bas sur téléphone et tablette en portrait, menu latéral sur PC et tablette en paysage. Écrans tactiles : zones de 36 à 40 px, champs à 16 px (pas de zoom automatique sur iPhone), hauteur réelle de l'écran (barre d'adresse de iOS Safari et de Chrome Android). Un bandeau prévient d'un navigateur trop ancien. Rapidité mesurée sur 1 800 personnes fictives avec un historique chacune : Restituer environ 120 ms (790 ms avant optimisation), fiche environ 110 ms, Accueil environ 240 ms, Inventaire 220 à 270 ms ; calculs mis en cache et recherche rapide avec délai de frappe de 0,1 s.</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49</a:t>
            </a:fld>
            <a:endParaRPr lang="fr-FR"/>
          </a:p>
        </p:txBody>
      </p:sp>
    </p:spTree>
    <p:extLst>
      <p:ext uri="{BB962C8B-B14F-4D97-AF65-F5344CB8AC3E}">
        <p14:creationId xmlns:p14="http://schemas.microsoft.com/office/powerpoint/2010/main" val="28842543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Cinq rôles dans l'application (Administrateur full, Super utilisateur, Agent IT, Lecteur, Collaborateur) ; le partage de la page reste la limite appliquée par la plateforme.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51</a:t>
            </a:fld>
            <a:endParaRPr lang="fr-FR"/>
          </a:p>
        </p:txBody>
      </p:sp>
    </p:spTree>
    <p:extLst>
      <p:ext uri="{BB962C8B-B14F-4D97-AF65-F5344CB8AC3E}">
        <p14:creationId xmlns:p14="http://schemas.microsoft.com/office/powerpoint/2010/main" val="37159141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RG-01 à RG-46 : chapitre 5 du dossier PDF.</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52</a:t>
            </a:fld>
            <a:endParaRPr lang="fr-FR"/>
          </a:p>
        </p:txBody>
      </p:sp>
    </p:spTree>
    <p:extLst>
      <p:ext uri="{BB962C8B-B14F-4D97-AF65-F5344CB8AC3E}">
        <p14:creationId xmlns:p14="http://schemas.microsoft.com/office/powerpoint/2010/main" val="367051128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jsPDF est chargé depuis cdnjs.cloudflare.com : dépendance externe à faire valider par le RSSI. Le connecteur Microsoft 365 est autorisé par chaque utilisateur.</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54</a:t>
            </a:fld>
            <a:endParaRPr lang="fr-FR"/>
          </a:p>
        </p:txBody>
      </p:sp>
    </p:spTree>
    <p:extLst>
      <p:ext uri="{BB962C8B-B14F-4D97-AF65-F5344CB8AC3E}">
        <p14:creationId xmlns:p14="http://schemas.microsoft.com/office/powerpoint/2010/main" val="3407312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Base légale, durée de conservation et hébergement : à valider. Aucune purge automatique à ce jour.</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55</a:t>
            </a:fld>
            <a:endParaRPr lang="fr-FR"/>
          </a:p>
        </p:txBody>
      </p:sp>
    </p:spTree>
    <p:extLst>
      <p:ext uri="{BB962C8B-B14F-4D97-AF65-F5344CB8AC3E}">
        <p14:creationId xmlns:p14="http://schemas.microsoft.com/office/powerpoint/2010/main" val="285490850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people et documents ; roles, links et mine pour les accès. Une personne n'apparaît dans la base qu'à sa première action.</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57</a:t>
            </a:fld>
            <a:endParaRPr lang="fr-FR"/>
          </a:p>
        </p:txBody>
      </p:sp>
    </p:spTree>
    <p:extLst>
      <p:ext uri="{BB962C8B-B14F-4D97-AF65-F5344CB8AC3E}">
        <p14:creationId xmlns:p14="http://schemas.microsoft.com/office/powerpoint/2010/main" val="41416235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Au-delà de 6 secondes, l'enregistrement est abandonné et la pastille passe en Mode local.</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58</a:t>
            </a:fld>
            <a:endParaRPr lang="fr-FR"/>
          </a:p>
        </p:txBody>
      </p:sp>
    </p:spTree>
    <p:extLst>
      <p:ext uri="{BB962C8B-B14F-4D97-AF65-F5344CB8AC3E}">
        <p14:creationId xmlns:p14="http://schemas.microsoft.com/office/powerpoint/2010/main" val="3416709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CR-01 à CR-75 dans le dossier PDF, chapitre 10.</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60</a:t>
            </a:fld>
            <a:endParaRPr lang="fr-FR"/>
          </a:p>
        </p:txBody>
      </p:sp>
    </p:spTree>
    <p:extLst>
      <p:ext uri="{BB962C8B-B14F-4D97-AF65-F5344CB8AC3E}">
        <p14:creationId xmlns:p14="http://schemas.microsoft.com/office/powerpoint/2010/main" val="5642219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Registre complet : chapitre 11 du dossier PDF.</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61</a:t>
            </a:fld>
            <a:endParaRPr lang="fr-FR"/>
          </a:p>
        </p:txBody>
      </p:sp>
    </p:spTree>
    <p:extLst>
      <p:ext uri="{BB962C8B-B14F-4D97-AF65-F5344CB8AC3E}">
        <p14:creationId xmlns:p14="http://schemas.microsoft.com/office/powerpoint/2010/main" val="27373038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Chaque modification de l'application crée une nouvelle version à la même adresse. La documentation ne se met pas à jour toute seule.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63</a:t>
            </a:fld>
            <a:endParaRPr lang="fr-FR"/>
          </a:p>
        </p:txBody>
      </p:sp>
    </p:spTree>
    <p:extLst>
      <p:ext uri="{BB962C8B-B14F-4D97-AF65-F5344CB8AC3E}">
        <p14:creationId xmlns:p14="http://schemas.microsoft.com/office/powerpoint/2010/main" val="348686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Données de démonstration, rôles Agent IT et Lecteur appliqués à l'affichage, envoi à relire, SMS vers un numéro de test, pas de sauvegarde externe automatique. La signature enregistrée est déclarée par l'équipe IT, non qualifiée.</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64</a:t>
            </a:fld>
            <a:endParaRPr lang="fr-FR"/>
          </a:p>
        </p:txBody>
      </p:sp>
    </p:spTree>
    <p:extLst>
      <p:ext uri="{BB962C8B-B14F-4D97-AF65-F5344CB8AC3E}">
        <p14:creationId xmlns:p14="http://schemas.microsoft.com/office/powerpoint/2010/main" val="21296992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responsables sont des propositions. Après décision : mise à jour de la documentation en version 7.5.</a:t>
            </a:r>
          </a:p>
        </p:txBody>
      </p:sp>
      <p:sp>
        <p:nvSpPr>
          <p:cNvPr id="4" name="Espace réservé du numéro de diapositive 3"/>
          <p:cNvSpPr>
            <a:spLocks noGrp="1"/>
          </p:cNvSpPr>
          <p:nvPr>
            <p:ph type="sldNum" sz="quarter" idx="5"/>
          </p:nvPr>
        </p:nvSpPr>
        <p:spPr/>
        <p:txBody>
          <a:bodyPr/>
          <a:lstStyle/>
          <a:p>
            <a:fld id="{61EE9853-85B7-43E1-9A79-C456EC95E136}" type="slidenum">
              <a:rPr lang="fr-FR" smtClean="0"/>
              <a:t>65</a:t>
            </a:fld>
            <a:endParaRPr lang="fr-FR"/>
          </a:p>
        </p:txBody>
      </p:sp>
    </p:spTree>
    <p:extLst>
      <p:ext uri="{BB962C8B-B14F-4D97-AF65-F5344CB8AC3E}">
        <p14:creationId xmlns:p14="http://schemas.microsoft.com/office/powerpoint/2010/main" val="2728690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FF4F5D-7098-56BD-BD83-0D8900A89FD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E4B24DF-B71D-8C4A-8B12-CC0852D4E3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45F11DC-4EF4-A716-0B4F-8B55F3054DB9}"/>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5" name="Espace réservé du pied de page 4">
            <a:extLst>
              <a:ext uri="{FF2B5EF4-FFF2-40B4-BE49-F238E27FC236}">
                <a16:creationId xmlns:a16="http://schemas.microsoft.com/office/drawing/2014/main" id="{CE2DABA7-3BEA-60B2-38FF-F6F7DCEB3F0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107799-D978-A3EC-8688-5D1B897F7EC9}"/>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3599766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18CEF2-6C03-FEF5-18A6-A3A42877A34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80FF984-DF6F-9157-81FD-305C7B3575F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40ED55-B269-E521-AA4B-205F3357112C}"/>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5" name="Espace réservé du pied de page 4">
            <a:extLst>
              <a:ext uri="{FF2B5EF4-FFF2-40B4-BE49-F238E27FC236}">
                <a16:creationId xmlns:a16="http://schemas.microsoft.com/office/drawing/2014/main" id="{13FAA6F9-03BC-4D81-FDDC-46FBD74C26D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1B776B9-EA7F-E467-C326-D4C6D663389C}"/>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2370141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1B1038-8C51-06D4-7BFF-BD1AE554B46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79B214A0-B785-1AFC-114C-C0A789E3E2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554665A-E230-0CBF-6B57-8B99F0F3B80D}"/>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5" name="Espace réservé du pied de page 4">
            <a:extLst>
              <a:ext uri="{FF2B5EF4-FFF2-40B4-BE49-F238E27FC236}">
                <a16:creationId xmlns:a16="http://schemas.microsoft.com/office/drawing/2014/main" id="{C77F75D0-6F5A-54A2-5EF0-9938DBE9FA5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0FCA267-D3F2-0787-5AF4-42969E8E35CC}"/>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2130197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2A6879-8270-C1CE-AABF-11BB0D4E2F4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B095E37-20BE-9996-3B42-BE8CDB5CF9D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E0E2134-EBC2-6B26-F306-FD0E4C1854A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CDFD63D-8862-9C0D-7981-60CA592C7B15}"/>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6" name="Espace réservé du pied de page 5">
            <a:extLst>
              <a:ext uri="{FF2B5EF4-FFF2-40B4-BE49-F238E27FC236}">
                <a16:creationId xmlns:a16="http://schemas.microsoft.com/office/drawing/2014/main" id="{06C073D2-A500-A43F-F821-B0233482667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9401BC2-3B85-9CF6-7995-E0DCCD318118}"/>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2392531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78034E-CA4F-7A74-5217-C8D070626871}"/>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1B01BC7-D2C9-B40F-B61A-E5020452C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EA16BF4-EF28-6D80-9930-CFAFDDC5989D}"/>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E9FFE55-AA94-08C3-47E2-0D70A78944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D275FA5-1E52-9EAB-6FF8-FAE0D06AE5C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13FD5FB-86F4-4F2D-85BE-DF1E98E99F2F}"/>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8" name="Espace réservé du pied de page 7">
            <a:extLst>
              <a:ext uri="{FF2B5EF4-FFF2-40B4-BE49-F238E27FC236}">
                <a16:creationId xmlns:a16="http://schemas.microsoft.com/office/drawing/2014/main" id="{BAD44D84-8015-948E-A007-7F7E30B5EA8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E7A26A8-3B13-DBB5-A7BE-9CE90599B906}"/>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2888998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EB9CFF-4B42-BBF8-3D83-4D40FF59989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AF4FC21-DBA4-6741-BD35-1B7AB38A59A3}"/>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4" name="Espace réservé du pied de page 3">
            <a:extLst>
              <a:ext uri="{FF2B5EF4-FFF2-40B4-BE49-F238E27FC236}">
                <a16:creationId xmlns:a16="http://schemas.microsoft.com/office/drawing/2014/main" id="{D15AADFB-AB4F-0953-5792-8A89A0845EB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7AA8B91-D12B-10D5-066A-B3EDAC34E6D8}"/>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3130851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D8F2781-9CCC-F4BA-BF85-42603389C0D8}"/>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3" name="Espace réservé du pied de page 2">
            <a:extLst>
              <a:ext uri="{FF2B5EF4-FFF2-40B4-BE49-F238E27FC236}">
                <a16:creationId xmlns:a16="http://schemas.microsoft.com/office/drawing/2014/main" id="{767433F8-0BDF-8BA7-95E2-56363AF3EB7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44129CC-0284-95EC-BB9C-FF0480AEFB15}"/>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1524172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1B2A38-9435-6744-5A37-A3E319753C6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CFBFB23-2CA4-0607-B1B0-60AE219965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14540F3-E2B9-9E1A-096E-C6C296AF78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971C8A7-DCC3-4CA4-224D-B7D5AC2CDB97}"/>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6" name="Espace réservé du pied de page 5">
            <a:extLst>
              <a:ext uri="{FF2B5EF4-FFF2-40B4-BE49-F238E27FC236}">
                <a16:creationId xmlns:a16="http://schemas.microsoft.com/office/drawing/2014/main" id="{29C23A68-BC91-D1B5-117B-F67FDEF0327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AC8FA58-98E9-222E-65AB-E4D882A83AB9}"/>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865062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4D7D54-C014-D07F-A8F5-492F9D4862E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68E0A05-DCA2-0F43-1E28-CEC31719887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D9D9D16-69EE-7C88-122B-F9F8E46D65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706B667-4C25-FC6D-9010-D19BABD9BF24}"/>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6" name="Espace réservé du pied de page 5">
            <a:extLst>
              <a:ext uri="{FF2B5EF4-FFF2-40B4-BE49-F238E27FC236}">
                <a16:creationId xmlns:a16="http://schemas.microsoft.com/office/drawing/2014/main" id="{83138984-33F1-9CE1-084E-2598853F068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1611A96-1406-80AC-4990-7D38E63352C5}"/>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3017942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EDB1F0-40E1-F6A0-ABAB-18B3F37DD49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937CBF2-18C7-3948-B30B-1054AC6F2E1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05C7E0A-F86B-7912-6E56-C02B44131DF5}"/>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5" name="Espace réservé du pied de page 4">
            <a:extLst>
              <a:ext uri="{FF2B5EF4-FFF2-40B4-BE49-F238E27FC236}">
                <a16:creationId xmlns:a16="http://schemas.microsoft.com/office/drawing/2014/main" id="{130C3342-7DB8-EED8-9336-B0A9562BA19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3CB2CF0-CE66-8F14-C19F-E52C94DB6F2F}"/>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1840566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4429CA8-7D3B-D51A-1ACD-29D3773ED68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5720DC0-1586-6CE7-53B6-FA5F155614A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C021BAF-8068-0E35-4983-A26116F45D16}"/>
              </a:ext>
            </a:extLst>
          </p:cNvPr>
          <p:cNvSpPr>
            <a:spLocks noGrp="1"/>
          </p:cNvSpPr>
          <p:nvPr>
            <p:ph type="dt" sz="half" idx="10"/>
          </p:nvPr>
        </p:nvSpPr>
        <p:spPr/>
        <p:txBody>
          <a:bodyPr/>
          <a:lstStyle/>
          <a:p>
            <a:fld id="{97D49DF1-4E2C-45CD-8766-77969D76E254}" type="datetimeFigureOut">
              <a:rPr lang="fr-FR" smtClean="0"/>
              <a:t>30/10/2026</a:t>
            </a:fld>
            <a:endParaRPr lang="fr-FR"/>
          </a:p>
        </p:txBody>
      </p:sp>
      <p:sp>
        <p:nvSpPr>
          <p:cNvPr id="5" name="Espace réservé du pied de page 4">
            <a:extLst>
              <a:ext uri="{FF2B5EF4-FFF2-40B4-BE49-F238E27FC236}">
                <a16:creationId xmlns:a16="http://schemas.microsoft.com/office/drawing/2014/main" id="{99C2BD43-706F-E2C1-B9A0-0ACBBB02A0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846C834-B7DB-7174-740E-F0C99042BC87}"/>
              </a:ext>
            </a:extLst>
          </p:cNvPr>
          <p:cNvSpPr>
            <a:spLocks noGrp="1"/>
          </p:cNvSpPr>
          <p:nvPr>
            <p:ph type="sldNum" sz="quarter" idx="12"/>
          </p:nvPr>
        </p:nvSpPr>
        <p:spPr/>
        <p:txBody>
          <a:bodyPr/>
          <a:lstStyle/>
          <a:p>
            <a:fld id="{D49AAD25-3C00-49BB-985A-4864CD9DE0C2}" type="slidenum">
              <a:rPr lang="fr-FR" smtClean="0"/>
              <a:t>‹N°›</a:t>
            </a:fld>
            <a:endParaRPr lang="fr-FR"/>
          </a:p>
        </p:txBody>
      </p:sp>
    </p:spTree>
    <p:extLst>
      <p:ext uri="{BB962C8B-B14F-4D97-AF65-F5344CB8AC3E}">
        <p14:creationId xmlns:p14="http://schemas.microsoft.com/office/powerpoint/2010/main" val="1134641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B"/>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B7FFDE4-57FE-216F-9AB9-76EB2B3D5E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DD5B2C6-6928-D79B-4FCE-9C5622FA08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C1F951E-C672-60A6-4F2F-D4A4B1BC7D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7D49DF1-4E2C-45CD-8766-77969D76E254}" type="datetimeFigureOut">
              <a:rPr lang="fr-FR" smtClean="0"/>
              <a:t>30/10/2026</a:t>
            </a:fld>
            <a:endParaRPr lang="fr-FR"/>
          </a:p>
        </p:txBody>
      </p:sp>
      <p:sp>
        <p:nvSpPr>
          <p:cNvPr id="5" name="Espace réservé du pied de page 4">
            <a:extLst>
              <a:ext uri="{FF2B5EF4-FFF2-40B4-BE49-F238E27FC236}">
                <a16:creationId xmlns:a16="http://schemas.microsoft.com/office/drawing/2014/main" id="{6F12C89E-3194-C745-4F87-953671C51A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0FB3EF6-FE80-AE77-C33D-0296A20FFD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9AAD25-3C00-49BB-985A-4864CD9DE0C2}" type="slidenum">
              <a:rPr lang="fr-FR" smtClean="0"/>
              <a:t>‹N°›</a:t>
            </a:fld>
            <a:endParaRPr lang="fr-FR"/>
          </a:p>
        </p:txBody>
      </p:sp>
      <p:sp>
        <p:nvSpPr>
          <p:cNvPr id="8" name="ZoneTexte 7">
            <a:extLst>
              <a:ext uri="{FF2B5EF4-FFF2-40B4-BE49-F238E27FC236}">
                <a16:creationId xmlns:a16="http://schemas.microsoft.com/office/drawing/2014/main" id="{71D949A3-8EF8-918F-93C7-FA66C42A02A9}"/>
              </a:ext>
            </a:extLst>
          </p:cNvPr>
          <p:cNvSpPr txBox="1"/>
          <p:nvPr userDrawn="1">
            <p:extLst>
              <p:ext uri="{1162E1C5-73C7-4A58-AE30-91384D911F3F}">
                <p184:classification xmlns:p184="http://schemas.microsoft.com/office/powerpoint/2018/4/main" val="ftr"/>
              </p:ext>
            </p:extLst>
          </p:nvPr>
        </p:nvSpPr>
        <p:spPr>
          <a:xfrm>
            <a:off x="5401437" y="6642100"/>
            <a:ext cx="1414463" cy="152400"/>
          </a:xfrm>
          <a:prstGeom prst="rect">
            <a:avLst/>
          </a:prstGeom>
        </p:spPr>
        <p:txBody>
          <a:bodyPr horzOverflow="overflow" lIns="0" tIns="0" rIns="0" bIns="0">
            <a:spAutoFit/>
          </a:bodyPr>
          <a:lstStyle/>
          <a:p>
            <a:pPr algn="l"/>
            <a:r>
              <a:rPr lang="fr-FR" sz="1000">
                <a:solidFill>
                  <a:srgbClr val="000000">
                    <a:alpha val="50000"/>
                  </a:srgbClr>
                </a:solidFill>
                <a:latin typeface="Aptos" panose="020B0004020202020204" pitchFamily="34" charset="0"/>
              </a:rPr>
              <a:t>Confidentialité : INTERNE</a:t>
            </a:r>
          </a:p>
        </p:txBody>
      </p:sp>
    </p:spTree>
    <p:extLst>
      <p:ext uri="{BB962C8B-B14F-4D97-AF65-F5344CB8AC3E}">
        <p14:creationId xmlns:p14="http://schemas.microsoft.com/office/powerpoint/2010/main" val="4114989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6.xml"/><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C8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4A2D7C-40B3-975E-5AB3-2C755D52CC96}"/>
              </a:ext>
            </a:extLst>
          </p:cNvPr>
          <p:cNvSpPr>
            <a:spLocks noGrp="1"/>
          </p:cNvSpPr>
          <p:nvPr>
            <p:ph type="ctrTitle"/>
          </p:nvPr>
        </p:nvSpPr>
        <p:spPr>
          <a:xfrm>
            <a:off x="1219200" y="2540000"/>
            <a:ext cx="7112000" cy="1016000"/>
          </a:xfrm>
        </p:spPr>
        <p:txBody>
          <a:bodyPr lIns="0" anchor="ctr">
            <a:normAutofit/>
          </a:bodyPr>
          <a:lstStyle/>
          <a:p>
            <a:pPr algn="l"/>
            <a:r>
              <a:rPr lang="fr-FR" sz="6600" b="1">
                <a:solidFill>
                  <a:srgbClr val="FFFFFF"/>
                </a:solidFill>
                <a:latin typeface="Calibri" panose="020F0502020204030204" pitchFamily="34" charset="0"/>
              </a:rPr>
              <a:t>GPIEXALT</a:t>
            </a:r>
          </a:p>
        </p:txBody>
      </p:sp>
      <p:sp>
        <p:nvSpPr>
          <p:cNvPr id="3" name="Sous-titre 2">
            <a:extLst>
              <a:ext uri="{FF2B5EF4-FFF2-40B4-BE49-F238E27FC236}">
                <a16:creationId xmlns:a16="http://schemas.microsoft.com/office/drawing/2014/main" id="{7F2210CC-6627-38BF-D4EC-E01E927359E5}"/>
              </a:ext>
            </a:extLst>
          </p:cNvPr>
          <p:cNvSpPr>
            <a:spLocks noGrp="1"/>
          </p:cNvSpPr>
          <p:nvPr>
            <p:ph type="subTitle" idx="1"/>
          </p:nvPr>
        </p:nvSpPr>
        <p:spPr>
          <a:xfrm>
            <a:off x="1219200" y="3632200"/>
            <a:ext cx="6604000" cy="1016000"/>
          </a:xfrm>
        </p:spPr>
        <p:txBody>
          <a:bodyPr lIns="0" anchor="t">
            <a:normAutofit/>
          </a:bodyPr>
          <a:lstStyle/>
          <a:p>
            <a:pPr algn="l"/>
            <a:r>
              <a:rPr lang="fr-FR" sz="2200">
                <a:solidFill>
                  <a:srgbClr val="CADCFC"/>
                </a:solidFill>
                <a:latin typeface="Calibri" panose="020F0502020204030204" pitchFamily="34" charset="0"/>
              </a:rPr>
              <a:t>Dossier de documentation : gestion du parc informatique eXalt, prêts, restitutions et attestations de matériel</a:t>
            </a:r>
          </a:p>
        </p:txBody>
      </p:sp>
      <p:pic>
        <p:nvPicPr>
          <p:cNvPr id="5" name="Image 4">
            <a:extLst>
              <a:ext uri="{FF2B5EF4-FFF2-40B4-BE49-F238E27FC236}">
                <a16:creationId xmlns:a16="http://schemas.microsoft.com/office/drawing/2014/main" id="{49E59209-A880-CC00-285E-5857DD9CFB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128000" y="1270000"/>
            <a:ext cx="3683000" cy="3683000"/>
          </a:xfrm>
          <a:prstGeom prst="rect">
            <a:avLst/>
          </a:prstGeom>
        </p:spPr>
      </p:pic>
      <p:sp>
        <p:nvSpPr>
          <p:cNvPr id="6" name="ZoneTexte 5">
            <a:extLst>
              <a:ext uri="{FF2B5EF4-FFF2-40B4-BE49-F238E27FC236}">
                <a16:creationId xmlns:a16="http://schemas.microsoft.com/office/drawing/2014/main" id="{2AAB7902-9868-CF12-02F5-436B67027DB4}"/>
              </a:ext>
            </a:extLst>
          </p:cNvPr>
          <p:cNvSpPr txBox="1"/>
          <p:nvPr/>
        </p:nvSpPr>
        <p:spPr>
          <a:xfrm>
            <a:off x="1219200" y="2133600"/>
            <a:ext cx="7620000" cy="228600"/>
          </a:xfrm>
          <a:prstGeom prst="rect">
            <a:avLst/>
          </a:prstGeom>
          <a:noFill/>
        </p:spPr>
        <p:txBody>
          <a:bodyPr vert="horz" wrap="square" lIns="0" tIns="0" rIns="0" bIns="0" rtlCol="0">
            <a:noAutofit/>
          </a:bodyPr>
          <a:lstStyle/>
          <a:p>
            <a:r>
              <a:rPr lang="fr-FR" sz="1200" b="1" spc="150">
                <a:solidFill>
                  <a:srgbClr val="B9B6FF"/>
                </a:solidFill>
                <a:latin typeface="Calibri" panose="020F0502020204030204" pitchFamily="34" charset="0"/>
              </a:rPr>
              <a:t>DOCUMENTATION FONCTIONNELLE, TECHNIQUE ET D'EXPLOITATION</a:t>
            </a:r>
          </a:p>
        </p:txBody>
      </p:sp>
      <p:sp>
        <p:nvSpPr>
          <p:cNvPr id="7" name="ZoneTexte 6">
            <a:extLst>
              <a:ext uri="{FF2B5EF4-FFF2-40B4-BE49-F238E27FC236}">
                <a16:creationId xmlns:a16="http://schemas.microsoft.com/office/drawing/2014/main" id="{DEAA3790-20F7-68D7-EF0A-4E4CA5157905}"/>
              </a:ext>
            </a:extLst>
          </p:cNvPr>
          <p:cNvSpPr txBox="1"/>
          <p:nvPr/>
        </p:nvSpPr>
        <p:spPr>
          <a:xfrm>
            <a:off x="1219200" y="5461000"/>
            <a:ext cx="7874000" cy="228600"/>
          </a:xfrm>
          <a:prstGeom prst="rect">
            <a:avLst/>
          </a:prstGeom>
          <a:noFill/>
        </p:spPr>
        <p:txBody>
          <a:bodyPr vert="horz" wrap="square" lIns="0" tIns="0" rIns="0" bIns="0" rtlCol="0">
            <a:noAutofit/>
          </a:bodyPr>
          <a:lstStyle/>
          <a:p>
            <a:r>
              <a:rPr lang="fr-FR" sz="1300">
                <a:solidFill>
                  <a:srgbClr val="AEB9E3"/>
                </a:solidFill>
                <a:latin typeface="Calibri" panose="020F0502020204030204" pitchFamily="34" charset="0"/>
              </a:rPr>
              <a:t>DOC-GPIEXALT-001  ·  Version 7.8  ·  30/10/2026  ·  Application v452</a:t>
            </a:r>
          </a:p>
        </p:txBody>
      </p:sp>
      <p:sp>
        <p:nvSpPr>
          <p:cNvPr id="8" name="ZoneTexte 7">
            <a:extLst>
              <a:ext uri="{FF2B5EF4-FFF2-40B4-BE49-F238E27FC236}">
                <a16:creationId xmlns:a16="http://schemas.microsoft.com/office/drawing/2014/main" id="{F858B5B8-EFAE-9F55-1A6A-29604B44E25B}"/>
              </a:ext>
            </a:extLst>
          </p:cNvPr>
          <p:cNvSpPr txBox="1"/>
          <p:nvPr/>
        </p:nvSpPr>
        <p:spPr>
          <a:xfrm>
            <a:off x="1219200" y="5740400"/>
            <a:ext cx="7874000" cy="228600"/>
          </a:xfrm>
          <a:prstGeom prst="rect">
            <a:avLst/>
          </a:prstGeom>
          <a:noFill/>
        </p:spPr>
        <p:txBody>
          <a:bodyPr vert="horz" wrap="square" lIns="0" tIns="0" rIns="0" bIns="0" rtlCol="0">
            <a:noAutofit/>
          </a:bodyPr>
          <a:lstStyle/>
          <a:p>
            <a:r>
              <a:rPr lang="fr-FR" sz="1300">
                <a:solidFill>
                  <a:srgbClr val="AEB9E3"/>
                </a:solidFill>
                <a:latin typeface="Calibri" panose="020F0502020204030204" pitchFamily="34" charset="0"/>
              </a:rPr>
              <a:t>Propriétaire : Service informatique (DSI)  ·  Classification : Interne  ·  Statut : diffusé pour validation</a:t>
            </a:r>
          </a:p>
        </p:txBody>
      </p:sp>
    </p:spTree>
    <p:extLst>
      <p:ext uri="{BB962C8B-B14F-4D97-AF65-F5344CB8AC3E}">
        <p14:creationId xmlns:p14="http://schemas.microsoft.com/office/powerpoint/2010/main" val="3903515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B0BB58-8043-CA9D-4FCB-64227DE656AD}"/>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Contrôle du document</a:t>
            </a:r>
          </a:p>
        </p:txBody>
      </p:sp>
      <p:sp>
        <p:nvSpPr>
          <p:cNvPr id="3" name="ZoneTexte 2">
            <a:extLst>
              <a:ext uri="{FF2B5EF4-FFF2-40B4-BE49-F238E27FC236}">
                <a16:creationId xmlns:a16="http://schemas.microsoft.com/office/drawing/2014/main" id="{5B9A0E5B-6243-2373-7378-38A5519D9671}"/>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GOUVERNANCE</a:t>
            </a:r>
          </a:p>
        </p:txBody>
      </p:sp>
      <p:sp>
        <p:nvSpPr>
          <p:cNvPr id="4" name="ZoneTexte 3">
            <a:extLst>
              <a:ext uri="{FF2B5EF4-FFF2-40B4-BE49-F238E27FC236}">
                <a16:creationId xmlns:a16="http://schemas.microsoft.com/office/drawing/2014/main" id="{DB0BC046-5773-5C4D-EC7F-A232847D9F6B}"/>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Référence, version, propriétaire et circuit de validation</a:t>
            </a:r>
          </a:p>
        </p:txBody>
      </p:sp>
      <p:sp>
        <p:nvSpPr>
          <p:cNvPr id="5" name="ZoneTexte 4">
            <a:extLst>
              <a:ext uri="{FF2B5EF4-FFF2-40B4-BE49-F238E27FC236}">
                <a16:creationId xmlns:a16="http://schemas.microsoft.com/office/drawing/2014/main" id="{09B2567D-35EA-09F5-A9AB-80471E465F89}"/>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5F1B60BC-F5A5-882D-01A5-25638F55C9C2}"/>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0E4D54E1-A5FB-4484-89A2-0BAEB6F7BBE9}" type="slidenum">
              <a:rPr lang="fr-FR" sz="900" smtClean="0">
                <a:solidFill>
                  <a:srgbClr val="586080"/>
                </a:solidFill>
                <a:latin typeface="Calibri" panose="020F0502020204030204" pitchFamily="34" charset="0"/>
              </a:rPr>
              <a:t>2</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5793BE80-E90E-DE5D-8DFE-931A4475E6DE}"/>
              </a:ext>
            </a:extLst>
          </p:cNvPr>
          <p:cNvSpPr/>
          <p:nvPr/>
        </p:nvSpPr>
        <p:spPr>
          <a:xfrm>
            <a:off x="609600" y="1600200"/>
            <a:ext cx="5334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DA0F64BB-3297-2A36-0210-F1F353E0C496}"/>
              </a:ext>
            </a:extLst>
          </p:cNvPr>
          <p:cNvSpPr txBox="1"/>
          <p:nvPr/>
        </p:nvSpPr>
        <p:spPr>
          <a:xfrm>
            <a:off x="863600" y="1778000"/>
            <a:ext cx="4826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Informations générales</a:t>
            </a:r>
          </a:p>
        </p:txBody>
      </p:sp>
      <p:graphicFrame>
        <p:nvGraphicFramePr>
          <p:cNvPr id="9" name="Tableau 8">
            <a:extLst>
              <a:ext uri="{FF2B5EF4-FFF2-40B4-BE49-F238E27FC236}">
                <a16:creationId xmlns:a16="http://schemas.microsoft.com/office/drawing/2014/main" id="{2F47BE23-D1A9-B38C-DCFF-669DE85CCCED}"/>
              </a:ext>
            </a:extLst>
          </p:cNvPr>
          <p:cNvGraphicFramePr>
            <a:graphicFrameLocks noGrp="1"/>
          </p:cNvGraphicFramePr>
          <p:nvPr>
            <p:extLst>
              <p:ext uri="{D42A27DB-BD31-4B8C-83A1-F6EECF244321}">
                <p14:modId xmlns:p14="http://schemas.microsoft.com/office/powerpoint/2010/main" val="1660324042"/>
              </p:ext>
            </p:extLst>
          </p:nvPr>
        </p:nvGraphicFramePr>
        <p:xfrm>
          <a:off x="787400" y="2159000"/>
          <a:ext cx="4978400" cy="36576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1748167043"/>
                    </a:ext>
                  </a:extLst>
                </a:gridCol>
                <a:gridCol w="3454400">
                  <a:extLst>
                    <a:ext uri="{9D8B030D-6E8A-4147-A177-3AD203B41FA5}">
                      <a16:colId xmlns:a16="http://schemas.microsoft.com/office/drawing/2014/main" val="2474591660"/>
                    </a:ext>
                  </a:extLst>
                </a:gridCol>
              </a:tblGrid>
              <a:tr h="457200">
                <a:tc>
                  <a:txBody>
                    <a:bodyPr/>
                    <a:lstStyle/>
                    <a:p>
                      <a:pPr algn="l"/>
                      <a:r>
                        <a:rPr lang="fr-FR" sz="1200" b="1">
                          <a:solidFill>
                            <a:srgbClr val="FFFFFF"/>
                          </a:solidFill>
                          <a:latin typeface="Calibri" panose="020F0502020204030204" pitchFamily="34" charset="0"/>
                        </a:rPr>
                        <a:t>Rubrique</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Valeur</a:t>
                      </a:r>
                    </a:p>
                  </a:txBody>
                  <a:tcPr marL="127000" marR="127000" marT="38100" marB="38100" anchor="ctr">
                    <a:solidFill>
                      <a:srgbClr val="1E1C8C"/>
                    </a:solidFill>
                  </a:tcPr>
                </a:tc>
                <a:extLst>
                  <a:ext uri="{0D108BD9-81ED-4DB2-BD59-A6C34878D82A}">
                    <a16:rowId xmlns:a16="http://schemas.microsoft.com/office/drawing/2014/main" val="2293954200"/>
                  </a:ext>
                </a:extLst>
              </a:tr>
              <a:tr h="457200">
                <a:tc>
                  <a:txBody>
                    <a:bodyPr/>
                    <a:lstStyle/>
                    <a:p>
                      <a:pPr algn="l"/>
                      <a:r>
                        <a:rPr lang="fr-FR" sz="1200" b="1">
                          <a:solidFill>
                            <a:srgbClr val="12162B"/>
                          </a:solidFill>
                          <a:latin typeface="Calibri" panose="020F0502020204030204" pitchFamily="34" charset="0"/>
                        </a:rPr>
                        <a:t>Référence</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DOC-GPIEXALT-001</a:t>
                      </a:r>
                    </a:p>
                  </a:txBody>
                  <a:tcPr marL="127000" marR="127000" marT="38100" marB="38100" anchor="ctr">
                    <a:solidFill>
                      <a:srgbClr val="FFFFFF"/>
                    </a:solidFill>
                  </a:tcPr>
                </a:tc>
                <a:extLst>
                  <a:ext uri="{0D108BD9-81ED-4DB2-BD59-A6C34878D82A}">
                    <a16:rowId xmlns:a16="http://schemas.microsoft.com/office/drawing/2014/main" val="2391786715"/>
                  </a:ext>
                </a:extLst>
              </a:tr>
              <a:tr h="457200">
                <a:tc>
                  <a:txBody>
                    <a:bodyPr/>
                    <a:lstStyle/>
                    <a:p>
                      <a:pPr algn="l"/>
                      <a:r>
                        <a:rPr lang="fr-FR" sz="1200" b="1">
                          <a:solidFill>
                            <a:srgbClr val="12162B"/>
                          </a:solidFill>
                          <a:latin typeface="Calibri" panose="020F0502020204030204" pitchFamily="34" charset="0"/>
                        </a:rPr>
                        <a:t>Version</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7.8 — 30/10/2026</a:t>
                      </a:r>
                    </a:p>
                  </a:txBody>
                  <a:tcPr marL="127000" marR="127000" marT="38100" marB="38100" anchor="ctr">
                    <a:solidFill>
                      <a:srgbClr val="F0F2FA"/>
                    </a:solidFill>
                  </a:tcPr>
                </a:tc>
                <a:extLst>
                  <a:ext uri="{0D108BD9-81ED-4DB2-BD59-A6C34878D82A}">
                    <a16:rowId xmlns:a16="http://schemas.microsoft.com/office/drawing/2014/main" val="3689898630"/>
                  </a:ext>
                </a:extLst>
              </a:tr>
              <a:tr h="457200">
                <a:tc>
                  <a:txBody>
                    <a:bodyPr/>
                    <a:lstStyle/>
                    <a:p>
                      <a:pPr algn="l"/>
                      <a:r>
                        <a:rPr lang="fr-FR" sz="1200" b="1">
                          <a:solidFill>
                            <a:srgbClr val="12162B"/>
                          </a:solidFill>
                          <a:latin typeface="Calibri" panose="020F0502020204030204" pitchFamily="34" charset="0"/>
                        </a:rPr>
                        <a:t>Application</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GPIEXALT, version 452</a:t>
                      </a:r>
                    </a:p>
                  </a:txBody>
                  <a:tcPr marL="127000" marR="127000" marT="38100" marB="38100" anchor="ctr">
                    <a:solidFill>
                      <a:srgbClr val="FFFFFF"/>
                    </a:solidFill>
                  </a:tcPr>
                </a:tc>
                <a:extLst>
                  <a:ext uri="{0D108BD9-81ED-4DB2-BD59-A6C34878D82A}">
                    <a16:rowId xmlns:a16="http://schemas.microsoft.com/office/drawing/2014/main" val="2265333701"/>
                  </a:ext>
                </a:extLst>
              </a:tr>
              <a:tr h="457200">
                <a:tc>
                  <a:txBody>
                    <a:bodyPr/>
                    <a:lstStyle/>
                    <a:p>
                      <a:pPr algn="l"/>
                      <a:r>
                        <a:rPr lang="fr-FR" sz="1200" b="1">
                          <a:solidFill>
                            <a:srgbClr val="12162B"/>
                          </a:solidFill>
                          <a:latin typeface="Calibri" panose="020F0502020204030204" pitchFamily="34" charset="0"/>
                        </a:rPr>
                        <a:t>Propriétaire</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Service informatique (DSI)</a:t>
                      </a:r>
                    </a:p>
                  </a:txBody>
                  <a:tcPr marL="127000" marR="127000" marT="38100" marB="38100" anchor="ctr">
                    <a:solidFill>
                      <a:srgbClr val="F0F2FA"/>
                    </a:solidFill>
                  </a:tcPr>
                </a:tc>
                <a:extLst>
                  <a:ext uri="{0D108BD9-81ED-4DB2-BD59-A6C34878D82A}">
                    <a16:rowId xmlns:a16="http://schemas.microsoft.com/office/drawing/2014/main" val="733900713"/>
                  </a:ext>
                </a:extLst>
              </a:tr>
              <a:tr h="457200">
                <a:tc>
                  <a:txBody>
                    <a:bodyPr/>
                    <a:lstStyle/>
                    <a:p>
                      <a:pPr algn="l"/>
                      <a:r>
                        <a:rPr lang="fr-FR" sz="1200" b="1">
                          <a:solidFill>
                            <a:srgbClr val="12162B"/>
                          </a:solidFill>
                          <a:latin typeface="Calibri" panose="020F0502020204030204" pitchFamily="34" charset="0"/>
                        </a:rPr>
                        <a:t>Classification</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Interne</a:t>
                      </a:r>
                    </a:p>
                  </a:txBody>
                  <a:tcPr marL="127000" marR="127000" marT="38100" marB="38100" anchor="ctr">
                    <a:solidFill>
                      <a:srgbClr val="FFFFFF"/>
                    </a:solidFill>
                  </a:tcPr>
                </a:tc>
                <a:extLst>
                  <a:ext uri="{0D108BD9-81ED-4DB2-BD59-A6C34878D82A}">
                    <a16:rowId xmlns:a16="http://schemas.microsoft.com/office/drawing/2014/main" val="2763093890"/>
                  </a:ext>
                </a:extLst>
              </a:tr>
              <a:tr h="457200">
                <a:tc>
                  <a:txBody>
                    <a:bodyPr/>
                    <a:lstStyle/>
                    <a:p>
                      <a:pPr algn="l"/>
                      <a:r>
                        <a:rPr lang="fr-FR" sz="1200" b="1">
                          <a:solidFill>
                            <a:srgbClr val="12162B"/>
                          </a:solidFill>
                          <a:latin typeface="Calibri" panose="020F0502020204030204" pitchFamily="34" charset="0"/>
                        </a:rPr>
                        <a:t>Statut</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Diffusé pour validation</a:t>
                      </a:r>
                    </a:p>
                  </a:txBody>
                  <a:tcPr marL="127000" marR="127000" marT="38100" marB="38100" anchor="ctr">
                    <a:solidFill>
                      <a:srgbClr val="F0F2FA"/>
                    </a:solidFill>
                  </a:tcPr>
                </a:tc>
                <a:extLst>
                  <a:ext uri="{0D108BD9-81ED-4DB2-BD59-A6C34878D82A}">
                    <a16:rowId xmlns:a16="http://schemas.microsoft.com/office/drawing/2014/main" val="812400139"/>
                  </a:ext>
                </a:extLst>
              </a:tr>
              <a:tr h="457200">
                <a:tc>
                  <a:txBody>
                    <a:bodyPr/>
                    <a:lstStyle/>
                    <a:p>
                      <a:pPr algn="l"/>
                      <a:r>
                        <a:rPr lang="fr-FR" sz="1200" b="1">
                          <a:solidFill>
                            <a:srgbClr val="12162B"/>
                          </a:solidFill>
                          <a:latin typeface="Calibri" panose="020F0502020204030204" pitchFamily="34" charset="0"/>
                        </a:rPr>
                        <a:t>Diffusion</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Équipe IT, DSI ; RSSI et DPO (sécurité, données)</a:t>
                      </a:r>
                    </a:p>
                  </a:txBody>
                  <a:tcPr marL="127000" marR="127000" marT="38100" marB="38100" anchor="ctr">
                    <a:solidFill>
                      <a:srgbClr val="FFFFFF"/>
                    </a:solidFill>
                  </a:tcPr>
                </a:tc>
                <a:extLst>
                  <a:ext uri="{0D108BD9-81ED-4DB2-BD59-A6C34878D82A}">
                    <a16:rowId xmlns:a16="http://schemas.microsoft.com/office/drawing/2014/main" val="278453667"/>
                  </a:ext>
                </a:extLst>
              </a:tr>
            </a:tbl>
          </a:graphicData>
        </a:graphic>
      </p:graphicFrame>
      <p:sp>
        <p:nvSpPr>
          <p:cNvPr id="10" name="Rectangle : coins arrondis 9">
            <a:extLst>
              <a:ext uri="{FF2B5EF4-FFF2-40B4-BE49-F238E27FC236}">
                <a16:creationId xmlns:a16="http://schemas.microsoft.com/office/drawing/2014/main" id="{6BFC8BA0-6363-E915-7779-C54365125577}"/>
              </a:ext>
            </a:extLst>
          </p:cNvPr>
          <p:cNvSpPr/>
          <p:nvPr/>
        </p:nvSpPr>
        <p:spPr>
          <a:xfrm>
            <a:off x="6248400" y="1600200"/>
            <a:ext cx="5334000" cy="29718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54D53579-12A3-C48A-D8EF-C82FD4B2D2CA}"/>
              </a:ext>
            </a:extLst>
          </p:cNvPr>
          <p:cNvSpPr txBox="1"/>
          <p:nvPr/>
        </p:nvSpPr>
        <p:spPr>
          <a:xfrm>
            <a:off x="6502400" y="1752600"/>
            <a:ext cx="4826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Historique des révisions</a:t>
            </a:r>
          </a:p>
        </p:txBody>
      </p:sp>
      <p:graphicFrame>
        <p:nvGraphicFramePr>
          <p:cNvPr id="12" name="Tableau 11">
            <a:extLst>
              <a:ext uri="{FF2B5EF4-FFF2-40B4-BE49-F238E27FC236}">
                <a16:creationId xmlns:a16="http://schemas.microsoft.com/office/drawing/2014/main" id="{0B37DAC4-0190-3EE4-DF26-09750A07695F}"/>
              </a:ext>
            </a:extLst>
          </p:cNvPr>
          <p:cNvGraphicFramePr>
            <a:graphicFrameLocks noGrp="1"/>
          </p:cNvGraphicFramePr>
          <p:nvPr>
            <p:extLst>
              <p:ext uri="{D42A27DB-BD31-4B8C-83A1-F6EECF244321}">
                <p14:modId xmlns:p14="http://schemas.microsoft.com/office/powerpoint/2010/main" val="527995605"/>
              </p:ext>
            </p:extLst>
          </p:nvPr>
        </p:nvGraphicFramePr>
        <p:xfrm>
          <a:off x="6426200" y="2133600"/>
          <a:ext cx="4978400" cy="2133600"/>
        </p:xfrm>
        <a:graphic>
          <a:graphicData uri="http://schemas.openxmlformats.org/drawingml/2006/table">
            <a:tbl>
              <a:tblPr firstRow="1" bandRow="1">
                <a:tableStyleId>{2D5ABB26-0587-4C30-8999-92F81FD0307C}</a:tableStyleId>
              </a:tblPr>
              <a:tblGrid>
                <a:gridCol w="711200">
                  <a:extLst>
                    <a:ext uri="{9D8B030D-6E8A-4147-A177-3AD203B41FA5}">
                      <a16:colId xmlns:a16="http://schemas.microsoft.com/office/drawing/2014/main" val="920700197"/>
                    </a:ext>
                  </a:extLst>
                </a:gridCol>
                <a:gridCol w="1041400">
                  <a:extLst>
                    <a:ext uri="{9D8B030D-6E8A-4147-A177-3AD203B41FA5}">
                      <a16:colId xmlns:a16="http://schemas.microsoft.com/office/drawing/2014/main" val="1244768469"/>
                    </a:ext>
                  </a:extLst>
                </a:gridCol>
                <a:gridCol w="3225800">
                  <a:extLst>
                    <a:ext uri="{9D8B030D-6E8A-4147-A177-3AD203B41FA5}">
                      <a16:colId xmlns:a16="http://schemas.microsoft.com/office/drawing/2014/main" val="3263126843"/>
                    </a:ext>
                  </a:extLst>
                </a:gridCol>
              </a:tblGrid>
              <a:tr h="177800">
                <a:tc>
                  <a:txBody>
                    <a:bodyPr/>
                    <a:lstStyle/>
                    <a:p>
                      <a:pPr algn="l"/>
                      <a:r>
                        <a:rPr lang="fr-FR" sz="800" b="1">
                          <a:solidFill>
                            <a:srgbClr val="FFFFFF"/>
                          </a:solidFill>
                          <a:latin typeface="Calibri" panose="020F0502020204030204" pitchFamily="34" charset="0"/>
                        </a:rPr>
                        <a:t>Version</a:t>
                      </a:r>
                    </a:p>
                  </a:txBody>
                  <a:tcPr marL="127000" marR="127000" marT="38100" marB="38100" anchor="ctr">
                    <a:solidFill>
                      <a:srgbClr val="1E1C8C"/>
                    </a:solidFill>
                  </a:tcPr>
                </a:tc>
                <a:tc>
                  <a:txBody>
                    <a:bodyPr/>
                    <a:lstStyle/>
                    <a:p>
                      <a:pPr algn="l"/>
                      <a:r>
                        <a:rPr lang="fr-FR" sz="800" b="1">
                          <a:solidFill>
                            <a:srgbClr val="FFFFFF"/>
                          </a:solidFill>
                          <a:latin typeface="Calibri" panose="020F0502020204030204" pitchFamily="34" charset="0"/>
                        </a:rPr>
                        <a:t>Date</a:t>
                      </a:r>
                    </a:p>
                  </a:txBody>
                  <a:tcPr marL="127000" marR="127000" marT="38100" marB="38100" anchor="ctr">
                    <a:solidFill>
                      <a:srgbClr val="1E1C8C"/>
                    </a:solidFill>
                  </a:tcPr>
                </a:tc>
                <a:tc>
                  <a:txBody>
                    <a:bodyPr/>
                    <a:lstStyle/>
                    <a:p>
                      <a:pPr algn="l"/>
                      <a:r>
                        <a:rPr lang="fr-FR" sz="800" b="1">
                          <a:solidFill>
                            <a:srgbClr val="FFFFFF"/>
                          </a:solidFill>
                          <a:latin typeface="Calibri" panose="020F0502020204030204" pitchFamily="34" charset="0"/>
                        </a:rPr>
                        <a:t>Nature</a:t>
                      </a:r>
                    </a:p>
                  </a:txBody>
                  <a:tcPr marL="127000" marR="127000" marT="38100" marB="38100" anchor="ctr">
                    <a:solidFill>
                      <a:srgbClr val="1E1C8C"/>
                    </a:solidFill>
                  </a:tcPr>
                </a:tc>
                <a:extLst>
                  <a:ext uri="{0D108BD9-81ED-4DB2-BD59-A6C34878D82A}">
                    <a16:rowId xmlns:a16="http://schemas.microsoft.com/office/drawing/2014/main" val="293359434"/>
                  </a:ext>
                </a:extLst>
              </a:tr>
              <a:tr h="177800">
                <a:tc>
                  <a:txBody>
                    <a:bodyPr/>
                    <a:lstStyle/>
                    <a:p>
                      <a:pPr algn="l"/>
                      <a:r>
                        <a:rPr lang="fr-FR" sz="800" b="1">
                          <a:solidFill>
                            <a:srgbClr val="12162B"/>
                          </a:solidFill>
                          <a:latin typeface="Calibri" panose="020F0502020204030204" pitchFamily="34" charset="0"/>
                        </a:rPr>
                        <a:t>1.0-2.0</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05/10/2026</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Première édition, édition entreprise</a:t>
                      </a:r>
                    </a:p>
                  </a:txBody>
                  <a:tcPr marL="127000" marR="127000" marT="38100" marB="38100" anchor="ctr">
                    <a:solidFill>
                      <a:srgbClr val="FFFFFF"/>
                    </a:solidFill>
                  </a:tcPr>
                </a:tc>
                <a:extLst>
                  <a:ext uri="{0D108BD9-81ED-4DB2-BD59-A6C34878D82A}">
                    <a16:rowId xmlns:a16="http://schemas.microsoft.com/office/drawing/2014/main" val="4203738352"/>
                  </a:ext>
                </a:extLst>
              </a:tr>
              <a:tr h="177800">
                <a:tc>
                  <a:txBody>
                    <a:bodyPr/>
                    <a:lstStyle/>
                    <a:p>
                      <a:pPr algn="l"/>
                      <a:r>
                        <a:rPr lang="fr-FR" sz="800" b="1">
                          <a:solidFill>
                            <a:srgbClr val="12162B"/>
                          </a:solidFill>
                          <a:latin typeface="Calibri" panose="020F0502020204030204" pitchFamily="34" charset="0"/>
                        </a:rPr>
                        <a:t>3.0</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06/10/2026</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App 106 : accueil, QR, signature</a:t>
                      </a:r>
                    </a:p>
                  </a:txBody>
                  <a:tcPr marL="127000" marR="127000" marT="38100" marB="38100" anchor="ctr">
                    <a:solidFill>
                      <a:srgbClr val="F0F2FA"/>
                    </a:solidFill>
                  </a:tcPr>
                </a:tc>
                <a:extLst>
                  <a:ext uri="{0D108BD9-81ED-4DB2-BD59-A6C34878D82A}">
                    <a16:rowId xmlns:a16="http://schemas.microsoft.com/office/drawing/2014/main" val="2565919322"/>
                  </a:ext>
                </a:extLst>
              </a:tr>
              <a:tr h="177800">
                <a:tc>
                  <a:txBody>
                    <a:bodyPr/>
                    <a:lstStyle/>
                    <a:p>
                      <a:pPr algn="l"/>
                      <a:r>
                        <a:rPr lang="fr-FR" sz="800" b="1">
                          <a:solidFill>
                            <a:srgbClr val="12162B"/>
                          </a:solidFill>
                          <a:latin typeface="Calibri" panose="020F0502020204030204" pitchFamily="34" charset="0"/>
                        </a:rPr>
                        <a:t>4.0</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07/10/2026</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App 128 : rôles, rapports, recherche</a:t>
                      </a:r>
                    </a:p>
                  </a:txBody>
                  <a:tcPr marL="127000" marR="127000" marT="38100" marB="38100" anchor="ctr">
                    <a:solidFill>
                      <a:srgbClr val="FFFFFF"/>
                    </a:solidFill>
                  </a:tcPr>
                </a:tc>
                <a:extLst>
                  <a:ext uri="{0D108BD9-81ED-4DB2-BD59-A6C34878D82A}">
                    <a16:rowId xmlns:a16="http://schemas.microsoft.com/office/drawing/2014/main" val="4208077193"/>
                  </a:ext>
                </a:extLst>
              </a:tr>
              <a:tr h="177800">
                <a:tc>
                  <a:txBody>
                    <a:bodyPr/>
                    <a:lstStyle/>
                    <a:p>
                      <a:pPr algn="l"/>
                      <a:r>
                        <a:rPr lang="fr-FR" sz="800" b="1">
                          <a:solidFill>
                            <a:srgbClr val="12162B"/>
                          </a:solidFill>
                          <a:latin typeface="Calibri" panose="020F0502020204030204" pitchFamily="34" charset="0"/>
                        </a:rPr>
                        <a:t>5.0</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08/10/2026</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App 147 : annuaire, envoi signé</a:t>
                      </a:r>
                    </a:p>
                  </a:txBody>
                  <a:tcPr marL="127000" marR="127000" marT="38100" marB="38100" anchor="ctr">
                    <a:solidFill>
                      <a:srgbClr val="F0F2FA"/>
                    </a:solidFill>
                  </a:tcPr>
                </a:tc>
                <a:extLst>
                  <a:ext uri="{0D108BD9-81ED-4DB2-BD59-A6C34878D82A}">
                    <a16:rowId xmlns:a16="http://schemas.microsoft.com/office/drawing/2014/main" val="1070906067"/>
                  </a:ext>
                </a:extLst>
              </a:tr>
              <a:tr h="177800">
                <a:tc>
                  <a:txBody>
                    <a:bodyPr/>
                    <a:lstStyle/>
                    <a:p>
                      <a:pPr algn="l"/>
                      <a:r>
                        <a:rPr lang="fr-FR" sz="800" b="1">
                          <a:solidFill>
                            <a:srgbClr val="12162B"/>
                          </a:solidFill>
                          <a:latin typeface="Calibri" panose="020F0502020204030204" pitchFamily="34" charset="0"/>
                        </a:rPr>
                        <a:t>6.0</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09/10/2026</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App 161 : GPIEXALT, retards, rapport</a:t>
                      </a:r>
                    </a:p>
                  </a:txBody>
                  <a:tcPr marL="127000" marR="127000" marT="38100" marB="38100" anchor="ctr">
                    <a:solidFill>
                      <a:srgbClr val="FFFFFF"/>
                    </a:solidFill>
                  </a:tcPr>
                </a:tc>
                <a:extLst>
                  <a:ext uri="{0D108BD9-81ED-4DB2-BD59-A6C34878D82A}">
                    <a16:rowId xmlns:a16="http://schemas.microsoft.com/office/drawing/2014/main" val="2846011203"/>
                  </a:ext>
                </a:extLst>
              </a:tr>
              <a:tr h="177800">
                <a:tc>
                  <a:txBody>
                    <a:bodyPr/>
                    <a:lstStyle/>
                    <a:p>
                      <a:pPr algn="l"/>
                      <a:r>
                        <a:rPr lang="fr-FR" sz="800" b="1">
                          <a:solidFill>
                            <a:srgbClr val="12162B"/>
                          </a:solidFill>
                          <a:latin typeface="Calibri" panose="020F0502020204030204" pitchFamily="34" charset="0"/>
                        </a:rPr>
                        <a:t>7.0-7.2</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12/10/2026</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App 167 à 192 : rapport par page, finition, catalogue</a:t>
                      </a:r>
                    </a:p>
                  </a:txBody>
                  <a:tcPr marL="127000" marR="127000" marT="38100" marB="38100" anchor="ctr">
                    <a:solidFill>
                      <a:srgbClr val="F0F2FA"/>
                    </a:solidFill>
                  </a:tcPr>
                </a:tc>
                <a:extLst>
                  <a:ext uri="{0D108BD9-81ED-4DB2-BD59-A6C34878D82A}">
                    <a16:rowId xmlns:a16="http://schemas.microsoft.com/office/drawing/2014/main" val="2899132282"/>
                  </a:ext>
                </a:extLst>
              </a:tr>
              <a:tr h="177800">
                <a:tc>
                  <a:txBody>
                    <a:bodyPr/>
                    <a:lstStyle/>
                    <a:p>
                      <a:pPr algn="l"/>
                      <a:r>
                        <a:rPr lang="fr-FR" sz="800" b="1">
                          <a:solidFill>
                            <a:srgbClr val="12162B"/>
                          </a:solidFill>
                          <a:latin typeface="Calibri" panose="020F0502020204030204" pitchFamily="34" charset="0"/>
                        </a:rPr>
                        <a:t>7.3-7.4</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13/10/2026</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App 206 à 242 : Par email, Inventaire, prix, stock</a:t>
                      </a:r>
                    </a:p>
                  </a:txBody>
                  <a:tcPr marL="127000" marR="127000" marT="38100" marB="38100" anchor="ctr">
                    <a:solidFill>
                      <a:srgbClr val="FFFFFF"/>
                    </a:solidFill>
                  </a:tcPr>
                </a:tc>
                <a:extLst>
                  <a:ext uri="{0D108BD9-81ED-4DB2-BD59-A6C34878D82A}">
                    <a16:rowId xmlns:a16="http://schemas.microsoft.com/office/drawing/2014/main" val="2199710008"/>
                  </a:ext>
                </a:extLst>
              </a:tr>
              <a:tr h="177800">
                <a:tc>
                  <a:txBody>
                    <a:bodyPr/>
                    <a:lstStyle/>
                    <a:p>
                      <a:pPr algn="l"/>
                      <a:r>
                        <a:rPr lang="fr-FR" sz="800" b="1">
                          <a:solidFill>
                            <a:srgbClr val="12162B"/>
                          </a:solidFill>
                          <a:latin typeface="Calibri" panose="020F0502020204030204" pitchFamily="34" charset="0"/>
                        </a:rPr>
                        <a:t>7.5</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16/10/2026</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App 299 : Nouvel emprunt, quantités, machines, achats</a:t>
                      </a:r>
                    </a:p>
                  </a:txBody>
                  <a:tcPr marL="127000" marR="127000" marT="38100" marB="38100" anchor="ctr">
                    <a:solidFill>
                      <a:srgbClr val="F0F2FA"/>
                    </a:solidFill>
                  </a:tcPr>
                </a:tc>
                <a:extLst>
                  <a:ext uri="{0D108BD9-81ED-4DB2-BD59-A6C34878D82A}">
                    <a16:rowId xmlns:a16="http://schemas.microsoft.com/office/drawing/2014/main" val="2689219140"/>
                  </a:ext>
                </a:extLst>
              </a:tr>
              <a:tr h="177800">
                <a:tc>
                  <a:txBody>
                    <a:bodyPr/>
                    <a:lstStyle/>
                    <a:p>
                      <a:pPr algn="l"/>
                      <a:r>
                        <a:rPr lang="fr-FR" sz="800" b="1">
                          <a:solidFill>
                            <a:srgbClr val="12162B"/>
                          </a:solidFill>
                          <a:latin typeface="Calibri" panose="020F0502020204030204" pitchFamily="34" charset="0"/>
                        </a:rPr>
                        <a:t>7.6</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27/10/2026</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App 409 : Teams, recherche globale, anneaux, familles</a:t>
                      </a:r>
                    </a:p>
                  </a:txBody>
                  <a:tcPr marL="127000" marR="127000" marT="38100" marB="38100" anchor="ctr">
                    <a:solidFill>
                      <a:srgbClr val="FFFFFF"/>
                    </a:solidFill>
                  </a:tcPr>
                </a:tc>
                <a:extLst>
                  <a:ext uri="{0D108BD9-81ED-4DB2-BD59-A6C34878D82A}">
                    <a16:rowId xmlns:a16="http://schemas.microsoft.com/office/drawing/2014/main" val="3428879816"/>
                  </a:ext>
                </a:extLst>
              </a:tr>
              <a:tr h="177800">
                <a:tc>
                  <a:txBody>
                    <a:bodyPr/>
                    <a:lstStyle/>
                    <a:p>
                      <a:pPr algn="l"/>
                      <a:r>
                        <a:rPr lang="fr-FR" sz="800" b="1">
                          <a:solidFill>
                            <a:srgbClr val="12162B"/>
                          </a:solidFill>
                          <a:latin typeface="Calibri" panose="020F0502020204030204" pitchFamily="34" charset="0"/>
                        </a:rPr>
                        <a:t>7.7</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28/10/2026</a:t>
                      </a:r>
                    </a:p>
                  </a:txBody>
                  <a:tcPr marL="127000" marR="127000" marT="38100" marB="38100" anchor="ctr">
                    <a:solidFill>
                      <a:srgbClr val="F0F2FA"/>
                    </a:solidFill>
                  </a:tcPr>
                </a:tc>
                <a:tc>
                  <a:txBody>
                    <a:bodyPr/>
                    <a:lstStyle/>
                    <a:p>
                      <a:pPr algn="l"/>
                      <a:r>
                        <a:rPr lang="fr-FR" sz="800" b="0">
                          <a:solidFill>
                            <a:srgbClr val="12162B"/>
                          </a:solidFill>
                          <a:latin typeface="Calibri" panose="020F0502020204030204" pitchFamily="34" charset="0"/>
                        </a:rPr>
                        <a:t>App 417 : import de facture, À commander</a:t>
                      </a:r>
                    </a:p>
                  </a:txBody>
                  <a:tcPr marL="127000" marR="127000" marT="38100" marB="38100" anchor="ctr">
                    <a:solidFill>
                      <a:srgbClr val="F0F2FA"/>
                    </a:solidFill>
                  </a:tcPr>
                </a:tc>
                <a:extLst>
                  <a:ext uri="{0D108BD9-81ED-4DB2-BD59-A6C34878D82A}">
                    <a16:rowId xmlns:a16="http://schemas.microsoft.com/office/drawing/2014/main" val="1696722127"/>
                  </a:ext>
                </a:extLst>
              </a:tr>
              <a:tr h="177800">
                <a:tc>
                  <a:txBody>
                    <a:bodyPr/>
                    <a:lstStyle/>
                    <a:p>
                      <a:pPr algn="l"/>
                      <a:r>
                        <a:rPr lang="fr-FR" sz="800" b="1">
                          <a:solidFill>
                            <a:srgbClr val="12162B"/>
                          </a:solidFill>
                          <a:latin typeface="Calibri" panose="020F0502020204030204" pitchFamily="34" charset="0"/>
                        </a:rPr>
                        <a:t>7.8</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30/10/2026</a:t>
                      </a:r>
                    </a:p>
                  </a:txBody>
                  <a:tcPr marL="127000" marR="127000" marT="38100" marB="38100" anchor="ctr">
                    <a:solidFill>
                      <a:srgbClr val="FFFFFF"/>
                    </a:solidFill>
                  </a:tcPr>
                </a:tc>
                <a:tc>
                  <a:txBody>
                    <a:bodyPr/>
                    <a:lstStyle/>
                    <a:p>
                      <a:pPr algn="l"/>
                      <a:r>
                        <a:rPr lang="fr-FR" sz="800" b="0">
                          <a:solidFill>
                            <a:srgbClr val="12162B"/>
                          </a:solidFill>
                          <a:latin typeface="Calibri" panose="020F0502020204030204" pitchFamily="34" charset="0"/>
                        </a:rPr>
                        <a:t>App 452 : prolonger, relances, Guide, TVA</a:t>
                      </a:r>
                    </a:p>
                  </a:txBody>
                  <a:tcPr marL="127000" marR="127000" marT="38100" marB="38100" anchor="ctr">
                    <a:solidFill>
                      <a:srgbClr val="FFFFFF"/>
                    </a:solidFill>
                  </a:tcPr>
                </a:tc>
                <a:extLst>
                  <a:ext uri="{0D108BD9-81ED-4DB2-BD59-A6C34878D82A}">
                    <a16:rowId xmlns:a16="http://schemas.microsoft.com/office/drawing/2014/main" val="2429707549"/>
                  </a:ext>
                </a:extLst>
              </a:tr>
            </a:tbl>
          </a:graphicData>
        </a:graphic>
      </p:graphicFrame>
      <p:sp>
        <p:nvSpPr>
          <p:cNvPr id="13" name="Rectangle : coins arrondis 12">
            <a:extLst>
              <a:ext uri="{FF2B5EF4-FFF2-40B4-BE49-F238E27FC236}">
                <a16:creationId xmlns:a16="http://schemas.microsoft.com/office/drawing/2014/main" id="{25500BE6-87DA-4BD0-E113-96787C2E6E23}"/>
              </a:ext>
            </a:extLst>
          </p:cNvPr>
          <p:cNvSpPr/>
          <p:nvPr/>
        </p:nvSpPr>
        <p:spPr>
          <a:xfrm>
            <a:off x="6248400" y="4673600"/>
            <a:ext cx="5334000" cy="15748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F7861A20-10AA-10C2-2E9D-6D3F7862F37E}"/>
              </a:ext>
            </a:extLst>
          </p:cNvPr>
          <p:cNvSpPr txBox="1"/>
          <p:nvPr/>
        </p:nvSpPr>
        <p:spPr>
          <a:xfrm>
            <a:off x="6502400" y="4749800"/>
            <a:ext cx="4826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Circuit de validation</a:t>
            </a:r>
          </a:p>
        </p:txBody>
      </p:sp>
      <p:graphicFrame>
        <p:nvGraphicFramePr>
          <p:cNvPr id="15" name="Tableau 14">
            <a:extLst>
              <a:ext uri="{FF2B5EF4-FFF2-40B4-BE49-F238E27FC236}">
                <a16:creationId xmlns:a16="http://schemas.microsoft.com/office/drawing/2014/main" id="{AA8283BB-576A-A4F8-8804-39F82A6725B6}"/>
              </a:ext>
            </a:extLst>
          </p:cNvPr>
          <p:cNvGraphicFramePr>
            <a:graphicFrameLocks noGrp="1"/>
          </p:cNvGraphicFramePr>
          <p:nvPr>
            <p:extLst>
              <p:ext uri="{D42A27DB-BD31-4B8C-83A1-F6EECF244321}">
                <p14:modId xmlns:p14="http://schemas.microsoft.com/office/powerpoint/2010/main" val="3418840226"/>
              </p:ext>
            </p:extLst>
          </p:nvPr>
        </p:nvGraphicFramePr>
        <p:xfrm>
          <a:off x="6426200" y="5080000"/>
          <a:ext cx="4978400" cy="1117600"/>
        </p:xfrm>
        <a:graphic>
          <a:graphicData uri="http://schemas.openxmlformats.org/drawingml/2006/table">
            <a:tbl>
              <a:tblPr firstRow="1" bandRow="1">
                <a:tableStyleId>{2D5ABB26-0587-4C30-8999-92F81FD0307C}</a:tableStyleId>
              </a:tblPr>
              <a:tblGrid>
                <a:gridCol w="1270000">
                  <a:extLst>
                    <a:ext uri="{9D8B030D-6E8A-4147-A177-3AD203B41FA5}">
                      <a16:colId xmlns:a16="http://schemas.microsoft.com/office/drawing/2014/main" val="1715568747"/>
                    </a:ext>
                  </a:extLst>
                </a:gridCol>
                <a:gridCol w="2413000">
                  <a:extLst>
                    <a:ext uri="{9D8B030D-6E8A-4147-A177-3AD203B41FA5}">
                      <a16:colId xmlns:a16="http://schemas.microsoft.com/office/drawing/2014/main" val="1932060602"/>
                    </a:ext>
                  </a:extLst>
                </a:gridCol>
                <a:gridCol w="1295400">
                  <a:extLst>
                    <a:ext uri="{9D8B030D-6E8A-4147-A177-3AD203B41FA5}">
                      <a16:colId xmlns:a16="http://schemas.microsoft.com/office/drawing/2014/main" val="3443707509"/>
                    </a:ext>
                  </a:extLst>
                </a:gridCol>
              </a:tblGrid>
              <a:tr h="279400">
                <a:tc>
                  <a:txBody>
                    <a:bodyPr/>
                    <a:lstStyle/>
                    <a:p>
                      <a:pPr algn="l"/>
                      <a:r>
                        <a:rPr lang="fr-FR" sz="1200" b="1">
                          <a:solidFill>
                            <a:srgbClr val="FFFFFF"/>
                          </a:solidFill>
                          <a:latin typeface="Calibri" panose="020F0502020204030204" pitchFamily="34" charset="0"/>
                        </a:rPr>
                        <a:t>Étape</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Nom et fonction</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Date</a:t>
                      </a:r>
                    </a:p>
                  </a:txBody>
                  <a:tcPr marL="127000" marR="127000" marT="38100" marB="38100" anchor="ctr">
                    <a:solidFill>
                      <a:srgbClr val="1E1C8C"/>
                    </a:solidFill>
                  </a:tcPr>
                </a:tc>
                <a:extLst>
                  <a:ext uri="{0D108BD9-81ED-4DB2-BD59-A6C34878D82A}">
                    <a16:rowId xmlns:a16="http://schemas.microsoft.com/office/drawing/2014/main" val="3252037861"/>
                  </a:ext>
                </a:extLst>
              </a:tr>
              <a:tr h="279400">
                <a:tc>
                  <a:txBody>
                    <a:bodyPr/>
                    <a:lstStyle/>
                    <a:p>
                      <a:pPr algn="l"/>
                      <a:r>
                        <a:rPr lang="fr-FR" sz="1200" b="1">
                          <a:solidFill>
                            <a:srgbClr val="12162B"/>
                          </a:solidFill>
                          <a:latin typeface="Calibri" panose="020F0502020204030204" pitchFamily="34" charset="0"/>
                        </a:rPr>
                        <a:t>Rédaction</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Service informatique</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30/10/2026</a:t>
                      </a:r>
                    </a:p>
                  </a:txBody>
                  <a:tcPr marL="127000" marR="127000" marT="38100" marB="38100" anchor="ctr">
                    <a:solidFill>
                      <a:srgbClr val="FFFFFF"/>
                    </a:solidFill>
                  </a:tcPr>
                </a:tc>
                <a:extLst>
                  <a:ext uri="{0D108BD9-81ED-4DB2-BD59-A6C34878D82A}">
                    <a16:rowId xmlns:a16="http://schemas.microsoft.com/office/drawing/2014/main" val="3013602850"/>
                  </a:ext>
                </a:extLst>
              </a:tr>
              <a:tr h="279400">
                <a:tc>
                  <a:txBody>
                    <a:bodyPr/>
                    <a:lstStyle/>
                    <a:p>
                      <a:pPr algn="l"/>
                      <a:r>
                        <a:rPr lang="fr-FR" sz="1200" b="1">
                          <a:solidFill>
                            <a:srgbClr val="12162B"/>
                          </a:solidFill>
                          <a:latin typeface="Calibri" panose="020F0502020204030204" pitchFamily="34" charset="0"/>
                        </a:rPr>
                        <a:t>Vérification</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À renseigner</a:t>
                      </a:r>
                    </a:p>
                  </a:txBody>
                  <a:tcPr marL="127000" marR="127000" marT="38100" marB="38100" anchor="ctr">
                    <a:solidFill>
                      <a:srgbClr val="F0F2FA"/>
                    </a:solidFill>
                  </a:tcPr>
                </a:tc>
                <a:tc>
                  <a:txBody>
                    <a:bodyPr/>
                    <a:lstStyle/>
                    <a:p>
                      <a:pPr algn="l"/>
                      <a:endParaRPr lang="fr-FR" sz="1200" b="0">
                        <a:solidFill>
                          <a:srgbClr val="12162B"/>
                        </a:solidFill>
                        <a:latin typeface="Calibri" panose="020F0502020204030204" pitchFamily="34" charset="0"/>
                      </a:endParaRPr>
                    </a:p>
                  </a:txBody>
                  <a:tcPr marL="127000" marR="127000" marT="38100" marB="38100" anchor="ctr">
                    <a:solidFill>
                      <a:srgbClr val="F0F2FA"/>
                    </a:solidFill>
                  </a:tcPr>
                </a:tc>
                <a:extLst>
                  <a:ext uri="{0D108BD9-81ED-4DB2-BD59-A6C34878D82A}">
                    <a16:rowId xmlns:a16="http://schemas.microsoft.com/office/drawing/2014/main" val="2133899775"/>
                  </a:ext>
                </a:extLst>
              </a:tr>
              <a:tr h="279400">
                <a:tc>
                  <a:txBody>
                    <a:bodyPr/>
                    <a:lstStyle/>
                    <a:p>
                      <a:pPr algn="l"/>
                      <a:r>
                        <a:rPr lang="fr-FR" sz="1200" b="1">
                          <a:solidFill>
                            <a:srgbClr val="12162B"/>
                          </a:solidFill>
                          <a:latin typeface="Calibri" panose="020F0502020204030204" pitchFamily="34" charset="0"/>
                        </a:rPr>
                        <a:t>Approbation</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À renseigner (DSI)</a:t>
                      </a:r>
                    </a:p>
                  </a:txBody>
                  <a:tcPr marL="127000" marR="127000" marT="38100" marB="38100" anchor="ctr">
                    <a:solidFill>
                      <a:srgbClr val="FFFFFF"/>
                    </a:solidFill>
                  </a:tcPr>
                </a:tc>
                <a:tc>
                  <a:txBody>
                    <a:bodyPr/>
                    <a:lstStyle/>
                    <a:p>
                      <a:pPr algn="l"/>
                      <a:endParaRPr lang="fr-FR" sz="1200" b="0">
                        <a:solidFill>
                          <a:srgbClr val="12162B"/>
                        </a:solidFill>
                        <a:latin typeface="Calibri" panose="020F0502020204030204" pitchFamily="34" charset="0"/>
                      </a:endParaRPr>
                    </a:p>
                  </a:txBody>
                  <a:tcPr marL="127000" marR="127000" marT="38100" marB="38100" anchor="ctr">
                    <a:solidFill>
                      <a:srgbClr val="FFFFFF"/>
                    </a:solidFill>
                  </a:tcPr>
                </a:tc>
                <a:extLst>
                  <a:ext uri="{0D108BD9-81ED-4DB2-BD59-A6C34878D82A}">
                    <a16:rowId xmlns:a16="http://schemas.microsoft.com/office/drawing/2014/main" val="4255379452"/>
                  </a:ext>
                </a:extLst>
              </a:tr>
            </a:tbl>
          </a:graphicData>
        </a:graphic>
      </p:graphicFrame>
    </p:spTree>
    <p:extLst>
      <p:ext uri="{BB962C8B-B14F-4D97-AF65-F5344CB8AC3E}">
        <p14:creationId xmlns:p14="http://schemas.microsoft.com/office/powerpoint/2010/main" val="563004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270498-5B26-A2DF-98E1-23F42936126A}"/>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Sommaire</a:t>
            </a:r>
          </a:p>
        </p:txBody>
      </p:sp>
      <p:sp>
        <p:nvSpPr>
          <p:cNvPr id="3" name="ZoneTexte 2">
            <a:extLst>
              <a:ext uri="{FF2B5EF4-FFF2-40B4-BE49-F238E27FC236}">
                <a16:creationId xmlns:a16="http://schemas.microsoft.com/office/drawing/2014/main" id="{F597B0B8-1438-3E57-D389-B8EB79BCDC88}"/>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GOUVERNANCE</a:t>
            </a:r>
          </a:p>
        </p:txBody>
      </p:sp>
      <p:sp>
        <p:nvSpPr>
          <p:cNvPr id="4" name="ZoneTexte 3">
            <a:extLst>
              <a:ext uri="{FF2B5EF4-FFF2-40B4-BE49-F238E27FC236}">
                <a16:creationId xmlns:a16="http://schemas.microsoft.com/office/drawing/2014/main" id="{24936182-4CA4-6C3C-9E61-C7C256D724C5}"/>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Sept parties, de la vue d'ensemble aux actions attendues</a:t>
            </a:r>
          </a:p>
        </p:txBody>
      </p:sp>
      <p:sp>
        <p:nvSpPr>
          <p:cNvPr id="5" name="ZoneTexte 4">
            <a:extLst>
              <a:ext uri="{FF2B5EF4-FFF2-40B4-BE49-F238E27FC236}">
                <a16:creationId xmlns:a16="http://schemas.microsoft.com/office/drawing/2014/main" id="{CB5EF988-FEFD-B2D8-C5CA-5D6179C38AAB}"/>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CC164060-13BA-031F-8137-828BF5B66104}"/>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6CF1021A-71A7-4D22-9CC6-30207698D0E2}" type="slidenum">
              <a:rPr lang="fr-FR" sz="900" smtClean="0">
                <a:solidFill>
                  <a:srgbClr val="586080"/>
                </a:solidFill>
                <a:latin typeface="Calibri" panose="020F0502020204030204" pitchFamily="34" charset="0"/>
              </a:rPr>
              <a:t>3</a:t>
            </a:fld>
            <a:endParaRPr lang="fr-FR" sz="900">
              <a:solidFill>
                <a:srgbClr val="586080"/>
              </a:solidFill>
              <a:latin typeface="Calibri" panose="020F0502020204030204" pitchFamily="34" charset="0"/>
            </a:endParaRPr>
          </a:p>
        </p:txBody>
      </p:sp>
      <p:sp>
        <p:nvSpPr>
          <p:cNvPr id="7" name="ZoneTexte 6">
            <a:extLst>
              <a:ext uri="{FF2B5EF4-FFF2-40B4-BE49-F238E27FC236}">
                <a16:creationId xmlns:a16="http://schemas.microsoft.com/office/drawing/2014/main" id="{574A9694-08CE-E4A5-E06C-0B36F6B9419A}"/>
              </a:ext>
            </a:extLst>
          </p:cNvPr>
          <p:cNvSpPr txBox="1"/>
          <p:nvPr/>
        </p:nvSpPr>
        <p:spPr>
          <a:xfrm>
            <a:off x="609600" y="1651000"/>
            <a:ext cx="889000" cy="508000"/>
          </a:xfrm>
          <a:prstGeom prst="rect">
            <a:avLst/>
          </a:prstGeom>
          <a:noFill/>
        </p:spPr>
        <p:txBody>
          <a:bodyPr vert="horz" wrap="square" lIns="0" tIns="0" rIns="0" bIns="0" rtlCol="0">
            <a:noAutofit/>
          </a:bodyPr>
          <a:lstStyle/>
          <a:p>
            <a:r>
              <a:rPr lang="fr-FR" sz="3000" b="1">
                <a:solidFill>
                  <a:srgbClr val="5853FF"/>
                </a:solidFill>
                <a:latin typeface="Calibri" panose="020F0502020204030204" pitchFamily="34" charset="0"/>
              </a:rPr>
              <a:t>01</a:t>
            </a:r>
          </a:p>
        </p:txBody>
      </p:sp>
      <p:sp>
        <p:nvSpPr>
          <p:cNvPr id="8" name="ZoneTexte 7">
            <a:extLst>
              <a:ext uri="{FF2B5EF4-FFF2-40B4-BE49-F238E27FC236}">
                <a16:creationId xmlns:a16="http://schemas.microsoft.com/office/drawing/2014/main" id="{9CB03A4B-2CC0-49BF-02CC-D7479C3571BD}"/>
              </a:ext>
            </a:extLst>
          </p:cNvPr>
          <p:cNvSpPr txBox="1"/>
          <p:nvPr/>
        </p:nvSpPr>
        <p:spPr>
          <a:xfrm>
            <a:off x="1651000" y="1651000"/>
            <a:ext cx="3810000" cy="304800"/>
          </a:xfrm>
          <a:prstGeom prst="rect">
            <a:avLst/>
          </a:prstGeom>
          <a:noFill/>
        </p:spPr>
        <p:txBody>
          <a:bodyPr vert="horz" wrap="square" lIns="0" tIns="0" rIns="0" bIns="0" rtlCol="0">
            <a:noAutofit/>
          </a:bodyPr>
          <a:lstStyle/>
          <a:p>
            <a:r>
              <a:rPr lang="fr-FR" sz="1900" b="1">
                <a:solidFill>
                  <a:srgbClr val="1E1C8C"/>
                </a:solidFill>
                <a:latin typeface="Calibri" panose="020F0502020204030204" pitchFamily="34" charset="0"/>
              </a:rPr>
              <a:t>Vue d'ensemble</a:t>
            </a:r>
          </a:p>
        </p:txBody>
      </p:sp>
      <p:sp>
        <p:nvSpPr>
          <p:cNvPr id="9" name="ZoneTexte 8">
            <a:extLst>
              <a:ext uri="{FF2B5EF4-FFF2-40B4-BE49-F238E27FC236}">
                <a16:creationId xmlns:a16="http://schemas.microsoft.com/office/drawing/2014/main" id="{7DE58F99-AC13-A60A-288C-78E25711ACC2}"/>
              </a:ext>
            </a:extLst>
          </p:cNvPr>
          <p:cNvSpPr txBox="1"/>
          <p:nvPr/>
        </p:nvSpPr>
        <p:spPr>
          <a:xfrm>
            <a:off x="1651000" y="1955800"/>
            <a:ext cx="6604000" cy="254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Finalité, cycle de vie, les huit onglets</a:t>
            </a:r>
          </a:p>
        </p:txBody>
      </p:sp>
      <p:sp>
        <p:nvSpPr>
          <p:cNvPr id="10" name="ZoneTexte 9">
            <a:extLst>
              <a:ext uri="{FF2B5EF4-FFF2-40B4-BE49-F238E27FC236}">
                <a16:creationId xmlns:a16="http://schemas.microsoft.com/office/drawing/2014/main" id="{A8B92031-2846-884B-E3F3-6D1F2B9A7C74}"/>
              </a:ext>
            </a:extLst>
          </p:cNvPr>
          <p:cNvSpPr txBox="1"/>
          <p:nvPr/>
        </p:nvSpPr>
        <p:spPr>
          <a:xfrm>
            <a:off x="609600" y="2311400"/>
            <a:ext cx="889000" cy="508000"/>
          </a:xfrm>
          <a:prstGeom prst="rect">
            <a:avLst/>
          </a:prstGeom>
          <a:noFill/>
        </p:spPr>
        <p:txBody>
          <a:bodyPr vert="horz" wrap="square" lIns="0" tIns="0" rIns="0" bIns="0" rtlCol="0">
            <a:noAutofit/>
          </a:bodyPr>
          <a:lstStyle/>
          <a:p>
            <a:r>
              <a:rPr lang="fr-FR" sz="3000" b="1">
                <a:solidFill>
                  <a:srgbClr val="5853FF"/>
                </a:solidFill>
                <a:latin typeface="Calibri" panose="020F0502020204030204" pitchFamily="34" charset="0"/>
              </a:rPr>
              <a:t>02</a:t>
            </a:r>
          </a:p>
        </p:txBody>
      </p:sp>
      <p:sp>
        <p:nvSpPr>
          <p:cNvPr id="11" name="ZoneTexte 10">
            <a:extLst>
              <a:ext uri="{FF2B5EF4-FFF2-40B4-BE49-F238E27FC236}">
                <a16:creationId xmlns:a16="http://schemas.microsoft.com/office/drawing/2014/main" id="{53E97D60-B5C2-8D23-005D-91373F99733D}"/>
              </a:ext>
            </a:extLst>
          </p:cNvPr>
          <p:cNvSpPr txBox="1"/>
          <p:nvPr/>
        </p:nvSpPr>
        <p:spPr>
          <a:xfrm>
            <a:off x="1651000" y="2311400"/>
            <a:ext cx="3810000" cy="304800"/>
          </a:xfrm>
          <a:prstGeom prst="rect">
            <a:avLst/>
          </a:prstGeom>
          <a:noFill/>
        </p:spPr>
        <p:txBody>
          <a:bodyPr vert="horz" wrap="square" lIns="0" tIns="0" rIns="0" bIns="0" rtlCol="0">
            <a:noAutofit/>
          </a:bodyPr>
          <a:lstStyle/>
          <a:p>
            <a:r>
              <a:rPr lang="fr-FR" sz="1900" b="1">
                <a:solidFill>
                  <a:srgbClr val="1E1C8C"/>
                </a:solidFill>
                <a:latin typeface="Calibri" panose="020F0502020204030204" pitchFamily="34" charset="0"/>
              </a:rPr>
              <a:t>Fonctions</a:t>
            </a:r>
          </a:p>
        </p:txBody>
      </p:sp>
      <p:sp>
        <p:nvSpPr>
          <p:cNvPr id="12" name="ZoneTexte 11">
            <a:extLst>
              <a:ext uri="{FF2B5EF4-FFF2-40B4-BE49-F238E27FC236}">
                <a16:creationId xmlns:a16="http://schemas.microsoft.com/office/drawing/2014/main" id="{DD7FA819-2CC6-BD66-094A-C540DE6D8053}"/>
              </a:ext>
            </a:extLst>
          </p:cNvPr>
          <p:cNvSpPr txBox="1"/>
          <p:nvPr/>
        </p:nvSpPr>
        <p:spPr>
          <a:xfrm>
            <a:off x="1651000" y="2616200"/>
            <a:ext cx="6604000" cy="254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Prêts, retours, inventaire, attestations, archives, QR, recherche, rapports, rôles, thèmes</a:t>
            </a:r>
          </a:p>
        </p:txBody>
      </p:sp>
      <p:sp>
        <p:nvSpPr>
          <p:cNvPr id="13" name="ZoneTexte 12">
            <a:extLst>
              <a:ext uri="{FF2B5EF4-FFF2-40B4-BE49-F238E27FC236}">
                <a16:creationId xmlns:a16="http://schemas.microsoft.com/office/drawing/2014/main" id="{1EC96871-8F0E-2367-0FD5-704128005A54}"/>
              </a:ext>
            </a:extLst>
          </p:cNvPr>
          <p:cNvSpPr txBox="1"/>
          <p:nvPr/>
        </p:nvSpPr>
        <p:spPr>
          <a:xfrm>
            <a:off x="609600" y="2971800"/>
            <a:ext cx="889000" cy="508000"/>
          </a:xfrm>
          <a:prstGeom prst="rect">
            <a:avLst/>
          </a:prstGeom>
          <a:noFill/>
        </p:spPr>
        <p:txBody>
          <a:bodyPr vert="horz" wrap="square" lIns="0" tIns="0" rIns="0" bIns="0" rtlCol="0">
            <a:noAutofit/>
          </a:bodyPr>
          <a:lstStyle/>
          <a:p>
            <a:r>
              <a:rPr lang="fr-FR" sz="3000" b="1">
                <a:solidFill>
                  <a:srgbClr val="5853FF"/>
                </a:solidFill>
                <a:latin typeface="Calibri" panose="020F0502020204030204" pitchFamily="34" charset="0"/>
              </a:rPr>
              <a:t>03</a:t>
            </a:r>
          </a:p>
        </p:txBody>
      </p:sp>
      <p:sp>
        <p:nvSpPr>
          <p:cNvPr id="14" name="ZoneTexte 13">
            <a:extLst>
              <a:ext uri="{FF2B5EF4-FFF2-40B4-BE49-F238E27FC236}">
                <a16:creationId xmlns:a16="http://schemas.microsoft.com/office/drawing/2014/main" id="{896D697D-4614-52B2-6349-18036DC5EB4B}"/>
              </a:ext>
            </a:extLst>
          </p:cNvPr>
          <p:cNvSpPr txBox="1"/>
          <p:nvPr/>
        </p:nvSpPr>
        <p:spPr>
          <a:xfrm>
            <a:off x="1651000" y="2971800"/>
            <a:ext cx="3810000" cy="304800"/>
          </a:xfrm>
          <a:prstGeom prst="rect">
            <a:avLst/>
          </a:prstGeom>
          <a:noFill/>
        </p:spPr>
        <p:txBody>
          <a:bodyPr vert="horz" wrap="square" lIns="0" tIns="0" rIns="0" bIns="0" rtlCol="0">
            <a:noAutofit/>
          </a:bodyPr>
          <a:lstStyle/>
          <a:p>
            <a:r>
              <a:rPr lang="fr-FR" sz="1900" b="1">
                <a:solidFill>
                  <a:srgbClr val="1E1C8C"/>
                </a:solidFill>
                <a:latin typeface="Calibri" panose="020F0502020204030204" pitchFamily="34" charset="0"/>
              </a:rPr>
              <a:t>Gouvernance</a:t>
            </a:r>
          </a:p>
        </p:txBody>
      </p:sp>
      <p:sp>
        <p:nvSpPr>
          <p:cNvPr id="15" name="ZoneTexte 14">
            <a:extLst>
              <a:ext uri="{FF2B5EF4-FFF2-40B4-BE49-F238E27FC236}">
                <a16:creationId xmlns:a16="http://schemas.microsoft.com/office/drawing/2014/main" id="{FD0EFBA9-0FE1-FAF0-664D-8948CEEA6C03}"/>
              </a:ext>
            </a:extLst>
          </p:cNvPr>
          <p:cNvSpPr txBox="1"/>
          <p:nvPr/>
        </p:nvSpPr>
        <p:spPr>
          <a:xfrm>
            <a:off x="1651000" y="3276600"/>
            <a:ext cx="6604000" cy="254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Rôles et responsabilités, règles de gestion</a:t>
            </a:r>
          </a:p>
        </p:txBody>
      </p:sp>
      <p:sp>
        <p:nvSpPr>
          <p:cNvPr id="16" name="ZoneTexte 15">
            <a:extLst>
              <a:ext uri="{FF2B5EF4-FFF2-40B4-BE49-F238E27FC236}">
                <a16:creationId xmlns:a16="http://schemas.microsoft.com/office/drawing/2014/main" id="{A84FC225-7D94-28A7-0C2E-FC3701384B64}"/>
              </a:ext>
            </a:extLst>
          </p:cNvPr>
          <p:cNvSpPr txBox="1"/>
          <p:nvPr/>
        </p:nvSpPr>
        <p:spPr>
          <a:xfrm>
            <a:off x="609600" y="3632200"/>
            <a:ext cx="889000" cy="508000"/>
          </a:xfrm>
          <a:prstGeom prst="rect">
            <a:avLst/>
          </a:prstGeom>
          <a:noFill/>
        </p:spPr>
        <p:txBody>
          <a:bodyPr vert="horz" wrap="square" lIns="0" tIns="0" rIns="0" bIns="0" rtlCol="0">
            <a:noAutofit/>
          </a:bodyPr>
          <a:lstStyle/>
          <a:p>
            <a:r>
              <a:rPr lang="fr-FR" sz="3000" b="1">
                <a:solidFill>
                  <a:srgbClr val="5853FF"/>
                </a:solidFill>
                <a:latin typeface="Calibri" panose="020F0502020204030204" pitchFamily="34" charset="0"/>
              </a:rPr>
              <a:t>04</a:t>
            </a:r>
          </a:p>
        </p:txBody>
      </p:sp>
      <p:sp>
        <p:nvSpPr>
          <p:cNvPr id="17" name="ZoneTexte 16">
            <a:extLst>
              <a:ext uri="{FF2B5EF4-FFF2-40B4-BE49-F238E27FC236}">
                <a16:creationId xmlns:a16="http://schemas.microsoft.com/office/drawing/2014/main" id="{7EB53325-93A8-B3C5-8896-ECE5821F8EA6}"/>
              </a:ext>
            </a:extLst>
          </p:cNvPr>
          <p:cNvSpPr txBox="1"/>
          <p:nvPr/>
        </p:nvSpPr>
        <p:spPr>
          <a:xfrm>
            <a:off x="1651000" y="3632200"/>
            <a:ext cx="3810000" cy="304800"/>
          </a:xfrm>
          <a:prstGeom prst="rect">
            <a:avLst/>
          </a:prstGeom>
          <a:noFill/>
        </p:spPr>
        <p:txBody>
          <a:bodyPr vert="horz" wrap="square" lIns="0" tIns="0" rIns="0" bIns="0" rtlCol="0">
            <a:noAutofit/>
          </a:bodyPr>
          <a:lstStyle/>
          <a:p>
            <a:r>
              <a:rPr lang="fr-FR" sz="1900" b="1">
                <a:solidFill>
                  <a:srgbClr val="1E1C8C"/>
                </a:solidFill>
                <a:latin typeface="Calibri" panose="020F0502020204030204" pitchFamily="34" charset="0"/>
              </a:rPr>
              <a:t>Architecture et sécurité</a:t>
            </a:r>
          </a:p>
        </p:txBody>
      </p:sp>
      <p:sp>
        <p:nvSpPr>
          <p:cNvPr id="18" name="ZoneTexte 17">
            <a:extLst>
              <a:ext uri="{FF2B5EF4-FFF2-40B4-BE49-F238E27FC236}">
                <a16:creationId xmlns:a16="http://schemas.microsoft.com/office/drawing/2014/main" id="{B7ECF30E-998E-1057-55DC-F45BC3C21785}"/>
              </a:ext>
            </a:extLst>
          </p:cNvPr>
          <p:cNvSpPr txBox="1"/>
          <p:nvPr/>
        </p:nvSpPr>
        <p:spPr>
          <a:xfrm>
            <a:off x="1651000" y="3937000"/>
            <a:ext cx="6604000" cy="254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Composants, accès, données personnelles</a:t>
            </a:r>
          </a:p>
        </p:txBody>
      </p:sp>
      <p:sp>
        <p:nvSpPr>
          <p:cNvPr id="19" name="ZoneTexte 18">
            <a:extLst>
              <a:ext uri="{FF2B5EF4-FFF2-40B4-BE49-F238E27FC236}">
                <a16:creationId xmlns:a16="http://schemas.microsoft.com/office/drawing/2014/main" id="{6CC71D0F-D6A1-FC33-906F-6D552F7F62CC}"/>
              </a:ext>
            </a:extLst>
          </p:cNvPr>
          <p:cNvSpPr txBox="1"/>
          <p:nvPr/>
        </p:nvSpPr>
        <p:spPr>
          <a:xfrm>
            <a:off x="609600" y="4292600"/>
            <a:ext cx="889000" cy="508000"/>
          </a:xfrm>
          <a:prstGeom prst="rect">
            <a:avLst/>
          </a:prstGeom>
          <a:noFill/>
        </p:spPr>
        <p:txBody>
          <a:bodyPr vert="horz" wrap="square" lIns="0" tIns="0" rIns="0" bIns="0" rtlCol="0">
            <a:noAutofit/>
          </a:bodyPr>
          <a:lstStyle/>
          <a:p>
            <a:r>
              <a:rPr lang="fr-FR" sz="3000" b="1">
                <a:solidFill>
                  <a:srgbClr val="5853FF"/>
                </a:solidFill>
                <a:latin typeface="Calibri" panose="020F0502020204030204" pitchFamily="34" charset="0"/>
              </a:rPr>
              <a:t>05</a:t>
            </a:r>
          </a:p>
        </p:txBody>
      </p:sp>
      <p:sp>
        <p:nvSpPr>
          <p:cNvPr id="20" name="ZoneTexte 19">
            <a:extLst>
              <a:ext uri="{FF2B5EF4-FFF2-40B4-BE49-F238E27FC236}">
                <a16:creationId xmlns:a16="http://schemas.microsoft.com/office/drawing/2014/main" id="{7E5DF173-3421-6541-CB60-8A7C5A1596E2}"/>
              </a:ext>
            </a:extLst>
          </p:cNvPr>
          <p:cNvSpPr txBox="1"/>
          <p:nvPr/>
        </p:nvSpPr>
        <p:spPr>
          <a:xfrm>
            <a:off x="1651000" y="4292600"/>
            <a:ext cx="3810000" cy="304800"/>
          </a:xfrm>
          <a:prstGeom prst="rect">
            <a:avLst/>
          </a:prstGeom>
          <a:noFill/>
        </p:spPr>
        <p:txBody>
          <a:bodyPr vert="horz" wrap="square" lIns="0" tIns="0" rIns="0" bIns="0" rtlCol="0">
            <a:noAutofit/>
          </a:bodyPr>
          <a:lstStyle/>
          <a:p>
            <a:r>
              <a:rPr lang="fr-FR" sz="1900" b="1">
                <a:solidFill>
                  <a:srgbClr val="1E1C8C"/>
                </a:solidFill>
                <a:latin typeface="Calibri" panose="020F0502020204030204" pitchFamily="34" charset="0"/>
              </a:rPr>
              <a:t>Sauvegarde</a:t>
            </a:r>
          </a:p>
        </p:txBody>
      </p:sp>
      <p:sp>
        <p:nvSpPr>
          <p:cNvPr id="21" name="ZoneTexte 20">
            <a:extLst>
              <a:ext uri="{FF2B5EF4-FFF2-40B4-BE49-F238E27FC236}">
                <a16:creationId xmlns:a16="http://schemas.microsoft.com/office/drawing/2014/main" id="{42C1A95A-BC55-0073-BB94-5315AB43B554}"/>
              </a:ext>
            </a:extLst>
          </p:cNvPr>
          <p:cNvSpPr txBox="1"/>
          <p:nvPr/>
        </p:nvSpPr>
        <p:spPr>
          <a:xfrm>
            <a:off x="1651000" y="4597400"/>
            <a:ext cx="6604000" cy="254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Où, comment, en cas d'échec</a:t>
            </a:r>
          </a:p>
        </p:txBody>
      </p:sp>
      <p:sp>
        <p:nvSpPr>
          <p:cNvPr id="22" name="ZoneTexte 21">
            <a:extLst>
              <a:ext uri="{FF2B5EF4-FFF2-40B4-BE49-F238E27FC236}">
                <a16:creationId xmlns:a16="http://schemas.microsoft.com/office/drawing/2014/main" id="{73E9EA6C-9913-30F0-0B08-DB2F581A9A93}"/>
              </a:ext>
            </a:extLst>
          </p:cNvPr>
          <p:cNvSpPr txBox="1"/>
          <p:nvPr/>
        </p:nvSpPr>
        <p:spPr>
          <a:xfrm>
            <a:off x="609600" y="4953000"/>
            <a:ext cx="889000" cy="508000"/>
          </a:xfrm>
          <a:prstGeom prst="rect">
            <a:avLst/>
          </a:prstGeom>
          <a:noFill/>
        </p:spPr>
        <p:txBody>
          <a:bodyPr vert="horz" wrap="square" lIns="0" tIns="0" rIns="0" bIns="0" rtlCol="0">
            <a:noAutofit/>
          </a:bodyPr>
          <a:lstStyle/>
          <a:p>
            <a:r>
              <a:rPr lang="fr-FR" sz="3000" b="1">
                <a:solidFill>
                  <a:srgbClr val="5853FF"/>
                </a:solidFill>
                <a:latin typeface="Calibri" panose="020F0502020204030204" pitchFamily="34" charset="0"/>
              </a:rPr>
              <a:t>06</a:t>
            </a:r>
          </a:p>
        </p:txBody>
      </p:sp>
      <p:sp>
        <p:nvSpPr>
          <p:cNvPr id="23" name="ZoneTexte 22">
            <a:extLst>
              <a:ext uri="{FF2B5EF4-FFF2-40B4-BE49-F238E27FC236}">
                <a16:creationId xmlns:a16="http://schemas.microsoft.com/office/drawing/2014/main" id="{466DB639-8F80-4E2F-81C5-9F056DEBEC81}"/>
              </a:ext>
            </a:extLst>
          </p:cNvPr>
          <p:cNvSpPr txBox="1"/>
          <p:nvPr/>
        </p:nvSpPr>
        <p:spPr>
          <a:xfrm>
            <a:off x="1651000" y="4953000"/>
            <a:ext cx="3810000" cy="304800"/>
          </a:xfrm>
          <a:prstGeom prst="rect">
            <a:avLst/>
          </a:prstGeom>
          <a:noFill/>
        </p:spPr>
        <p:txBody>
          <a:bodyPr vert="horz" wrap="square" lIns="0" tIns="0" rIns="0" bIns="0" rtlCol="0">
            <a:noAutofit/>
          </a:bodyPr>
          <a:lstStyle/>
          <a:p>
            <a:r>
              <a:rPr lang="fr-FR" sz="1900" b="1">
                <a:solidFill>
                  <a:srgbClr val="1E1C8C"/>
                </a:solidFill>
                <a:latin typeface="Calibri" panose="020F0502020204030204" pitchFamily="34" charset="0"/>
              </a:rPr>
              <a:t>Qualité</a:t>
            </a:r>
          </a:p>
        </p:txBody>
      </p:sp>
      <p:sp>
        <p:nvSpPr>
          <p:cNvPr id="24" name="ZoneTexte 23">
            <a:extLst>
              <a:ext uri="{FF2B5EF4-FFF2-40B4-BE49-F238E27FC236}">
                <a16:creationId xmlns:a16="http://schemas.microsoft.com/office/drawing/2014/main" id="{B099BFF3-DD7F-05FF-ED7D-A5EC3C88A4A6}"/>
              </a:ext>
            </a:extLst>
          </p:cNvPr>
          <p:cNvSpPr txBox="1"/>
          <p:nvPr/>
        </p:nvSpPr>
        <p:spPr>
          <a:xfrm>
            <a:off x="1651000" y="5257800"/>
            <a:ext cx="6604000" cy="254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Plan de recette, risques</a:t>
            </a:r>
          </a:p>
        </p:txBody>
      </p:sp>
      <p:sp>
        <p:nvSpPr>
          <p:cNvPr id="25" name="ZoneTexte 24">
            <a:extLst>
              <a:ext uri="{FF2B5EF4-FFF2-40B4-BE49-F238E27FC236}">
                <a16:creationId xmlns:a16="http://schemas.microsoft.com/office/drawing/2014/main" id="{DFF5938E-9230-A595-A47C-C7440DB92E60}"/>
              </a:ext>
            </a:extLst>
          </p:cNvPr>
          <p:cNvSpPr txBox="1"/>
          <p:nvPr/>
        </p:nvSpPr>
        <p:spPr>
          <a:xfrm>
            <a:off x="609600" y="5613400"/>
            <a:ext cx="889000" cy="508000"/>
          </a:xfrm>
          <a:prstGeom prst="rect">
            <a:avLst/>
          </a:prstGeom>
          <a:noFill/>
        </p:spPr>
        <p:txBody>
          <a:bodyPr vert="horz" wrap="square" lIns="0" tIns="0" rIns="0" bIns="0" rtlCol="0">
            <a:noAutofit/>
          </a:bodyPr>
          <a:lstStyle/>
          <a:p>
            <a:r>
              <a:rPr lang="fr-FR" sz="3000" b="1">
                <a:solidFill>
                  <a:srgbClr val="5853FF"/>
                </a:solidFill>
                <a:latin typeface="Calibri" panose="020F0502020204030204" pitchFamily="34" charset="0"/>
              </a:rPr>
              <a:t>07</a:t>
            </a:r>
          </a:p>
        </p:txBody>
      </p:sp>
      <p:sp>
        <p:nvSpPr>
          <p:cNvPr id="26" name="ZoneTexte 25">
            <a:extLst>
              <a:ext uri="{FF2B5EF4-FFF2-40B4-BE49-F238E27FC236}">
                <a16:creationId xmlns:a16="http://schemas.microsoft.com/office/drawing/2014/main" id="{441735EE-868D-ED36-C24C-1C93C934D1AA}"/>
              </a:ext>
            </a:extLst>
          </p:cNvPr>
          <p:cNvSpPr txBox="1"/>
          <p:nvPr/>
        </p:nvSpPr>
        <p:spPr>
          <a:xfrm>
            <a:off x="1651000" y="5613400"/>
            <a:ext cx="3810000" cy="304800"/>
          </a:xfrm>
          <a:prstGeom prst="rect">
            <a:avLst/>
          </a:prstGeom>
          <a:noFill/>
        </p:spPr>
        <p:txBody>
          <a:bodyPr vert="horz" wrap="square" lIns="0" tIns="0" rIns="0" bIns="0" rtlCol="0">
            <a:noAutofit/>
          </a:bodyPr>
          <a:lstStyle/>
          <a:p>
            <a:r>
              <a:rPr lang="fr-FR" sz="1900" b="1">
                <a:solidFill>
                  <a:srgbClr val="1E1C8C"/>
                </a:solidFill>
                <a:latin typeface="Calibri" panose="020F0502020204030204" pitchFamily="34" charset="0"/>
              </a:rPr>
              <a:t>Exploitation</a:t>
            </a:r>
          </a:p>
        </p:txBody>
      </p:sp>
      <p:sp>
        <p:nvSpPr>
          <p:cNvPr id="27" name="ZoneTexte 26">
            <a:extLst>
              <a:ext uri="{FF2B5EF4-FFF2-40B4-BE49-F238E27FC236}">
                <a16:creationId xmlns:a16="http://schemas.microsoft.com/office/drawing/2014/main" id="{247D1DE0-2967-B373-5AC7-5E8F5AB5448C}"/>
              </a:ext>
            </a:extLst>
          </p:cNvPr>
          <p:cNvSpPr txBox="1"/>
          <p:nvPr/>
        </p:nvSpPr>
        <p:spPr>
          <a:xfrm>
            <a:off x="1651000" y="5918200"/>
            <a:ext cx="6604000" cy="254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Mises à jour, limites, actions attendues</a:t>
            </a:r>
          </a:p>
        </p:txBody>
      </p:sp>
      <p:sp>
        <p:nvSpPr>
          <p:cNvPr id="28" name="Rectangle : coins arrondis 27">
            <a:extLst>
              <a:ext uri="{FF2B5EF4-FFF2-40B4-BE49-F238E27FC236}">
                <a16:creationId xmlns:a16="http://schemas.microsoft.com/office/drawing/2014/main" id="{B0D9C9C4-8650-168C-B693-A2B6BDC7AD24}"/>
              </a:ext>
            </a:extLst>
          </p:cNvPr>
          <p:cNvSpPr/>
          <p:nvPr/>
        </p:nvSpPr>
        <p:spPr>
          <a:xfrm>
            <a:off x="8382000" y="1625600"/>
            <a:ext cx="3200400" cy="4572000"/>
          </a:xfrm>
          <a:prstGeom prst="roundRect">
            <a:avLst>
              <a:gd name="adj" fmla="val 4500"/>
            </a:avLst>
          </a:prstGeom>
          <a:solidFill>
            <a:srgbClr val="1E1C8C"/>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9BC1B7FC-0773-537B-65C7-0D276198F488}"/>
              </a:ext>
            </a:extLst>
          </p:cNvPr>
          <p:cNvSpPr txBox="1"/>
          <p:nvPr/>
        </p:nvSpPr>
        <p:spPr>
          <a:xfrm>
            <a:off x="8661400" y="1854200"/>
            <a:ext cx="2667000" cy="254000"/>
          </a:xfrm>
          <a:prstGeom prst="rect">
            <a:avLst/>
          </a:prstGeom>
          <a:noFill/>
        </p:spPr>
        <p:txBody>
          <a:bodyPr vert="horz" wrap="square" lIns="0" tIns="0" rIns="0" bIns="0" rtlCol="0">
            <a:noAutofit/>
          </a:bodyPr>
          <a:lstStyle/>
          <a:p>
            <a:r>
              <a:rPr lang="fr-FR" sz="1100" b="1">
                <a:solidFill>
                  <a:srgbClr val="B9B6FF"/>
                </a:solidFill>
                <a:latin typeface="Calibri" panose="020F0502020204030204" pitchFamily="34" charset="0"/>
              </a:rPr>
              <a:t>EN BREF</a:t>
            </a:r>
          </a:p>
        </p:txBody>
      </p:sp>
      <p:sp>
        <p:nvSpPr>
          <p:cNvPr id="30" name="ZoneTexte 29">
            <a:extLst>
              <a:ext uri="{FF2B5EF4-FFF2-40B4-BE49-F238E27FC236}">
                <a16:creationId xmlns:a16="http://schemas.microsoft.com/office/drawing/2014/main" id="{A1E62479-F608-54A5-80E5-F33074F39401}"/>
              </a:ext>
            </a:extLst>
          </p:cNvPr>
          <p:cNvSpPr txBox="1"/>
          <p:nvPr/>
        </p:nvSpPr>
        <p:spPr>
          <a:xfrm>
            <a:off x="8661400" y="2184400"/>
            <a:ext cx="2667000" cy="3810000"/>
          </a:xfrm>
          <a:prstGeom prst="rect">
            <a:avLst/>
          </a:prstGeom>
          <a:noFill/>
        </p:spPr>
        <p:txBody>
          <a:bodyPr vert="horz" wrap="square" lIns="0" tIns="0" rIns="0" bIns="0" rtlCol="0">
            <a:noAutofit/>
          </a:bodyPr>
          <a:lstStyle/>
          <a:p>
            <a:r>
              <a:rPr lang="fr-FR" sz="1500">
                <a:solidFill>
                  <a:srgbClr val="FFFFFF"/>
                </a:solidFill>
                <a:latin typeface="Calibri" panose="020F0502020204030204" pitchFamily="34" charset="0"/>
              </a:rPr>
              <a:t>Un outil pour savoir qui détient quel matériel, prouver ce qui a été restitué par une attestation datée et signée, et suivre les pertes.</a:t>
            </a:r>
          </a:p>
          <a:p>
            <a:endParaRPr lang="fr-FR" sz="1500">
              <a:solidFill>
                <a:srgbClr val="FFFFFF"/>
              </a:solidFill>
              <a:latin typeface="Calibri" panose="020F0502020204030204" pitchFamily="34" charset="0"/>
            </a:endParaRPr>
          </a:p>
          <a:p>
            <a:r>
              <a:rPr lang="fr-FR" sz="1500">
                <a:solidFill>
                  <a:srgbClr val="FFFFFF"/>
                </a:solidFill>
                <a:latin typeface="Calibri" panose="020F0502020204030204" pitchFamily="34" charset="0"/>
              </a:rPr>
              <a:t>PC, tablette, téléphone.</a:t>
            </a:r>
          </a:p>
          <a:p>
            <a:r>
              <a:rPr lang="fr-FR" sz="1500">
                <a:solidFill>
                  <a:srgbClr val="FFFFFF"/>
                </a:solidFill>
                <a:latin typeface="Calibri" panose="020F0502020204030204" pitchFamily="34" charset="0"/>
              </a:rPr>
              <a:t>Chaque action est tracée.</a:t>
            </a:r>
          </a:p>
        </p:txBody>
      </p:sp>
    </p:spTree>
    <p:extLst>
      <p:ext uri="{BB962C8B-B14F-4D97-AF65-F5344CB8AC3E}">
        <p14:creationId xmlns:p14="http://schemas.microsoft.com/office/powerpoint/2010/main" val="2954410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1C8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DAD236-AE66-AA7A-E211-2F20045EB794}"/>
              </a:ext>
            </a:extLst>
          </p:cNvPr>
          <p:cNvSpPr>
            <a:spLocks noGrp="1"/>
          </p:cNvSpPr>
          <p:nvPr>
            <p:ph type="title"/>
          </p:nvPr>
        </p:nvSpPr>
        <p:spPr>
          <a:xfrm>
            <a:off x="1219200" y="2997200"/>
            <a:ext cx="7874000" cy="889000"/>
          </a:xfrm>
        </p:spPr>
        <p:txBody>
          <a:bodyPr lIns="0" anchor="ctr">
            <a:normAutofit/>
          </a:bodyPr>
          <a:lstStyle/>
          <a:p>
            <a:r>
              <a:rPr lang="fr-FR" b="1">
                <a:solidFill>
                  <a:srgbClr val="FFFFFF"/>
                </a:solidFill>
                <a:latin typeface="Calibri" panose="020F0502020204030204" pitchFamily="34" charset="0"/>
              </a:rPr>
              <a:t>Vue d'ensemble</a:t>
            </a:r>
          </a:p>
        </p:txBody>
      </p:sp>
      <p:sp>
        <p:nvSpPr>
          <p:cNvPr id="3" name="ZoneTexte 2">
            <a:extLst>
              <a:ext uri="{FF2B5EF4-FFF2-40B4-BE49-F238E27FC236}">
                <a16:creationId xmlns:a16="http://schemas.microsoft.com/office/drawing/2014/main" id="{FA7F1271-A79F-240B-C075-E17E6480784B}"/>
              </a:ext>
            </a:extLst>
          </p:cNvPr>
          <p:cNvSpPr txBox="1"/>
          <p:nvPr/>
        </p:nvSpPr>
        <p:spPr>
          <a:xfrm>
            <a:off x="1219200" y="1905000"/>
            <a:ext cx="3810000" cy="1016000"/>
          </a:xfrm>
          <a:prstGeom prst="rect">
            <a:avLst/>
          </a:prstGeom>
          <a:noFill/>
        </p:spPr>
        <p:txBody>
          <a:bodyPr vert="horz" wrap="square" lIns="0" tIns="0" rIns="0" bIns="0" rtlCol="0">
            <a:noAutofit/>
          </a:bodyPr>
          <a:lstStyle/>
          <a:p>
            <a:r>
              <a:rPr lang="fr-FR" sz="8000" b="1">
                <a:solidFill>
                  <a:srgbClr val="5853FF"/>
                </a:solidFill>
                <a:latin typeface="Calibri" panose="020F0502020204030204" pitchFamily="34" charset="0"/>
              </a:rPr>
              <a:t>01</a:t>
            </a:r>
          </a:p>
        </p:txBody>
      </p:sp>
      <p:sp>
        <p:nvSpPr>
          <p:cNvPr id="4" name="ZoneTexte 3">
            <a:extLst>
              <a:ext uri="{FF2B5EF4-FFF2-40B4-BE49-F238E27FC236}">
                <a16:creationId xmlns:a16="http://schemas.microsoft.com/office/drawing/2014/main" id="{D5EE185B-C0F3-5EBB-D749-745D307238A2}"/>
              </a:ext>
            </a:extLst>
          </p:cNvPr>
          <p:cNvSpPr txBox="1"/>
          <p:nvPr/>
        </p:nvSpPr>
        <p:spPr>
          <a:xfrm>
            <a:off x="1219200" y="4013200"/>
            <a:ext cx="7874000" cy="762000"/>
          </a:xfrm>
          <a:prstGeom prst="rect">
            <a:avLst/>
          </a:prstGeom>
          <a:noFill/>
        </p:spPr>
        <p:txBody>
          <a:bodyPr vert="horz" wrap="square" lIns="0" tIns="0" rIns="0" bIns="0" rtlCol="0">
            <a:noAutofit/>
          </a:bodyPr>
          <a:lstStyle/>
          <a:p>
            <a:r>
              <a:rPr lang="fr-FR" sz="2000">
                <a:solidFill>
                  <a:srgbClr val="AEB9E3"/>
                </a:solidFill>
                <a:latin typeface="Calibri" panose="020F0502020204030204" pitchFamily="34" charset="0"/>
              </a:rPr>
              <a:t>Finalité, cycle de vie et onglets</a:t>
            </a:r>
          </a:p>
        </p:txBody>
      </p:sp>
      <p:pic>
        <p:nvPicPr>
          <p:cNvPr id="6" name="Image 5">
            <a:extLst>
              <a:ext uri="{FF2B5EF4-FFF2-40B4-BE49-F238E27FC236}">
                <a16:creationId xmlns:a16="http://schemas.microsoft.com/office/drawing/2014/main" id="{7D30AB2E-DE9A-60FF-14ED-0231B6EB2AD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382000" y="1651000"/>
            <a:ext cx="3302000" cy="3302000"/>
          </a:xfrm>
          <a:prstGeom prst="rect">
            <a:avLst/>
          </a:prstGeom>
        </p:spPr>
      </p:pic>
      <p:sp>
        <p:nvSpPr>
          <p:cNvPr id="7" name="ZoneTexte 6">
            <a:extLst>
              <a:ext uri="{FF2B5EF4-FFF2-40B4-BE49-F238E27FC236}">
                <a16:creationId xmlns:a16="http://schemas.microsoft.com/office/drawing/2014/main" id="{906FEE45-CAD9-833A-2D26-6A7C9C1C7697}"/>
              </a:ext>
            </a:extLst>
          </p:cNvPr>
          <p:cNvSpPr txBox="1"/>
          <p:nvPr/>
        </p:nvSpPr>
        <p:spPr>
          <a:xfrm>
            <a:off x="1219200" y="6350000"/>
            <a:ext cx="8890000" cy="177800"/>
          </a:xfrm>
          <a:prstGeom prst="rect">
            <a:avLst/>
          </a:prstGeom>
          <a:noFill/>
        </p:spPr>
        <p:txBody>
          <a:bodyPr vert="horz" wrap="square" lIns="0" tIns="0" rIns="0" bIns="0" rtlCol="0">
            <a:noAutofit/>
          </a:bodyPr>
          <a:lstStyle/>
          <a:p>
            <a:r>
              <a:rPr lang="fr-FR" sz="900">
                <a:solidFill>
                  <a:srgbClr val="7C86B8"/>
                </a:solidFill>
                <a:latin typeface="Calibri" panose="020F0502020204030204" pitchFamily="34" charset="0"/>
              </a:rPr>
              <a:t>GPIEXALT  ·  DOC-GPIEXALT-001  ·  Version 7.8</a:t>
            </a:r>
          </a:p>
        </p:txBody>
      </p:sp>
    </p:spTree>
    <p:extLst>
      <p:ext uri="{BB962C8B-B14F-4D97-AF65-F5344CB8AC3E}">
        <p14:creationId xmlns:p14="http://schemas.microsoft.com/office/powerpoint/2010/main" val="2804568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CC45D1-7888-CAAC-9D07-DB309F680DC7}"/>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À quoi sert GPIEXALT</a:t>
            </a:r>
          </a:p>
        </p:txBody>
      </p:sp>
      <p:sp>
        <p:nvSpPr>
          <p:cNvPr id="3" name="ZoneTexte 2">
            <a:extLst>
              <a:ext uri="{FF2B5EF4-FFF2-40B4-BE49-F238E27FC236}">
                <a16:creationId xmlns:a16="http://schemas.microsoft.com/office/drawing/2014/main" id="{57A956DC-E594-A572-CCC5-E32942B6D474}"/>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VUE D'ENSEMBLE</a:t>
            </a:r>
          </a:p>
        </p:txBody>
      </p:sp>
      <p:sp>
        <p:nvSpPr>
          <p:cNvPr id="4" name="ZoneTexte 3">
            <a:extLst>
              <a:ext uri="{FF2B5EF4-FFF2-40B4-BE49-F238E27FC236}">
                <a16:creationId xmlns:a16="http://schemas.microsoft.com/office/drawing/2014/main" id="{31D8DFBF-73AE-2F69-E5C0-C83B33B57FFF}"/>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Trois questions, une seule application</a:t>
            </a:r>
          </a:p>
        </p:txBody>
      </p:sp>
      <p:sp>
        <p:nvSpPr>
          <p:cNvPr id="5" name="ZoneTexte 4">
            <a:extLst>
              <a:ext uri="{FF2B5EF4-FFF2-40B4-BE49-F238E27FC236}">
                <a16:creationId xmlns:a16="http://schemas.microsoft.com/office/drawing/2014/main" id="{3DE521FF-CCCA-AE32-0C69-A971E113888C}"/>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C57E7857-39B7-B86E-B37D-4F5147435619}"/>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4B9C937E-D3DA-4633-BC52-E3ECD479750B}" type="slidenum">
              <a:rPr lang="fr-FR" sz="900" smtClean="0">
                <a:solidFill>
                  <a:srgbClr val="586080"/>
                </a:solidFill>
                <a:latin typeface="Calibri" panose="020F0502020204030204" pitchFamily="34" charset="0"/>
              </a:rPr>
              <a:t>5</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2A149455-18BA-9947-340C-100667593214}"/>
              </a:ext>
            </a:extLst>
          </p:cNvPr>
          <p:cNvSpPr/>
          <p:nvPr/>
        </p:nvSpPr>
        <p:spPr>
          <a:xfrm>
            <a:off x="609600" y="1651000"/>
            <a:ext cx="3429000" cy="3175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557DAD3C-C27E-8D78-E58C-E629C5D21E22}"/>
              </a:ext>
            </a:extLst>
          </p:cNvPr>
          <p:cNvSpPr/>
          <p:nvPr/>
        </p:nvSpPr>
        <p:spPr>
          <a:xfrm>
            <a:off x="889000" y="1905000"/>
            <a:ext cx="660400" cy="6604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2400" b="1">
                <a:solidFill>
                  <a:srgbClr val="FFFFFF"/>
                </a:solidFill>
                <a:latin typeface="Calibri" panose="020F0502020204030204" pitchFamily="34" charset="0"/>
              </a:rPr>
              <a:t>1</a:t>
            </a:r>
          </a:p>
        </p:txBody>
      </p:sp>
      <p:sp>
        <p:nvSpPr>
          <p:cNvPr id="9" name="ZoneTexte 8">
            <a:extLst>
              <a:ext uri="{FF2B5EF4-FFF2-40B4-BE49-F238E27FC236}">
                <a16:creationId xmlns:a16="http://schemas.microsoft.com/office/drawing/2014/main" id="{A0954503-44C3-E04C-5652-F39A66B601AC}"/>
              </a:ext>
            </a:extLst>
          </p:cNvPr>
          <p:cNvSpPr txBox="1"/>
          <p:nvPr/>
        </p:nvSpPr>
        <p:spPr>
          <a:xfrm>
            <a:off x="889000" y="2819400"/>
            <a:ext cx="2921000" cy="355600"/>
          </a:xfrm>
          <a:prstGeom prst="rect">
            <a:avLst/>
          </a:prstGeom>
          <a:noFill/>
        </p:spPr>
        <p:txBody>
          <a:bodyPr vert="horz" wrap="square" lIns="0" tIns="0" rIns="0" bIns="0" rtlCol="0">
            <a:noAutofit/>
          </a:bodyPr>
          <a:lstStyle/>
          <a:p>
            <a:r>
              <a:rPr lang="fr-FR" sz="2100" b="1">
                <a:solidFill>
                  <a:srgbClr val="1E1C8C"/>
                </a:solidFill>
                <a:latin typeface="Calibri" panose="020F0502020204030204" pitchFamily="34" charset="0"/>
              </a:rPr>
              <a:t>Qui a quoi</a:t>
            </a:r>
          </a:p>
        </p:txBody>
      </p:sp>
      <p:sp>
        <p:nvSpPr>
          <p:cNvPr id="10" name="ZoneTexte 9">
            <a:extLst>
              <a:ext uri="{FF2B5EF4-FFF2-40B4-BE49-F238E27FC236}">
                <a16:creationId xmlns:a16="http://schemas.microsoft.com/office/drawing/2014/main" id="{3D0A01D6-65E3-3EE7-C50F-DA7409FBA6DB}"/>
              </a:ext>
            </a:extLst>
          </p:cNvPr>
          <p:cNvSpPr txBox="1"/>
          <p:nvPr/>
        </p:nvSpPr>
        <p:spPr>
          <a:xfrm>
            <a:off x="889000" y="3276600"/>
            <a:ext cx="2895600" cy="1397000"/>
          </a:xfrm>
          <a:prstGeom prst="rect">
            <a:avLst/>
          </a:prstGeom>
          <a:noFill/>
        </p:spPr>
        <p:txBody>
          <a:bodyPr vert="horz" wrap="square" lIns="0" tIns="0" rIns="0" bIns="0" rtlCol="0">
            <a:noAutofit/>
          </a:bodyPr>
          <a:lstStyle/>
          <a:p>
            <a:r>
              <a:rPr lang="fr-FR" sz="1500">
                <a:solidFill>
                  <a:srgbClr val="12162B"/>
                </a:solidFill>
                <a:latin typeface="Calibri" panose="020F0502020204030204" pitchFamily="34" charset="0"/>
              </a:rPr>
              <a:t>Chaque équipement prêté est suivi, personne par personne, avec la date et l'auteur de l'enregistrement.</a:t>
            </a:r>
          </a:p>
        </p:txBody>
      </p:sp>
      <p:sp>
        <p:nvSpPr>
          <p:cNvPr id="11" name="Rectangle : coins arrondis 10">
            <a:extLst>
              <a:ext uri="{FF2B5EF4-FFF2-40B4-BE49-F238E27FC236}">
                <a16:creationId xmlns:a16="http://schemas.microsoft.com/office/drawing/2014/main" id="{7063FB21-7741-DCD9-4EA0-BB9A4367F602}"/>
              </a:ext>
            </a:extLst>
          </p:cNvPr>
          <p:cNvSpPr/>
          <p:nvPr/>
        </p:nvSpPr>
        <p:spPr>
          <a:xfrm>
            <a:off x="4381500" y="1651000"/>
            <a:ext cx="3429000" cy="3175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01C0EB78-32B6-C805-1F89-4A567B242235}"/>
              </a:ext>
            </a:extLst>
          </p:cNvPr>
          <p:cNvSpPr/>
          <p:nvPr/>
        </p:nvSpPr>
        <p:spPr>
          <a:xfrm>
            <a:off x="4660900" y="1905000"/>
            <a:ext cx="660400" cy="6604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2400" b="1">
                <a:solidFill>
                  <a:srgbClr val="FFFFFF"/>
                </a:solidFill>
                <a:latin typeface="Calibri" panose="020F0502020204030204" pitchFamily="34" charset="0"/>
              </a:rPr>
              <a:t>2</a:t>
            </a:r>
          </a:p>
        </p:txBody>
      </p:sp>
      <p:sp>
        <p:nvSpPr>
          <p:cNvPr id="13" name="ZoneTexte 12">
            <a:extLst>
              <a:ext uri="{FF2B5EF4-FFF2-40B4-BE49-F238E27FC236}">
                <a16:creationId xmlns:a16="http://schemas.microsoft.com/office/drawing/2014/main" id="{261AB3EE-4A86-E086-35A6-61589256061B}"/>
              </a:ext>
            </a:extLst>
          </p:cNvPr>
          <p:cNvSpPr txBox="1"/>
          <p:nvPr/>
        </p:nvSpPr>
        <p:spPr>
          <a:xfrm>
            <a:off x="4660900" y="2819400"/>
            <a:ext cx="2921000" cy="355600"/>
          </a:xfrm>
          <a:prstGeom prst="rect">
            <a:avLst/>
          </a:prstGeom>
          <a:noFill/>
        </p:spPr>
        <p:txBody>
          <a:bodyPr vert="horz" wrap="square" lIns="0" tIns="0" rIns="0" bIns="0" rtlCol="0">
            <a:noAutofit/>
          </a:bodyPr>
          <a:lstStyle/>
          <a:p>
            <a:r>
              <a:rPr lang="fr-FR" sz="2100" b="1">
                <a:solidFill>
                  <a:srgbClr val="1E1C8C"/>
                </a:solidFill>
                <a:latin typeface="Calibri" panose="020F0502020204030204" pitchFamily="34" charset="0"/>
              </a:rPr>
              <a:t>Preuve de restitution</a:t>
            </a:r>
          </a:p>
        </p:txBody>
      </p:sp>
      <p:sp>
        <p:nvSpPr>
          <p:cNvPr id="14" name="ZoneTexte 13">
            <a:extLst>
              <a:ext uri="{FF2B5EF4-FFF2-40B4-BE49-F238E27FC236}">
                <a16:creationId xmlns:a16="http://schemas.microsoft.com/office/drawing/2014/main" id="{B6CC3C3A-6760-F618-8BBB-D3C6ABACEE5B}"/>
              </a:ext>
            </a:extLst>
          </p:cNvPr>
          <p:cNvSpPr txBox="1"/>
          <p:nvPr/>
        </p:nvSpPr>
        <p:spPr>
          <a:xfrm>
            <a:off x="4660900" y="3276600"/>
            <a:ext cx="2895600" cy="1397000"/>
          </a:xfrm>
          <a:prstGeom prst="rect">
            <a:avLst/>
          </a:prstGeom>
          <a:noFill/>
        </p:spPr>
        <p:txBody>
          <a:bodyPr vert="horz" wrap="square" lIns="0" tIns="0" rIns="0" bIns="0" rtlCol="0">
            <a:noAutofit/>
          </a:bodyPr>
          <a:lstStyle/>
          <a:p>
            <a:r>
              <a:rPr lang="fr-FR" sz="1500">
                <a:solidFill>
                  <a:srgbClr val="12162B"/>
                </a:solidFill>
                <a:latin typeface="Calibri" panose="020F0502020204030204" pitchFamily="34" charset="0"/>
              </a:rPr>
              <a:t>Une attestation PDF datée et signée, envoyée par email ou par téléphone, puis archivée.</a:t>
            </a:r>
          </a:p>
        </p:txBody>
      </p:sp>
      <p:sp>
        <p:nvSpPr>
          <p:cNvPr id="15" name="Rectangle : coins arrondis 14">
            <a:extLst>
              <a:ext uri="{FF2B5EF4-FFF2-40B4-BE49-F238E27FC236}">
                <a16:creationId xmlns:a16="http://schemas.microsoft.com/office/drawing/2014/main" id="{73BF858E-993C-316A-650A-2A87AFAAD46D}"/>
              </a:ext>
            </a:extLst>
          </p:cNvPr>
          <p:cNvSpPr/>
          <p:nvPr/>
        </p:nvSpPr>
        <p:spPr>
          <a:xfrm>
            <a:off x="8153400" y="1651000"/>
            <a:ext cx="3429000" cy="3175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0EB5A955-F614-49B5-3B41-BA224FFBA7EE}"/>
              </a:ext>
            </a:extLst>
          </p:cNvPr>
          <p:cNvSpPr/>
          <p:nvPr/>
        </p:nvSpPr>
        <p:spPr>
          <a:xfrm>
            <a:off x="8432800" y="1905000"/>
            <a:ext cx="660400" cy="660400"/>
          </a:xfrm>
          <a:prstGeom prst="ellipse">
            <a:avLst/>
          </a:prstGeom>
          <a:solidFill>
            <a:srgbClr val="C4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2400" b="1">
                <a:solidFill>
                  <a:srgbClr val="FFFFFF"/>
                </a:solidFill>
                <a:latin typeface="Calibri" panose="020F0502020204030204" pitchFamily="34" charset="0"/>
              </a:rPr>
              <a:t>3</a:t>
            </a:r>
          </a:p>
        </p:txBody>
      </p:sp>
      <p:sp>
        <p:nvSpPr>
          <p:cNvPr id="17" name="ZoneTexte 16">
            <a:extLst>
              <a:ext uri="{FF2B5EF4-FFF2-40B4-BE49-F238E27FC236}">
                <a16:creationId xmlns:a16="http://schemas.microsoft.com/office/drawing/2014/main" id="{6B6B0519-DE4D-D8BC-D5ED-DDEF91E6E7CA}"/>
              </a:ext>
            </a:extLst>
          </p:cNvPr>
          <p:cNvSpPr txBox="1"/>
          <p:nvPr/>
        </p:nvSpPr>
        <p:spPr>
          <a:xfrm>
            <a:off x="8432800" y="2819400"/>
            <a:ext cx="2921000" cy="355600"/>
          </a:xfrm>
          <a:prstGeom prst="rect">
            <a:avLst/>
          </a:prstGeom>
          <a:noFill/>
        </p:spPr>
        <p:txBody>
          <a:bodyPr vert="horz" wrap="square" lIns="0" tIns="0" rIns="0" bIns="0" rtlCol="0">
            <a:noAutofit/>
          </a:bodyPr>
          <a:lstStyle/>
          <a:p>
            <a:r>
              <a:rPr lang="fr-FR" sz="2100" b="1">
                <a:solidFill>
                  <a:srgbClr val="1E1C8C"/>
                </a:solidFill>
                <a:latin typeface="Calibri" panose="020F0502020204030204" pitchFamily="34" charset="0"/>
              </a:rPr>
              <a:t>Pertes sous contrôle</a:t>
            </a:r>
          </a:p>
        </p:txBody>
      </p:sp>
      <p:sp>
        <p:nvSpPr>
          <p:cNvPr id="18" name="ZoneTexte 17">
            <a:extLst>
              <a:ext uri="{FF2B5EF4-FFF2-40B4-BE49-F238E27FC236}">
                <a16:creationId xmlns:a16="http://schemas.microsoft.com/office/drawing/2014/main" id="{5E383245-8E10-CC71-3248-C1EE2BEF8AE5}"/>
              </a:ext>
            </a:extLst>
          </p:cNvPr>
          <p:cNvSpPr txBox="1"/>
          <p:nvPr/>
        </p:nvSpPr>
        <p:spPr>
          <a:xfrm>
            <a:off x="8432800" y="3276600"/>
            <a:ext cx="2895600" cy="1397000"/>
          </a:xfrm>
          <a:prstGeom prst="rect">
            <a:avLst/>
          </a:prstGeom>
          <a:noFill/>
        </p:spPr>
        <p:txBody>
          <a:bodyPr vert="horz" wrap="square" lIns="0" tIns="0" rIns="0" bIns="0" rtlCol="0">
            <a:noAutofit/>
          </a:bodyPr>
          <a:lstStyle/>
          <a:p>
            <a:r>
              <a:rPr lang="fr-FR" sz="1500">
                <a:solidFill>
                  <a:srgbClr val="12162B"/>
                </a:solidFill>
                <a:latin typeface="Calibri" panose="020F0502020204030204" pitchFamily="34" charset="0"/>
              </a:rPr>
              <a:t>Le matériel perdu, volé ou abîmé est déclaré et compté par type d'équipement.</a:t>
            </a:r>
          </a:p>
        </p:txBody>
      </p:sp>
      <p:sp>
        <p:nvSpPr>
          <p:cNvPr id="19" name="Rectangle : coins arrondis 18">
            <a:extLst>
              <a:ext uri="{FF2B5EF4-FFF2-40B4-BE49-F238E27FC236}">
                <a16:creationId xmlns:a16="http://schemas.microsoft.com/office/drawing/2014/main" id="{80CAF694-B10F-3A8B-BC3F-5B3D55CCACB6}"/>
              </a:ext>
            </a:extLst>
          </p:cNvPr>
          <p:cNvSpPr/>
          <p:nvPr/>
        </p:nvSpPr>
        <p:spPr>
          <a:xfrm>
            <a:off x="609600" y="5080000"/>
            <a:ext cx="10972800" cy="965200"/>
          </a:xfrm>
          <a:prstGeom prst="roundRect">
            <a:avLst>
              <a:gd name="adj" fmla="val 6000"/>
            </a:avLst>
          </a:prstGeom>
          <a:solidFill>
            <a:srgbClr val="1E1C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50800" rIns="127000" bIns="50800" rtlCol="0" anchor="ctr"/>
          <a:lstStyle/>
          <a:p>
            <a:pPr algn="ctr"/>
            <a:r>
              <a:rPr lang="fr-FR">
                <a:solidFill>
                  <a:srgbClr val="FFFFFF"/>
                </a:solidFill>
                <a:latin typeface="Calibri" panose="020F0502020204030204" pitchFamily="34" charset="0"/>
              </a:rPr>
              <a:t>PC, tablette et téléphone   ·   Données sauvegardées et partagées   ·   Chaque action est tracée</a:t>
            </a:r>
          </a:p>
        </p:txBody>
      </p:sp>
    </p:spTree>
    <p:extLst>
      <p:ext uri="{BB962C8B-B14F-4D97-AF65-F5344CB8AC3E}">
        <p14:creationId xmlns:p14="http://schemas.microsoft.com/office/powerpoint/2010/main" val="4074964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3B2503-E821-0FAC-9939-3D7D3E51C1CA}"/>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Le cycle de vie d'un matériel</a:t>
            </a:r>
          </a:p>
        </p:txBody>
      </p:sp>
      <p:sp>
        <p:nvSpPr>
          <p:cNvPr id="3" name="ZoneTexte 2">
            <a:extLst>
              <a:ext uri="{FF2B5EF4-FFF2-40B4-BE49-F238E27FC236}">
                <a16:creationId xmlns:a16="http://schemas.microsoft.com/office/drawing/2014/main" id="{D0728068-0357-1881-EE89-2A5A851CE865}"/>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VUE D'ENSEMBLE</a:t>
            </a:r>
          </a:p>
        </p:txBody>
      </p:sp>
      <p:sp>
        <p:nvSpPr>
          <p:cNvPr id="4" name="ZoneTexte 3">
            <a:extLst>
              <a:ext uri="{FF2B5EF4-FFF2-40B4-BE49-F238E27FC236}">
                <a16:creationId xmlns:a16="http://schemas.microsoft.com/office/drawing/2014/main" id="{E0C40908-B08E-714A-78DF-6316F5866B1A}"/>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Quatre étapes et une variante</a:t>
            </a:r>
          </a:p>
        </p:txBody>
      </p:sp>
      <p:sp>
        <p:nvSpPr>
          <p:cNvPr id="5" name="ZoneTexte 4">
            <a:extLst>
              <a:ext uri="{FF2B5EF4-FFF2-40B4-BE49-F238E27FC236}">
                <a16:creationId xmlns:a16="http://schemas.microsoft.com/office/drawing/2014/main" id="{E7150F8A-E481-2AA6-4D59-60D9FD07A195}"/>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123238ED-8059-D2B6-C06F-25A9865D674A}"/>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5B6193F6-61BF-4991-B96B-31955EA6322C}" type="slidenum">
              <a:rPr lang="fr-FR" sz="900" smtClean="0">
                <a:solidFill>
                  <a:srgbClr val="586080"/>
                </a:solidFill>
                <a:latin typeface="Calibri" panose="020F0502020204030204" pitchFamily="34" charset="0"/>
              </a:rPr>
              <a:t>6</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C9C82609-16D1-1130-6C27-63F19FF594FF}"/>
              </a:ext>
            </a:extLst>
          </p:cNvPr>
          <p:cNvSpPr/>
          <p:nvPr/>
        </p:nvSpPr>
        <p:spPr>
          <a:xfrm>
            <a:off x="609600" y="1676400"/>
            <a:ext cx="2413000" cy="1905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0852FE86-CD4A-D36B-BB39-FEC462D1B0CE}"/>
              </a:ext>
            </a:extLst>
          </p:cNvPr>
          <p:cNvSpPr/>
          <p:nvPr/>
        </p:nvSpPr>
        <p:spPr>
          <a:xfrm>
            <a:off x="812800" y="1879600"/>
            <a:ext cx="482600" cy="4826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700" b="1">
                <a:solidFill>
                  <a:srgbClr val="FFFFFF"/>
                </a:solidFill>
                <a:latin typeface="Calibri" panose="020F0502020204030204" pitchFamily="34" charset="0"/>
              </a:rPr>
              <a:t>1</a:t>
            </a:r>
          </a:p>
        </p:txBody>
      </p:sp>
      <p:sp>
        <p:nvSpPr>
          <p:cNvPr id="9" name="ZoneTexte 8">
            <a:extLst>
              <a:ext uri="{FF2B5EF4-FFF2-40B4-BE49-F238E27FC236}">
                <a16:creationId xmlns:a16="http://schemas.microsoft.com/office/drawing/2014/main" id="{C0494084-FB3F-0D71-D805-C82B7D29D64C}"/>
              </a:ext>
            </a:extLst>
          </p:cNvPr>
          <p:cNvSpPr txBox="1"/>
          <p:nvPr/>
        </p:nvSpPr>
        <p:spPr>
          <a:xfrm>
            <a:off x="812800" y="2489200"/>
            <a:ext cx="2032000" cy="355600"/>
          </a:xfrm>
          <a:prstGeom prst="rect">
            <a:avLst/>
          </a:prstGeom>
          <a:noFill/>
        </p:spPr>
        <p:txBody>
          <a:bodyPr vert="horz" wrap="square" lIns="0" tIns="0" rIns="0" bIns="0" rtlCol="0">
            <a:noAutofit/>
          </a:bodyPr>
          <a:lstStyle/>
          <a:p>
            <a:r>
              <a:rPr lang="fr-FR" sz="2200" b="1">
                <a:solidFill>
                  <a:srgbClr val="1E1C8C"/>
                </a:solidFill>
                <a:latin typeface="Calibri" panose="020F0502020204030204" pitchFamily="34" charset="0"/>
              </a:rPr>
              <a:t>Emprunter</a:t>
            </a:r>
          </a:p>
        </p:txBody>
      </p:sp>
      <p:sp>
        <p:nvSpPr>
          <p:cNvPr id="10" name="ZoneTexte 9">
            <a:extLst>
              <a:ext uri="{FF2B5EF4-FFF2-40B4-BE49-F238E27FC236}">
                <a16:creationId xmlns:a16="http://schemas.microsoft.com/office/drawing/2014/main" id="{1562906C-6E03-41BC-AFEB-012F82E48822}"/>
              </a:ext>
            </a:extLst>
          </p:cNvPr>
          <p:cNvSpPr txBox="1"/>
          <p:nvPr/>
        </p:nvSpPr>
        <p:spPr>
          <a:xfrm>
            <a:off x="812800" y="2921000"/>
            <a:ext cx="2057400" cy="558800"/>
          </a:xfrm>
          <a:prstGeom prst="rect">
            <a:avLst/>
          </a:prstGeom>
          <a:noFill/>
        </p:spPr>
        <p:txBody>
          <a:bodyPr vert="horz" wrap="square" lIns="0" tIns="0" rIns="0" bIns="0" rtlCol="0">
            <a:noAutofit/>
          </a:bodyPr>
          <a:lstStyle/>
          <a:p>
            <a:r>
              <a:rPr lang="fr-FR" sz="1400">
                <a:solidFill>
                  <a:srgbClr val="586080"/>
                </a:solidFill>
                <a:latin typeface="Calibri" panose="020F0502020204030204" pitchFamily="34" charset="0"/>
              </a:rPr>
              <a:t>Le prêt est enregistré</a:t>
            </a:r>
          </a:p>
        </p:txBody>
      </p:sp>
      <p:cxnSp>
        <p:nvCxnSpPr>
          <p:cNvPr id="11" name="Connecteur droit 10">
            <a:extLst>
              <a:ext uri="{FF2B5EF4-FFF2-40B4-BE49-F238E27FC236}">
                <a16:creationId xmlns:a16="http://schemas.microsoft.com/office/drawing/2014/main" id="{375951EE-6539-B388-8FEE-5F688EC82E15}"/>
              </a:ext>
            </a:extLst>
          </p:cNvPr>
          <p:cNvCxnSpPr/>
          <p:nvPr/>
        </p:nvCxnSpPr>
        <p:spPr>
          <a:xfrm>
            <a:off x="3073400" y="2628900"/>
            <a:ext cx="330200" cy="0"/>
          </a:xfrm>
          <a:prstGeom prst="line">
            <a:avLst/>
          </a:prstGeom>
          <a:ln w="25400">
            <a:solidFill>
              <a:srgbClr val="58608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 coins arrondis 11">
            <a:extLst>
              <a:ext uri="{FF2B5EF4-FFF2-40B4-BE49-F238E27FC236}">
                <a16:creationId xmlns:a16="http://schemas.microsoft.com/office/drawing/2014/main" id="{37CC598F-C5F1-07DF-3897-2BD1D812CB2B}"/>
              </a:ext>
            </a:extLst>
          </p:cNvPr>
          <p:cNvSpPr/>
          <p:nvPr/>
        </p:nvSpPr>
        <p:spPr>
          <a:xfrm>
            <a:off x="3462909" y="1676400"/>
            <a:ext cx="2413000" cy="1905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6381BBE8-9A9A-F166-1114-11F0FAD93638}"/>
              </a:ext>
            </a:extLst>
          </p:cNvPr>
          <p:cNvSpPr/>
          <p:nvPr/>
        </p:nvSpPr>
        <p:spPr>
          <a:xfrm>
            <a:off x="3666109" y="1879600"/>
            <a:ext cx="482600" cy="482600"/>
          </a:xfrm>
          <a:prstGeom prst="ellipse">
            <a:avLst/>
          </a:prstGeom>
          <a:solidFill>
            <a:srgbClr val="7C4D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700" b="1">
                <a:solidFill>
                  <a:srgbClr val="FFFFFF"/>
                </a:solidFill>
                <a:latin typeface="Calibri" panose="020F0502020204030204" pitchFamily="34" charset="0"/>
              </a:rPr>
              <a:t>2</a:t>
            </a:r>
          </a:p>
        </p:txBody>
      </p:sp>
      <p:sp>
        <p:nvSpPr>
          <p:cNvPr id="14" name="ZoneTexte 13">
            <a:extLst>
              <a:ext uri="{FF2B5EF4-FFF2-40B4-BE49-F238E27FC236}">
                <a16:creationId xmlns:a16="http://schemas.microsoft.com/office/drawing/2014/main" id="{35BEDA2E-5B11-B559-5970-1B2A89B686D8}"/>
              </a:ext>
            </a:extLst>
          </p:cNvPr>
          <p:cNvSpPr txBox="1"/>
          <p:nvPr/>
        </p:nvSpPr>
        <p:spPr>
          <a:xfrm>
            <a:off x="3666109" y="2489200"/>
            <a:ext cx="2032000" cy="355600"/>
          </a:xfrm>
          <a:prstGeom prst="rect">
            <a:avLst/>
          </a:prstGeom>
          <a:noFill/>
        </p:spPr>
        <p:txBody>
          <a:bodyPr vert="horz" wrap="square" lIns="0" tIns="0" rIns="0" bIns="0" rtlCol="0">
            <a:noAutofit/>
          </a:bodyPr>
          <a:lstStyle/>
          <a:p>
            <a:r>
              <a:rPr lang="fr-FR" sz="2200" b="1">
                <a:solidFill>
                  <a:srgbClr val="1E1C8C"/>
                </a:solidFill>
                <a:latin typeface="Calibri" panose="020F0502020204030204" pitchFamily="34" charset="0"/>
              </a:rPr>
              <a:t>Restituer</a:t>
            </a:r>
          </a:p>
        </p:txBody>
      </p:sp>
      <p:sp>
        <p:nvSpPr>
          <p:cNvPr id="15" name="ZoneTexte 14">
            <a:extLst>
              <a:ext uri="{FF2B5EF4-FFF2-40B4-BE49-F238E27FC236}">
                <a16:creationId xmlns:a16="http://schemas.microsoft.com/office/drawing/2014/main" id="{514D8428-B84F-1FE6-02DB-4E4A2C0CCF90}"/>
              </a:ext>
            </a:extLst>
          </p:cNvPr>
          <p:cNvSpPr txBox="1"/>
          <p:nvPr/>
        </p:nvSpPr>
        <p:spPr>
          <a:xfrm>
            <a:off x="3666109" y="2921000"/>
            <a:ext cx="2057400" cy="558800"/>
          </a:xfrm>
          <a:prstGeom prst="rect">
            <a:avLst/>
          </a:prstGeom>
          <a:noFill/>
        </p:spPr>
        <p:txBody>
          <a:bodyPr vert="horz" wrap="square" lIns="0" tIns="0" rIns="0" bIns="0" rtlCol="0">
            <a:noAutofit/>
          </a:bodyPr>
          <a:lstStyle/>
          <a:p>
            <a:r>
              <a:rPr lang="fr-FR" sz="1400">
                <a:solidFill>
                  <a:srgbClr val="586080"/>
                </a:solidFill>
                <a:latin typeface="Calibri" panose="020F0502020204030204" pitchFamily="34" charset="0"/>
              </a:rPr>
              <a:t>Envoi par email ou téléphone</a:t>
            </a:r>
          </a:p>
        </p:txBody>
      </p:sp>
      <p:cxnSp>
        <p:nvCxnSpPr>
          <p:cNvPr id="16" name="Connecteur droit 15">
            <a:extLst>
              <a:ext uri="{FF2B5EF4-FFF2-40B4-BE49-F238E27FC236}">
                <a16:creationId xmlns:a16="http://schemas.microsoft.com/office/drawing/2014/main" id="{9AA742DC-6569-ACA3-3ABF-954918D8CC66}"/>
              </a:ext>
            </a:extLst>
          </p:cNvPr>
          <p:cNvCxnSpPr/>
          <p:nvPr/>
        </p:nvCxnSpPr>
        <p:spPr>
          <a:xfrm>
            <a:off x="5926709" y="2628900"/>
            <a:ext cx="330200" cy="0"/>
          </a:xfrm>
          <a:prstGeom prst="line">
            <a:avLst/>
          </a:prstGeom>
          <a:ln w="25400">
            <a:solidFill>
              <a:srgbClr val="58608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 coins arrondis 16">
            <a:extLst>
              <a:ext uri="{FF2B5EF4-FFF2-40B4-BE49-F238E27FC236}">
                <a16:creationId xmlns:a16="http://schemas.microsoft.com/office/drawing/2014/main" id="{47DB9F47-242A-AFD1-82EC-EB5E7C8016C7}"/>
              </a:ext>
            </a:extLst>
          </p:cNvPr>
          <p:cNvSpPr/>
          <p:nvPr/>
        </p:nvSpPr>
        <p:spPr>
          <a:xfrm>
            <a:off x="6316218" y="1676400"/>
            <a:ext cx="2413000" cy="1905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74FDA1CB-5661-57A3-3A66-101A9FD2B92C}"/>
              </a:ext>
            </a:extLst>
          </p:cNvPr>
          <p:cNvSpPr/>
          <p:nvPr/>
        </p:nvSpPr>
        <p:spPr>
          <a:xfrm>
            <a:off x="6519418" y="1879600"/>
            <a:ext cx="482600" cy="482600"/>
          </a:xfrm>
          <a:prstGeom prst="ellipse">
            <a:avLst/>
          </a:prstGeom>
          <a:solidFill>
            <a:srgbClr val="B6760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700" b="1">
                <a:solidFill>
                  <a:srgbClr val="FFFFFF"/>
                </a:solidFill>
                <a:latin typeface="Calibri" panose="020F0502020204030204" pitchFamily="34" charset="0"/>
              </a:rPr>
              <a:t>3</a:t>
            </a:r>
          </a:p>
        </p:txBody>
      </p:sp>
      <p:sp>
        <p:nvSpPr>
          <p:cNvPr id="19" name="ZoneTexte 18">
            <a:extLst>
              <a:ext uri="{FF2B5EF4-FFF2-40B4-BE49-F238E27FC236}">
                <a16:creationId xmlns:a16="http://schemas.microsoft.com/office/drawing/2014/main" id="{7ABF14B5-EE50-1746-C449-275A63278AC2}"/>
              </a:ext>
            </a:extLst>
          </p:cNvPr>
          <p:cNvSpPr txBox="1"/>
          <p:nvPr/>
        </p:nvSpPr>
        <p:spPr>
          <a:xfrm>
            <a:off x="6519418" y="2489200"/>
            <a:ext cx="2032000" cy="355600"/>
          </a:xfrm>
          <a:prstGeom prst="rect">
            <a:avLst/>
          </a:prstGeom>
          <a:noFill/>
        </p:spPr>
        <p:txBody>
          <a:bodyPr vert="horz" wrap="square" lIns="0" tIns="0" rIns="0" bIns="0" rtlCol="0">
            <a:noAutofit/>
          </a:bodyPr>
          <a:lstStyle/>
          <a:p>
            <a:r>
              <a:rPr lang="fr-FR" sz="2200" b="1">
                <a:solidFill>
                  <a:srgbClr val="1E1C8C"/>
                </a:solidFill>
                <a:latin typeface="Calibri" panose="020F0502020204030204" pitchFamily="34" charset="0"/>
              </a:rPr>
              <a:t>Attestation</a:t>
            </a:r>
          </a:p>
        </p:txBody>
      </p:sp>
      <p:sp>
        <p:nvSpPr>
          <p:cNvPr id="20" name="ZoneTexte 19">
            <a:extLst>
              <a:ext uri="{FF2B5EF4-FFF2-40B4-BE49-F238E27FC236}">
                <a16:creationId xmlns:a16="http://schemas.microsoft.com/office/drawing/2014/main" id="{8045ADA0-7048-4F21-E9B5-4F3EF739919B}"/>
              </a:ext>
            </a:extLst>
          </p:cNvPr>
          <p:cNvSpPr txBox="1"/>
          <p:nvPr/>
        </p:nvSpPr>
        <p:spPr>
          <a:xfrm>
            <a:off x="6519418" y="2921000"/>
            <a:ext cx="2057400" cy="558800"/>
          </a:xfrm>
          <a:prstGeom prst="rect">
            <a:avLst/>
          </a:prstGeom>
          <a:noFill/>
        </p:spPr>
        <p:txBody>
          <a:bodyPr vert="horz" wrap="square" lIns="0" tIns="0" rIns="0" bIns="0" rtlCol="0">
            <a:noAutofit/>
          </a:bodyPr>
          <a:lstStyle/>
          <a:p>
            <a:r>
              <a:rPr lang="fr-FR" sz="1400">
                <a:solidFill>
                  <a:srgbClr val="586080"/>
                </a:solidFill>
                <a:latin typeface="Calibri" panose="020F0502020204030204" pitchFamily="34" charset="0"/>
              </a:rPr>
              <a:t>« En attente », puis relances</a:t>
            </a:r>
          </a:p>
        </p:txBody>
      </p:sp>
      <p:cxnSp>
        <p:nvCxnSpPr>
          <p:cNvPr id="21" name="Connecteur droit 20">
            <a:extLst>
              <a:ext uri="{FF2B5EF4-FFF2-40B4-BE49-F238E27FC236}">
                <a16:creationId xmlns:a16="http://schemas.microsoft.com/office/drawing/2014/main" id="{ECA8C3A8-03F7-FF08-99E0-02176C6D7EC2}"/>
              </a:ext>
            </a:extLst>
          </p:cNvPr>
          <p:cNvCxnSpPr/>
          <p:nvPr/>
        </p:nvCxnSpPr>
        <p:spPr>
          <a:xfrm>
            <a:off x="8780018" y="2628900"/>
            <a:ext cx="330200" cy="0"/>
          </a:xfrm>
          <a:prstGeom prst="line">
            <a:avLst/>
          </a:prstGeom>
          <a:ln w="25400">
            <a:solidFill>
              <a:srgbClr val="586080"/>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 coins arrondis 21">
            <a:extLst>
              <a:ext uri="{FF2B5EF4-FFF2-40B4-BE49-F238E27FC236}">
                <a16:creationId xmlns:a16="http://schemas.microsoft.com/office/drawing/2014/main" id="{E9E46051-BABC-FF82-3F20-215FB07261A3}"/>
              </a:ext>
            </a:extLst>
          </p:cNvPr>
          <p:cNvSpPr/>
          <p:nvPr/>
        </p:nvSpPr>
        <p:spPr>
          <a:xfrm>
            <a:off x="9169527" y="1676400"/>
            <a:ext cx="2413000" cy="1905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06E39386-19D8-C00F-B792-9DCDD652F6B5}"/>
              </a:ext>
            </a:extLst>
          </p:cNvPr>
          <p:cNvSpPr/>
          <p:nvPr/>
        </p:nvSpPr>
        <p:spPr>
          <a:xfrm>
            <a:off x="9372727" y="1879600"/>
            <a:ext cx="482600" cy="4826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700" b="1">
                <a:solidFill>
                  <a:srgbClr val="FFFFFF"/>
                </a:solidFill>
                <a:latin typeface="Calibri" panose="020F0502020204030204" pitchFamily="34" charset="0"/>
              </a:rPr>
              <a:t>4</a:t>
            </a:r>
          </a:p>
        </p:txBody>
      </p:sp>
      <p:sp>
        <p:nvSpPr>
          <p:cNvPr id="24" name="ZoneTexte 23">
            <a:extLst>
              <a:ext uri="{FF2B5EF4-FFF2-40B4-BE49-F238E27FC236}">
                <a16:creationId xmlns:a16="http://schemas.microsoft.com/office/drawing/2014/main" id="{FEE92EC5-AFF8-B11F-9173-5C1EFF92B8A8}"/>
              </a:ext>
            </a:extLst>
          </p:cNvPr>
          <p:cNvSpPr txBox="1"/>
          <p:nvPr/>
        </p:nvSpPr>
        <p:spPr>
          <a:xfrm>
            <a:off x="9372727" y="2489200"/>
            <a:ext cx="2032000" cy="355600"/>
          </a:xfrm>
          <a:prstGeom prst="rect">
            <a:avLst/>
          </a:prstGeom>
          <a:noFill/>
        </p:spPr>
        <p:txBody>
          <a:bodyPr vert="horz" wrap="square" lIns="0" tIns="0" rIns="0" bIns="0" rtlCol="0">
            <a:noAutofit/>
          </a:bodyPr>
          <a:lstStyle/>
          <a:p>
            <a:r>
              <a:rPr lang="fr-FR" sz="2200" b="1">
                <a:solidFill>
                  <a:srgbClr val="1E1C8C"/>
                </a:solidFill>
                <a:latin typeface="Calibri" panose="020F0502020204030204" pitchFamily="34" charset="0"/>
              </a:rPr>
              <a:t>Signée</a:t>
            </a:r>
          </a:p>
        </p:txBody>
      </p:sp>
      <p:sp>
        <p:nvSpPr>
          <p:cNvPr id="25" name="ZoneTexte 24">
            <a:extLst>
              <a:ext uri="{FF2B5EF4-FFF2-40B4-BE49-F238E27FC236}">
                <a16:creationId xmlns:a16="http://schemas.microsoft.com/office/drawing/2014/main" id="{9B6A81B5-9653-7C0F-3DE0-1D0CED105619}"/>
              </a:ext>
            </a:extLst>
          </p:cNvPr>
          <p:cNvSpPr txBox="1"/>
          <p:nvPr/>
        </p:nvSpPr>
        <p:spPr>
          <a:xfrm>
            <a:off x="9372727" y="2921000"/>
            <a:ext cx="2057400" cy="558800"/>
          </a:xfrm>
          <a:prstGeom prst="rect">
            <a:avLst/>
          </a:prstGeom>
          <a:noFill/>
        </p:spPr>
        <p:txBody>
          <a:bodyPr vert="horz" wrap="square" lIns="0" tIns="0" rIns="0" bIns="0" rtlCol="0">
            <a:noAutofit/>
          </a:bodyPr>
          <a:lstStyle/>
          <a:p>
            <a:r>
              <a:rPr lang="fr-FR" sz="1400">
                <a:solidFill>
                  <a:srgbClr val="586080"/>
                </a:solidFill>
                <a:latin typeface="Calibri" panose="020F0502020204030204" pitchFamily="34" charset="0"/>
              </a:rPr>
              <a:t>PDF daté, signé et archivé</a:t>
            </a:r>
          </a:p>
        </p:txBody>
      </p:sp>
      <p:cxnSp>
        <p:nvCxnSpPr>
          <p:cNvPr id="26" name="Connecteur droit 25">
            <a:extLst>
              <a:ext uri="{FF2B5EF4-FFF2-40B4-BE49-F238E27FC236}">
                <a16:creationId xmlns:a16="http://schemas.microsoft.com/office/drawing/2014/main" id="{C5DBE2BF-8793-8EA8-0263-19BA8D378CF0}"/>
              </a:ext>
            </a:extLst>
          </p:cNvPr>
          <p:cNvCxnSpPr/>
          <p:nvPr/>
        </p:nvCxnSpPr>
        <p:spPr>
          <a:xfrm>
            <a:off x="4356100" y="3606800"/>
            <a:ext cx="0" cy="635000"/>
          </a:xfrm>
          <a:prstGeom prst="line">
            <a:avLst/>
          </a:prstGeom>
          <a:ln w="25400">
            <a:solidFill>
              <a:srgbClr val="C43D3D"/>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 coins arrondis 26">
            <a:extLst>
              <a:ext uri="{FF2B5EF4-FFF2-40B4-BE49-F238E27FC236}">
                <a16:creationId xmlns:a16="http://schemas.microsoft.com/office/drawing/2014/main" id="{98B1A40B-EAC8-FD45-7024-CB3A32CFAF86}"/>
              </a:ext>
            </a:extLst>
          </p:cNvPr>
          <p:cNvSpPr/>
          <p:nvPr/>
        </p:nvSpPr>
        <p:spPr>
          <a:xfrm>
            <a:off x="2324100" y="4267200"/>
            <a:ext cx="4064000" cy="889000"/>
          </a:xfrm>
          <a:prstGeom prst="roundRect">
            <a:avLst>
              <a:gd name="adj" fmla="val 6000"/>
            </a:avLst>
          </a:prstGeom>
          <a:solidFill>
            <a:srgbClr val="FBE4E4"/>
          </a:solidFill>
          <a:ln w="12700">
            <a:solidFill>
              <a:srgbClr val="C43D3D"/>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noAutofit/>
          </a:bodyPr>
          <a:lstStyle/>
          <a:p>
            <a:pPr algn="ctr"/>
            <a:r>
              <a:rPr lang="fr-FR" sz="1600" b="1">
                <a:solidFill>
                  <a:srgbClr val="C43D3D"/>
                </a:solidFill>
                <a:latin typeface="Calibri" panose="020F0502020204030204" pitchFamily="34" charset="0"/>
              </a:rPr>
              <a:t>Variante : perdu, volé ou abîmé</a:t>
            </a:r>
          </a:p>
          <a:p>
            <a:pPr algn="ctr"/>
            <a:r>
              <a:rPr lang="fr-FR" sz="1600" b="1">
                <a:solidFill>
                  <a:srgbClr val="C43D3D"/>
                </a:solidFill>
                <a:latin typeface="Calibri" panose="020F0502020204030204" pitchFamily="34" charset="0"/>
              </a:rPr>
              <a:t>→ onglet « Matériel perdu »</a:t>
            </a:r>
          </a:p>
        </p:txBody>
      </p:sp>
      <p:sp>
        <p:nvSpPr>
          <p:cNvPr id="28" name="Rectangle : coins arrondis 27">
            <a:extLst>
              <a:ext uri="{FF2B5EF4-FFF2-40B4-BE49-F238E27FC236}">
                <a16:creationId xmlns:a16="http://schemas.microsoft.com/office/drawing/2014/main" id="{BDDEF283-F2B1-BA7D-F01C-13D748641F52}"/>
              </a:ext>
            </a:extLst>
          </p:cNvPr>
          <p:cNvSpPr/>
          <p:nvPr/>
        </p:nvSpPr>
        <p:spPr>
          <a:xfrm>
            <a:off x="609600" y="5461000"/>
            <a:ext cx="10972800" cy="660400"/>
          </a:xfrm>
          <a:prstGeom prst="roundRect">
            <a:avLst>
              <a:gd name="adj" fmla="val 6000"/>
            </a:avLst>
          </a:prstGeom>
          <a:solidFill>
            <a:srgbClr val="FFFFFF"/>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wrap="square" lIns="228600" tIns="50800" rIns="127000" bIns="50800" rtlCol="0" anchor="ctr">
            <a:noAutofit/>
          </a:bodyPr>
          <a:lstStyle/>
          <a:p>
            <a:r>
              <a:rPr lang="fr-FR" sz="1500">
                <a:solidFill>
                  <a:srgbClr val="12162B"/>
                </a:solidFill>
                <a:latin typeface="Calibri" panose="020F0502020204030204" pitchFamily="34" charset="0"/>
              </a:rPr>
              <a:t>À chaque étape, l'application enregistre qui a fait l'action et quand : prêt, envoi, relance, signature, déclaration.</a:t>
            </a:r>
          </a:p>
        </p:txBody>
      </p:sp>
    </p:spTree>
    <p:extLst>
      <p:ext uri="{BB962C8B-B14F-4D97-AF65-F5344CB8AC3E}">
        <p14:creationId xmlns:p14="http://schemas.microsoft.com/office/powerpoint/2010/main" val="1906901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EC9985-1421-4140-DFD2-965F05C90073}"/>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Les huit onglets</a:t>
            </a:r>
          </a:p>
        </p:txBody>
      </p:sp>
      <p:sp>
        <p:nvSpPr>
          <p:cNvPr id="3" name="ZoneTexte 2">
            <a:extLst>
              <a:ext uri="{FF2B5EF4-FFF2-40B4-BE49-F238E27FC236}">
                <a16:creationId xmlns:a16="http://schemas.microsoft.com/office/drawing/2014/main" id="{9A63D8F3-8DBB-130B-D5F9-F5737982153C}"/>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VUE D'ENSEMBLE</a:t>
            </a:r>
          </a:p>
        </p:txBody>
      </p:sp>
      <p:sp>
        <p:nvSpPr>
          <p:cNvPr id="4" name="ZoneTexte 3">
            <a:extLst>
              <a:ext uri="{FF2B5EF4-FFF2-40B4-BE49-F238E27FC236}">
                <a16:creationId xmlns:a16="http://schemas.microsoft.com/office/drawing/2014/main" id="{670123DA-70C9-C3BF-59FC-C7A3AC34BA2B}"/>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Piloter, opérer, suivre</a:t>
            </a:r>
          </a:p>
        </p:txBody>
      </p:sp>
      <p:sp>
        <p:nvSpPr>
          <p:cNvPr id="5" name="ZoneTexte 4">
            <a:extLst>
              <a:ext uri="{FF2B5EF4-FFF2-40B4-BE49-F238E27FC236}">
                <a16:creationId xmlns:a16="http://schemas.microsoft.com/office/drawing/2014/main" id="{42F0DC7A-F181-8284-1419-64E9A450C6AD}"/>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EB555AEF-8672-3BEA-ACBC-91FC876E0769}"/>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C439B788-AD61-49B3-9AAE-63642516F5C9}" type="slidenum">
              <a:rPr lang="fr-FR" sz="900" smtClean="0">
                <a:solidFill>
                  <a:srgbClr val="586080"/>
                </a:solidFill>
                <a:latin typeface="Calibri" panose="020F0502020204030204" pitchFamily="34" charset="0"/>
              </a:rPr>
              <a:t>7</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0C88EED3-567B-2942-8B27-43EF7F82698A}"/>
              </a:ext>
            </a:extLst>
          </p:cNvPr>
          <p:cNvSpPr/>
          <p:nvPr/>
        </p:nvSpPr>
        <p:spPr>
          <a:xfrm>
            <a:off x="609600" y="1524000"/>
            <a:ext cx="2628900" cy="1498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2D2104B3-0867-D0B1-1FDE-944289ABA167}"/>
              </a:ext>
            </a:extLst>
          </p:cNvPr>
          <p:cNvSpPr/>
          <p:nvPr/>
        </p:nvSpPr>
        <p:spPr>
          <a:xfrm>
            <a:off x="787400" y="1676400"/>
            <a:ext cx="381000" cy="381000"/>
          </a:xfrm>
          <a:prstGeom prst="ellipse">
            <a:avLst/>
          </a:prstGeom>
          <a:solidFill>
            <a:srgbClr val="0E8E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a:solidFill>
                  <a:srgbClr val="FFFFFF"/>
                </a:solidFill>
                <a:latin typeface="Calibri" panose="020F0502020204030204" pitchFamily="34" charset="0"/>
              </a:rPr>
              <a:t>1</a:t>
            </a:r>
          </a:p>
        </p:txBody>
      </p:sp>
      <p:sp>
        <p:nvSpPr>
          <p:cNvPr id="9" name="ZoneTexte 8">
            <a:extLst>
              <a:ext uri="{FF2B5EF4-FFF2-40B4-BE49-F238E27FC236}">
                <a16:creationId xmlns:a16="http://schemas.microsoft.com/office/drawing/2014/main" id="{4B9CF2FD-95F5-7CB6-FF0E-9E71E873DDB0}"/>
              </a:ext>
            </a:extLst>
          </p:cNvPr>
          <p:cNvSpPr txBox="1"/>
          <p:nvPr/>
        </p:nvSpPr>
        <p:spPr>
          <a:xfrm>
            <a:off x="1295400" y="1739900"/>
            <a:ext cx="18796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Accueil</a:t>
            </a:r>
          </a:p>
        </p:txBody>
      </p:sp>
      <p:sp>
        <p:nvSpPr>
          <p:cNvPr id="10" name="ZoneTexte 9">
            <a:extLst>
              <a:ext uri="{FF2B5EF4-FFF2-40B4-BE49-F238E27FC236}">
                <a16:creationId xmlns:a16="http://schemas.microsoft.com/office/drawing/2014/main" id="{25350F56-3B46-29FF-52D1-0C3238FA1A76}"/>
              </a:ext>
            </a:extLst>
          </p:cNvPr>
          <p:cNvSpPr txBox="1"/>
          <p:nvPr/>
        </p:nvSpPr>
        <p:spPr>
          <a:xfrm>
            <a:off x="787400" y="2209800"/>
            <a:ext cx="2311400" cy="7620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Ce qui demande une action, parc, stock à commander</a:t>
            </a:r>
          </a:p>
        </p:txBody>
      </p:sp>
      <p:sp>
        <p:nvSpPr>
          <p:cNvPr id="11" name="Rectangle : coins arrondis 10">
            <a:extLst>
              <a:ext uri="{FF2B5EF4-FFF2-40B4-BE49-F238E27FC236}">
                <a16:creationId xmlns:a16="http://schemas.microsoft.com/office/drawing/2014/main" id="{333B6173-96D0-6E75-3D2D-838F69249B72}"/>
              </a:ext>
            </a:extLst>
          </p:cNvPr>
          <p:cNvSpPr/>
          <p:nvPr/>
        </p:nvSpPr>
        <p:spPr>
          <a:xfrm>
            <a:off x="3390900" y="1524000"/>
            <a:ext cx="2628900" cy="1498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B768493E-848A-F686-6CDA-E67840797B07}"/>
              </a:ext>
            </a:extLst>
          </p:cNvPr>
          <p:cNvSpPr/>
          <p:nvPr/>
        </p:nvSpPr>
        <p:spPr>
          <a:xfrm>
            <a:off x="3568700" y="1676400"/>
            <a:ext cx="381000" cy="3810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a:solidFill>
                  <a:srgbClr val="FFFFFF"/>
                </a:solidFill>
                <a:latin typeface="Calibri" panose="020F0502020204030204" pitchFamily="34" charset="0"/>
              </a:rPr>
              <a:t>2</a:t>
            </a:r>
          </a:p>
        </p:txBody>
      </p:sp>
      <p:sp>
        <p:nvSpPr>
          <p:cNvPr id="13" name="ZoneTexte 12">
            <a:extLst>
              <a:ext uri="{FF2B5EF4-FFF2-40B4-BE49-F238E27FC236}">
                <a16:creationId xmlns:a16="http://schemas.microsoft.com/office/drawing/2014/main" id="{85656B20-21AA-8727-7BD5-F32066CAB62D}"/>
              </a:ext>
            </a:extLst>
          </p:cNvPr>
          <p:cNvSpPr txBox="1"/>
          <p:nvPr/>
        </p:nvSpPr>
        <p:spPr>
          <a:xfrm>
            <a:off x="4076700" y="1739900"/>
            <a:ext cx="18796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Emprunter</a:t>
            </a:r>
          </a:p>
        </p:txBody>
      </p:sp>
      <p:sp>
        <p:nvSpPr>
          <p:cNvPr id="14" name="ZoneTexte 13">
            <a:extLst>
              <a:ext uri="{FF2B5EF4-FFF2-40B4-BE49-F238E27FC236}">
                <a16:creationId xmlns:a16="http://schemas.microsoft.com/office/drawing/2014/main" id="{1FFF2B94-E2AB-31FA-CB82-C581674F5130}"/>
              </a:ext>
            </a:extLst>
          </p:cNvPr>
          <p:cNvSpPr txBox="1"/>
          <p:nvPr/>
        </p:nvSpPr>
        <p:spPr>
          <a:xfrm>
            <a:off x="3568700" y="2209800"/>
            <a:ext cx="2311400" cy="7620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Enregistrer les équipements remis à une personne</a:t>
            </a:r>
          </a:p>
        </p:txBody>
      </p:sp>
      <p:sp>
        <p:nvSpPr>
          <p:cNvPr id="15" name="Rectangle : coins arrondis 14">
            <a:extLst>
              <a:ext uri="{FF2B5EF4-FFF2-40B4-BE49-F238E27FC236}">
                <a16:creationId xmlns:a16="http://schemas.microsoft.com/office/drawing/2014/main" id="{4619D639-EF10-D1E6-534E-6B492C1BFA28}"/>
              </a:ext>
            </a:extLst>
          </p:cNvPr>
          <p:cNvSpPr/>
          <p:nvPr/>
        </p:nvSpPr>
        <p:spPr>
          <a:xfrm>
            <a:off x="6172200" y="1524000"/>
            <a:ext cx="2628900" cy="1498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87114EE4-D711-3320-064A-52BC33381EBA}"/>
              </a:ext>
            </a:extLst>
          </p:cNvPr>
          <p:cNvSpPr/>
          <p:nvPr/>
        </p:nvSpPr>
        <p:spPr>
          <a:xfrm>
            <a:off x="6350000" y="1676400"/>
            <a:ext cx="381000" cy="381000"/>
          </a:xfrm>
          <a:prstGeom prst="ellipse">
            <a:avLst/>
          </a:prstGeom>
          <a:solidFill>
            <a:srgbClr val="7C4D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a:solidFill>
                  <a:srgbClr val="FFFFFF"/>
                </a:solidFill>
                <a:latin typeface="Calibri" panose="020F0502020204030204" pitchFamily="34" charset="0"/>
              </a:rPr>
              <a:t>3</a:t>
            </a:r>
          </a:p>
        </p:txBody>
      </p:sp>
      <p:sp>
        <p:nvSpPr>
          <p:cNvPr id="17" name="ZoneTexte 16">
            <a:extLst>
              <a:ext uri="{FF2B5EF4-FFF2-40B4-BE49-F238E27FC236}">
                <a16:creationId xmlns:a16="http://schemas.microsoft.com/office/drawing/2014/main" id="{85C570EE-5634-6605-D958-9932CEE1DB45}"/>
              </a:ext>
            </a:extLst>
          </p:cNvPr>
          <p:cNvSpPr txBox="1"/>
          <p:nvPr/>
        </p:nvSpPr>
        <p:spPr>
          <a:xfrm>
            <a:off x="6858000" y="1739900"/>
            <a:ext cx="18796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Restituer</a:t>
            </a:r>
          </a:p>
        </p:txBody>
      </p:sp>
      <p:sp>
        <p:nvSpPr>
          <p:cNvPr id="18" name="ZoneTexte 17">
            <a:extLst>
              <a:ext uri="{FF2B5EF4-FFF2-40B4-BE49-F238E27FC236}">
                <a16:creationId xmlns:a16="http://schemas.microsoft.com/office/drawing/2014/main" id="{61C65DF0-0A66-206D-39F0-A7B3AFCA0B84}"/>
              </a:ext>
            </a:extLst>
          </p:cNvPr>
          <p:cNvSpPr txBox="1"/>
          <p:nvPr/>
        </p:nvSpPr>
        <p:spPr>
          <a:xfrm>
            <a:off x="6350000" y="2209800"/>
            <a:ext cx="2311400" cy="7620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Attestation de retour, ou perte, vol, casse</a:t>
            </a:r>
          </a:p>
        </p:txBody>
      </p:sp>
      <p:sp>
        <p:nvSpPr>
          <p:cNvPr id="19" name="Rectangle : coins arrondis 18">
            <a:extLst>
              <a:ext uri="{FF2B5EF4-FFF2-40B4-BE49-F238E27FC236}">
                <a16:creationId xmlns:a16="http://schemas.microsoft.com/office/drawing/2014/main" id="{0F1BE612-0E4F-9BE1-B9E6-D05900ECB667}"/>
              </a:ext>
            </a:extLst>
          </p:cNvPr>
          <p:cNvSpPr/>
          <p:nvPr/>
        </p:nvSpPr>
        <p:spPr>
          <a:xfrm>
            <a:off x="8953500" y="1524000"/>
            <a:ext cx="2628900" cy="1498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A5EE8321-23BF-C0D9-9E6D-563BB194FBCB}"/>
              </a:ext>
            </a:extLst>
          </p:cNvPr>
          <p:cNvSpPr/>
          <p:nvPr/>
        </p:nvSpPr>
        <p:spPr>
          <a:xfrm>
            <a:off x="9131300" y="1676400"/>
            <a:ext cx="381000" cy="381000"/>
          </a:xfrm>
          <a:prstGeom prst="ellipse">
            <a:avLst/>
          </a:prstGeom>
          <a:solidFill>
            <a:srgbClr val="C4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a:solidFill>
                  <a:srgbClr val="FFFFFF"/>
                </a:solidFill>
                <a:latin typeface="Calibri" panose="020F0502020204030204" pitchFamily="34" charset="0"/>
              </a:rPr>
              <a:t>4</a:t>
            </a:r>
          </a:p>
        </p:txBody>
      </p:sp>
      <p:sp>
        <p:nvSpPr>
          <p:cNvPr id="21" name="ZoneTexte 20">
            <a:extLst>
              <a:ext uri="{FF2B5EF4-FFF2-40B4-BE49-F238E27FC236}">
                <a16:creationId xmlns:a16="http://schemas.microsoft.com/office/drawing/2014/main" id="{5381C935-3899-9B50-7C8A-75EA1A750B8E}"/>
              </a:ext>
            </a:extLst>
          </p:cNvPr>
          <p:cNvSpPr txBox="1"/>
          <p:nvPr/>
        </p:nvSpPr>
        <p:spPr>
          <a:xfrm>
            <a:off x="9639300" y="1739900"/>
            <a:ext cx="18796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Matériel perdu</a:t>
            </a:r>
          </a:p>
        </p:txBody>
      </p:sp>
      <p:sp>
        <p:nvSpPr>
          <p:cNvPr id="22" name="ZoneTexte 21">
            <a:extLst>
              <a:ext uri="{FF2B5EF4-FFF2-40B4-BE49-F238E27FC236}">
                <a16:creationId xmlns:a16="http://schemas.microsoft.com/office/drawing/2014/main" id="{DF2371A8-2F40-9D14-7FCB-720FD44238F2}"/>
              </a:ext>
            </a:extLst>
          </p:cNvPr>
          <p:cNvSpPr txBox="1"/>
          <p:nvPr/>
        </p:nvSpPr>
        <p:spPr>
          <a:xfrm>
            <a:off x="9131300" y="2209800"/>
            <a:ext cx="2311400" cy="7620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Synthèse du matériel perdu, volé ou abîmé</a:t>
            </a:r>
          </a:p>
        </p:txBody>
      </p:sp>
      <p:sp>
        <p:nvSpPr>
          <p:cNvPr id="23" name="Rectangle : coins arrondis 22">
            <a:extLst>
              <a:ext uri="{FF2B5EF4-FFF2-40B4-BE49-F238E27FC236}">
                <a16:creationId xmlns:a16="http://schemas.microsoft.com/office/drawing/2014/main" id="{F10EF082-AFF3-8177-8C8F-D458CA4FB4DE}"/>
              </a:ext>
            </a:extLst>
          </p:cNvPr>
          <p:cNvSpPr/>
          <p:nvPr/>
        </p:nvSpPr>
        <p:spPr>
          <a:xfrm>
            <a:off x="609600" y="3175000"/>
            <a:ext cx="2628900" cy="1498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4290A973-26D4-62A2-A8DA-2CFE5359FCE2}"/>
              </a:ext>
            </a:extLst>
          </p:cNvPr>
          <p:cNvSpPr/>
          <p:nvPr/>
        </p:nvSpPr>
        <p:spPr>
          <a:xfrm>
            <a:off x="787400" y="3327400"/>
            <a:ext cx="381000" cy="381000"/>
          </a:xfrm>
          <a:prstGeom prst="ellipse">
            <a:avLst/>
          </a:prstGeom>
          <a:solidFill>
            <a:srgbClr val="2D9CD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a:solidFill>
                  <a:srgbClr val="FFFFFF"/>
                </a:solidFill>
                <a:latin typeface="Calibri" panose="020F0502020204030204" pitchFamily="34" charset="0"/>
              </a:rPr>
              <a:t>5</a:t>
            </a:r>
          </a:p>
        </p:txBody>
      </p:sp>
      <p:sp>
        <p:nvSpPr>
          <p:cNvPr id="25" name="ZoneTexte 24">
            <a:extLst>
              <a:ext uri="{FF2B5EF4-FFF2-40B4-BE49-F238E27FC236}">
                <a16:creationId xmlns:a16="http://schemas.microsoft.com/office/drawing/2014/main" id="{D7F6CB45-88B2-D28F-7B6B-3F3C38399831}"/>
              </a:ext>
            </a:extLst>
          </p:cNvPr>
          <p:cNvSpPr txBox="1"/>
          <p:nvPr/>
        </p:nvSpPr>
        <p:spPr>
          <a:xfrm>
            <a:off x="1295400" y="3390900"/>
            <a:ext cx="18796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Inventaire</a:t>
            </a:r>
          </a:p>
        </p:txBody>
      </p:sp>
      <p:sp>
        <p:nvSpPr>
          <p:cNvPr id="26" name="ZoneTexte 25">
            <a:extLst>
              <a:ext uri="{FF2B5EF4-FFF2-40B4-BE49-F238E27FC236}">
                <a16:creationId xmlns:a16="http://schemas.microsoft.com/office/drawing/2014/main" id="{83F2AAC1-96F3-77D1-FEE8-C5C7963D6931}"/>
              </a:ext>
            </a:extLst>
          </p:cNvPr>
          <p:cNvSpPr txBox="1"/>
          <p:nvPr/>
        </p:nvSpPr>
        <p:spPr>
          <a:xfrm>
            <a:off x="787400" y="3860800"/>
            <a:ext cx="2311400" cy="7620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Acheté, en stock, à commander, prix et dépenses</a:t>
            </a:r>
          </a:p>
        </p:txBody>
      </p:sp>
      <p:sp>
        <p:nvSpPr>
          <p:cNvPr id="27" name="Rectangle : coins arrondis 26">
            <a:extLst>
              <a:ext uri="{FF2B5EF4-FFF2-40B4-BE49-F238E27FC236}">
                <a16:creationId xmlns:a16="http://schemas.microsoft.com/office/drawing/2014/main" id="{13B0DAB4-7DCF-C704-0F0B-07CE802F4590}"/>
              </a:ext>
            </a:extLst>
          </p:cNvPr>
          <p:cNvSpPr/>
          <p:nvPr/>
        </p:nvSpPr>
        <p:spPr>
          <a:xfrm>
            <a:off x="3390900" y="3175000"/>
            <a:ext cx="2628900" cy="1498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2F34B018-1735-02B9-FEB7-5887C2070A22}"/>
              </a:ext>
            </a:extLst>
          </p:cNvPr>
          <p:cNvSpPr/>
          <p:nvPr/>
        </p:nvSpPr>
        <p:spPr>
          <a:xfrm>
            <a:off x="3568700" y="3327400"/>
            <a:ext cx="381000" cy="381000"/>
          </a:xfrm>
          <a:prstGeom prst="ellipse">
            <a:avLst/>
          </a:prstGeom>
          <a:solidFill>
            <a:srgbClr val="B6760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a:solidFill>
                  <a:srgbClr val="FFFFFF"/>
                </a:solidFill>
                <a:latin typeface="Calibri" panose="020F0502020204030204" pitchFamily="34" charset="0"/>
              </a:rPr>
              <a:t>6</a:t>
            </a:r>
          </a:p>
        </p:txBody>
      </p:sp>
      <p:sp>
        <p:nvSpPr>
          <p:cNvPr id="29" name="ZoneTexte 28">
            <a:extLst>
              <a:ext uri="{FF2B5EF4-FFF2-40B4-BE49-F238E27FC236}">
                <a16:creationId xmlns:a16="http://schemas.microsoft.com/office/drawing/2014/main" id="{05B89BCD-E622-EED3-50ED-B1950B392735}"/>
              </a:ext>
            </a:extLst>
          </p:cNvPr>
          <p:cNvSpPr txBox="1"/>
          <p:nvPr/>
        </p:nvSpPr>
        <p:spPr>
          <a:xfrm>
            <a:off x="4076700" y="3390900"/>
            <a:ext cx="18796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Attestations</a:t>
            </a:r>
          </a:p>
        </p:txBody>
      </p:sp>
      <p:sp>
        <p:nvSpPr>
          <p:cNvPr id="30" name="ZoneTexte 29">
            <a:extLst>
              <a:ext uri="{FF2B5EF4-FFF2-40B4-BE49-F238E27FC236}">
                <a16:creationId xmlns:a16="http://schemas.microsoft.com/office/drawing/2014/main" id="{F8266B23-B89E-4B10-453A-FCBDD5811F4D}"/>
              </a:ext>
            </a:extLst>
          </p:cNvPr>
          <p:cNvSpPr txBox="1"/>
          <p:nvPr/>
        </p:nvSpPr>
        <p:spPr>
          <a:xfrm>
            <a:off x="3568700" y="3860800"/>
            <a:ext cx="2311400" cy="7620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Suivre les envois : en attente, à relancer, signées</a:t>
            </a:r>
          </a:p>
        </p:txBody>
      </p:sp>
      <p:sp>
        <p:nvSpPr>
          <p:cNvPr id="31" name="Rectangle : coins arrondis 30">
            <a:extLst>
              <a:ext uri="{FF2B5EF4-FFF2-40B4-BE49-F238E27FC236}">
                <a16:creationId xmlns:a16="http://schemas.microsoft.com/office/drawing/2014/main" id="{97E569D0-6669-D546-E8F2-6DC4D59905E3}"/>
              </a:ext>
            </a:extLst>
          </p:cNvPr>
          <p:cNvSpPr/>
          <p:nvPr/>
        </p:nvSpPr>
        <p:spPr>
          <a:xfrm>
            <a:off x="6172200" y="3175000"/>
            <a:ext cx="2628900" cy="1498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Ellipse 31">
            <a:extLst>
              <a:ext uri="{FF2B5EF4-FFF2-40B4-BE49-F238E27FC236}">
                <a16:creationId xmlns:a16="http://schemas.microsoft.com/office/drawing/2014/main" id="{9BE64CF8-6BC2-6C54-2F8A-8AA58885F3F3}"/>
              </a:ext>
            </a:extLst>
          </p:cNvPr>
          <p:cNvSpPr/>
          <p:nvPr/>
        </p:nvSpPr>
        <p:spPr>
          <a:xfrm>
            <a:off x="6350000" y="3327400"/>
            <a:ext cx="381000" cy="3810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a:solidFill>
                  <a:srgbClr val="FFFFFF"/>
                </a:solidFill>
                <a:latin typeface="Calibri" panose="020F0502020204030204" pitchFamily="34" charset="0"/>
              </a:rPr>
              <a:t>7</a:t>
            </a:r>
          </a:p>
        </p:txBody>
      </p:sp>
      <p:sp>
        <p:nvSpPr>
          <p:cNvPr id="33" name="ZoneTexte 32">
            <a:extLst>
              <a:ext uri="{FF2B5EF4-FFF2-40B4-BE49-F238E27FC236}">
                <a16:creationId xmlns:a16="http://schemas.microsoft.com/office/drawing/2014/main" id="{4BF70C96-B74F-E932-4692-90FCE73338A3}"/>
              </a:ext>
            </a:extLst>
          </p:cNvPr>
          <p:cNvSpPr txBox="1"/>
          <p:nvPr/>
        </p:nvSpPr>
        <p:spPr>
          <a:xfrm>
            <a:off x="6858000" y="3390900"/>
            <a:ext cx="18796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Archives PDF</a:t>
            </a:r>
          </a:p>
        </p:txBody>
      </p:sp>
      <p:sp>
        <p:nvSpPr>
          <p:cNvPr id="34" name="ZoneTexte 33">
            <a:extLst>
              <a:ext uri="{FF2B5EF4-FFF2-40B4-BE49-F238E27FC236}">
                <a16:creationId xmlns:a16="http://schemas.microsoft.com/office/drawing/2014/main" id="{20A83B3A-C975-6845-A0A9-C11179AE473D}"/>
              </a:ext>
            </a:extLst>
          </p:cNvPr>
          <p:cNvSpPr txBox="1"/>
          <p:nvPr/>
        </p:nvSpPr>
        <p:spPr>
          <a:xfrm>
            <a:off x="6350000" y="3860800"/>
            <a:ext cx="2311400" cy="7620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Retrouver le PDF signé de chaque attestation</a:t>
            </a:r>
          </a:p>
        </p:txBody>
      </p:sp>
      <p:sp>
        <p:nvSpPr>
          <p:cNvPr id="35" name="Rectangle : coins arrondis 34">
            <a:extLst>
              <a:ext uri="{FF2B5EF4-FFF2-40B4-BE49-F238E27FC236}">
                <a16:creationId xmlns:a16="http://schemas.microsoft.com/office/drawing/2014/main" id="{2F71A8E7-346D-CFA4-FBA3-3DD8A41C291E}"/>
              </a:ext>
            </a:extLst>
          </p:cNvPr>
          <p:cNvSpPr/>
          <p:nvPr/>
        </p:nvSpPr>
        <p:spPr>
          <a:xfrm>
            <a:off x="8953500" y="3175000"/>
            <a:ext cx="2628900" cy="1498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Ellipse 35">
            <a:extLst>
              <a:ext uri="{FF2B5EF4-FFF2-40B4-BE49-F238E27FC236}">
                <a16:creationId xmlns:a16="http://schemas.microsoft.com/office/drawing/2014/main" id="{ECFEB8EE-0924-FDA3-6240-034BEDD18342}"/>
              </a:ext>
            </a:extLst>
          </p:cNvPr>
          <p:cNvSpPr/>
          <p:nvPr/>
        </p:nvSpPr>
        <p:spPr>
          <a:xfrm>
            <a:off x="9131300" y="3327400"/>
            <a:ext cx="381000" cy="381000"/>
          </a:xfrm>
          <a:prstGeom prst="ellipse">
            <a:avLst/>
          </a:prstGeom>
          <a:solidFill>
            <a:srgbClr val="8A93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a:solidFill>
                  <a:srgbClr val="FFFFFF"/>
                </a:solidFill>
                <a:latin typeface="Calibri" panose="020F0502020204030204" pitchFamily="34" charset="0"/>
              </a:rPr>
              <a:t>8</a:t>
            </a:r>
          </a:p>
        </p:txBody>
      </p:sp>
      <p:sp>
        <p:nvSpPr>
          <p:cNvPr id="37" name="ZoneTexte 36">
            <a:extLst>
              <a:ext uri="{FF2B5EF4-FFF2-40B4-BE49-F238E27FC236}">
                <a16:creationId xmlns:a16="http://schemas.microsoft.com/office/drawing/2014/main" id="{CE63429F-7EFF-72EE-E280-E5CA9D6312D3}"/>
              </a:ext>
            </a:extLst>
          </p:cNvPr>
          <p:cNvSpPr txBox="1"/>
          <p:nvPr/>
        </p:nvSpPr>
        <p:spPr>
          <a:xfrm>
            <a:off x="9639300" y="3390900"/>
            <a:ext cx="18796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Activités récentes</a:t>
            </a:r>
          </a:p>
        </p:txBody>
      </p:sp>
      <p:sp>
        <p:nvSpPr>
          <p:cNvPr id="38" name="ZoneTexte 37">
            <a:extLst>
              <a:ext uri="{FF2B5EF4-FFF2-40B4-BE49-F238E27FC236}">
                <a16:creationId xmlns:a16="http://schemas.microsoft.com/office/drawing/2014/main" id="{E6D52A5F-E5B2-D5E4-B7F0-2DF429E42FA1}"/>
              </a:ext>
            </a:extLst>
          </p:cNvPr>
          <p:cNvSpPr txBox="1"/>
          <p:nvPr/>
        </p:nvSpPr>
        <p:spPr>
          <a:xfrm>
            <a:off x="9131300" y="3860800"/>
            <a:ext cx="2311400" cy="7620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Journal de tout ce qui a été enregistré</a:t>
            </a:r>
          </a:p>
        </p:txBody>
      </p:sp>
      <p:sp>
        <p:nvSpPr>
          <p:cNvPr id="39" name="Rectangle : coins arrondis 38">
            <a:extLst>
              <a:ext uri="{FF2B5EF4-FFF2-40B4-BE49-F238E27FC236}">
                <a16:creationId xmlns:a16="http://schemas.microsoft.com/office/drawing/2014/main" id="{1B730AF3-AC6D-15B0-9232-267FFAE2D577}"/>
              </a:ext>
            </a:extLst>
          </p:cNvPr>
          <p:cNvSpPr/>
          <p:nvPr/>
        </p:nvSpPr>
        <p:spPr>
          <a:xfrm>
            <a:off x="6172200" y="4978400"/>
            <a:ext cx="5410200" cy="1244600"/>
          </a:xfrm>
          <a:prstGeom prst="roundRect">
            <a:avLst>
              <a:gd name="adj" fmla="val 4500"/>
            </a:avLst>
          </a:prstGeom>
          <a:solidFill>
            <a:srgbClr val="1E1C8C"/>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ZoneTexte 39">
            <a:extLst>
              <a:ext uri="{FF2B5EF4-FFF2-40B4-BE49-F238E27FC236}">
                <a16:creationId xmlns:a16="http://schemas.microsoft.com/office/drawing/2014/main" id="{483ACECA-2F33-FC64-B42D-40CF878B706F}"/>
              </a:ext>
            </a:extLst>
          </p:cNvPr>
          <p:cNvSpPr txBox="1"/>
          <p:nvPr/>
        </p:nvSpPr>
        <p:spPr>
          <a:xfrm>
            <a:off x="6426200" y="5105400"/>
            <a:ext cx="4953000" cy="254000"/>
          </a:xfrm>
          <a:prstGeom prst="rect">
            <a:avLst/>
          </a:prstGeom>
          <a:noFill/>
        </p:spPr>
        <p:txBody>
          <a:bodyPr vert="horz" wrap="square" lIns="0" tIns="0" rIns="0" bIns="0" rtlCol="0">
            <a:noAutofit/>
          </a:bodyPr>
          <a:lstStyle/>
          <a:p>
            <a:r>
              <a:rPr lang="fr-FR" sz="1100" b="1">
                <a:solidFill>
                  <a:srgbClr val="B9B6FF"/>
                </a:solidFill>
                <a:latin typeface="Calibri" panose="020F0502020204030204" pitchFamily="34" charset="0"/>
              </a:rPr>
              <a:t>AUSSI DANS L'APPLICATION</a:t>
            </a:r>
          </a:p>
        </p:txBody>
      </p:sp>
      <p:sp>
        <p:nvSpPr>
          <p:cNvPr id="41" name="ZoneTexte 40">
            <a:extLst>
              <a:ext uri="{FF2B5EF4-FFF2-40B4-BE49-F238E27FC236}">
                <a16:creationId xmlns:a16="http://schemas.microsoft.com/office/drawing/2014/main" id="{2B2D24EF-F05C-58C0-E49A-AB9907D9DDB8}"/>
              </a:ext>
            </a:extLst>
          </p:cNvPr>
          <p:cNvSpPr txBox="1"/>
          <p:nvPr/>
        </p:nvSpPr>
        <p:spPr>
          <a:xfrm>
            <a:off x="6426200" y="5384800"/>
            <a:ext cx="4953000" cy="812800"/>
          </a:xfrm>
          <a:prstGeom prst="rect">
            <a:avLst/>
          </a:prstGeom>
          <a:noFill/>
        </p:spPr>
        <p:txBody>
          <a:bodyPr vert="horz" wrap="square" lIns="0" tIns="0" rIns="0" bIns="0" rtlCol="0">
            <a:noAutofit/>
          </a:bodyPr>
          <a:lstStyle/>
          <a:p>
            <a:r>
              <a:rPr lang="fr-FR" sz="1400">
                <a:solidFill>
                  <a:srgbClr val="FFFFFF"/>
                </a:solidFill>
                <a:latin typeface="Calibri" panose="020F0502020204030204" pitchFamily="34" charset="0"/>
              </a:rPr>
              <a:t>Recherche rapide · Rapport PDF ou Excel de chaque page · Alertes de retard · Rôles et accès · Annuaire Microsoft 365 · Filtres par période · Calendrier et listes · Thèmes eXalt</a:t>
            </a:r>
          </a:p>
        </p:txBody>
      </p:sp>
      <p:sp>
        <p:nvSpPr>
          <p:cNvPr id="42" name="Rectangle : coins arrondis 41">
            <a:extLst>
              <a:ext uri="{FF2B5EF4-FFF2-40B4-BE49-F238E27FC236}">
                <a16:creationId xmlns:a16="http://schemas.microsoft.com/office/drawing/2014/main" id="{4F22DE61-AAE5-2DFF-7559-552EE27DABDC}"/>
              </a:ext>
            </a:extLst>
          </p:cNvPr>
          <p:cNvSpPr/>
          <p:nvPr/>
        </p:nvSpPr>
        <p:spPr>
          <a:xfrm>
            <a:off x="609600" y="4978400"/>
            <a:ext cx="5384800" cy="1244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AC8EB589-61BA-CCE4-FD97-B1DA51DEBF3A}"/>
              </a:ext>
            </a:extLst>
          </p:cNvPr>
          <p:cNvSpPr txBox="1"/>
          <p:nvPr/>
        </p:nvSpPr>
        <p:spPr>
          <a:xfrm>
            <a:off x="863600" y="5080000"/>
            <a:ext cx="5080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Aides à la navigation</a:t>
            </a:r>
          </a:p>
        </p:txBody>
      </p:sp>
      <p:sp>
        <p:nvSpPr>
          <p:cNvPr id="44" name="ZoneTexte 43">
            <a:extLst>
              <a:ext uri="{FF2B5EF4-FFF2-40B4-BE49-F238E27FC236}">
                <a16:creationId xmlns:a16="http://schemas.microsoft.com/office/drawing/2014/main" id="{0697C66D-DDCB-4FC3-B456-59C7C9A4F987}"/>
              </a:ext>
            </a:extLst>
          </p:cNvPr>
          <p:cNvSpPr txBox="1"/>
          <p:nvPr/>
        </p:nvSpPr>
        <p:spPr>
          <a:xfrm>
            <a:off x="863600" y="5410200"/>
            <a:ext cx="5029200" cy="787400"/>
          </a:xfrm>
          <a:prstGeom prst="rect">
            <a:avLst/>
          </a:prstGeom>
          <a:noFill/>
        </p:spPr>
        <p:txBody>
          <a:bodyPr vert="horz" wrap="square" lIns="0" tIns="0" rIns="0" bIns="0" rtlCol="0">
            <a:noAutofit/>
          </a:bodyPr>
          <a:lstStyle/>
          <a:p>
            <a:pPr marL="203200" indent="-203200">
              <a:spcAft>
                <a:spcPts val="200"/>
              </a:spcAft>
              <a:buClr>
                <a:srgbClr val="5853FF"/>
              </a:buClr>
              <a:buFont typeface="+mj-lt"/>
              <a:buChar char="•"/>
            </a:pPr>
            <a:r>
              <a:rPr lang="fr-FR" sz="1200">
                <a:solidFill>
                  <a:srgbClr val="12162B"/>
                </a:solidFill>
                <a:latin typeface="Calibri" panose="020F0502020204030204" pitchFamily="34" charset="0"/>
              </a:rPr>
              <a:t>Raccourcis : Ctrl K, 1 à 8 (onglets), / (liste), ? (aide), Échap</a:t>
            </a:r>
          </a:p>
          <a:p>
            <a:pPr marL="203200" indent="-203200">
              <a:spcAft>
                <a:spcPts val="200"/>
              </a:spcAft>
              <a:buClr>
                <a:srgbClr val="5853FF"/>
              </a:buClr>
              <a:buFont typeface="+mj-lt"/>
              <a:buChar char="•"/>
            </a:pPr>
            <a:r>
              <a:rPr lang="fr-FR" sz="1200">
                <a:solidFill>
                  <a:srgbClr val="12162B"/>
                </a:solidFill>
                <a:latin typeface="Calibri" panose="020F0502020204030204" pitchFamily="34" charset="0"/>
              </a:rPr>
              <a:t>Douze thèmes (dont eXalt) et sept couleurs d'accent</a:t>
            </a:r>
          </a:p>
          <a:p>
            <a:pPr marL="203200" indent="-203200">
              <a:spcAft>
                <a:spcPts val="200"/>
              </a:spcAft>
              <a:buClr>
                <a:srgbClr val="5853FF"/>
              </a:buClr>
              <a:buFont typeface="+mj-lt"/>
              <a:buChar char="•"/>
            </a:pPr>
            <a:r>
              <a:rPr lang="fr-FR" sz="1200">
                <a:solidFill>
                  <a:srgbClr val="12162B"/>
                </a:solidFill>
                <a:latin typeface="Calibri" panose="020F0502020204030204" pitchFamily="34" charset="0"/>
              </a:rPr>
              <a:t>Pastille de sauvegarde : « Synchronisé » ou « Mode local »</a:t>
            </a:r>
          </a:p>
        </p:txBody>
      </p:sp>
    </p:spTree>
    <p:extLst>
      <p:ext uri="{BB962C8B-B14F-4D97-AF65-F5344CB8AC3E}">
        <p14:creationId xmlns:p14="http://schemas.microsoft.com/office/powerpoint/2010/main" val="1579481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C8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4E85B2-E6CC-A6E4-CEC3-A1C292FA127F}"/>
              </a:ext>
            </a:extLst>
          </p:cNvPr>
          <p:cNvSpPr>
            <a:spLocks noGrp="1"/>
          </p:cNvSpPr>
          <p:nvPr>
            <p:ph type="title"/>
          </p:nvPr>
        </p:nvSpPr>
        <p:spPr>
          <a:xfrm>
            <a:off x="1219200" y="2997200"/>
            <a:ext cx="7874000" cy="889000"/>
          </a:xfrm>
        </p:spPr>
        <p:txBody>
          <a:bodyPr lIns="0" anchor="ctr">
            <a:normAutofit/>
          </a:bodyPr>
          <a:lstStyle/>
          <a:p>
            <a:r>
              <a:rPr lang="fr-FR" b="1">
                <a:solidFill>
                  <a:srgbClr val="FFFFFF"/>
                </a:solidFill>
                <a:latin typeface="Calibri" panose="020F0502020204030204" pitchFamily="34" charset="0"/>
              </a:rPr>
              <a:t>Fonctions</a:t>
            </a:r>
          </a:p>
        </p:txBody>
      </p:sp>
      <p:sp>
        <p:nvSpPr>
          <p:cNvPr id="3" name="ZoneTexte 2">
            <a:extLst>
              <a:ext uri="{FF2B5EF4-FFF2-40B4-BE49-F238E27FC236}">
                <a16:creationId xmlns:a16="http://schemas.microsoft.com/office/drawing/2014/main" id="{A0AD7526-6265-565E-E77E-4DCFF325F358}"/>
              </a:ext>
            </a:extLst>
          </p:cNvPr>
          <p:cNvSpPr txBox="1"/>
          <p:nvPr/>
        </p:nvSpPr>
        <p:spPr>
          <a:xfrm>
            <a:off x="1219200" y="1905000"/>
            <a:ext cx="3810000" cy="1016000"/>
          </a:xfrm>
          <a:prstGeom prst="rect">
            <a:avLst/>
          </a:prstGeom>
          <a:noFill/>
        </p:spPr>
        <p:txBody>
          <a:bodyPr vert="horz" wrap="square" lIns="0" tIns="0" rIns="0" bIns="0" rtlCol="0">
            <a:noAutofit/>
          </a:bodyPr>
          <a:lstStyle/>
          <a:p>
            <a:r>
              <a:rPr lang="fr-FR" sz="8000" b="1">
                <a:solidFill>
                  <a:srgbClr val="5853FF"/>
                </a:solidFill>
                <a:latin typeface="Calibri" panose="020F0502020204030204" pitchFamily="34" charset="0"/>
              </a:rPr>
              <a:t>02</a:t>
            </a:r>
          </a:p>
        </p:txBody>
      </p:sp>
      <p:sp>
        <p:nvSpPr>
          <p:cNvPr id="4" name="ZoneTexte 3">
            <a:extLst>
              <a:ext uri="{FF2B5EF4-FFF2-40B4-BE49-F238E27FC236}">
                <a16:creationId xmlns:a16="http://schemas.microsoft.com/office/drawing/2014/main" id="{7E33E60D-2AAB-7335-008D-DA9BD2E509A9}"/>
              </a:ext>
            </a:extLst>
          </p:cNvPr>
          <p:cNvSpPr txBox="1"/>
          <p:nvPr/>
        </p:nvSpPr>
        <p:spPr>
          <a:xfrm>
            <a:off x="1219200" y="4013200"/>
            <a:ext cx="7874000" cy="762000"/>
          </a:xfrm>
          <a:prstGeom prst="rect">
            <a:avLst/>
          </a:prstGeom>
          <a:noFill/>
        </p:spPr>
        <p:txBody>
          <a:bodyPr vert="horz" wrap="square" lIns="0" tIns="0" rIns="0" bIns="0" rtlCol="0">
            <a:noAutofit/>
          </a:bodyPr>
          <a:lstStyle/>
          <a:p>
            <a:r>
              <a:rPr lang="fr-FR" sz="2000">
                <a:solidFill>
                  <a:srgbClr val="AEB9E3"/>
                </a:solidFill>
                <a:latin typeface="Calibri" panose="020F0502020204030204" pitchFamily="34" charset="0"/>
              </a:rPr>
              <a:t>Chaque écran, chaque bouton, chaque donnée enregistrée</a:t>
            </a:r>
          </a:p>
        </p:txBody>
      </p:sp>
      <p:pic>
        <p:nvPicPr>
          <p:cNvPr id="6" name="Image 5">
            <a:extLst>
              <a:ext uri="{FF2B5EF4-FFF2-40B4-BE49-F238E27FC236}">
                <a16:creationId xmlns:a16="http://schemas.microsoft.com/office/drawing/2014/main" id="{C9CA75DA-6CBE-32AD-F750-3721975C80A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382000" y="1651000"/>
            <a:ext cx="3302000" cy="3302000"/>
          </a:xfrm>
          <a:prstGeom prst="rect">
            <a:avLst/>
          </a:prstGeom>
        </p:spPr>
      </p:pic>
      <p:sp>
        <p:nvSpPr>
          <p:cNvPr id="7" name="ZoneTexte 6">
            <a:extLst>
              <a:ext uri="{FF2B5EF4-FFF2-40B4-BE49-F238E27FC236}">
                <a16:creationId xmlns:a16="http://schemas.microsoft.com/office/drawing/2014/main" id="{818A5A28-3B52-A5C4-5612-F1918E307F13}"/>
              </a:ext>
            </a:extLst>
          </p:cNvPr>
          <p:cNvSpPr txBox="1"/>
          <p:nvPr/>
        </p:nvSpPr>
        <p:spPr>
          <a:xfrm>
            <a:off x="1219200" y="6350000"/>
            <a:ext cx="8890000" cy="177800"/>
          </a:xfrm>
          <a:prstGeom prst="rect">
            <a:avLst/>
          </a:prstGeom>
          <a:noFill/>
        </p:spPr>
        <p:txBody>
          <a:bodyPr vert="horz" wrap="square" lIns="0" tIns="0" rIns="0" bIns="0" rtlCol="0">
            <a:noAutofit/>
          </a:bodyPr>
          <a:lstStyle/>
          <a:p>
            <a:r>
              <a:rPr lang="fr-FR" sz="900">
                <a:solidFill>
                  <a:srgbClr val="7C86B8"/>
                </a:solidFill>
                <a:latin typeface="Calibri" panose="020F0502020204030204" pitchFamily="34" charset="0"/>
              </a:rPr>
              <a:t>GPIEXALT  ·  DOC-GPIEXALT-001  ·  Version 7.8</a:t>
            </a:r>
          </a:p>
        </p:txBody>
      </p:sp>
    </p:spTree>
    <p:extLst>
      <p:ext uri="{BB962C8B-B14F-4D97-AF65-F5344CB8AC3E}">
        <p14:creationId xmlns:p14="http://schemas.microsoft.com/office/powerpoint/2010/main" val="59378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6A266C-0ECA-ADB3-3B0C-26F4AF62D524}"/>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Accueil : le tableau de bord</a:t>
            </a:r>
          </a:p>
        </p:txBody>
      </p:sp>
      <p:sp>
        <p:nvSpPr>
          <p:cNvPr id="3" name="ZoneTexte 2">
            <a:extLst>
              <a:ext uri="{FF2B5EF4-FFF2-40B4-BE49-F238E27FC236}">
                <a16:creationId xmlns:a16="http://schemas.microsoft.com/office/drawing/2014/main" id="{7D5FEC9E-09BE-E550-9BBC-726ABD22FE19}"/>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1</a:t>
            </a:r>
          </a:p>
        </p:txBody>
      </p:sp>
      <p:sp>
        <p:nvSpPr>
          <p:cNvPr id="4" name="ZoneTexte 3">
            <a:extLst>
              <a:ext uri="{FF2B5EF4-FFF2-40B4-BE49-F238E27FC236}">
                <a16:creationId xmlns:a16="http://schemas.microsoft.com/office/drawing/2014/main" id="{3A9C84F2-09E1-56A8-61EE-255D09D8D910}"/>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Ce qui demande une action, en un coup d'œil</a:t>
            </a:r>
          </a:p>
        </p:txBody>
      </p:sp>
      <p:sp>
        <p:nvSpPr>
          <p:cNvPr id="5" name="ZoneTexte 4">
            <a:extLst>
              <a:ext uri="{FF2B5EF4-FFF2-40B4-BE49-F238E27FC236}">
                <a16:creationId xmlns:a16="http://schemas.microsoft.com/office/drawing/2014/main" id="{4D66CEB0-3FC6-AF31-228A-20D9BCD6046B}"/>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F8B04C0F-A50D-50F8-38CB-D0969B1B3DD3}"/>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E6C0B43C-5BFE-4EC2-B340-6AC7480D5EBD}" type="slidenum">
              <a:rPr lang="fr-FR" sz="900" smtClean="0">
                <a:solidFill>
                  <a:srgbClr val="586080"/>
                </a:solidFill>
                <a:latin typeface="Calibri" panose="020F0502020204030204" pitchFamily="34" charset="0"/>
              </a:rPr>
              <a:t>9</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B8A3E7EB-352A-1148-85E1-B33DE068234A}"/>
              </a:ext>
            </a:extLst>
          </p:cNvPr>
          <p:cNvSpPr/>
          <p:nvPr/>
        </p:nvSpPr>
        <p:spPr>
          <a:xfrm>
            <a:off x="609600" y="1600200"/>
            <a:ext cx="4191000" cy="4790546"/>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FB69790C-87AC-A2B0-4006-BEF09B2EA50F}"/>
              </a:ext>
            </a:extLst>
          </p:cNvPr>
          <p:cNvSpPr/>
          <p:nvPr/>
        </p:nvSpPr>
        <p:spPr>
          <a:xfrm>
            <a:off x="609600" y="1600200"/>
            <a:ext cx="4191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4FFC30ED-000E-5AB5-282E-D403FA9948E9}"/>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EB202F23-6029-BBB9-F7BB-899D1DF2B778}"/>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69C7F896-94DB-B1C4-EBFE-8C4C44FE7901}"/>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E8481DA6-51E9-E7A8-83FE-1249428DA568}"/>
              </a:ext>
            </a:extLst>
          </p:cNvPr>
          <p:cNvSpPr/>
          <p:nvPr/>
        </p:nvSpPr>
        <p:spPr>
          <a:xfrm>
            <a:off x="1562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1BC43665-ACB6-222A-0FF9-E19153D4A59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4191000" cy="4511146"/>
          </a:xfrm>
          <a:prstGeom prst="rect">
            <a:avLst/>
          </a:prstGeom>
        </p:spPr>
      </p:pic>
      <p:sp>
        <p:nvSpPr>
          <p:cNvPr id="15" name="Ellipse 14">
            <a:extLst>
              <a:ext uri="{FF2B5EF4-FFF2-40B4-BE49-F238E27FC236}">
                <a16:creationId xmlns:a16="http://schemas.microsoft.com/office/drawing/2014/main" id="{58CC41B0-8291-9B75-C265-C5FE6720E3F1}"/>
              </a:ext>
            </a:extLst>
          </p:cNvPr>
          <p:cNvSpPr/>
          <p:nvPr/>
        </p:nvSpPr>
        <p:spPr>
          <a:xfrm>
            <a:off x="2703248" y="1927225"/>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A747DB8C-E3A0-1382-E0C5-64BC89FF761F}"/>
              </a:ext>
            </a:extLst>
          </p:cNvPr>
          <p:cNvSpPr/>
          <p:nvPr/>
        </p:nvSpPr>
        <p:spPr>
          <a:xfrm>
            <a:off x="1297517" y="2323042"/>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522A3F00-5701-D1ED-BA45-1B0704DB58F0}"/>
              </a:ext>
            </a:extLst>
          </p:cNvPr>
          <p:cNvSpPr/>
          <p:nvPr/>
        </p:nvSpPr>
        <p:spPr>
          <a:xfrm>
            <a:off x="3916892" y="2328863"/>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62DD423C-701F-DEFA-E7E9-3687E1CD1BB9}"/>
              </a:ext>
            </a:extLst>
          </p:cNvPr>
          <p:cNvSpPr/>
          <p:nvPr/>
        </p:nvSpPr>
        <p:spPr>
          <a:xfrm>
            <a:off x="1501246" y="2654829"/>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B2ECEE83-F6A8-BD69-86A5-AC5FF601728C}"/>
              </a:ext>
            </a:extLst>
          </p:cNvPr>
          <p:cNvSpPr/>
          <p:nvPr/>
        </p:nvSpPr>
        <p:spPr>
          <a:xfrm>
            <a:off x="1518708" y="3280569"/>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Ellipse 19">
            <a:extLst>
              <a:ext uri="{FF2B5EF4-FFF2-40B4-BE49-F238E27FC236}">
                <a16:creationId xmlns:a16="http://schemas.microsoft.com/office/drawing/2014/main" id="{46824413-D897-FBB9-E1F2-4EBB104B9AD3}"/>
              </a:ext>
            </a:extLst>
          </p:cNvPr>
          <p:cNvSpPr/>
          <p:nvPr/>
        </p:nvSpPr>
        <p:spPr>
          <a:xfrm>
            <a:off x="3232944" y="3280569"/>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21" name="Ellipse 20">
            <a:extLst>
              <a:ext uri="{FF2B5EF4-FFF2-40B4-BE49-F238E27FC236}">
                <a16:creationId xmlns:a16="http://schemas.microsoft.com/office/drawing/2014/main" id="{502C9419-2DFC-925D-7445-7327108BBE4B}"/>
              </a:ext>
            </a:extLst>
          </p:cNvPr>
          <p:cNvSpPr/>
          <p:nvPr/>
        </p:nvSpPr>
        <p:spPr>
          <a:xfrm>
            <a:off x="1544902" y="451749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7</a:t>
            </a:r>
          </a:p>
        </p:txBody>
      </p:sp>
      <p:sp>
        <p:nvSpPr>
          <p:cNvPr id="22" name="Rectangle : coins arrondis 21">
            <a:extLst>
              <a:ext uri="{FF2B5EF4-FFF2-40B4-BE49-F238E27FC236}">
                <a16:creationId xmlns:a16="http://schemas.microsoft.com/office/drawing/2014/main" id="{0CC8298B-6C5F-B267-A49F-04D4618BE704}"/>
              </a:ext>
            </a:extLst>
          </p:cNvPr>
          <p:cNvSpPr/>
          <p:nvPr/>
        </p:nvSpPr>
        <p:spPr>
          <a:xfrm>
            <a:off x="5080000" y="1600200"/>
            <a:ext cx="65024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8C77ED6E-E617-7CAC-808B-BF6FF76A0ADB}"/>
              </a:ext>
            </a:extLst>
          </p:cNvPr>
          <p:cNvSpPr txBox="1"/>
          <p:nvPr/>
        </p:nvSpPr>
        <p:spPr>
          <a:xfrm>
            <a:off x="5308600" y="1752600"/>
            <a:ext cx="60452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4" name="Ellipse 23">
            <a:extLst>
              <a:ext uri="{FF2B5EF4-FFF2-40B4-BE49-F238E27FC236}">
                <a16:creationId xmlns:a16="http://schemas.microsoft.com/office/drawing/2014/main" id="{BC9DE290-BD84-6EBA-22E8-1EC418BBA8B0}"/>
              </a:ext>
            </a:extLst>
          </p:cNvPr>
          <p:cNvSpPr/>
          <p:nvPr/>
        </p:nvSpPr>
        <p:spPr>
          <a:xfrm>
            <a:off x="53086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5" name="ZoneTexte 24">
            <a:extLst>
              <a:ext uri="{FF2B5EF4-FFF2-40B4-BE49-F238E27FC236}">
                <a16:creationId xmlns:a16="http://schemas.microsoft.com/office/drawing/2014/main" id="{CCA5E860-5159-755D-9085-A4BAA373B3BB}"/>
              </a:ext>
            </a:extLst>
          </p:cNvPr>
          <p:cNvSpPr txBox="1"/>
          <p:nvPr/>
        </p:nvSpPr>
        <p:spPr>
          <a:xfrm>
            <a:off x="5715000" y="2146300"/>
            <a:ext cx="5638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Accès rapides : recherche, prêt, retour, rapport</a:t>
            </a:r>
          </a:p>
        </p:txBody>
      </p:sp>
      <p:sp>
        <p:nvSpPr>
          <p:cNvPr id="26" name="Ellipse 25">
            <a:extLst>
              <a:ext uri="{FF2B5EF4-FFF2-40B4-BE49-F238E27FC236}">
                <a16:creationId xmlns:a16="http://schemas.microsoft.com/office/drawing/2014/main" id="{233A4BC5-A4B1-1D06-0DA8-02F4C478E10F}"/>
              </a:ext>
            </a:extLst>
          </p:cNvPr>
          <p:cNvSpPr/>
          <p:nvPr/>
        </p:nvSpPr>
        <p:spPr>
          <a:xfrm>
            <a:off x="5308600" y="2641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7" name="ZoneTexte 26">
            <a:extLst>
              <a:ext uri="{FF2B5EF4-FFF2-40B4-BE49-F238E27FC236}">
                <a16:creationId xmlns:a16="http://schemas.microsoft.com/office/drawing/2014/main" id="{98B7FC12-12E2-FED2-11B9-94233F70A881}"/>
              </a:ext>
            </a:extLst>
          </p:cNvPr>
          <p:cNvSpPr txBox="1"/>
          <p:nvPr/>
        </p:nvSpPr>
        <p:spPr>
          <a:xfrm>
            <a:off x="5715000" y="2654300"/>
            <a:ext cx="5638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Indicateurs cliquables, dont Retours en retard</a:t>
            </a:r>
          </a:p>
        </p:txBody>
      </p:sp>
      <p:sp>
        <p:nvSpPr>
          <p:cNvPr id="28" name="Ellipse 27">
            <a:extLst>
              <a:ext uri="{FF2B5EF4-FFF2-40B4-BE49-F238E27FC236}">
                <a16:creationId xmlns:a16="http://schemas.microsoft.com/office/drawing/2014/main" id="{538E18BC-BA9E-AD6E-532C-5C838BF577D1}"/>
              </a:ext>
            </a:extLst>
          </p:cNvPr>
          <p:cNvSpPr/>
          <p:nvPr/>
        </p:nvSpPr>
        <p:spPr>
          <a:xfrm>
            <a:off x="5308600" y="3149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29" name="ZoneTexte 28">
            <a:extLst>
              <a:ext uri="{FF2B5EF4-FFF2-40B4-BE49-F238E27FC236}">
                <a16:creationId xmlns:a16="http://schemas.microsoft.com/office/drawing/2014/main" id="{4B1D87A4-E27E-2CC6-3C01-14A7994F4D92}"/>
              </a:ext>
            </a:extLst>
          </p:cNvPr>
          <p:cNvSpPr txBox="1"/>
          <p:nvPr/>
        </p:nvSpPr>
        <p:spPr>
          <a:xfrm>
            <a:off x="5715000" y="3162300"/>
            <a:ext cx="5638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Carte « À commander » : types sans stock (Inventaire)</a:t>
            </a:r>
          </a:p>
        </p:txBody>
      </p:sp>
      <p:sp>
        <p:nvSpPr>
          <p:cNvPr id="30" name="Ellipse 29">
            <a:extLst>
              <a:ext uri="{FF2B5EF4-FFF2-40B4-BE49-F238E27FC236}">
                <a16:creationId xmlns:a16="http://schemas.microsoft.com/office/drawing/2014/main" id="{B195EE71-CA00-24CD-6CD3-7FB56A10AFDE}"/>
              </a:ext>
            </a:extLst>
          </p:cNvPr>
          <p:cNvSpPr/>
          <p:nvPr/>
        </p:nvSpPr>
        <p:spPr>
          <a:xfrm>
            <a:off x="5308600" y="3657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31" name="ZoneTexte 30">
            <a:extLst>
              <a:ext uri="{FF2B5EF4-FFF2-40B4-BE49-F238E27FC236}">
                <a16:creationId xmlns:a16="http://schemas.microsoft.com/office/drawing/2014/main" id="{80A3DC5F-C668-5706-1F54-A37ABEA5D8E3}"/>
              </a:ext>
            </a:extLst>
          </p:cNvPr>
          <p:cNvSpPr txBox="1"/>
          <p:nvPr/>
        </p:nvSpPr>
        <p:spPr>
          <a:xfrm>
            <a:off x="5715000" y="3670300"/>
            <a:ext cx="5638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Bandeau « PDF à archiver » (si besoin)</a:t>
            </a:r>
          </a:p>
        </p:txBody>
      </p:sp>
      <p:sp>
        <p:nvSpPr>
          <p:cNvPr id="32" name="Ellipse 31">
            <a:extLst>
              <a:ext uri="{FF2B5EF4-FFF2-40B4-BE49-F238E27FC236}">
                <a16:creationId xmlns:a16="http://schemas.microsoft.com/office/drawing/2014/main" id="{2B8C7F86-4A20-7212-8438-099F4CD1A8C4}"/>
              </a:ext>
            </a:extLst>
          </p:cNvPr>
          <p:cNvSpPr/>
          <p:nvPr/>
        </p:nvSpPr>
        <p:spPr>
          <a:xfrm>
            <a:off x="5308600" y="4165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3" name="ZoneTexte 32">
            <a:extLst>
              <a:ext uri="{FF2B5EF4-FFF2-40B4-BE49-F238E27FC236}">
                <a16:creationId xmlns:a16="http://schemas.microsoft.com/office/drawing/2014/main" id="{6217E16D-93B4-1D07-97A8-D1BF740A69C8}"/>
              </a:ext>
            </a:extLst>
          </p:cNvPr>
          <p:cNvSpPr txBox="1"/>
          <p:nvPr/>
        </p:nvSpPr>
        <p:spPr>
          <a:xfrm>
            <a:off x="5715000" y="4178300"/>
            <a:ext cx="5638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Parc matériel : anneau cliquable, avec « En stock »</a:t>
            </a:r>
          </a:p>
        </p:txBody>
      </p:sp>
      <p:sp>
        <p:nvSpPr>
          <p:cNvPr id="34" name="Ellipse 33">
            <a:extLst>
              <a:ext uri="{FF2B5EF4-FFF2-40B4-BE49-F238E27FC236}">
                <a16:creationId xmlns:a16="http://schemas.microsoft.com/office/drawing/2014/main" id="{AC7FDA96-5FE4-313A-5118-6C89A5609A2C}"/>
              </a:ext>
            </a:extLst>
          </p:cNvPr>
          <p:cNvSpPr/>
          <p:nvPr/>
        </p:nvSpPr>
        <p:spPr>
          <a:xfrm>
            <a:off x="5308600" y="467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35" name="ZoneTexte 34">
            <a:extLst>
              <a:ext uri="{FF2B5EF4-FFF2-40B4-BE49-F238E27FC236}">
                <a16:creationId xmlns:a16="http://schemas.microsoft.com/office/drawing/2014/main" id="{73309CD8-9AD0-E206-2654-8F6D7B8B0157}"/>
              </a:ext>
            </a:extLst>
          </p:cNvPr>
          <p:cNvSpPr txBox="1"/>
          <p:nvPr/>
        </p:nvSpPr>
        <p:spPr>
          <a:xfrm>
            <a:off x="5715000" y="4686300"/>
            <a:ext cx="5638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Stock par type de matériel : tous les types</a:t>
            </a:r>
          </a:p>
        </p:txBody>
      </p:sp>
      <p:sp>
        <p:nvSpPr>
          <p:cNvPr id="36" name="Ellipse 35">
            <a:extLst>
              <a:ext uri="{FF2B5EF4-FFF2-40B4-BE49-F238E27FC236}">
                <a16:creationId xmlns:a16="http://schemas.microsoft.com/office/drawing/2014/main" id="{5A817E52-FA5B-3F34-4231-7A062E92C09C}"/>
              </a:ext>
            </a:extLst>
          </p:cNvPr>
          <p:cNvSpPr/>
          <p:nvPr/>
        </p:nvSpPr>
        <p:spPr>
          <a:xfrm>
            <a:off x="5308600" y="5181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7</a:t>
            </a:r>
          </a:p>
        </p:txBody>
      </p:sp>
      <p:sp>
        <p:nvSpPr>
          <p:cNvPr id="37" name="ZoneTexte 36">
            <a:extLst>
              <a:ext uri="{FF2B5EF4-FFF2-40B4-BE49-F238E27FC236}">
                <a16:creationId xmlns:a16="http://schemas.microsoft.com/office/drawing/2014/main" id="{EED2DCF6-D835-E0F5-9F41-8AD1FD8D1F51}"/>
              </a:ext>
            </a:extLst>
          </p:cNvPr>
          <p:cNvSpPr txBox="1"/>
          <p:nvPr/>
        </p:nvSpPr>
        <p:spPr>
          <a:xfrm>
            <a:off x="5715000" y="5194300"/>
            <a:ext cx="5638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Dépenses : répartition par type et par mois</a:t>
            </a:r>
          </a:p>
        </p:txBody>
      </p:sp>
    </p:spTree>
    <p:extLst>
      <p:ext uri="{BB962C8B-B14F-4D97-AF65-F5344CB8AC3E}">
        <p14:creationId xmlns:p14="http://schemas.microsoft.com/office/powerpoint/2010/main" val="3749198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8AE326-06D4-210B-8143-381CBF62C424}"/>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Emprunter : enregistrer un prêt</a:t>
            </a:r>
          </a:p>
        </p:txBody>
      </p:sp>
      <p:sp>
        <p:nvSpPr>
          <p:cNvPr id="3" name="ZoneTexte 2">
            <a:extLst>
              <a:ext uri="{FF2B5EF4-FFF2-40B4-BE49-F238E27FC236}">
                <a16:creationId xmlns:a16="http://schemas.microsoft.com/office/drawing/2014/main" id="{BAA9741B-1908-38B9-E2D5-7C4A32C57529}"/>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2</a:t>
            </a:r>
          </a:p>
        </p:txBody>
      </p:sp>
      <p:sp>
        <p:nvSpPr>
          <p:cNvPr id="4" name="ZoneTexte 3">
            <a:extLst>
              <a:ext uri="{FF2B5EF4-FFF2-40B4-BE49-F238E27FC236}">
                <a16:creationId xmlns:a16="http://schemas.microsoft.com/office/drawing/2014/main" id="{C3AECEDD-A0AB-F724-F251-EB5134826418}"/>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Rechercher la personne, cocher le matériel, choisir la date, enregistrer</a:t>
            </a:r>
          </a:p>
        </p:txBody>
      </p:sp>
      <p:sp>
        <p:nvSpPr>
          <p:cNvPr id="5" name="ZoneTexte 4">
            <a:extLst>
              <a:ext uri="{FF2B5EF4-FFF2-40B4-BE49-F238E27FC236}">
                <a16:creationId xmlns:a16="http://schemas.microsoft.com/office/drawing/2014/main" id="{BC70BB63-3770-E39D-4D96-57465898E5A7}"/>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9C61264A-C288-E6C3-0BBB-745974EAD4DC}"/>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1206F407-8A78-429B-B307-EFEC872311A7}" type="slidenum">
              <a:rPr lang="fr-FR" sz="900" smtClean="0">
                <a:solidFill>
                  <a:srgbClr val="586080"/>
                </a:solidFill>
                <a:latin typeface="Calibri" panose="020F0502020204030204" pitchFamily="34" charset="0"/>
              </a:rPr>
              <a:t>10</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1895DBCE-CBBA-B3B7-1939-7464E1799706}"/>
              </a:ext>
            </a:extLst>
          </p:cNvPr>
          <p:cNvSpPr/>
          <p:nvPr/>
        </p:nvSpPr>
        <p:spPr>
          <a:xfrm>
            <a:off x="609600" y="1600200"/>
            <a:ext cx="7010400" cy="46609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8348A782-3167-8729-049D-566A04EC7F1B}"/>
              </a:ext>
            </a:extLst>
          </p:cNvPr>
          <p:cNvSpPr/>
          <p:nvPr/>
        </p:nvSpPr>
        <p:spPr>
          <a:xfrm>
            <a:off x="609600" y="1600200"/>
            <a:ext cx="70104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0192B20B-A106-ED07-96DA-1EB05F0FD131}"/>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E496EF9C-7224-C178-DAA7-382E2C906EBD}"/>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BCB5449F-CAA8-E711-91F9-41DBFF994DF2}"/>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30D49BCB-933D-E494-87B0-456A042B2DC1}"/>
              </a:ext>
            </a:extLst>
          </p:cNvPr>
          <p:cNvSpPr/>
          <p:nvPr/>
        </p:nvSpPr>
        <p:spPr>
          <a:xfrm>
            <a:off x="29718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3294DE40-0313-F076-EAD4-9D154A053E9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7010400" cy="4381500"/>
          </a:xfrm>
          <a:prstGeom prst="rect">
            <a:avLst/>
          </a:prstGeom>
        </p:spPr>
      </p:pic>
      <p:sp>
        <p:nvSpPr>
          <p:cNvPr id="15" name="Ellipse 14">
            <a:extLst>
              <a:ext uri="{FF2B5EF4-FFF2-40B4-BE49-F238E27FC236}">
                <a16:creationId xmlns:a16="http://schemas.microsoft.com/office/drawing/2014/main" id="{E41E22F6-6F44-1256-B2F1-4F64AAD7675D}"/>
              </a:ext>
            </a:extLst>
          </p:cNvPr>
          <p:cNvSpPr/>
          <p:nvPr/>
        </p:nvSpPr>
        <p:spPr>
          <a:xfrm>
            <a:off x="1865207" y="2799292"/>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A2889F83-E5D5-AD0B-3D38-DF6FB345846E}"/>
              </a:ext>
            </a:extLst>
          </p:cNvPr>
          <p:cNvSpPr/>
          <p:nvPr/>
        </p:nvSpPr>
        <p:spPr>
          <a:xfrm>
            <a:off x="1982047" y="335915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8FCDBD42-EF2B-EAD4-B3BF-6D834AC00C2C}"/>
              </a:ext>
            </a:extLst>
          </p:cNvPr>
          <p:cNvSpPr/>
          <p:nvPr/>
        </p:nvSpPr>
        <p:spPr>
          <a:xfrm>
            <a:off x="1947968" y="374861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954C64D0-3B1D-8463-46AA-6FBDF52BA7A7}"/>
              </a:ext>
            </a:extLst>
          </p:cNvPr>
          <p:cNvSpPr/>
          <p:nvPr/>
        </p:nvSpPr>
        <p:spPr>
          <a:xfrm>
            <a:off x="4128982" y="374861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159910D0-5676-4D21-575B-72A1CB52C0B9}"/>
              </a:ext>
            </a:extLst>
          </p:cNvPr>
          <p:cNvSpPr/>
          <p:nvPr/>
        </p:nvSpPr>
        <p:spPr>
          <a:xfrm>
            <a:off x="5740400" y="4425315"/>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Ellipse 19">
            <a:extLst>
              <a:ext uri="{FF2B5EF4-FFF2-40B4-BE49-F238E27FC236}">
                <a16:creationId xmlns:a16="http://schemas.microsoft.com/office/drawing/2014/main" id="{9243D9F9-7838-3537-2D77-CC5370B91A9A}"/>
              </a:ext>
            </a:extLst>
          </p:cNvPr>
          <p:cNvSpPr/>
          <p:nvPr/>
        </p:nvSpPr>
        <p:spPr>
          <a:xfrm>
            <a:off x="6879590" y="4371763"/>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21" name="Ellipse 20">
            <a:extLst>
              <a:ext uri="{FF2B5EF4-FFF2-40B4-BE49-F238E27FC236}">
                <a16:creationId xmlns:a16="http://schemas.microsoft.com/office/drawing/2014/main" id="{54793B7A-4E82-81A4-0D11-3C39E1BA7E9D}"/>
              </a:ext>
            </a:extLst>
          </p:cNvPr>
          <p:cNvSpPr/>
          <p:nvPr/>
        </p:nvSpPr>
        <p:spPr>
          <a:xfrm>
            <a:off x="4888442" y="374861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7</a:t>
            </a:r>
          </a:p>
        </p:txBody>
      </p:sp>
      <p:sp>
        <p:nvSpPr>
          <p:cNvPr id="22" name="Ellipse 21">
            <a:extLst>
              <a:ext uri="{FF2B5EF4-FFF2-40B4-BE49-F238E27FC236}">
                <a16:creationId xmlns:a16="http://schemas.microsoft.com/office/drawing/2014/main" id="{94B45D08-E175-056D-7A2C-05D2C569AB47}"/>
              </a:ext>
            </a:extLst>
          </p:cNvPr>
          <p:cNvSpPr/>
          <p:nvPr/>
        </p:nvSpPr>
        <p:spPr>
          <a:xfrm>
            <a:off x="4995545" y="202522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8</a:t>
            </a:r>
          </a:p>
        </p:txBody>
      </p:sp>
      <p:sp>
        <p:nvSpPr>
          <p:cNvPr id="23" name="Rectangle : coins arrondis 22">
            <a:extLst>
              <a:ext uri="{FF2B5EF4-FFF2-40B4-BE49-F238E27FC236}">
                <a16:creationId xmlns:a16="http://schemas.microsoft.com/office/drawing/2014/main" id="{666B4117-E691-FF03-FADC-74EE74C1F867}"/>
              </a:ext>
            </a:extLst>
          </p:cNvPr>
          <p:cNvSpPr/>
          <p:nvPr/>
        </p:nvSpPr>
        <p:spPr>
          <a:xfrm>
            <a:off x="8077200" y="1600200"/>
            <a:ext cx="35052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249E678D-736B-4FD6-9EE8-88382C78B4F1}"/>
              </a:ext>
            </a:extLst>
          </p:cNvPr>
          <p:cNvSpPr txBox="1"/>
          <p:nvPr/>
        </p:nvSpPr>
        <p:spPr>
          <a:xfrm>
            <a:off x="8305800" y="1752600"/>
            <a:ext cx="3048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5" name="Ellipse 24">
            <a:extLst>
              <a:ext uri="{FF2B5EF4-FFF2-40B4-BE49-F238E27FC236}">
                <a16:creationId xmlns:a16="http://schemas.microsoft.com/office/drawing/2014/main" id="{97627020-0245-9B55-19C8-CEAC954C5AF3}"/>
              </a:ext>
            </a:extLst>
          </p:cNvPr>
          <p:cNvSpPr/>
          <p:nvPr/>
        </p:nvSpPr>
        <p:spPr>
          <a:xfrm>
            <a:off x="83058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6" name="ZoneTexte 25">
            <a:extLst>
              <a:ext uri="{FF2B5EF4-FFF2-40B4-BE49-F238E27FC236}">
                <a16:creationId xmlns:a16="http://schemas.microsoft.com/office/drawing/2014/main" id="{B9902EBD-9E45-0FAC-48B5-E65E84CD2F97}"/>
              </a:ext>
            </a:extLst>
          </p:cNvPr>
          <p:cNvSpPr txBox="1"/>
          <p:nvPr/>
        </p:nvSpPr>
        <p:spPr>
          <a:xfrm>
            <a:off x="8712200" y="2146300"/>
            <a:ext cx="264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Quatre indicateurs</a:t>
            </a:r>
          </a:p>
        </p:txBody>
      </p:sp>
      <p:sp>
        <p:nvSpPr>
          <p:cNvPr id="27" name="Ellipse 26">
            <a:extLst>
              <a:ext uri="{FF2B5EF4-FFF2-40B4-BE49-F238E27FC236}">
                <a16:creationId xmlns:a16="http://schemas.microsoft.com/office/drawing/2014/main" id="{522AA3DF-FDBE-39F1-028A-AF6F1F361CD0}"/>
              </a:ext>
            </a:extLst>
          </p:cNvPr>
          <p:cNvSpPr/>
          <p:nvPr/>
        </p:nvSpPr>
        <p:spPr>
          <a:xfrm>
            <a:off x="8305800" y="25019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8" name="ZoneTexte 27">
            <a:extLst>
              <a:ext uri="{FF2B5EF4-FFF2-40B4-BE49-F238E27FC236}">
                <a16:creationId xmlns:a16="http://schemas.microsoft.com/office/drawing/2014/main" id="{72B55FA4-0B48-352A-97CC-AFFB1C15990E}"/>
              </a:ext>
            </a:extLst>
          </p:cNvPr>
          <p:cNvSpPr txBox="1"/>
          <p:nvPr/>
        </p:nvSpPr>
        <p:spPr>
          <a:xfrm>
            <a:off x="8712200" y="2514600"/>
            <a:ext cx="264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Recherche (accents ignorés)</a:t>
            </a:r>
          </a:p>
        </p:txBody>
      </p:sp>
      <p:sp>
        <p:nvSpPr>
          <p:cNvPr id="29" name="Ellipse 28">
            <a:extLst>
              <a:ext uri="{FF2B5EF4-FFF2-40B4-BE49-F238E27FC236}">
                <a16:creationId xmlns:a16="http://schemas.microsoft.com/office/drawing/2014/main" id="{D7A2E51F-5E88-60B8-92AB-D95C1BED7248}"/>
              </a:ext>
            </a:extLst>
          </p:cNvPr>
          <p:cNvSpPr/>
          <p:nvPr/>
        </p:nvSpPr>
        <p:spPr>
          <a:xfrm>
            <a:off x="8305800" y="28702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30" name="ZoneTexte 29">
            <a:extLst>
              <a:ext uri="{FF2B5EF4-FFF2-40B4-BE49-F238E27FC236}">
                <a16:creationId xmlns:a16="http://schemas.microsoft.com/office/drawing/2014/main" id="{246C6FF4-C6FB-B4EE-727A-9CDADD47C45D}"/>
              </a:ext>
            </a:extLst>
          </p:cNvPr>
          <p:cNvSpPr txBox="1"/>
          <p:nvPr/>
        </p:nvSpPr>
        <p:spPr>
          <a:xfrm>
            <a:off x="8712200" y="2882900"/>
            <a:ext cx="264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Filtres : à emprunter, tout emprunté</a:t>
            </a:r>
          </a:p>
        </p:txBody>
      </p:sp>
      <p:sp>
        <p:nvSpPr>
          <p:cNvPr id="31" name="Ellipse 30">
            <a:extLst>
              <a:ext uri="{FF2B5EF4-FFF2-40B4-BE49-F238E27FC236}">
                <a16:creationId xmlns:a16="http://schemas.microsoft.com/office/drawing/2014/main" id="{2968CA07-677D-63D1-8943-13F45DD8F7AA}"/>
              </a:ext>
            </a:extLst>
          </p:cNvPr>
          <p:cNvSpPr/>
          <p:nvPr/>
        </p:nvSpPr>
        <p:spPr>
          <a:xfrm>
            <a:off x="8305800" y="32385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32" name="ZoneTexte 31">
            <a:extLst>
              <a:ext uri="{FF2B5EF4-FFF2-40B4-BE49-F238E27FC236}">
                <a16:creationId xmlns:a16="http://schemas.microsoft.com/office/drawing/2014/main" id="{1A69DBB9-E25C-88C1-4FA8-AAB9275FE121}"/>
              </a:ext>
            </a:extLst>
          </p:cNvPr>
          <p:cNvSpPr txBox="1"/>
          <p:nvPr/>
        </p:nvSpPr>
        <p:spPr>
          <a:xfrm>
            <a:off x="8712200" y="3251200"/>
            <a:ext cx="264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Période (entre deux dates…)</a:t>
            </a:r>
          </a:p>
        </p:txBody>
      </p:sp>
      <p:sp>
        <p:nvSpPr>
          <p:cNvPr id="33" name="Ellipse 32">
            <a:extLst>
              <a:ext uri="{FF2B5EF4-FFF2-40B4-BE49-F238E27FC236}">
                <a16:creationId xmlns:a16="http://schemas.microsoft.com/office/drawing/2014/main" id="{E16E1BC1-D6D6-D470-E367-2F91619649DF}"/>
              </a:ext>
            </a:extLst>
          </p:cNvPr>
          <p:cNvSpPr/>
          <p:nvPr/>
        </p:nvSpPr>
        <p:spPr>
          <a:xfrm>
            <a:off x="8305800" y="36068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4" name="ZoneTexte 33">
            <a:extLst>
              <a:ext uri="{FF2B5EF4-FFF2-40B4-BE49-F238E27FC236}">
                <a16:creationId xmlns:a16="http://schemas.microsoft.com/office/drawing/2014/main" id="{44D91C40-11B8-9161-096C-4ED3672D462B}"/>
              </a:ext>
            </a:extLst>
          </p:cNvPr>
          <p:cNvSpPr txBox="1"/>
          <p:nvPr/>
        </p:nvSpPr>
        <p:spPr>
          <a:xfrm>
            <a:off x="8712200" y="3619500"/>
            <a:ext cx="264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Dernier mouvement et retour prévu</a:t>
            </a:r>
          </a:p>
        </p:txBody>
      </p:sp>
      <p:sp>
        <p:nvSpPr>
          <p:cNvPr id="35" name="Ellipse 34">
            <a:extLst>
              <a:ext uri="{FF2B5EF4-FFF2-40B4-BE49-F238E27FC236}">
                <a16:creationId xmlns:a16="http://schemas.microsoft.com/office/drawing/2014/main" id="{EE7D600E-5B83-1571-AE8A-5C5D15D4560E}"/>
              </a:ext>
            </a:extLst>
          </p:cNvPr>
          <p:cNvSpPr/>
          <p:nvPr/>
        </p:nvSpPr>
        <p:spPr>
          <a:xfrm>
            <a:off x="8305800" y="39751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36" name="ZoneTexte 35">
            <a:extLst>
              <a:ext uri="{FF2B5EF4-FFF2-40B4-BE49-F238E27FC236}">
                <a16:creationId xmlns:a16="http://schemas.microsoft.com/office/drawing/2014/main" id="{D2D2F901-7FDD-7278-374D-8FA3BEDF4E7C}"/>
              </a:ext>
            </a:extLst>
          </p:cNvPr>
          <p:cNvSpPr txBox="1"/>
          <p:nvPr/>
        </p:nvSpPr>
        <p:spPr>
          <a:xfrm>
            <a:off x="8712200" y="3987800"/>
            <a:ext cx="264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Historique (N) : matériel et dates</a:t>
            </a:r>
          </a:p>
        </p:txBody>
      </p:sp>
      <p:sp>
        <p:nvSpPr>
          <p:cNvPr id="37" name="Ellipse 36">
            <a:extLst>
              <a:ext uri="{FF2B5EF4-FFF2-40B4-BE49-F238E27FC236}">
                <a16:creationId xmlns:a16="http://schemas.microsoft.com/office/drawing/2014/main" id="{75813F57-CFCC-DD9D-22DD-F70230D0C8E5}"/>
              </a:ext>
            </a:extLst>
          </p:cNvPr>
          <p:cNvSpPr/>
          <p:nvPr/>
        </p:nvSpPr>
        <p:spPr>
          <a:xfrm>
            <a:off x="8305800" y="43434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7</a:t>
            </a:r>
          </a:p>
        </p:txBody>
      </p:sp>
      <p:sp>
        <p:nvSpPr>
          <p:cNvPr id="38" name="ZoneTexte 37">
            <a:extLst>
              <a:ext uri="{FF2B5EF4-FFF2-40B4-BE49-F238E27FC236}">
                <a16:creationId xmlns:a16="http://schemas.microsoft.com/office/drawing/2014/main" id="{216B0A05-A521-C22B-B366-27819E9472BE}"/>
              </a:ext>
            </a:extLst>
          </p:cNvPr>
          <p:cNvSpPr txBox="1"/>
          <p:nvPr/>
        </p:nvSpPr>
        <p:spPr>
          <a:xfrm>
            <a:off x="8712200" y="4356100"/>
            <a:ext cx="264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Nouvel emprunt : personne absente</a:t>
            </a:r>
          </a:p>
        </p:txBody>
      </p:sp>
      <p:sp>
        <p:nvSpPr>
          <p:cNvPr id="39" name="Ellipse 38">
            <a:extLst>
              <a:ext uri="{FF2B5EF4-FFF2-40B4-BE49-F238E27FC236}">
                <a16:creationId xmlns:a16="http://schemas.microsoft.com/office/drawing/2014/main" id="{CCF6775C-986E-A54B-0C2A-4EB41B63FF63}"/>
              </a:ext>
            </a:extLst>
          </p:cNvPr>
          <p:cNvSpPr/>
          <p:nvPr/>
        </p:nvSpPr>
        <p:spPr>
          <a:xfrm>
            <a:off x="8305800" y="47117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8</a:t>
            </a:r>
          </a:p>
        </p:txBody>
      </p:sp>
      <p:sp>
        <p:nvSpPr>
          <p:cNvPr id="40" name="ZoneTexte 39">
            <a:extLst>
              <a:ext uri="{FF2B5EF4-FFF2-40B4-BE49-F238E27FC236}">
                <a16:creationId xmlns:a16="http://schemas.microsoft.com/office/drawing/2014/main" id="{0E401CA1-B730-6102-2BCF-D9F759870824}"/>
              </a:ext>
            </a:extLst>
          </p:cNvPr>
          <p:cNvSpPr txBox="1"/>
          <p:nvPr/>
        </p:nvSpPr>
        <p:spPr>
          <a:xfrm>
            <a:off x="8712200" y="4724400"/>
            <a:ext cx="264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Guide : mode d'emploi</a:t>
            </a:r>
          </a:p>
        </p:txBody>
      </p:sp>
      <p:sp>
        <p:nvSpPr>
          <p:cNvPr id="41" name="ZoneTexte 40">
            <a:extLst>
              <a:ext uri="{FF2B5EF4-FFF2-40B4-BE49-F238E27FC236}">
                <a16:creationId xmlns:a16="http://schemas.microsoft.com/office/drawing/2014/main" id="{2D8D8F97-F373-E433-2CA1-5A671102EB3E}"/>
              </a:ext>
            </a:extLst>
          </p:cNvPr>
          <p:cNvSpPr txBox="1"/>
          <p:nvPr/>
        </p:nvSpPr>
        <p:spPr>
          <a:xfrm>
            <a:off x="8305800" y="5181600"/>
            <a:ext cx="3048000" cy="228600"/>
          </a:xfrm>
          <a:prstGeom prst="rect">
            <a:avLst/>
          </a:prstGeom>
          <a:noFill/>
        </p:spPr>
        <p:txBody>
          <a:bodyPr vert="horz" wrap="square" lIns="0" tIns="0" rIns="0" bIns="0" rtlCol="0">
            <a:noAutofit/>
          </a:bodyPr>
          <a:lstStyle/>
          <a:p>
            <a:r>
              <a:rPr lang="fr-FR" sz="1400" b="1">
                <a:solidFill>
                  <a:srgbClr val="1E1C8C"/>
                </a:solidFill>
                <a:latin typeface="Calibri" panose="020F0502020204030204" pitchFamily="34" charset="0"/>
              </a:rPr>
              <a:t>Dans la fiche</a:t>
            </a:r>
          </a:p>
        </p:txBody>
      </p:sp>
      <p:sp>
        <p:nvSpPr>
          <p:cNvPr id="42" name="ZoneTexte 41">
            <a:extLst>
              <a:ext uri="{FF2B5EF4-FFF2-40B4-BE49-F238E27FC236}">
                <a16:creationId xmlns:a16="http://schemas.microsoft.com/office/drawing/2014/main" id="{FDD54ED7-79AE-0920-41C2-6AACB2654030}"/>
              </a:ext>
            </a:extLst>
          </p:cNvPr>
          <p:cNvSpPr txBox="1"/>
          <p:nvPr/>
        </p:nvSpPr>
        <p:spPr>
          <a:xfrm>
            <a:off x="8305800" y="5435600"/>
            <a:ext cx="3048000" cy="787400"/>
          </a:xfrm>
          <a:prstGeom prst="rect">
            <a:avLst/>
          </a:prstGeom>
          <a:noFill/>
        </p:spPr>
        <p:txBody>
          <a:bodyPr vert="horz" wrap="square" lIns="0" tIns="0" rIns="0" bIns="0" rtlCol="0">
            <a:noAutofit/>
          </a:bodyPr>
          <a:lstStyle/>
          <a:p>
            <a:r>
              <a:rPr lang="fr-FR" sz="1200">
                <a:solidFill>
                  <a:srgbClr val="586080"/>
                </a:solidFill>
                <a:latin typeface="Calibri" panose="020F0502020204030204" pitchFamily="34" charset="0"/>
              </a:rPr>
              <a:t>3 étapes ; carte « Retour prévu » facultative. Prolonger un prêt, pastille « Déjà 1 ordinateur » (doublon). Matériel sans stock : grisé. Annuler pendant 10 s.</a:t>
            </a:r>
          </a:p>
        </p:txBody>
      </p:sp>
    </p:spTree>
    <p:extLst>
      <p:ext uri="{BB962C8B-B14F-4D97-AF65-F5344CB8AC3E}">
        <p14:creationId xmlns:p14="http://schemas.microsoft.com/office/powerpoint/2010/main" val="2628603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6A19DE-855E-DCBD-DEB0-24EBCCE1BD26}"/>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Nouvel emprunt et emprunt par quantité</a:t>
            </a:r>
          </a:p>
        </p:txBody>
      </p:sp>
      <p:sp>
        <p:nvSpPr>
          <p:cNvPr id="3" name="ZoneTexte 2">
            <a:extLst>
              <a:ext uri="{FF2B5EF4-FFF2-40B4-BE49-F238E27FC236}">
                <a16:creationId xmlns:a16="http://schemas.microsoft.com/office/drawing/2014/main" id="{B692D203-6486-133A-73B1-D39D4CB0B7A7}"/>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2</a:t>
            </a:r>
          </a:p>
        </p:txBody>
      </p:sp>
      <p:sp>
        <p:nvSpPr>
          <p:cNvPr id="4" name="ZoneTexte 3">
            <a:extLst>
              <a:ext uri="{FF2B5EF4-FFF2-40B4-BE49-F238E27FC236}">
                <a16:creationId xmlns:a16="http://schemas.microsoft.com/office/drawing/2014/main" id="{AF072688-6F4B-FB9F-8CEF-2E793C4A74C6}"/>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 collaborateur absent de la liste, des quantités, un PC par exemplaire</a:t>
            </a:r>
          </a:p>
        </p:txBody>
      </p:sp>
      <p:sp>
        <p:nvSpPr>
          <p:cNvPr id="5" name="ZoneTexte 4">
            <a:extLst>
              <a:ext uri="{FF2B5EF4-FFF2-40B4-BE49-F238E27FC236}">
                <a16:creationId xmlns:a16="http://schemas.microsoft.com/office/drawing/2014/main" id="{45234595-2E15-4750-9485-D1A4386E2EA6}"/>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664AB090-EDE3-6C4E-C934-BB6CEFF704DE}"/>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ADD17803-34FC-4C5D-AE95-AC71162949AC}" type="slidenum">
              <a:rPr lang="fr-FR" sz="900" smtClean="0">
                <a:solidFill>
                  <a:srgbClr val="586080"/>
                </a:solidFill>
                <a:latin typeface="Calibri" panose="020F0502020204030204" pitchFamily="34" charset="0"/>
              </a:rPr>
              <a:t>11</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DFA65C99-A1E9-ADC7-D1E6-3F999C2C18C6}"/>
              </a:ext>
            </a:extLst>
          </p:cNvPr>
          <p:cNvSpPr/>
          <p:nvPr/>
        </p:nvSpPr>
        <p:spPr>
          <a:xfrm>
            <a:off x="609600" y="1600200"/>
            <a:ext cx="3505200" cy="3943927"/>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CF9525FD-7718-5E0E-452B-AA3D66531ED5}"/>
              </a:ext>
            </a:extLst>
          </p:cNvPr>
          <p:cNvSpPr/>
          <p:nvPr/>
        </p:nvSpPr>
        <p:spPr>
          <a:xfrm>
            <a:off x="609600" y="1600200"/>
            <a:ext cx="35052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3E81E05C-1EE6-4BDB-6EBE-80182A15CED8}"/>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8A166C2-EDBB-08EE-BC4B-DCDECFF28EA6}"/>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4333276D-4D6F-B15D-3BB1-7187FDAB6ABC}"/>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A6CE4B8A-D08F-7713-25DE-7FA9DB5BBC54}"/>
              </a:ext>
            </a:extLst>
          </p:cNvPr>
          <p:cNvSpPr/>
          <p:nvPr/>
        </p:nvSpPr>
        <p:spPr>
          <a:xfrm>
            <a:off x="12192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8628F2A3-C084-0386-23FE-F5C276DE89C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3505200" cy="3664527"/>
          </a:xfrm>
          <a:prstGeom prst="rect">
            <a:avLst/>
          </a:prstGeom>
        </p:spPr>
      </p:pic>
      <p:sp>
        <p:nvSpPr>
          <p:cNvPr id="15" name="Rectangle : coins arrondis 14">
            <a:extLst>
              <a:ext uri="{FF2B5EF4-FFF2-40B4-BE49-F238E27FC236}">
                <a16:creationId xmlns:a16="http://schemas.microsoft.com/office/drawing/2014/main" id="{187DCDE7-DEC8-D808-FB75-9CAD09778525}"/>
              </a:ext>
            </a:extLst>
          </p:cNvPr>
          <p:cNvSpPr/>
          <p:nvPr/>
        </p:nvSpPr>
        <p:spPr>
          <a:xfrm>
            <a:off x="4267200" y="1600200"/>
            <a:ext cx="3505200" cy="3465945"/>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A9631E22-C1A6-0B61-9605-695FAC91A8D1}"/>
              </a:ext>
            </a:extLst>
          </p:cNvPr>
          <p:cNvSpPr/>
          <p:nvPr/>
        </p:nvSpPr>
        <p:spPr>
          <a:xfrm>
            <a:off x="4267200" y="1600200"/>
            <a:ext cx="35052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85331FB0-957B-C531-C253-54906FB0AC5A}"/>
              </a:ext>
            </a:extLst>
          </p:cNvPr>
          <p:cNvSpPr/>
          <p:nvPr/>
        </p:nvSpPr>
        <p:spPr>
          <a:xfrm>
            <a:off x="43942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FE8FD21B-39E0-5406-9035-8FF78013ECF7}"/>
              </a:ext>
            </a:extLst>
          </p:cNvPr>
          <p:cNvSpPr/>
          <p:nvPr/>
        </p:nvSpPr>
        <p:spPr>
          <a:xfrm>
            <a:off x="45593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80CC4BD3-C82B-135C-6E4C-64677DC5D942}"/>
              </a:ext>
            </a:extLst>
          </p:cNvPr>
          <p:cNvSpPr/>
          <p:nvPr/>
        </p:nvSpPr>
        <p:spPr>
          <a:xfrm>
            <a:off x="47244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8C1B4116-642C-F8C5-7ABB-0CF182E551C4}"/>
              </a:ext>
            </a:extLst>
          </p:cNvPr>
          <p:cNvSpPr/>
          <p:nvPr/>
        </p:nvSpPr>
        <p:spPr>
          <a:xfrm>
            <a:off x="48768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E83C5CAA-9ECB-1D01-ED0B-1258349D49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267200" y="1879600"/>
            <a:ext cx="3505200" cy="3186545"/>
          </a:xfrm>
          <a:prstGeom prst="rect">
            <a:avLst/>
          </a:prstGeom>
        </p:spPr>
      </p:pic>
      <p:sp>
        <p:nvSpPr>
          <p:cNvPr id="23" name="Rectangle : coins arrondis 22">
            <a:extLst>
              <a:ext uri="{FF2B5EF4-FFF2-40B4-BE49-F238E27FC236}">
                <a16:creationId xmlns:a16="http://schemas.microsoft.com/office/drawing/2014/main" id="{3DACA1C1-49BD-CE05-7B6E-D6AF557268CE}"/>
              </a:ext>
            </a:extLst>
          </p:cNvPr>
          <p:cNvSpPr/>
          <p:nvPr/>
        </p:nvSpPr>
        <p:spPr>
          <a:xfrm>
            <a:off x="8026400" y="1600200"/>
            <a:ext cx="3556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DCFE2927-421A-F357-1289-0DC475917F2F}"/>
              </a:ext>
            </a:extLst>
          </p:cNvPr>
          <p:cNvSpPr txBox="1"/>
          <p:nvPr/>
        </p:nvSpPr>
        <p:spPr>
          <a:xfrm>
            <a:off x="8255000" y="1752600"/>
            <a:ext cx="30988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À retenir</a:t>
            </a:r>
          </a:p>
        </p:txBody>
      </p:sp>
      <p:sp>
        <p:nvSpPr>
          <p:cNvPr id="25" name="ZoneTexte 24">
            <a:extLst>
              <a:ext uri="{FF2B5EF4-FFF2-40B4-BE49-F238E27FC236}">
                <a16:creationId xmlns:a16="http://schemas.microsoft.com/office/drawing/2014/main" id="{8B94D53B-0E72-7D69-527D-D356E8EA41F5}"/>
              </a:ext>
            </a:extLst>
          </p:cNvPr>
          <p:cNvSpPr txBox="1"/>
          <p:nvPr/>
        </p:nvSpPr>
        <p:spPr>
          <a:xfrm>
            <a:off x="8255000" y="2133600"/>
            <a:ext cx="3124200" cy="40640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 Nouvel emprunt : la fiche s'ouvre, le collaborateur se saisit en haut</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Nom et prénom obligatoires ; email, fonction et téléphone facultatifs</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Quantité par équipement : compteur − / + (stock de l'Inventaire)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PC remis : un champ de recherche par exemplaire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Un nom déjà présent n'est pas dupliqué</a:t>
            </a:r>
          </a:p>
        </p:txBody>
      </p:sp>
    </p:spTree>
    <p:extLst>
      <p:ext uri="{BB962C8B-B14F-4D97-AF65-F5344CB8AC3E}">
        <p14:creationId xmlns:p14="http://schemas.microsoft.com/office/powerpoint/2010/main" val="3685211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EC2855-DCE1-4CE7-0B69-EA4FBBE5728B}"/>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Chargeur et Écran : un modèle par exemplaire</a:t>
            </a:r>
          </a:p>
        </p:txBody>
      </p:sp>
      <p:sp>
        <p:nvSpPr>
          <p:cNvPr id="3" name="ZoneTexte 2">
            <a:extLst>
              <a:ext uri="{FF2B5EF4-FFF2-40B4-BE49-F238E27FC236}">
                <a16:creationId xmlns:a16="http://schemas.microsoft.com/office/drawing/2014/main" id="{9E1126D0-C161-119A-EA45-040227AE592B}"/>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2</a:t>
            </a:r>
          </a:p>
        </p:txBody>
      </p:sp>
      <p:sp>
        <p:nvSpPr>
          <p:cNvPr id="4" name="ZoneTexte 3">
            <a:extLst>
              <a:ext uri="{FF2B5EF4-FFF2-40B4-BE49-F238E27FC236}">
                <a16:creationId xmlns:a16="http://schemas.microsoft.com/office/drawing/2014/main" id="{97384015-F4BF-9CB2-9803-03DAA82AFCB0}"/>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Une seule ligne dans la liste, le modèle ou la marque au choix</a:t>
            </a:r>
          </a:p>
        </p:txBody>
      </p:sp>
      <p:sp>
        <p:nvSpPr>
          <p:cNvPr id="5" name="ZoneTexte 4">
            <a:extLst>
              <a:ext uri="{FF2B5EF4-FFF2-40B4-BE49-F238E27FC236}">
                <a16:creationId xmlns:a16="http://schemas.microsoft.com/office/drawing/2014/main" id="{81BE1CF1-F1F0-6398-4D3D-E90B48DACDFD}"/>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44ED6241-322F-F9E3-E15C-1B1E59BB4638}"/>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BD6FC6E4-CAD9-423A-BC15-327D9E78BFE1}" type="slidenum">
              <a:rPr lang="fr-FR" sz="900" smtClean="0">
                <a:solidFill>
                  <a:srgbClr val="586080"/>
                </a:solidFill>
                <a:latin typeface="Calibri" panose="020F0502020204030204" pitchFamily="34" charset="0"/>
              </a:rPr>
              <a:t>12</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85EF565E-6192-D9F1-0D2F-DEB76C8CE16E}"/>
              </a:ext>
            </a:extLst>
          </p:cNvPr>
          <p:cNvSpPr/>
          <p:nvPr/>
        </p:nvSpPr>
        <p:spPr>
          <a:xfrm>
            <a:off x="609600" y="1600200"/>
            <a:ext cx="4826000" cy="31750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9F22BE67-3612-738F-6101-E77620138B92}"/>
              </a:ext>
            </a:extLst>
          </p:cNvPr>
          <p:cNvSpPr/>
          <p:nvPr/>
        </p:nvSpPr>
        <p:spPr>
          <a:xfrm>
            <a:off x="609600" y="1600200"/>
            <a:ext cx="4826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4C5E2C02-4C1D-3784-9DF5-E2468AE342CF}"/>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DEB6C4E8-8E75-054A-1317-B6F35BE1040E}"/>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D0C699A9-720F-6E1A-B880-897C5036EA65}"/>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9108FBD4-DE1E-EB54-95D4-D9D591A02312}"/>
              </a:ext>
            </a:extLst>
          </p:cNvPr>
          <p:cNvSpPr/>
          <p:nvPr/>
        </p:nvSpPr>
        <p:spPr>
          <a:xfrm>
            <a:off x="1879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257D93B9-61FC-BDD8-A8F7-60FAB8EDCB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4826000" cy="2895600"/>
          </a:xfrm>
          <a:prstGeom prst="rect">
            <a:avLst/>
          </a:prstGeom>
        </p:spPr>
      </p:pic>
      <p:sp>
        <p:nvSpPr>
          <p:cNvPr id="15" name="Rectangle : coins arrondis 14">
            <a:extLst>
              <a:ext uri="{FF2B5EF4-FFF2-40B4-BE49-F238E27FC236}">
                <a16:creationId xmlns:a16="http://schemas.microsoft.com/office/drawing/2014/main" id="{4753094F-8154-BEE3-39CB-40EC08D58CB6}"/>
              </a:ext>
            </a:extLst>
          </p:cNvPr>
          <p:cNvSpPr/>
          <p:nvPr/>
        </p:nvSpPr>
        <p:spPr>
          <a:xfrm>
            <a:off x="5588000" y="1600200"/>
            <a:ext cx="2184400" cy="1574975"/>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5E265F61-C499-3653-7CF4-EBE46AF33A53}"/>
              </a:ext>
            </a:extLst>
          </p:cNvPr>
          <p:cNvSpPr/>
          <p:nvPr/>
        </p:nvSpPr>
        <p:spPr>
          <a:xfrm>
            <a:off x="5588000" y="1600200"/>
            <a:ext cx="21844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A08EE6D7-113A-D6EC-E6A9-0CDC3E8F6629}"/>
              </a:ext>
            </a:extLst>
          </p:cNvPr>
          <p:cNvSpPr/>
          <p:nvPr/>
        </p:nvSpPr>
        <p:spPr>
          <a:xfrm>
            <a:off x="57150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984FD906-500C-C9F1-71A1-FB784DC91F21}"/>
              </a:ext>
            </a:extLst>
          </p:cNvPr>
          <p:cNvSpPr/>
          <p:nvPr/>
        </p:nvSpPr>
        <p:spPr>
          <a:xfrm>
            <a:off x="58801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2F8774AE-B8F7-9234-94AA-2A7FE38AC535}"/>
              </a:ext>
            </a:extLst>
          </p:cNvPr>
          <p:cNvSpPr/>
          <p:nvPr/>
        </p:nvSpPr>
        <p:spPr>
          <a:xfrm>
            <a:off x="60452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0DFD8CDC-EE2B-C54C-10C1-252755EAC710}"/>
              </a:ext>
            </a:extLst>
          </p:cNvPr>
          <p:cNvSpPr/>
          <p:nvPr/>
        </p:nvSpPr>
        <p:spPr>
          <a:xfrm>
            <a:off x="55372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0E3E8D60-8824-0FFE-592F-E1F60DF15E6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588000" y="1879600"/>
            <a:ext cx="2184400" cy="1295575"/>
          </a:xfrm>
          <a:prstGeom prst="rect">
            <a:avLst/>
          </a:prstGeom>
        </p:spPr>
      </p:pic>
      <p:sp>
        <p:nvSpPr>
          <p:cNvPr id="23" name="Rectangle : coins arrondis 22">
            <a:extLst>
              <a:ext uri="{FF2B5EF4-FFF2-40B4-BE49-F238E27FC236}">
                <a16:creationId xmlns:a16="http://schemas.microsoft.com/office/drawing/2014/main" id="{0113CE0B-CB85-F2A1-A713-191D1B97C755}"/>
              </a:ext>
            </a:extLst>
          </p:cNvPr>
          <p:cNvSpPr/>
          <p:nvPr/>
        </p:nvSpPr>
        <p:spPr>
          <a:xfrm>
            <a:off x="8026400" y="1600200"/>
            <a:ext cx="3556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D89254C2-AC79-0445-98E9-30B85A57EAEC}"/>
              </a:ext>
            </a:extLst>
          </p:cNvPr>
          <p:cNvSpPr txBox="1"/>
          <p:nvPr/>
        </p:nvSpPr>
        <p:spPr>
          <a:xfrm>
            <a:off x="8255000" y="1752600"/>
            <a:ext cx="30988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À retenir</a:t>
            </a:r>
          </a:p>
        </p:txBody>
      </p:sp>
      <p:sp>
        <p:nvSpPr>
          <p:cNvPr id="25" name="ZoneTexte 24">
            <a:extLst>
              <a:ext uri="{FF2B5EF4-FFF2-40B4-BE49-F238E27FC236}">
                <a16:creationId xmlns:a16="http://schemas.microsoft.com/office/drawing/2014/main" id="{9F2BACD3-67EA-50ED-08BC-02B027C9E94D}"/>
              </a:ext>
            </a:extLst>
          </p:cNvPr>
          <p:cNvSpPr txBox="1"/>
          <p:nvPr/>
        </p:nvSpPr>
        <p:spPr>
          <a:xfrm>
            <a:off x="8255000" y="2133600"/>
            <a:ext cx="3124200" cy="40132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Une ligne « Chargeur » et une ligne « Écran »</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Un modèle ou une marque par exemplaire, obligatoire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Stock restant affiché dans la liste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Enregistré sous le modèle choisi</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Historique (N) : tout le matériel d'une personne, avec ses dates</a:t>
            </a:r>
          </a:p>
        </p:txBody>
      </p:sp>
    </p:spTree>
    <p:extLst>
      <p:ext uri="{BB962C8B-B14F-4D97-AF65-F5344CB8AC3E}">
        <p14:creationId xmlns:p14="http://schemas.microsoft.com/office/powerpoint/2010/main" val="1956498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388A2A-2018-48E8-8466-67BBABEF8299}"/>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Prolonger un prêt et éviter les doublons</a:t>
            </a:r>
          </a:p>
        </p:txBody>
      </p:sp>
      <p:sp>
        <p:nvSpPr>
          <p:cNvPr id="3" name="ZoneTexte 2">
            <a:extLst>
              <a:ext uri="{FF2B5EF4-FFF2-40B4-BE49-F238E27FC236}">
                <a16:creationId xmlns:a16="http://schemas.microsoft.com/office/drawing/2014/main" id="{0A52F1A1-DCCC-86D6-A460-2B5AB22B82CE}"/>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ONGLETS 2 ET 3</a:t>
            </a:r>
          </a:p>
        </p:txBody>
      </p:sp>
      <p:sp>
        <p:nvSpPr>
          <p:cNvPr id="4" name="ZoneTexte 3">
            <a:extLst>
              <a:ext uri="{FF2B5EF4-FFF2-40B4-BE49-F238E27FC236}">
                <a16:creationId xmlns:a16="http://schemas.microsoft.com/office/drawing/2014/main" id="{156AEB4E-92C2-67A6-CBB4-DB3FED2CD24D}"/>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Repousser une date sans recréer le prêt, être prévenu d'un doublon</a:t>
            </a:r>
          </a:p>
        </p:txBody>
      </p:sp>
      <p:sp>
        <p:nvSpPr>
          <p:cNvPr id="5" name="ZoneTexte 4">
            <a:extLst>
              <a:ext uri="{FF2B5EF4-FFF2-40B4-BE49-F238E27FC236}">
                <a16:creationId xmlns:a16="http://schemas.microsoft.com/office/drawing/2014/main" id="{2BAEDBA3-A469-E9E7-C562-3C2C20265D0C}"/>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6CB43647-82A4-B86E-64BF-54AE3131719B}"/>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DDBA864D-532F-4AEC-BFF7-57639C4AFB13}" type="slidenum">
              <a:rPr lang="fr-FR" sz="900" smtClean="0">
                <a:solidFill>
                  <a:srgbClr val="586080"/>
                </a:solidFill>
                <a:latin typeface="Calibri" panose="020F0502020204030204" pitchFamily="34" charset="0"/>
              </a:rPr>
              <a:t>13</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A96ACC96-44A8-A0DA-0FA1-CDC508251541}"/>
              </a:ext>
            </a:extLst>
          </p:cNvPr>
          <p:cNvSpPr/>
          <p:nvPr/>
        </p:nvSpPr>
        <p:spPr>
          <a:xfrm>
            <a:off x="609600" y="1600200"/>
            <a:ext cx="3810000" cy="3833851"/>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91B98AD2-A236-67AA-0929-82DF88362C69}"/>
              </a:ext>
            </a:extLst>
          </p:cNvPr>
          <p:cNvSpPr/>
          <p:nvPr/>
        </p:nvSpPr>
        <p:spPr>
          <a:xfrm>
            <a:off x="609600" y="1600200"/>
            <a:ext cx="3810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AFEA4E7D-1EF1-E2AA-DE05-D6E66F35B4B3}"/>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0A37EB6F-A604-8913-2D36-3269AAB540F4}"/>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095CAE81-2D17-F3BD-EB3F-EA959214E3AA}"/>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14FC9C5A-27E0-167D-3475-8260D96B42A3}"/>
              </a:ext>
            </a:extLst>
          </p:cNvPr>
          <p:cNvSpPr/>
          <p:nvPr/>
        </p:nvSpPr>
        <p:spPr>
          <a:xfrm>
            <a:off x="1371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866C6060-C071-9965-5C89-1FB6689C13A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3810000" cy="3554451"/>
          </a:xfrm>
          <a:prstGeom prst="rect">
            <a:avLst/>
          </a:prstGeom>
        </p:spPr>
      </p:pic>
      <p:sp>
        <p:nvSpPr>
          <p:cNvPr id="15" name="Rectangle : coins arrondis 14">
            <a:extLst>
              <a:ext uri="{FF2B5EF4-FFF2-40B4-BE49-F238E27FC236}">
                <a16:creationId xmlns:a16="http://schemas.microsoft.com/office/drawing/2014/main" id="{265B96FE-D331-D224-95FB-8B65EB3B299E}"/>
              </a:ext>
            </a:extLst>
          </p:cNvPr>
          <p:cNvSpPr/>
          <p:nvPr/>
        </p:nvSpPr>
        <p:spPr>
          <a:xfrm>
            <a:off x="4597400" y="1600200"/>
            <a:ext cx="3429000" cy="201676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CD08E7C4-07C0-58AC-FC48-A9AB79560F05}"/>
              </a:ext>
            </a:extLst>
          </p:cNvPr>
          <p:cNvSpPr/>
          <p:nvPr/>
        </p:nvSpPr>
        <p:spPr>
          <a:xfrm>
            <a:off x="4597400" y="1600200"/>
            <a:ext cx="3429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275862DC-CC69-FC54-183D-D0E5507C7E67}"/>
              </a:ext>
            </a:extLst>
          </p:cNvPr>
          <p:cNvSpPr/>
          <p:nvPr/>
        </p:nvSpPr>
        <p:spPr>
          <a:xfrm>
            <a:off x="47244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2C7B773B-2C87-B55C-CAA6-79BBDD6C1695}"/>
              </a:ext>
            </a:extLst>
          </p:cNvPr>
          <p:cNvSpPr/>
          <p:nvPr/>
        </p:nvSpPr>
        <p:spPr>
          <a:xfrm>
            <a:off x="48895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A12CD073-7AB6-3536-8A93-AE5F3583A564}"/>
              </a:ext>
            </a:extLst>
          </p:cNvPr>
          <p:cNvSpPr/>
          <p:nvPr/>
        </p:nvSpPr>
        <p:spPr>
          <a:xfrm>
            <a:off x="50546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C955DD84-5F14-B8BB-A27C-73032182314D}"/>
              </a:ext>
            </a:extLst>
          </p:cNvPr>
          <p:cNvSpPr/>
          <p:nvPr/>
        </p:nvSpPr>
        <p:spPr>
          <a:xfrm>
            <a:off x="51689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8A0B73A0-2851-445B-6F4D-CE9BC9D88E2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597400" y="1879600"/>
            <a:ext cx="3429000" cy="1737360"/>
          </a:xfrm>
          <a:prstGeom prst="rect">
            <a:avLst/>
          </a:prstGeom>
        </p:spPr>
      </p:pic>
      <p:sp>
        <p:nvSpPr>
          <p:cNvPr id="23" name="Rectangle : coins arrondis 22">
            <a:extLst>
              <a:ext uri="{FF2B5EF4-FFF2-40B4-BE49-F238E27FC236}">
                <a16:creationId xmlns:a16="http://schemas.microsoft.com/office/drawing/2014/main" id="{96504E4A-C0ED-D1CB-7E71-C5FC433C5AB7}"/>
              </a:ext>
            </a:extLst>
          </p:cNvPr>
          <p:cNvSpPr/>
          <p:nvPr/>
        </p:nvSpPr>
        <p:spPr>
          <a:xfrm>
            <a:off x="4597400" y="3708400"/>
            <a:ext cx="3429000" cy="2540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1F5A8D33-754F-806A-56D6-E05FF8ABE259}"/>
              </a:ext>
            </a:extLst>
          </p:cNvPr>
          <p:cNvSpPr txBox="1"/>
          <p:nvPr/>
        </p:nvSpPr>
        <p:spPr>
          <a:xfrm>
            <a:off x="4800600" y="3835400"/>
            <a:ext cx="3048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Doublons</a:t>
            </a:r>
          </a:p>
        </p:txBody>
      </p:sp>
      <p:sp>
        <p:nvSpPr>
          <p:cNvPr id="25" name="ZoneTexte 24">
            <a:extLst>
              <a:ext uri="{FF2B5EF4-FFF2-40B4-BE49-F238E27FC236}">
                <a16:creationId xmlns:a16="http://schemas.microsoft.com/office/drawing/2014/main" id="{8247F1A3-80E0-6B07-A8EE-DE298FE5DB8C}"/>
              </a:ext>
            </a:extLst>
          </p:cNvPr>
          <p:cNvSpPr txBox="1"/>
          <p:nvPr/>
        </p:nvSpPr>
        <p:spPr>
          <a:xfrm>
            <a:off x="4800600" y="4191000"/>
            <a:ext cx="3073400" cy="20066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Pastille orange sur la ligne du catalogue</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Ordinateur (PC ou Mac) ou chargeur déjà détenu</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Confirmation à l'enregistrement : jamais bloquante</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Nom du PC en info-bulle</a:t>
            </a:r>
          </a:p>
        </p:txBody>
      </p:sp>
      <p:sp>
        <p:nvSpPr>
          <p:cNvPr id="26" name="Rectangle : coins arrondis 25">
            <a:extLst>
              <a:ext uri="{FF2B5EF4-FFF2-40B4-BE49-F238E27FC236}">
                <a16:creationId xmlns:a16="http://schemas.microsoft.com/office/drawing/2014/main" id="{826B9F5B-D1BE-E726-DA70-38EBE939D169}"/>
              </a:ext>
            </a:extLst>
          </p:cNvPr>
          <p:cNvSpPr/>
          <p:nvPr/>
        </p:nvSpPr>
        <p:spPr>
          <a:xfrm>
            <a:off x="8280400" y="1600200"/>
            <a:ext cx="3302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5A256D4E-8378-8A62-809F-379B1A4D9AE7}"/>
              </a:ext>
            </a:extLst>
          </p:cNvPr>
          <p:cNvSpPr txBox="1"/>
          <p:nvPr/>
        </p:nvSpPr>
        <p:spPr>
          <a:xfrm>
            <a:off x="8483600" y="1752600"/>
            <a:ext cx="28956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Prolonger</a:t>
            </a:r>
          </a:p>
        </p:txBody>
      </p:sp>
      <p:sp>
        <p:nvSpPr>
          <p:cNvPr id="28" name="ZoneTexte 27">
            <a:extLst>
              <a:ext uri="{FF2B5EF4-FFF2-40B4-BE49-F238E27FC236}">
                <a16:creationId xmlns:a16="http://schemas.microsoft.com/office/drawing/2014/main" id="{15BDE252-2710-2DFB-2EC1-8DC466B8C169}"/>
              </a:ext>
            </a:extLst>
          </p:cNvPr>
          <p:cNvSpPr txBox="1"/>
          <p:nvPr/>
        </p:nvSpPr>
        <p:spPr>
          <a:xfrm>
            <a:off x="8483600" y="2133600"/>
            <a:ext cx="2921000" cy="40640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Bouton sur chaque matériel qui a une date de retour</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+ 1 semaine, + 2 semaines, + 1 mois, + 3 mois ou une date libre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Motif facultatif</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Échéance dépassée : calcul à partir d'aujourd'hui</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Ancienne et nouvelle date consignées sur l'emprunt</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Annuler dans la bulle rétablit la date d'origine</a:t>
            </a:r>
          </a:p>
        </p:txBody>
      </p:sp>
    </p:spTree>
    <p:extLst>
      <p:ext uri="{BB962C8B-B14F-4D97-AF65-F5344CB8AC3E}">
        <p14:creationId xmlns:p14="http://schemas.microsoft.com/office/powerpoint/2010/main" val="2767180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663FF5-8204-4864-2A36-68C10F2233D4}"/>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Restituer : suivre les retours</a:t>
            </a:r>
          </a:p>
        </p:txBody>
      </p:sp>
      <p:sp>
        <p:nvSpPr>
          <p:cNvPr id="3" name="ZoneTexte 2">
            <a:extLst>
              <a:ext uri="{FF2B5EF4-FFF2-40B4-BE49-F238E27FC236}">
                <a16:creationId xmlns:a16="http://schemas.microsoft.com/office/drawing/2014/main" id="{2C6401DA-FE02-C189-43A5-2FCC6D1B444B}"/>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3</a:t>
            </a:r>
          </a:p>
        </p:txBody>
      </p:sp>
      <p:sp>
        <p:nvSpPr>
          <p:cNvPr id="4" name="ZoneTexte 3">
            <a:extLst>
              <a:ext uri="{FF2B5EF4-FFF2-40B4-BE49-F238E27FC236}">
                <a16:creationId xmlns:a16="http://schemas.microsoft.com/office/drawing/2014/main" id="{53B13441-0A7A-DE7D-BFE9-5BFA0389911F}"/>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Indicateurs, filtres et dernier mouvement de chaque personne</a:t>
            </a:r>
          </a:p>
        </p:txBody>
      </p:sp>
      <p:sp>
        <p:nvSpPr>
          <p:cNvPr id="5" name="ZoneTexte 4">
            <a:extLst>
              <a:ext uri="{FF2B5EF4-FFF2-40B4-BE49-F238E27FC236}">
                <a16:creationId xmlns:a16="http://schemas.microsoft.com/office/drawing/2014/main" id="{7FE3C4B5-C6F4-133A-D6F0-25C79DAF3FFB}"/>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4B21F358-5241-8F0E-C3B9-B158A5955873}"/>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29290F88-E0D8-442B-9A94-0E5F9AFB0497}" type="slidenum">
              <a:rPr lang="fr-FR" sz="900" smtClean="0">
                <a:solidFill>
                  <a:srgbClr val="586080"/>
                </a:solidFill>
                <a:latin typeface="Calibri" panose="020F0502020204030204" pitchFamily="34" charset="0"/>
              </a:rPr>
              <a:t>14</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4325BC27-FF58-48CB-D229-79630697BC43}"/>
              </a:ext>
            </a:extLst>
          </p:cNvPr>
          <p:cNvSpPr/>
          <p:nvPr/>
        </p:nvSpPr>
        <p:spPr>
          <a:xfrm>
            <a:off x="609600" y="1600200"/>
            <a:ext cx="7010400" cy="46609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7021D895-9E3B-A99C-E1FA-D3CBFD227188}"/>
              </a:ext>
            </a:extLst>
          </p:cNvPr>
          <p:cNvSpPr/>
          <p:nvPr/>
        </p:nvSpPr>
        <p:spPr>
          <a:xfrm>
            <a:off x="609600" y="1600200"/>
            <a:ext cx="70104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22E80B30-60D6-4B87-EAE0-CC789BBDDDAD}"/>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6F2F7190-AFCE-CDF1-5A78-62A70D17A465}"/>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77F24AFC-BB82-D6F1-EF09-506B0FAA9D7E}"/>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0AE1C36F-D2E6-48A9-CE41-167CA9BAB046}"/>
              </a:ext>
            </a:extLst>
          </p:cNvPr>
          <p:cNvSpPr/>
          <p:nvPr/>
        </p:nvSpPr>
        <p:spPr>
          <a:xfrm>
            <a:off x="29718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59F5ED34-660B-0F5F-0C54-44F81703E1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7010400" cy="4381500"/>
          </a:xfrm>
          <a:prstGeom prst="rect">
            <a:avLst/>
          </a:prstGeom>
        </p:spPr>
      </p:pic>
      <p:sp>
        <p:nvSpPr>
          <p:cNvPr id="15" name="Ellipse 14">
            <a:extLst>
              <a:ext uri="{FF2B5EF4-FFF2-40B4-BE49-F238E27FC236}">
                <a16:creationId xmlns:a16="http://schemas.microsoft.com/office/drawing/2014/main" id="{A5D25125-E705-BFFC-E030-EE216E510BEB}"/>
              </a:ext>
            </a:extLst>
          </p:cNvPr>
          <p:cNvSpPr/>
          <p:nvPr/>
        </p:nvSpPr>
        <p:spPr>
          <a:xfrm>
            <a:off x="1904153" y="2692188"/>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9EC9C13E-A7F2-7727-8FBF-F4B92634ADC9}"/>
              </a:ext>
            </a:extLst>
          </p:cNvPr>
          <p:cNvSpPr/>
          <p:nvPr/>
        </p:nvSpPr>
        <p:spPr>
          <a:xfrm>
            <a:off x="1982047" y="344678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430E3452-DE9E-A349-44BF-E8ADBFE7D66C}"/>
              </a:ext>
            </a:extLst>
          </p:cNvPr>
          <p:cNvSpPr/>
          <p:nvPr/>
        </p:nvSpPr>
        <p:spPr>
          <a:xfrm>
            <a:off x="1947968" y="383624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A6752257-8E22-F305-AB72-177750F6E36F}"/>
              </a:ext>
            </a:extLst>
          </p:cNvPr>
          <p:cNvSpPr/>
          <p:nvPr/>
        </p:nvSpPr>
        <p:spPr>
          <a:xfrm>
            <a:off x="5740400" y="4512945"/>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A75227DE-0844-6104-F873-50DC96BA11C2}"/>
              </a:ext>
            </a:extLst>
          </p:cNvPr>
          <p:cNvSpPr/>
          <p:nvPr/>
        </p:nvSpPr>
        <p:spPr>
          <a:xfrm>
            <a:off x="6879590" y="4464262"/>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Ellipse 19">
            <a:extLst>
              <a:ext uri="{FF2B5EF4-FFF2-40B4-BE49-F238E27FC236}">
                <a16:creationId xmlns:a16="http://schemas.microsoft.com/office/drawing/2014/main" id="{999BA2AE-308A-38B3-0F4C-948C56FD42EB}"/>
              </a:ext>
            </a:extLst>
          </p:cNvPr>
          <p:cNvSpPr/>
          <p:nvPr/>
        </p:nvSpPr>
        <p:spPr>
          <a:xfrm>
            <a:off x="6003290" y="383624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21" name="Rectangle : coins arrondis 20">
            <a:extLst>
              <a:ext uri="{FF2B5EF4-FFF2-40B4-BE49-F238E27FC236}">
                <a16:creationId xmlns:a16="http://schemas.microsoft.com/office/drawing/2014/main" id="{1A5D05D8-56F0-D218-341B-E812DEF1E817}"/>
              </a:ext>
            </a:extLst>
          </p:cNvPr>
          <p:cNvSpPr/>
          <p:nvPr/>
        </p:nvSpPr>
        <p:spPr>
          <a:xfrm>
            <a:off x="8077200" y="1600200"/>
            <a:ext cx="35052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2AEFE296-85D2-EE90-6CAB-3E07AA92101B}"/>
              </a:ext>
            </a:extLst>
          </p:cNvPr>
          <p:cNvSpPr txBox="1"/>
          <p:nvPr/>
        </p:nvSpPr>
        <p:spPr>
          <a:xfrm>
            <a:off x="8305800" y="1752600"/>
            <a:ext cx="3048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3" name="Ellipse 22">
            <a:extLst>
              <a:ext uri="{FF2B5EF4-FFF2-40B4-BE49-F238E27FC236}">
                <a16:creationId xmlns:a16="http://schemas.microsoft.com/office/drawing/2014/main" id="{45A9D075-28BC-DF2B-90BF-9B4325AE6C65}"/>
              </a:ext>
            </a:extLst>
          </p:cNvPr>
          <p:cNvSpPr/>
          <p:nvPr/>
        </p:nvSpPr>
        <p:spPr>
          <a:xfrm>
            <a:off x="83058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4" name="ZoneTexte 23">
            <a:extLst>
              <a:ext uri="{FF2B5EF4-FFF2-40B4-BE49-F238E27FC236}">
                <a16:creationId xmlns:a16="http://schemas.microsoft.com/office/drawing/2014/main" id="{752ADDAF-3B84-A225-669E-E32971B2F1AF}"/>
              </a:ext>
            </a:extLst>
          </p:cNvPr>
          <p:cNvSpPr txBox="1"/>
          <p:nvPr/>
        </p:nvSpPr>
        <p:spPr>
          <a:xfrm>
            <a:off x="8712200" y="2146300"/>
            <a:ext cx="2641600" cy="3429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Quatre indicateurs cliquables</a:t>
            </a:r>
          </a:p>
        </p:txBody>
      </p:sp>
      <p:sp>
        <p:nvSpPr>
          <p:cNvPr id="25" name="Ellipse 24">
            <a:extLst>
              <a:ext uri="{FF2B5EF4-FFF2-40B4-BE49-F238E27FC236}">
                <a16:creationId xmlns:a16="http://schemas.microsoft.com/office/drawing/2014/main" id="{24D443C5-E103-97F9-7A4D-E475BE7CFC6D}"/>
              </a:ext>
            </a:extLst>
          </p:cNvPr>
          <p:cNvSpPr/>
          <p:nvPr/>
        </p:nvSpPr>
        <p:spPr>
          <a:xfrm>
            <a:off x="8305800" y="25273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6" name="ZoneTexte 25">
            <a:extLst>
              <a:ext uri="{FF2B5EF4-FFF2-40B4-BE49-F238E27FC236}">
                <a16:creationId xmlns:a16="http://schemas.microsoft.com/office/drawing/2014/main" id="{C16E4A67-2C00-6553-5D85-9EB14C22CBA8}"/>
              </a:ext>
            </a:extLst>
          </p:cNvPr>
          <p:cNvSpPr txBox="1"/>
          <p:nvPr/>
        </p:nvSpPr>
        <p:spPr>
          <a:xfrm>
            <a:off x="8712200" y="2540000"/>
            <a:ext cx="2641600" cy="3429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Recherche rapide</a:t>
            </a:r>
          </a:p>
        </p:txBody>
      </p:sp>
      <p:sp>
        <p:nvSpPr>
          <p:cNvPr id="27" name="Ellipse 26">
            <a:extLst>
              <a:ext uri="{FF2B5EF4-FFF2-40B4-BE49-F238E27FC236}">
                <a16:creationId xmlns:a16="http://schemas.microsoft.com/office/drawing/2014/main" id="{78E98C07-C33D-B449-1F2B-B33A3BEAC640}"/>
              </a:ext>
            </a:extLst>
          </p:cNvPr>
          <p:cNvSpPr/>
          <p:nvPr/>
        </p:nvSpPr>
        <p:spPr>
          <a:xfrm>
            <a:off x="8305800" y="29210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28" name="ZoneTexte 27">
            <a:extLst>
              <a:ext uri="{FF2B5EF4-FFF2-40B4-BE49-F238E27FC236}">
                <a16:creationId xmlns:a16="http://schemas.microsoft.com/office/drawing/2014/main" id="{D2ABA3C5-ACE1-DD0E-1D87-A71855B30005}"/>
              </a:ext>
            </a:extLst>
          </p:cNvPr>
          <p:cNvSpPr txBox="1"/>
          <p:nvPr/>
        </p:nvSpPr>
        <p:spPr>
          <a:xfrm>
            <a:off x="8712200" y="2933700"/>
            <a:ext cx="2641600" cy="3429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Filtres : à traiter, en retard de retour, en attente, perdu…</a:t>
            </a:r>
          </a:p>
        </p:txBody>
      </p:sp>
      <p:sp>
        <p:nvSpPr>
          <p:cNvPr id="29" name="Ellipse 28">
            <a:extLst>
              <a:ext uri="{FF2B5EF4-FFF2-40B4-BE49-F238E27FC236}">
                <a16:creationId xmlns:a16="http://schemas.microsoft.com/office/drawing/2014/main" id="{63C703F1-E19C-7EB0-2AA1-5EB4FCCFEFFF}"/>
              </a:ext>
            </a:extLst>
          </p:cNvPr>
          <p:cNvSpPr/>
          <p:nvPr/>
        </p:nvSpPr>
        <p:spPr>
          <a:xfrm>
            <a:off x="8305800" y="33147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30" name="ZoneTexte 29">
            <a:extLst>
              <a:ext uri="{FF2B5EF4-FFF2-40B4-BE49-F238E27FC236}">
                <a16:creationId xmlns:a16="http://schemas.microsoft.com/office/drawing/2014/main" id="{06B70361-4158-80C9-13D5-619E70EE4C66}"/>
              </a:ext>
            </a:extLst>
          </p:cNvPr>
          <p:cNvSpPr txBox="1"/>
          <p:nvPr/>
        </p:nvSpPr>
        <p:spPr>
          <a:xfrm>
            <a:off x="8712200" y="3327400"/>
            <a:ext cx="2641600" cy="3429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Dernier mouvement : matériel, emprunté le, retour prévu ou rendu le</a:t>
            </a:r>
          </a:p>
        </p:txBody>
      </p:sp>
      <p:sp>
        <p:nvSpPr>
          <p:cNvPr id="31" name="Ellipse 30">
            <a:extLst>
              <a:ext uri="{FF2B5EF4-FFF2-40B4-BE49-F238E27FC236}">
                <a16:creationId xmlns:a16="http://schemas.microsoft.com/office/drawing/2014/main" id="{62A76A6C-795E-36DB-3D44-A993DA0DA6B2}"/>
              </a:ext>
            </a:extLst>
          </p:cNvPr>
          <p:cNvSpPr/>
          <p:nvPr/>
        </p:nvSpPr>
        <p:spPr>
          <a:xfrm>
            <a:off x="8305800" y="37084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2" name="ZoneTexte 31">
            <a:extLst>
              <a:ext uri="{FF2B5EF4-FFF2-40B4-BE49-F238E27FC236}">
                <a16:creationId xmlns:a16="http://schemas.microsoft.com/office/drawing/2014/main" id="{9541B46D-73B2-A036-DA19-6AEE051EFD1F}"/>
              </a:ext>
            </a:extLst>
          </p:cNvPr>
          <p:cNvSpPr txBox="1"/>
          <p:nvPr/>
        </p:nvSpPr>
        <p:spPr>
          <a:xfrm>
            <a:off x="8712200" y="3721100"/>
            <a:ext cx="2641600" cy="3429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Historique (N) : tout le matériel de la personne</a:t>
            </a:r>
          </a:p>
        </p:txBody>
      </p:sp>
      <p:sp>
        <p:nvSpPr>
          <p:cNvPr id="33" name="Ellipse 32">
            <a:extLst>
              <a:ext uri="{FF2B5EF4-FFF2-40B4-BE49-F238E27FC236}">
                <a16:creationId xmlns:a16="http://schemas.microsoft.com/office/drawing/2014/main" id="{80065023-9451-0D78-0EE4-C4F7DD408F79}"/>
              </a:ext>
            </a:extLst>
          </p:cNvPr>
          <p:cNvSpPr/>
          <p:nvPr/>
        </p:nvSpPr>
        <p:spPr>
          <a:xfrm>
            <a:off x="8305800" y="41021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34" name="ZoneTexte 33">
            <a:extLst>
              <a:ext uri="{FF2B5EF4-FFF2-40B4-BE49-F238E27FC236}">
                <a16:creationId xmlns:a16="http://schemas.microsoft.com/office/drawing/2014/main" id="{A9AE13D1-A6B1-AC2C-F9F3-7891806638F7}"/>
              </a:ext>
            </a:extLst>
          </p:cNvPr>
          <p:cNvSpPr txBox="1"/>
          <p:nvPr/>
        </p:nvSpPr>
        <p:spPr>
          <a:xfrm>
            <a:off x="8712200" y="4114800"/>
            <a:ext cx="2641600" cy="3429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Période : sur la ligne des filtres (le tri a été retiré)</a:t>
            </a:r>
          </a:p>
        </p:txBody>
      </p:sp>
      <p:sp>
        <p:nvSpPr>
          <p:cNvPr id="35" name="ZoneTexte 34">
            <a:extLst>
              <a:ext uri="{FF2B5EF4-FFF2-40B4-BE49-F238E27FC236}">
                <a16:creationId xmlns:a16="http://schemas.microsoft.com/office/drawing/2014/main" id="{9E5F97DD-BB47-410F-DCDE-9C65F7E4EA2D}"/>
              </a:ext>
            </a:extLst>
          </p:cNvPr>
          <p:cNvSpPr txBox="1"/>
          <p:nvPr/>
        </p:nvSpPr>
        <p:spPr>
          <a:xfrm>
            <a:off x="8305800" y="4724400"/>
            <a:ext cx="3048000" cy="228600"/>
          </a:xfrm>
          <a:prstGeom prst="rect">
            <a:avLst/>
          </a:prstGeom>
          <a:noFill/>
        </p:spPr>
        <p:txBody>
          <a:bodyPr vert="horz" wrap="square" lIns="0" tIns="0" rIns="0" bIns="0" rtlCol="0">
            <a:noAutofit/>
          </a:bodyPr>
          <a:lstStyle/>
          <a:p>
            <a:r>
              <a:rPr lang="fr-FR" sz="1400" b="1">
                <a:solidFill>
                  <a:srgbClr val="1E1C8C"/>
                </a:solidFill>
                <a:latin typeface="Calibri" panose="020F0502020204030204" pitchFamily="34" charset="0"/>
              </a:rPr>
              <a:t>Priorité d'une ligne</a:t>
            </a:r>
          </a:p>
        </p:txBody>
      </p:sp>
      <p:sp>
        <p:nvSpPr>
          <p:cNvPr id="36" name="ZoneTexte 35">
            <a:extLst>
              <a:ext uri="{FF2B5EF4-FFF2-40B4-BE49-F238E27FC236}">
                <a16:creationId xmlns:a16="http://schemas.microsoft.com/office/drawing/2014/main" id="{222308EF-F4CF-7E45-A7D9-6246CACDCBF0}"/>
              </a:ext>
            </a:extLst>
          </p:cNvPr>
          <p:cNvSpPr txBox="1"/>
          <p:nvPr/>
        </p:nvSpPr>
        <p:spPr>
          <a:xfrm>
            <a:off x="8305800" y="4978400"/>
            <a:ext cx="3048000" cy="1219200"/>
          </a:xfrm>
          <a:prstGeom prst="rect">
            <a:avLst/>
          </a:prstGeom>
          <a:noFill/>
        </p:spPr>
        <p:txBody>
          <a:bodyPr vert="horz" wrap="square" lIns="0" tIns="0" rIns="0" bIns="0" rtlCol="0">
            <a:noAutofit/>
          </a:bodyPr>
          <a:lstStyle/>
          <a:p>
            <a:r>
              <a:rPr lang="fr-FR" sz="1200">
                <a:solidFill>
                  <a:srgbClr val="586080"/>
                </a:solidFill>
                <a:latin typeface="Calibri" panose="020F0502020204030204" pitchFamily="34" charset="0"/>
              </a:rPr>
              <a:t>Le bord gauche suit la priorité : perte (rouge), attente de signature (jaune), en cours (bleu), tout rendu (vert). « Retour en retard » en rouge sur la ligne.</a:t>
            </a:r>
          </a:p>
        </p:txBody>
      </p:sp>
    </p:spTree>
    <p:extLst>
      <p:ext uri="{BB962C8B-B14F-4D97-AF65-F5344CB8AC3E}">
        <p14:creationId xmlns:p14="http://schemas.microsoft.com/office/powerpoint/2010/main" val="1177681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3528E4-138E-BDE3-F1B6-D41D7F3761EE}"/>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Restituer : trois actions possibles</a:t>
            </a:r>
          </a:p>
        </p:txBody>
      </p:sp>
      <p:sp>
        <p:nvSpPr>
          <p:cNvPr id="3" name="ZoneTexte 2">
            <a:extLst>
              <a:ext uri="{FF2B5EF4-FFF2-40B4-BE49-F238E27FC236}">
                <a16:creationId xmlns:a16="http://schemas.microsoft.com/office/drawing/2014/main" id="{B0D1D7FD-3954-0ADF-E78B-5B9619C32C71}"/>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3</a:t>
            </a:r>
          </a:p>
        </p:txBody>
      </p:sp>
      <p:sp>
        <p:nvSpPr>
          <p:cNvPr id="4" name="ZoneTexte 3">
            <a:extLst>
              <a:ext uri="{FF2B5EF4-FFF2-40B4-BE49-F238E27FC236}">
                <a16:creationId xmlns:a16="http://schemas.microsoft.com/office/drawing/2014/main" id="{DBAE9113-5148-62F9-CA2A-D63C0FFA76BF}"/>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Attestation par email ou téléphone, ou déclaration de perte, vol, casse</a:t>
            </a:r>
          </a:p>
        </p:txBody>
      </p:sp>
      <p:sp>
        <p:nvSpPr>
          <p:cNvPr id="5" name="ZoneTexte 4">
            <a:extLst>
              <a:ext uri="{FF2B5EF4-FFF2-40B4-BE49-F238E27FC236}">
                <a16:creationId xmlns:a16="http://schemas.microsoft.com/office/drawing/2014/main" id="{19532907-6B37-5421-ADA6-778610A76346}"/>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72BE244A-26DB-D678-B229-CD5376C86FB9}"/>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3C602CF9-1BE1-4657-B2B2-A587BFC89DA5}" type="slidenum">
              <a:rPr lang="fr-FR" sz="900" smtClean="0">
                <a:solidFill>
                  <a:srgbClr val="586080"/>
                </a:solidFill>
                <a:latin typeface="Calibri" panose="020F0502020204030204" pitchFamily="34" charset="0"/>
              </a:rPr>
              <a:t>15</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4BDD84FA-6852-3593-521F-DE622951DF6D}"/>
              </a:ext>
            </a:extLst>
          </p:cNvPr>
          <p:cNvSpPr/>
          <p:nvPr/>
        </p:nvSpPr>
        <p:spPr>
          <a:xfrm>
            <a:off x="609600" y="1574800"/>
            <a:ext cx="3454400" cy="4710044"/>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44A160C5-3A19-C60B-B948-F85C4DC86D1E}"/>
              </a:ext>
            </a:extLst>
          </p:cNvPr>
          <p:cNvSpPr/>
          <p:nvPr/>
        </p:nvSpPr>
        <p:spPr>
          <a:xfrm>
            <a:off x="609600" y="1574800"/>
            <a:ext cx="34544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58503865-00D3-21FC-A0A3-014FCDABAA8D}"/>
              </a:ext>
            </a:extLst>
          </p:cNvPr>
          <p:cNvSpPr/>
          <p:nvPr/>
        </p:nvSpPr>
        <p:spPr>
          <a:xfrm>
            <a:off x="736600" y="16637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480EC97F-CA0C-37E1-A8C3-D4C693BA3534}"/>
              </a:ext>
            </a:extLst>
          </p:cNvPr>
          <p:cNvSpPr/>
          <p:nvPr/>
        </p:nvSpPr>
        <p:spPr>
          <a:xfrm>
            <a:off x="901700" y="16637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CCB8C75D-C76C-374D-0AE1-D06F829C1212}"/>
              </a:ext>
            </a:extLst>
          </p:cNvPr>
          <p:cNvSpPr/>
          <p:nvPr/>
        </p:nvSpPr>
        <p:spPr>
          <a:xfrm>
            <a:off x="1066800" y="16637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CC9E9047-4187-9B7A-B987-5A158CDF3AA1}"/>
              </a:ext>
            </a:extLst>
          </p:cNvPr>
          <p:cNvSpPr/>
          <p:nvPr/>
        </p:nvSpPr>
        <p:spPr>
          <a:xfrm>
            <a:off x="1193800" y="16256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8FEBC0B5-DA3A-03BB-19FC-CF52470DAB4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54200"/>
            <a:ext cx="3454400" cy="4430644"/>
          </a:xfrm>
          <a:prstGeom prst="rect">
            <a:avLst/>
          </a:prstGeom>
        </p:spPr>
      </p:pic>
      <p:sp>
        <p:nvSpPr>
          <p:cNvPr id="15" name="Ellipse 14">
            <a:extLst>
              <a:ext uri="{FF2B5EF4-FFF2-40B4-BE49-F238E27FC236}">
                <a16:creationId xmlns:a16="http://schemas.microsoft.com/office/drawing/2014/main" id="{4BDFAC44-8306-0256-3881-7B1A57376399}"/>
              </a:ext>
            </a:extLst>
          </p:cNvPr>
          <p:cNvSpPr/>
          <p:nvPr/>
        </p:nvSpPr>
        <p:spPr>
          <a:xfrm>
            <a:off x="565205" y="2282908"/>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5AAB2BC2-0169-6AC4-81A8-30151C3FF403}"/>
              </a:ext>
            </a:extLst>
          </p:cNvPr>
          <p:cNvSpPr/>
          <p:nvPr/>
        </p:nvSpPr>
        <p:spPr>
          <a:xfrm>
            <a:off x="565205" y="324037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6C73F569-A48A-67C6-1C20-D0F5F959DD0B}"/>
              </a:ext>
            </a:extLst>
          </p:cNvPr>
          <p:cNvSpPr/>
          <p:nvPr/>
        </p:nvSpPr>
        <p:spPr>
          <a:xfrm>
            <a:off x="565205" y="3458155"/>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B525C9C6-CB56-7472-3702-0BF5A3AB644E}"/>
              </a:ext>
            </a:extLst>
          </p:cNvPr>
          <p:cNvSpPr/>
          <p:nvPr/>
        </p:nvSpPr>
        <p:spPr>
          <a:xfrm>
            <a:off x="565205" y="5057692"/>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60C8AFF2-47EC-3FBB-C96C-5DE3F64F0208}"/>
              </a:ext>
            </a:extLst>
          </p:cNvPr>
          <p:cNvSpPr/>
          <p:nvPr/>
        </p:nvSpPr>
        <p:spPr>
          <a:xfrm>
            <a:off x="565205" y="5598381"/>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Ellipse 19">
            <a:extLst>
              <a:ext uri="{FF2B5EF4-FFF2-40B4-BE49-F238E27FC236}">
                <a16:creationId xmlns:a16="http://schemas.microsoft.com/office/drawing/2014/main" id="{8385006C-8625-864B-CD51-22DE8347358B}"/>
              </a:ext>
            </a:extLst>
          </p:cNvPr>
          <p:cNvSpPr/>
          <p:nvPr/>
        </p:nvSpPr>
        <p:spPr>
          <a:xfrm>
            <a:off x="565205" y="6015162"/>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21" name="Ellipse 20">
            <a:extLst>
              <a:ext uri="{FF2B5EF4-FFF2-40B4-BE49-F238E27FC236}">
                <a16:creationId xmlns:a16="http://schemas.microsoft.com/office/drawing/2014/main" id="{C546AD38-B118-0601-CDC0-F772D3D6C860}"/>
              </a:ext>
            </a:extLst>
          </p:cNvPr>
          <p:cNvSpPr/>
          <p:nvPr/>
        </p:nvSpPr>
        <p:spPr>
          <a:xfrm>
            <a:off x="3749261" y="232045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7</a:t>
            </a:r>
          </a:p>
        </p:txBody>
      </p:sp>
      <p:sp>
        <p:nvSpPr>
          <p:cNvPr id="22" name="Rectangle : coins arrondis 21">
            <a:extLst>
              <a:ext uri="{FF2B5EF4-FFF2-40B4-BE49-F238E27FC236}">
                <a16:creationId xmlns:a16="http://schemas.microsoft.com/office/drawing/2014/main" id="{F42DC81D-8707-71A5-0A12-6E003E4F8A9B}"/>
              </a:ext>
            </a:extLst>
          </p:cNvPr>
          <p:cNvSpPr/>
          <p:nvPr/>
        </p:nvSpPr>
        <p:spPr>
          <a:xfrm>
            <a:off x="5486400" y="1574800"/>
            <a:ext cx="6096000" cy="4673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D3837AE2-E965-2EE0-C649-4C5B9F296B03}"/>
              </a:ext>
            </a:extLst>
          </p:cNvPr>
          <p:cNvSpPr txBox="1"/>
          <p:nvPr/>
        </p:nvSpPr>
        <p:spPr>
          <a:xfrm>
            <a:off x="5740400" y="1727200"/>
            <a:ext cx="5588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4" name="Ellipse 23">
            <a:extLst>
              <a:ext uri="{FF2B5EF4-FFF2-40B4-BE49-F238E27FC236}">
                <a16:creationId xmlns:a16="http://schemas.microsoft.com/office/drawing/2014/main" id="{ADF7EAF2-24BE-1770-634E-C5EB164C9A68}"/>
              </a:ext>
            </a:extLst>
          </p:cNvPr>
          <p:cNvSpPr/>
          <p:nvPr/>
        </p:nvSpPr>
        <p:spPr>
          <a:xfrm>
            <a:off x="57404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5" name="ZoneTexte 24">
            <a:extLst>
              <a:ext uri="{FF2B5EF4-FFF2-40B4-BE49-F238E27FC236}">
                <a16:creationId xmlns:a16="http://schemas.microsoft.com/office/drawing/2014/main" id="{DAD5239D-A11E-5C40-9A09-7EEFB323F5B1}"/>
              </a:ext>
            </a:extLst>
          </p:cNvPr>
          <p:cNvSpPr txBox="1"/>
          <p:nvPr/>
        </p:nvSpPr>
        <p:spPr>
          <a:xfrm>
            <a:off x="6146800" y="2146300"/>
            <a:ext cx="518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Compteurs : restitués, à signer, perdus</a:t>
            </a:r>
          </a:p>
        </p:txBody>
      </p:sp>
      <p:sp>
        <p:nvSpPr>
          <p:cNvPr id="26" name="Ellipse 25">
            <a:extLst>
              <a:ext uri="{FF2B5EF4-FFF2-40B4-BE49-F238E27FC236}">
                <a16:creationId xmlns:a16="http://schemas.microsoft.com/office/drawing/2014/main" id="{1375B2AF-D195-B76B-57DC-F175280B847C}"/>
              </a:ext>
            </a:extLst>
          </p:cNvPr>
          <p:cNvSpPr/>
          <p:nvPr/>
        </p:nvSpPr>
        <p:spPr>
          <a:xfrm>
            <a:off x="5740400" y="25019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7" name="ZoneTexte 26">
            <a:extLst>
              <a:ext uri="{FF2B5EF4-FFF2-40B4-BE49-F238E27FC236}">
                <a16:creationId xmlns:a16="http://schemas.microsoft.com/office/drawing/2014/main" id="{063B742D-335C-8902-84F0-FE6CC0BAEC26}"/>
              </a:ext>
            </a:extLst>
          </p:cNvPr>
          <p:cNvSpPr txBox="1"/>
          <p:nvPr/>
        </p:nvSpPr>
        <p:spPr>
          <a:xfrm>
            <a:off x="6146800" y="2514600"/>
            <a:ext cx="518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Étapes : matériel, date de retour, envoi</a:t>
            </a:r>
          </a:p>
        </p:txBody>
      </p:sp>
      <p:sp>
        <p:nvSpPr>
          <p:cNvPr id="28" name="Ellipse 27">
            <a:extLst>
              <a:ext uri="{FF2B5EF4-FFF2-40B4-BE49-F238E27FC236}">
                <a16:creationId xmlns:a16="http://schemas.microsoft.com/office/drawing/2014/main" id="{723376B2-01B2-2951-0483-2F129DF98DF8}"/>
              </a:ext>
            </a:extLst>
          </p:cNvPr>
          <p:cNvSpPr/>
          <p:nvPr/>
        </p:nvSpPr>
        <p:spPr>
          <a:xfrm>
            <a:off x="5740400" y="28702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29" name="ZoneTexte 28">
            <a:extLst>
              <a:ext uri="{FF2B5EF4-FFF2-40B4-BE49-F238E27FC236}">
                <a16:creationId xmlns:a16="http://schemas.microsoft.com/office/drawing/2014/main" id="{DA205FF2-9863-FE37-5EF7-6F0A9C6979D1}"/>
              </a:ext>
            </a:extLst>
          </p:cNvPr>
          <p:cNvSpPr txBox="1"/>
          <p:nvPr/>
        </p:nvSpPr>
        <p:spPr>
          <a:xfrm>
            <a:off x="6146800" y="2882900"/>
            <a:ext cx="518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Matériel emprunté : cases et quantités</a:t>
            </a:r>
          </a:p>
        </p:txBody>
      </p:sp>
      <p:sp>
        <p:nvSpPr>
          <p:cNvPr id="30" name="Ellipse 29">
            <a:extLst>
              <a:ext uri="{FF2B5EF4-FFF2-40B4-BE49-F238E27FC236}">
                <a16:creationId xmlns:a16="http://schemas.microsoft.com/office/drawing/2014/main" id="{2E4D9D9A-B160-65E9-F031-2879BA20DBFC}"/>
              </a:ext>
            </a:extLst>
          </p:cNvPr>
          <p:cNvSpPr/>
          <p:nvPr/>
        </p:nvSpPr>
        <p:spPr>
          <a:xfrm>
            <a:off x="5740400" y="32385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31" name="ZoneTexte 30">
            <a:extLst>
              <a:ext uri="{FF2B5EF4-FFF2-40B4-BE49-F238E27FC236}">
                <a16:creationId xmlns:a16="http://schemas.microsoft.com/office/drawing/2014/main" id="{C4C83530-E4D0-7208-C042-B12B873E0E14}"/>
              </a:ext>
            </a:extLst>
          </p:cNvPr>
          <p:cNvSpPr txBox="1"/>
          <p:nvPr/>
        </p:nvSpPr>
        <p:spPr>
          <a:xfrm>
            <a:off x="6146800" y="3251200"/>
            <a:ext cx="518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Date de retour, « Sélectionner tout »</a:t>
            </a:r>
          </a:p>
        </p:txBody>
      </p:sp>
      <p:sp>
        <p:nvSpPr>
          <p:cNvPr id="32" name="Ellipse 31">
            <a:extLst>
              <a:ext uri="{FF2B5EF4-FFF2-40B4-BE49-F238E27FC236}">
                <a16:creationId xmlns:a16="http://schemas.microsoft.com/office/drawing/2014/main" id="{B2AF241F-6AB4-64A8-D65A-ED9647BE3BD4}"/>
              </a:ext>
            </a:extLst>
          </p:cNvPr>
          <p:cNvSpPr/>
          <p:nvPr/>
        </p:nvSpPr>
        <p:spPr>
          <a:xfrm>
            <a:off x="5740400" y="36068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3" name="ZoneTexte 32">
            <a:extLst>
              <a:ext uri="{FF2B5EF4-FFF2-40B4-BE49-F238E27FC236}">
                <a16:creationId xmlns:a16="http://schemas.microsoft.com/office/drawing/2014/main" id="{6EDFFE86-18F0-548E-9109-FB3248C5F2EB}"/>
              </a:ext>
            </a:extLst>
          </p:cNvPr>
          <p:cNvSpPr txBox="1"/>
          <p:nvPr/>
        </p:nvSpPr>
        <p:spPr>
          <a:xfrm>
            <a:off x="6146800" y="3619500"/>
            <a:ext cx="518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Par email / Par téléphone : attestation en attente</a:t>
            </a:r>
          </a:p>
        </p:txBody>
      </p:sp>
      <p:sp>
        <p:nvSpPr>
          <p:cNvPr id="34" name="Ellipse 33">
            <a:extLst>
              <a:ext uri="{FF2B5EF4-FFF2-40B4-BE49-F238E27FC236}">
                <a16:creationId xmlns:a16="http://schemas.microsoft.com/office/drawing/2014/main" id="{FAFEAF09-3097-74BD-5605-6E81B85B0647}"/>
              </a:ext>
            </a:extLst>
          </p:cNvPr>
          <p:cNvSpPr/>
          <p:nvPr/>
        </p:nvSpPr>
        <p:spPr>
          <a:xfrm>
            <a:off x="5740400" y="39751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35" name="ZoneTexte 34">
            <a:extLst>
              <a:ext uri="{FF2B5EF4-FFF2-40B4-BE49-F238E27FC236}">
                <a16:creationId xmlns:a16="http://schemas.microsoft.com/office/drawing/2014/main" id="{CCD7053B-5020-395E-9C7A-557E4384A3ED}"/>
              </a:ext>
            </a:extLst>
          </p:cNvPr>
          <p:cNvSpPr txBox="1"/>
          <p:nvPr/>
        </p:nvSpPr>
        <p:spPr>
          <a:xfrm>
            <a:off x="6146800" y="3987800"/>
            <a:ext cx="518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Déclarer perdu / volé / abîmé (confirmation)</a:t>
            </a:r>
          </a:p>
        </p:txBody>
      </p:sp>
      <p:sp>
        <p:nvSpPr>
          <p:cNvPr id="36" name="Ellipse 35">
            <a:extLst>
              <a:ext uri="{FF2B5EF4-FFF2-40B4-BE49-F238E27FC236}">
                <a16:creationId xmlns:a16="http://schemas.microsoft.com/office/drawing/2014/main" id="{DEC44A64-29A1-EABC-5510-0401852322BE}"/>
              </a:ext>
            </a:extLst>
          </p:cNvPr>
          <p:cNvSpPr/>
          <p:nvPr/>
        </p:nvSpPr>
        <p:spPr>
          <a:xfrm>
            <a:off x="5740400" y="43434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7</a:t>
            </a:r>
          </a:p>
        </p:txBody>
      </p:sp>
      <p:sp>
        <p:nvSpPr>
          <p:cNvPr id="37" name="ZoneTexte 36">
            <a:extLst>
              <a:ext uri="{FF2B5EF4-FFF2-40B4-BE49-F238E27FC236}">
                <a16:creationId xmlns:a16="http://schemas.microsoft.com/office/drawing/2014/main" id="{AF733865-0A8B-AE5B-AAB7-30251123527F}"/>
              </a:ext>
            </a:extLst>
          </p:cNvPr>
          <p:cNvSpPr txBox="1"/>
          <p:nvPr/>
        </p:nvSpPr>
        <p:spPr>
          <a:xfrm>
            <a:off x="6146800" y="4356100"/>
            <a:ext cx="5181600" cy="3175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Recherche d'une autre personne</a:t>
            </a:r>
          </a:p>
        </p:txBody>
      </p:sp>
      <p:sp>
        <p:nvSpPr>
          <p:cNvPr id="38" name="ZoneTexte 37">
            <a:extLst>
              <a:ext uri="{FF2B5EF4-FFF2-40B4-BE49-F238E27FC236}">
                <a16:creationId xmlns:a16="http://schemas.microsoft.com/office/drawing/2014/main" id="{B906A97C-4D48-0F82-F569-65652FA42432}"/>
              </a:ext>
            </a:extLst>
          </p:cNvPr>
          <p:cNvSpPr txBox="1"/>
          <p:nvPr/>
        </p:nvSpPr>
        <p:spPr>
          <a:xfrm>
            <a:off x="5740400" y="4775200"/>
            <a:ext cx="5588000" cy="254000"/>
          </a:xfrm>
          <a:prstGeom prst="rect">
            <a:avLst/>
          </a:prstGeom>
          <a:noFill/>
        </p:spPr>
        <p:txBody>
          <a:bodyPr vert="horz" wrap="square" lIns="0" tIns="0" rIns="0" bIns="0" rtlCol="0">
            <a:noAutofit/>
          </a:bodyPr>
          <a:lstStyle/>
          <a:p>
            <a:r>
              <a:rPr lang="fr-FR" sz="1500" b="1">
                <a:solidFill>
                  <a:srgbClr val="1E1C8C"/>
                </a:solidFill>
                <a:latin typeface="Calibri" panose="020F0502020204030204" pitchFamily="34" charset="0"/>
              </a:rPr>
              <a:t>Résultat</a:t>
            </a:r>
          </a:p>
        </p:txBody>
      </p:sp>
      <p:sp>
        <p:nvSpPr>
          <p:cNvPr id="39" name="ZoneTexte 38">
            <a:extLst>
              <a:ext uri="{FF2B5EF4-FFF2-40B4-BE49-F238E27FC236}">
                <a16:creationId xmlns:a16="http://schemas.microsoft.com/office/drawing/2014/main" id="{A6149750-CFCC-16B1-B2E5-E204F47FEFF8}"/>
              </a:ext>
            </a:extLst>
          </p:cNvPr>
          <p:cNvSpPr txBox="1"/>
          <p:nvPr/>
        </p:nvSpPr>
        <p:spPr>
          <a:xfrm>
            <a:off x="5740400" y="5054600"/>
            <a:ext cx="5588000" cy="1168400"/>
          </a:xfrm>
          <a:prstGeom prst="rect">
            <a:avLst/>
          </a:prstGeom>
          <a:noFill/>
        </p:spPr>
        <p:txBody>
          <a:bodyPr vert="horz" wrap="square" lIns="0" tIns="0" rIns="0" bIns="0" rtlCol="0">
            <a:noAutofit/>
          </a:bodyPr>
          <a:lstStyle/>
          <a:p>
            <a:pPr marL="203200" indent="-203200">
              <a:spcAft>
                <a:spcPts val="300"/>
              </a:spcAft>
              <a:buClr>
                <a:srgbClr val="5853FF"/>
              </a:buClr>
              <a:buFont typeface="+mj-lt"/>
              <a:buChar char="•"/>
            </a:pPr>
            <a:r>
              <a:rPr lang="fr-FR" sz="1300">
                <a:solidFill>
                  <a:srgbClr val="12162B"/>
                </a:solidFill>
                <a:latin typeface="Calibri" panose="020F0502020204030204" pitchFamily="34" charset="0"/>
              </a:rPr>
              <a:t>Par email : aperçu du PDF et destinataire, puis signature (Marquer comme signée), puis message prêt à envoyer</a:t>
            </a:r>
          </a:p>
          <a:p>
            <a:pPr marL="203200" indent="-203200">
              <a:spcAft>
                <a:spcPts val="300"/>
              </a:spcAft>
              <a:buClr>
                <a:srgbClr val="5853FF"/>
              </a:buClr>
              <a:buFont typeface="+mj-lt"/>
              <a:buChar char="•"/>
            </a:pPr>
            <a:r>
              <a:rPr lang="fr-FR" sz="1300">
                <a:solidFill>
                  <a:srgbClr val="12162B"/>
                </a:solidFill>
                <a:latin typeface="Calibri" panose="020F0502020204030204" pitchFamily="34" charset="0"/>
              </a:rPr>
              <a:t>Par téléphone : SMS préparé, numéro de test 06 95 17 58 74</a:t>
            </a:r>
          </a:p>
          <a:p>
            <a:pPr marL="203200" indent="-203200">
              <a:spcAft>
                <a:spcPts val="300"/>
              </a:spcAft>
              <a:buClr>
                <a:srgbClr val="5853FF"/>
              </a:buClr>
              <a:buFont typeface="+mj-lt"/>
              <a:buChar char="•"/>
            </a:pPr>
            <a:r>
              <a:rPr lang="fr-FR" sz="1300">
                <a:solidFill>
                  <a:srgbClr val="12162B"/>
                </a:solidFill>
                <a:latin typeface="Calibri" panose="020F0502020204030204" pitchFamily="34" charset="0"/>
              </a:rPr>
              <a:t>Déclaration : sort de chez la personne, visible dans Matériel perdu</a:t>
            </a:r>
          </a:p>
        </p:txBody>
      </p:sp>
    </p:spTree>
    <p:extLst>
      <p:ext uri="{BB962C8B-B14F-4D97-AF65-F5344CB8AC3E}">
        <p14:creationId xmlns:p14="http://schemas.microsoft.com/office/powerpoint/2010/main" val="1082726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BEDD7B-6E03-43EF-EAC0-F4289446B349}"/>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Rappels et relances Teams par paliers</a:t>
            </a:r>
          </a:p>
        </p:txBody>
      </p:sp>
      <p:sp>
        <p:nvSpPr>
          <p:cNvPr id="3" name="ZoneTexte 2">
            <a:extLst>
              <a:ext uri="{FF2B5EF4-FFF2-40B4-BE49-F238E27FC236}">
                <a16:creationId xmlns:a16="http://schemas.microsoft.com/office/drawing/2014/main" id="{F82E590E-9146-8397-9CBA-8366A8EEF543}"/>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3</a:t>
            </a:r>
          </a:p>
        </p:txBody>
      </p:sp>
      <p:sp>
        <p:nvSpPr>
          <p:cNvPr id="4" name="ZoneTexte 3">
            <a:extLst>
              <a:ext uri="{FF2B5EF4-FFF2-40B4-BE49-F238E27FC236}">
                <a16:creationId xmlns:a16="http://schemas.microsoft.com/office/drawing/2014/main" id="{1EFC4763-458D-A38B-9D94-D37446E83D20}"/>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Trois jours avant, le jour même, une semaine, plus de quinze jours</a:t>
            </a:r>
          </a:p>
        </p:txBody>
      </p:sp>
      <p:sp>
        <p:nvSpPr>
          <p:cNvPr id="5" name="ZoneTexte 4">
            <a:extLst>
              <a:ext uri="{FF2B5EF4-FFF2-40B4-BE49-F238E27FC236}">
                <a16:creationId xmlns:a16="http://schemas.microsoft.com/office/drawing/2014/main" id="{31AA88B8-0FEC-401E-3300-6A0F9C40053A}"/>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8826F83B-211D-6D01-F0CA-F8233E33EEF8}"/>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4E6B0710-9F29-45CC-BCE8-F9AC9FF83232}" type="slidenum">
              <a:rPr lang="fr-FR" sz="900" smtClean="0">
                <a:solidFill>
                  <a:srgbClr val="586080"/>
                </a:solidFill>
                <a:latin typeface="Calibri" panose="020F0502020204030204" pitchFamily="34" charset="0"/>
              </a:rPr>
              <a:t>16</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E3DA5EDC-4C79-1F25-7481-8CF67C088231}"/>
              </a:ext>
            </a:extLst>
          </p:cNvPr>
          <p:cNvSpPr/>
          <p:nvPr/>
        </p:nvSpPr>
        <p:spPr>
          <a:xfrm>
            <a:off x="609600" y="1600200"/>
            <a:ext cx="5588000" cy="2430929"/>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562FCB43-BE7C-E043-7ADC-013309036F5C}"/>
              </a:ext>
            </a:extLst>
          </p:cNvPr>
          <p:cNvSpPr/>
          <p:nvPr/>
        </p:nvSpPr>
        <p:spPr>
          <a:xfrm>
            <a:off x="609600" y="1600200"/>
            <a:ext cx="5588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66CDF3AA-24A9-3C36-F80B-868D0DC71E48}"/>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C75D7B9A-CDE5-1BB5-B46C-52E029346C4B}"/>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15424743-0E5D-D5E9-681F-565A7A722F3C}"/>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2DA9D8DD-8FD0-4CD3-37CF-00B85948DA24}"/>
              </a:ext>
            </a:extLst>
          </p:cNvPr>
          <p:cNvSpPr/>
          <p:nvPr/>
        </p:nvSpPr>
        <p:spPr>
          <a:xfrm>
            <a:off x="2260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286C765D-4825-D8C8-BAB6-5BEFB0450BE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5588000" cy="2151529"/>
          </a:xfrm>
          <a:prstGeom prst="rect">
            <a:avLst/>
          </a:prstGeom>
        </p:spPr>
      </p:pic>
      <p:sp>
        <p:nvSpPr>
          <p:cNvPr id="15" name="Rectangle : coins arrondis 14">
            <a:extLst>
              <a:ext uri="{FF2B5EF4-FFF2-40B4-BE49-F238E27FC236}">
                <a16:creationId xmlns:a16="http://schemas.microsoft.com/office/drawing/2014/main" id="{CE2182AA-9FDF-09DF-13F3-2836031056F5}"/>
              </a:ext>
            </a:extLst>
          </p:cNvPr>
          <p:cNvSpPr/>
          <p:nvPr/>
        </p:nvSpPr>
        <p:spPr>
          <a:xfrm>
            <a:off x="609600" y="4140200"/>
            <a:ext cx="2540000" cy="2073712"/>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9F6D8A8D-90B3-9CE7-1F1E-B2685A6AE94C}"/>
              </a:ext>
            </a:extLst>
          </p:cNvPr>
          <p:cNvSpPr/>
          <p:nvPr/>
        </p:nvSpPr>
        <p:spPr>
          <a:xfrm>
            <a:off x="609600" y="4140200"/>
            <a:ext cx="2540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61C5BC6A-1A31-9A3C-0EF2-819042EA7A31}"/>
              </a:ext>
            </a:extLst>
          </p:cNvPr>
          <p:cNvSpPr/>
          <p:nvPr/>
        </p:nvSpPr>
        <p:spPr>
          <a:xfrm>
            <a:off x="736600" y="422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BB56DB11-7A08-5139-D976-F768ADF5782A}"/>
              </a:ext>
            </a:extLst>
          </p:cNvPr>
          <p:cNvSpPr/>
          <p:nvPr/>
        </p:nvSpPr>
        <p:spPr>
          <a:xfrm>
            <a:off x="901700" y="422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FEA9AA45-70E2-2FBF-33AA-D5789453625B}"/>
              </a:ext>
            </a:extLst>
          </p:cNvPr>
          <p:cNvSpPr/>
          <p:nvPr/>
        </p:nvSpPr>
        <p:spPr>
          <a:xfrm>
            <a:off x="1066800" y="422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A735311C-37B7-1D2A-9357-E46CAE66B7C7}"/>
              </a:ext>
            </a:extLst>
          </p:cNvPr>
          <p:cNvSpPr/>
          <p:nvPr/>
        </p:nvSpPr>
        <p:spPr>
          <a:xfrm>
            <a:off x="736600" y="419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0F400CB5-2C62-F214-E6EB-89794BAF5522}"/>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609600" y="4419600"/>
            <a:ext cx="2540000" cy="1794312"/>
          </a:xfrm>
          <a:prstGeom prst="rect">
            <a:avLst/>
          </a:prstGeom>
        </p:spPr>
      </p:pic>
      <p:sp>
        <p:nvSpPr>
          <p:cNvPr id="23" name="Rectangle : coins arrondis 22">
            <a:extLst>
              <a:ext uri="{FF2B5EF4-FFF2-40B4-BE49-F238E27FC236}">
                <a16:creationId xmlns:a16="http://schemas.microsoft.com/office/drawing/2014/main" id="{58BEEB7A-1A4C-EF8A-5002-1370BBAE2031}"/>
              </a:ext>
            </a:extLst>
          </p:cNvPr>
          <p:cNvSpPr/>
          <p:nvPr/>
        </p:nvSpPr>
        <p:spPr>
          <a:xfrm>
            <a:off x="3327400" y="4140200"/>
            <a:ext cx="2692400" cy="2074333"/>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 coins arrondis 23">
            <a:extLst>
              <a:ext uri="{FF2B5EF4-FFF2-40B4-BE49-F238E27FC236}">
                <a16:creationId xmlns:a16="http://schemas.microsoft.com/office/drawing/2014/main" id="{A72C2A9C-37C8-D48C-8896-6A3D3D8AEDE5}"/>
              </a:ext>
            </a:extLst>
          </p:cNvPr>
          <p:cNvSpPr/>
          <p:nvPr/>
        </p:nvSpPr>
        <p:spPr>
          <a:xfrm>
            <a:off x="3327400" y="4140200"/>
            <a:ext cx="26924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DDD709E2-4148-D923-29E3-D701B2F1FF2D}"/>
              </a:ext>
            </a:extLst>
          </p:cNvPr>
          <p:cNvSpPr/>
          <p:nvPr/>
        </p:nvSpPr>
        <p:spPr>
          <a:xfrm>
            <a:off x="3454400" y="422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E6B6CE6B-46E4-4A3A-FB87-1ACC1F523D68}"/>
              </a:ext>
            </a:extLst>
          </p:cNvPr>
          <p:cNvSpPr/>
          <p:nvPr/>
        </p:nvSpPr>
        <p:spPr>
          <a:xfrm>
            <a:off x="3619500" y="422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Ellipse 26">
            <a:extLst>
              <a:ext uri="{FF2B5EF4-FFF2-40B4-BE49-F238E27FC236}">
                <a16:creationId xmlns:a16="http://schemas.microsoft.com/office/drawing/2014/main" id="{2D70C459-73C0-CB87-579D-E02CA9BA57B4}"/>
              </a:ext>
            </a:extLst>
          </p:cNvPr>
          <p:cNvSpPr/>
          <p:nvPr/>
        </p:nvSpPr>
        <p:spPr>
          <a:xfrm>
            <a:off x="3784600" y="422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 coins arrondis 27">
            <a:extLst>
              <a:ext uri="{FF2B5EF4-FFF2-40B4-BE49-F238E27FC236}">
                <a16:creationId xmlns:a16="http://schemas.microsoft.com/office/drawing/2014/main" id="{2CCD8637-D10F-8F52-6F3C-FE1388009C82}"/>
              </a:ext>
            </a:extLst>
          </p:cNvPr>
          <p:cNvSpPr/>
          <p:nvPr/>
        </p:nvSpPr>
        <p:spPr>
          <a:xfrm>
            <a:off x="3530600" y="419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30" name="Image 29">
            <a:extLst>
              <a:ext uri="{FF2B5EF4-FFF2-40B4-BE49-F238E27FC236}">
                <a16:creationId xmlns:a16="http://schemas.microsoft.com/office/drawing/2014/main" id="{C38EA65D-8388-028B-05CE-22EBF126BE1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3327400" y="4419600"/>
            <a:ext cx="2692400" cy="1794933"/>
          </a:xfrm>
          <a:prstGeom prst="rect">
            <a:avLst/>
          </a:prstGeom>
        </p:spPr>
      </p:pic>
      <p:sp>
        <p:nvSpPr>
          <p:cNvPr id="31" name="Rectangle : coins arrondis 30">
            <a:extLst>
              <a:ext uri="{FF2B5EF4-FFF2-40B4-BE49-F238E27FC236}">
                <a16:creationId xmlns:a16="http://schemas.microsoft.com/office/drawing/2014/main" id="{05623FF3-3F7A-A443-F4D8-6C240444D195}"/>
              </a:ext>
            </a:extLst>
          </p:cNvPr>
          <p:cNvSpPr/>
          <p:nvPr/>
        </p:nvSpPr>
        <p:spPr>
          <a:xfrm>
            <a:off x="6858000" y="1600200"/>
            <a:ext cx="47244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334EA776-2AD6-9D8E-E2D3-AEFBF816713A}"/>
              </a:ext>
            </a:extLst>
          </p:cNvPr>
          <p:cNvSpPr txBox="1"/>
          <p:nvPr/>
        </p:nvSpPr>
        <p:spPr>
          <a:xfrm>
            <a:off x="7086600" y="1752600"/>
            <a:ext cx="42672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Quatre paliers</a:t>
            </a:r>
          </a:p>
        </p:txBody>
      </p:sp>
      <p:graphicFrame>
        <p:nvGraphicFramePr>
          <p:cNvPr id="33" name="Tableau 32">
            <a:extLst>
              <a:ext uri="{FF2B5EF4-FFF2-40B4-BE49-F238E27FC236}">
                <a16:creationId xmlns:a16="http://schemas.microsoft.com/office/drawing/2014/main" id="{1B2BA220-E9FF-31FC-3D59-7F83A5DC35D6}"/>
              </a:ext>
            </a:extLst>
          </p:cNvPr>
          <p:cNvGraphicFramePr>
            <a:graphicFrameLocks noGrp="1"/>
          </p:cNvGraphicFramePr>
          <p:nvPr>
            <p:extLst>
              <p:ext uri="{D42A27DB-BD31-4B8C-83A1-F6EECF244321}">
                <p14:modId xmlns:p14="http://schemas.microsoft.com/office/powerpoint/2010/main" val="1955996805"/>
              </p:ext>
            </p:extLst>
          </p:nvPr>
        </p:nvGraphicFramePr>
        <p:xfrm>
          <a:off x="7035800" y="2133600"/>
          <a:ext cx="4368800" cy="1651000"/>
        </p:xfrm>
        <a:graphic>
          <a:graphicData uri="http://schemas.openxmlformats.org/drawingml/2006/table">
            <a:tbl>
              <a:tblPr firstRow="1" bandRow="1">
                <a:tableStyleId>{2D5ABB26-0587-4C30-8999-92F81FD0307C}</a:tableStyleId>
              </a:tblPr>
              <a:tblGrid>
                <a:gridCol w="1625600">
                  <a:extLst>
                    <a:ext uri="{9D8B030D-6E8A-4147-A177-3AD203B41FA5}">
                      <a16:colId xmlns:a16="http://schemas.microsoft.com/office/drawing/2014/main" val="3691400465"/>
                    </a:ext>
                  </a:extLst>
                </a:gridCol>
                <a:gridCol w="2743200">
                  <a:extLst>
                    <a:ext uri="{9D8B030D-6E8A-4147-A177-3AD203B41FA5}">
                      <a16:colId xmlns:a16="http://schemas.microsoft.com/office/drawing/2014/main" val="2413780914"/>
                    </a:ext>
                  </a:extLst>
                </a:gridCol>
              </a:tblGrid>
              <a:tr h="330200">
                <a:tc>
                  <a:txBody>
                    <a:bodyPr/>
                    <a:lstStyle/>
                    <a:p>
                      <a:pPr algn="l"/>
                      <a:r>
                        <a:rPr lang="fr-FR" sz="1200" b="1">
                          <a:solidFill>
                            <a:srgbClr val="FFFFFF"/>
                          </a:solidFill>
                          <a:latin typeface="Calibri" panose="020F0502020204030204" pitchFamily="34" charset="0"/>
                        </a:rPr>
                        <a:t>Palier</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Quand</a:t>
                      </a:r>
                    </a:p>
                  </a:txBody>
                  <a:tcPr marL="127000" marR="127000" marT="38100" marB="38100" anchor="ctr">
                    <a:solidFill>
                      <a:srgbClr val="1E1C8C"/>
                    </a:solidFill>
                  </a:tcPr>
                </a:tc>
                <a:extLst>
                  <a:ext uri="{0D108BD9-81ED-4DB2-BD59-A6C34878D82A}">
                    <a16:rowId xmlns:a16="http://schemas.microsoft.com/office/drawing/2014/main" val="1055694354"/>
                  </a:ext>
                </a:extLst>
              </a:tr>
              <a:tr h="330200">
                <a:tc>
                  <a:txBody>
                    <a:bodyPr/>
                    <a:lstStyle/>
                    <a:p>
                      <a:pPr algn="l"/>
                      <a:r>
                        <a:rPr lang="fr-FR" sz="1200" b="1">
                          <a:solidFill>
                            <a:srgbClr val="12162B"/>
                          </a:solidFill>
                          <a:latin typeface="Calibri" panose="020F0502020204030204" pitchFamily="34" charset="0"/>
                        </a:rPr>
                        <a:t>Avant l'échéance</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3 jours avant</a:t>
                      </a:r>
                    </a:p>
                  </a:txBody>
                  <a:tcPr marL="127000" marR="127000" marT="38100" marB="38100" anchor="ctr">
                    <a:solidFill>
                      <a:srgbClr val="FFFFFF"/>
                    </a:solidFill>
                  </a:tcPr>
                </a:tc>
                <a:extLst>
                  <a:ext uri="{0D108BD9-81ED-4DB2-BD59-A6C34878D82A}">
                    <a16:rowId xmlns:a16="http://schemas.microsoft.com/office/drawing/2014/main" val="3578716684"/>
                  </a:ext>
                </a:extLst>
              </a:tr>
              <a:tr h="330200">
                <a:tc>
                  <a:txBody>
                    <a:bodyPr/>
                    <a:lstStyle/>
                    <a:p>
                      <a:pPr algn="l"/>
                      <a:r>
                        <a:rPr lang="fr-FR" sz="1200" b="1">
                          <a:solidFill>
                            <a:srgbClr val="12162B"/>
                          </a:solidFill>
                          <a:latin typeface="Calibri" panose="020F0502020204030204" pitchFamily="34" charset="0"/>
                        </a:rPr>
                        <a:t>Échéance</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Jour du retour, jusqu'à J+6</a:t>
                      </a:r>
                    </a:p>
                  </a:txBody>
                  <a:tcPr marL="127000" marR="127000" marT="38100" marB="38100" anchor="ctr">
                    <a:solidFill>
                      <a:srgbClr val="F0F2FA"/>
                    </a:solidFill>
                  </a:tcPr>
                </a:tc>
                <a:extLst>
                  <a:ext uri="{0D108BD9-81ED-4DB2-BD59-A6C34878D82A}">
                    <a16:rowId xmlns:a16="http://schemas.microsoft.com/office/drawing/2014/main" val="3299329061"/>
                  </a:ext>
                </a:extLst>
              </a:tr>
              <a:tr h="330200">
                <a:tc>
                  <a:txBody>
                    <a:bodyPr/>
                    <a:lstStyle/>
                    <a:p>
                      <a:pPr algn="l"/>
                      <a:r>
                        <a:rPr lang="fr-FR" sz="1200" b="1">
                          <a:solidFill>
                            <a:srgbClr val="12162B"/>
                          </a:solidFill>
                          <a:latin typeface="Calibri" panose="020F0502020204030204" pitchFamily="34" charset="0"/>
                        </a:rPr>
                        <a:t>Retard d'une semaine</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De 7 à 15 jours</a:t>
                      </a:r>
                    </a:p>
                  </a:txBody>
                  <a:tcPr marL="127000" marR="127000" marT="38100" marB="38100" anchor="ctr">
                    <a:solidFill>
                      <a:srgbClr val="FFFFFF"/>
                    </a:solidFill>
                  </a:tcPr>
                </a:tc>
                <a:extLst>
                  <a:ext uri="{0D108BD9-81ED-4DB2-BD59-A6C34878D82A}">
                    <a16:rowId xmlns:a16="http://schemas.microsoft.com/office/drawing/2014/main" val="832198660"/>
                  </a:ext>
                </a:extLst>
              </a:tr>
              <a:tr h="330200">
                <a:tc>
                  <a:txBody>
                    <a:bodyPr/>
                    <a:lstStyle/>
                    <a:p>
                      <a:pPr algn="l"/>
                      <a:r>
                        <a:rPr lang="fr-FR" sz="1200" b="1">
                          <a:solidFill>
                            <a:srgbClr val="12162B"/>
                          </a:solidFill>
                          <a:latin typeface="Calibri" panose="020F0502020204030204" pitchFamily="34" charset="0"/>
                        </a:rPr>
                        <a:t>Plus de 15 jours</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Responsable en copie</a:t>
                      </a:r>
                    </a:p>
                  </a:txBody>
                  <a:tcPr marL="127000" marR="127000" marT="38100" marB="38100" anchor="ctr">
                    <a:solidFill>
                      <a:srgbClr val="F0F2FA"/>
                    </a:solidFill>
                  </a:tcPr>
                </a:tc>
                <a:extLst>
                  <a:ext uri="{0D108BD9-81ED-4DB2-BD59-A6C34878D82A}">
                    <a16:rowId xmlns:a16="http://schemas.microsoft.com/office/drawing/2014/main" val="484322975"/>
                  </a:ext>
                </a:extLst>
              </a:tr>
            </a:tbl>
          </a:graphicData>
        </a:graphic>
      </p:graphicFrame>
      <p:sp>
        <p:nvSpPr>
          <p:cNvPr id="34" name="ZoneTexte 33">
            <a:extLst>
              <a:ext uri="{FF2B5EF4-FFF2-40B4-BE49-F238E27FC236}">
                <a16:creationId xmlns:a16="http://schemas.microsoft.com/office/drawing/2014/main" id="{C2AD1FA1-D380-B1DC-640D-C450829F1D02}"/>
              </a:ext>
            </a:extLst>
          </p:cNvPr>
          <p:cNvSpPr txBox="1"/>
          <p:nvPr/>
        </p:nvSpPr>
        <p:spPr>
          <a:xfrm>
            <a:off x="7086600" y="3962400"/>
            <a:ext cx="4267200" cy="22606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Bandeau « relances Teams à envoyer » dans Restituer</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File : Préparer ou Ignorer, par personne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Message modifiable, jamais envoyé automatiquement</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Relance consignée : « Relancé le … », plus reproposée</a:t>
            </a:r>
          </a:p>
        </p:txBody>
      </p:sp>
    </p:spTree>
    <p:extLst>
      <p:ext uri="{BB962C8B-B14F-4D97-AF65-F5344CB8AC3E}">
        <p14:creationId xmlns:p14="http://schemas.microsoft.com/office/powerpoint/2010/main" val="1247875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E71EFC-9139-8696-E1BF-CA7E88B1ECCD}"/>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Date de retour prévue et alertes de retard</a:t>
            </a:r>
          </a:p>
        </p:txBody>
      </p:sp>
      <p:sp>
        <p:nvSpPr>
          <p:cNvPr id="3" name="ZoneTexte 2">
            <a:extLst>
              <a:ext uri="{FF2B5EF4-FFF2-40B4-BE49-F238E27FC236}">
                <a16:creationId xmlns:a16="http://schemas.microsoft.com/office/drawing/2014/main" id="{03173D44-10EA-083F-F822-23609AB0EC51}"/>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ONGLETS 2 ET 3</a:t>
            </a:r>
          </a:p>
        </p:txBody>
      </p:sp>
      <p:sp>
        <p:nvSpPr>
          <p:cNvPr id="4" name="ZoneTexte 3">
            <a:extLst>
              <a:ext uri="{FF2B5EF4-FFF2-40B4-BE49-F238E27FC236}">
                <a16:creationId xmlns:a16="http://schemas.microsoft.com/office/drawing/2014/main" id="{0AC1560E-142B-0D9C-B739-6253E139E786}"/>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Facultative à l'emprunt, surveillée ensuite : fenêtre, carte, pastilles, filtre</a:t>
            </a:r>
          </a:p>
        </p:txBody>
      </p:sp>
      <p:sp>
        <p:nvSpPr>
          <p:cNvPr id="5" name="ZoneTexte 4">
            <a:extLst>
              <a:ext uri="{FF2B5EF4-FFF2-40B4-BE49-F238E27FC236}">
                <a16:creationId xmlns:a16="http://schemas.microsoft.com/office/drawing/2014/main" id="{AF054BA8-BAAE-F5A0-42ED-C6AEEF497F90}"/>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A073AE79-F8AD-65DA-8090-F37A4E0B0FEB}"/>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61E665E4-52AD-43EE-ADDA-D2BA21932C69}" type="slidenum">
              <a:rPr lang="fr-FR" sz="900" smtClean="0">
                <a:solidFill>
                  <a:srgbClr val="586080"/>
                </a:solidFill>
                <a:latin typeface="Calibri" panose="020F0502020204030204" pitchFamily="34" charset="0"/>
              </a:rPr>
              <a:t>17</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E6B1374E-A153-7DE1-DAB3-C4315A2D508D}"/>
              </a:ext>
            </a:extLst>
          </p:cNvPr>
          <p:cNvSpPr/>
          <p:nvPr/>
        </p:nvSpPr>
        <p:spPr>
          <a:xfrm>
            <a:off x="609600" y="1600200"/>
            <a:ext cx="4191000" cy="37084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254BD737-3EA2-5E83-CDEF-86A4372B2B0E}"/>
              </a:ext>
            </a:extLst>
          </p:cNvPr>
          <p:cNvSpPr/>
          <p:nvPr/>
        </p:nvSpPr>
        <p:spPr>
          <a:xfrm>
            <a:off x="609600" y="1600200"/>
            <a:ext cx="4191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527CE3E0-5EA4-A170-E27C-87FDD6F0B912}"/>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C3123287-B1C8-B86C-6177-1E18A46EAB63}"/>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7F97C5C2-F5BB-D52C-ECA5-4BB1DE2B4CE6}"/>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1CD49119-A3DD-EEF6-9FE3-FE7284627DDC}"/>
              </a:ext>
            </a:extLst>
          </p:cNvPr>
          <p:cNvSpPr/>
          <p:nvPr/>
        </p:nvSpPr>
        <p:spPr>
          <a:xfrm>
            <a:off x="1562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874BF9B3-F42A-8B66-04EB-B22D182068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4191000" cy="3429000"/>
          </a:xfrm>
          <a:prstGeom prst="rect">
            <a:avLst/>
          </a:prstGeom>
        </p:spPr>
      </p:pic>
      <p:sp>
        <p:nvSpPr>
          <p:cNvPr id="15" name="Rectangle : coins arrondis 14">
            <a:extLst>
              <a:ext uri="{FF2B5EF4-FFF2-40B4-BE49-F238E27FC236}">
                <a16:creationId xmlns:a16="http://schemas.microsoft.com/office/drawing/2014/main" id="{114A15BE-AD00-1893-6324-BAE86666CB6B}"/>
              </a:ext>
            </a:extLst>
          </p:cNvPr>
          <p:cNvSpPr/>
          <p:nvPr/>
        </p:nvSpPr>
        <p:spPr>
          <a:xfrm>
            <a:off x="609600" y="4724400"/>
            <a:ext cx="4191000" cy="1524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C8E1E1C5-1586-618C-01F4-14C6004C2B7B}"/>
              </a:ext>
            </a:extLst>
          </p:cNvPr>
          <p:cNvSpPr txBox="1"/>
          <p:nvPr/>
        </p:nvSpPr>
        <p:spPr>
          <a:xfrm>
            <a:off x="787400" y="4851400"/>
            <a:ext cx="3860800" cy="13208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Carte « Retour prévu le » (facultatif) sous la date de remise : pastilles + 1 semaine, + 1 mois, + 3 mois, Effacer. Une date antérieure à l'emprunt est refusée. Le bouton Enregistrer est en bas à droite de la carte.</a:t>
            </a:r>
          </a:p>
        </p:txBody>
      </p:sp>
      <p:sp>
        <p:nvSpPr>
          <p:cNvPr id="17" name="Rectangle : coins arrondis 16">
            <a:extLst>
              <a:ext uri="{FF2B5EF4-FFF2-40B4-BE49-F238E27FC236}">
                <a16:creationId xmlns:a16="http://schemas.microsoft.com/office/drawing/2014/main" id="{00313293-650D-B098-8A15-24A7709B57A6}"/>
              </a:ext>
            </a:extLst>
          </p:cNvPr>
          <p:cNvSpPr/>
          <p:nvPr/>
        </p:nvSpPr>
        <p:spPr>
          <a:xfrm>
            <a:off x="5029200" y="1600200"/>
            <a:ext cx="3175000" cy="2730277"/>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 coins arrondis 17">
            <a:extLst>
              <a:ext uri="{FF2B5EF4-FFF2-40B4-BE49-F238E27FC236}">
                <a16:creationId xmlns:a16="http://schemas.microsoft.com/office/drawing/2014/main" id="{F6F7A53C-31E8-EC56-2E67-80486F21B8E9}"/>
              </a:ext>
            </a:extLst>
          </p:cNvPr>
          <p:cNvSpPr/>
          <p:nvPr/>
        </p:nvSpPr>
        <p:spPr>
          <a:xfrm>
            <a:off x="5029200" y="1600200"/>
            <a:ext cx="3175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BD5F7EBB-6D3F-6E71-F824-133901576CEE}"/>
              </a:ext>
            </a:extLst>
          </p:cNvPr>
          <p:cNvSpPr/>
          <p:nvPr/>
        </p:nvSpPr>
        <p:spPr>
          <a:xfrm>
            <a:off x="51562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E6698605-1308-6F8A-EECB-9B54D1B196AA}"/>
              </a:ext>
            </a:extLst>
          </p:cNvPr>
          <p:cNvSpPr/>
          <p:nvPr/>
        </p:nvSpPr>
        <p:spPr>
          <a:xfrm>
            <a:off x="53213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Ellipse 20">
            <a:extLst>
              <a:ext uri="{FF2B5EF4-FFF2-40B4-BE49-F238E27FC236}">
                <a16:creationId xmlns:a16="http://schemas.microsoft.com/office/drawing/2014/main" id="{EAD2D76C-E563-3448-1A0B-00CB6B9C2FAD}"/>
              </a:ext>
            </a:extLst>
          </p:cNvPr>
          <p:cNvSpPr/>
          <p:nvPr/>
        </p:nvSpPr>
        <p:spPr>
          <a:xfrm>
            <a:off x="54864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43F024D4-B71B-828E-1F60-66A3C29B1379}"/>
              </a:ext>
            </a:extLst>
          </p:cNvPr>
          <p:cNvSpPr/>
          <p:nvPr/>
        </p:nvSpPr>
        <p:spPr>
          <a:xfrm>
            <a:off x="54737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4" name="Image 23">
            <a:extLst>
              <a:ext uri="{FF2B5EF4-FFF2-40B4-BE49-F238E27FC236}">
                <a16:creationId xmlns:a16="http://schemas.microsoft.com/office/drawing/2014/main" id="{DE00785D-FDF7-0256-60CD-F20B374946E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29200" y="1879600"/>
            <a:ext cx="3175000" cy="2450877"/>
          </a:xfrm>
          <a:prstGeom prst="rect">
            <a:avLst/>
          </a:prstGeom>
        </p:spPr>
      </p:pic>
      <p:sp>
        <p:nvSpPr>
          <p:cNvPr id="25" name="Rectangle : coins arrondis 24">
            <a:extLst>
              <a:ext uri="{FF2B5EF4-FFF2-40B4-BE49-F238E27FC236}">
                <a16:creationId xmlns:a16="http://schemas.microsoft.com/office/drawing/2014/main" id="{FAC3107D-0EE4-1412-B4F5-55E773967327}"/>
              </a:ext>
            </a:extLst>
          </p:cNvPr>
          <p:cNvSpPr/>
          <p:nvPr/>
        </p:nvSpPr>
        <p:spPr>
          <a:xfrm>
            <a:off x="5029200" y="4470400"/>
            <a:ext cx="3175000" cy="1778000"/>
          </a:xfrm>
          <a:prstGeom prst="roundRect">
            <a:avLst>
              <a:gd name="adj" fmla="val 6000"/>
            </a:avLst>
          </a:prstGeom>
          <a:solidFill>
            <a:srgbClr val="FDF0D5"/>
          </a:solidFill>
          <a:ln w="12700">
            <a:solidFill>
              <a:srgbClr val="B67608"/>
            </a:solidFill>
          </a:ln>
        </p:spPr>
        <p:style>
          <a:lnRef idx="2">
            <a:schemeClr val="accent1">
              <a:shade val="15000"/>
            </a:schemeClr>
          </a:lnRef>
          <a:fillRef idx="1">
            <a:schemeClr val="accent1"/>
          </a:fillRef>
          <a:effectRef idx="0">
            <a:schemeClr val="accent1"/>
          </a:effectRef>
          <a:fontRef idx="minor">
            <a:schemeClr val="lt1"/>
          </a:fontRef>
        </p:style>
        <p:txBody>
          <a:bodyPr wrap="square" lIns="177800" tIns="50800" rIns="127000" bIns="50800" rtlCol="0" anchor="ctr">
            <a:noAutofit/>
          </a:bodyPr>
          <a:lstStyle/>
          <a:p>
            <a:r>
              <a:rPr lang="fr-FR" sz="1300">
                <a:solidFill>
                  <a:srgbClr val="12162B"/>
                </a:solidFill>
                <a:latin typeface="Calibri" panose="020F0502020204030204" pitchFamily="34" charset="0"/>
              </a:rPr>
              <a:t>Limite : pas de notification automatique. L'alerte n'apparaît que lorsque quelqu'un ouvre l'application (risque R-19).</a:t>
            </a:r>
          </a:p>
        </p:txBody>
      </p:sp>
      <p:sp>
        <p:nvSpPr>
          <p:cNvPr id="26" name="Rectangle : coins arrondis 25">
            <a:extLst>
              <a:ext uri="{FF2B5EF4-FFF2-40B4-BE49-F238E27FC236}">
                <a16:creationId xmlns:a16="http://schemas.microsoft.com/office/drawing/2014/main" id="{F358A1E5-04E7-6883-6D8A-78B9F37C62C8}"/>
              </a:ext>
            </a:extLst>
          </p:cNvPr>
          <p:cNvSpPr/>
          <p:nvPr/>
        </p:nvSpPr>
        <p:spPr>
          <a:xfrm>
            <a:off x="8483600" y="1600200"/>
            <a:ext cx="30988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F28FAD70-7839-527B-CCD8-A8F73D9A7D03}"/>
              </a:ext>
            </a:extLst>
          </p:cNvPr>
          <p:cNvSpPr txBox="1"/>
          <p:nvPr/>
        </p:nvSpPr>
        <p:spPr>
          <a:xfrm>
            <a:off x="8686800" y="1752600"/>
            <a:ext cx="26924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Où voir les retards</a:t>
            </a:r>
          </a:p>
        </p:txBody>
      </p:sp>
      <p:sp>
        <p:nvSpPr>
          <p:cNvPr id="28" name="ZoneTexte 27">
            <a:extLst>
              <a:ext uri="{FF2B5EF4-FFF2-40B4-BE49-F238E27FC236}">
                <a16:creationId xmlns:a16="http://schemas.microsoft.com/office/drawing/2014/main" id="{A37B7A27-E28F-40FE-FB1B-BF41E3D73F90}"/>
              </a:ext>
            </a:extLst>
          </p:cNvPr>
          <p:cNvSpPr txBox="1"/>
          <p:nvPr/>
        </p:nvSpPr>
        <p:spPr>
          <a:xfrm>
            <a:off x="8686800" y="2133600"/>
            <a:ext cx="2717800" cy="4064000"/>
          </a:xfrm>
          <a:prstGeom prst="rect">
            <a:avLst/>
          </a:prstGeom>
          <a:noFill/>
        </p:spPr>
        <p:txBody>
          <a:bodyPr vert="horz" wrap="square" lIns="0" tIns="0" rIns="0" bIns="0" rtlCol="0">
            <a:noAutofit/>
          </a:bodyPr>
          <a:lstStyle/>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Fenêtre à l'ouverture : personnes, équipements, jours de retard</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Accueil : carte rouge, phrase de situation, segment violet dans le parc</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Menu : pastille Restituer en rouge</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Restituer : filtre « En retard de retour », personnes en retard en tête</a:t>
            </a:r>
          </a:p>
        </p:txBody>
      </p:sp>
    </p:spTree>
    <p:extLst>
      <p:ext uri="{BB962C8B-B14F-4D97-AF65-F5344CB8AC3E}">
        <p14:creationId xmlns:p14="http://schemas.microsoft.com/office/powerpoint/2010/main" val="3245977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CAF26E-000D-C905-771E-DD5F5B6A15CB}"/>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Attestations : suivi et cycle de vie</a:t>
            </a:r>
          </a:p>
        </p:txBody>
      </p:sp>
      <p:sp>
        <p:nvSpPr>
          <p:cNvPr id="3" name="ZoneTexte 2">
            <a:extLst>
              <a:ext uri="{FF2B5EF4-FFF2-40B4-BE49-F238E27FC236}">
                <a16:creationId xmlns:a16="http://schemas.microsoft.com/office/drawing/2014/main" id="{672E54C2-BEBF-599C-0EC7-832527D76A07}"/>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6</a:t>
            </a:r>
          </a:p>
        </p:txBody>
      </p:sp>
      <p:sp>
        <p:nvSpPr>
          <p:cNvPr id="4" name="ZoneTexte 3">
            <a:extLst>
              <a:ext uri="{FF2B5EF4-FFF2-40B4-BE49-F238E27FC236}">
                <a16:creationId xmlns:a16="http://schemas.microsoft.com/office/drawing/2014/main" id="{FBDD2EE8-505F-1CD1-1B1D-7C0CB0CD71C7}"/>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Toutes les preuves, avec leur statut et leurs actions</a:t>
            </a:r>
          </a:p>
        </p:txBody>
      </p:sp>
      <p:sp>
        <p:nvSpPr>
          <p:cNvPr id="5" name="ZoneTexte 4">
            <a:extLst>
              <a:ext uri="{FF2B5EF4-FFF2-40B4-BE49-F238E27FC236}">
                <a16:creationId xmlns:a16="http://schemas.microsoft.com/office/drawing/2014/main" id="{85D15264-CFB9-1329-CA9C-5DCCCE9A450D}"/>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76423384-F006-C891-93A8-75EB41C3EE40}"/>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73122A60-A928-4151-A55E-599ED69F56B0}" type="slidenum">
              <a:rPr lang="fr-FR" sz="900" smtClean="0">
                <a:solidFill>
                  <a:srgbClr val="586080"/>
                </a:solidFill>
                <a:latin typeface="Calibri" panose="020F0502020204030204" pitchFamily="34" charset="0"/>
              </a:rPr>
              <a:t>18</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A66B7DDD-911C-E108-0748-0CEF1416ACD2}"/>
              </a:ext>
            </a:extLst>
          </p:cNvPr>
          <p:cNvSpPr/>
          <p:nvPr/>
        </p:nvSpPr>
        <p:spPr>
          <a:xfrm>
            <a:off x="609600" y="1600200"/>
            <a:ext cx="7239000" cy="4803775"/>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3BDACB03-B2A5-500F-BF97-7BC756DD0164}"/>
              </a:ext>
            </a:extLst>
          </p:cNvPr>
          <p:cNvSpPr/>
          <p:nvPr/>
        </p:nvSpPr>
        <p:spPr>
          <a:xfrm>
            <a:off x="609600" y="1600200"/>
            <a:ext cx="7239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4307408F-EACF-D133-3E53-450C4922C39F}"/>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E6E1D65-2D22-5D1D-2AB3-E772A7D5ECD3}"/>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284183E0-8447-C3A4-57AB-0ACB4F67DAD8}"/>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82F2074E-A8F8-D915-A706-62842A603245}"/>
              </a:ext>
            </a:extLst>
          </p:cNvPr>
          <p:cNvSpPr/>
          <p:nvPr/>
        </p:nvSpPr>
        <p:spPr>
          <a:xfrm>
            <a:off x="3086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F98C0C62-2D56-61CB-D07E-CD6E9C43FDC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7239000" cy="4524375"/>
          </a:xfrm>
          <a:prstGeom prst="rect">
            <a:avLst/>
          </a:prstGeom>
        </p:spPr>
      </p:pic>
      <p:sp>
        <p:nvSpPr>
          <p:cNvPr id="15" name="Ellipse 14">
            <a:extLst>
              <a:ext uri="{FF2B5EF4-FFF2-40B4-BE49-F238E27FC236}">
                <a16:creationId xmlns:a16="http://schemas.microsoft.com/office/drawing/2014/main" id="{E0B49A88-EF40-AB31-0259-6557F772EB52}"/>
              </a:ext>
            </a:extLst>
          </p:cNvPr>
          <p:cNvSpPr/>
          <p:nvPr/>
        </p:nvSpPr>
        <p:spPr>
          <a:xfrm>
            <a:off x="1910292" y="2833423"/>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E4748C0D-0879-92DF-8FAC-2FCE158431BD}"/>
              </a:ext>
            </a:extLst>
          </p:cNvPr>
          <p:cNvSpPr/>
          <p:nvPr/>
        </p:nvSpPr>
        <p:spPr>
          <a:xfrm>
            <a:off x="2025915" y="3813704"/>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6A3C58A4-4C5F-07CC-3190-65BA970CBF4A}"/>
              </a:ext>
            </a:extLst>
          </p:cNvPr>
          <p:cNvSpPr/>
          <p:nvPr/>
        </p:nvSpPr>
        <p:spPr>
          <a:xfrm>
            <a:off x="5258329" y="3813704"/>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772989BC-1FB6-BC11-DFF9-7A1C6019D193}"/>
              </a:ext>
            </a:extLst>
          </p:cNvPr>
          <p:cNvSpPr/>
          <p:nvPr/>
        </p:nvSpPr>
        <p:spPr>
          <a:xfrm>
            <a:off x="2488406" y="480906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A0C89F88-4B9F-E0B4-1E61-D7AC23786D58}"/>
              </a:ext>
            </a:extLst>
          </p:cNvPr>
          <p:cNvSpPr/>
          <p:nvPr/>
        </p:nvSpPr>
        <p:spPr>
          <a:xfrm>
            <a:off x="5660496" y="4618038"/>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Ellipse 19">
            <a:extLst>
              <a:ext uri="{FF2B5EF4-FFF2-40B4-BE49-F238E27FC236}">
                <a16:creationId xmlns:a16="http://schemas.microsoft.com/office/drawing/2014/main" id="{B9D1F936-157C-4694-25D1-974FF74BADFC}"/>
              </a:ext>
            </a:extLst>
          </p:cNvPr>
          <p:cNvSpPr/>
          <p:nvPr/>
        </p:nvSpPr>
        <p:spPr>
          <a:xfrm>
            <a:off x="6575425" y="4618038"/>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21" name="Ellipse 20">
            <a:extLst>
              <a:ext uri="{FF2B5EF4-FFF2-40B4-BE49-F238E27FC236}">
                <a16:creationId xmlns:a16="http://schemas.microsoft.com/office/drawing/2014/main" id="{EB2F7FA9-5D51-1C0C-264D-8E8E2CAD2AA9}"/>
              </a:ext>
            </a:extLst>
          </p:cNvPr>
          <p:cNvSpPr/>
          <p:nvPr/>
        </p:nvSpPr>
        <p:spPr>
          <a:xfrm>
            <a:off x="7339542" y="4618038"/>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7</a:t>
            </a:r>
          </a:p>
        </p:txBody>
      </p:sp>
      <p:sp>
        <p:nvSpPr>
          <p:cNvPr id="22" name="Ellipse 21">
            <a:extLst>
              <a:ext uri="{FF2B5EF4-FFF2-40B4-BE49-F238E27FC236}">
                <a16:creationId xmlns:a16="http://schemas.microsoft.com/office/drawing/2014/main" id="{68E4477F-6130-AA04-6DA0-919548D42189}"/>
              </a:ext>
            </a:extLst>
          </p:cNvPr>
          <p:cNvSpPr/>
          <p:nvPr/>
        </p:nvSpPr>
        <p:spPr>
          <a:xfrm>
            <a:off x="6173258" y="3813704"/>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8</a:t>
            </a:r>
          </a:p>
        </p:txBody>
      </p:sp>
      <p:sp>
        <p:nvSpPr>
          <p:cNvPr id="23" name="Ellipse 22">
            <a:extLst>
              <a:ext uri="{FF2B5EF4-FFF2-40B4-BE49-F238E27FC236}">
                <a16:creationId xmlns:a16="http://schemas.microsoft.com/office/drawing/2014/main" id="{F209CD52-3650-9972-9E2A-AE1229209326}"/>
              </a:ext>
            </a:extLst>
          </p:cNvPr>
          <p:cNvSpPr/>
          <p:nvPr/>
        </p:nvSpPr>
        <p:spPr>
          <a:xfrm>
            <a:off x="1900238" y="420581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9</a:t>
            </a:r>
          </a:p>
        </p:txBody>
      </p:sp>
      <p:sp>
        <p:nvSpPr>
          <p:cNvPr id="24" name="Rectangle : coins arrondis 23">
            <a:extLst>
              <a:ext uri="{FF2B5EF4-FFF2-40B4-BE49-F238E27FC236}">
                <a16:creationId xmlns:a16="http://schemas.microsoft.com/office/drawing/2014/main" id="{9B0763E8-701F-F3A1-D62E-8259C8B8B8D9}"/>
              </a:ext>
            </a:extLst>
          </p:cNvPr>
          <p:cNvSpPr/>
          <p:nvPr/>
        </p:nvSpPr>
        <p:spPr>
          <a:xfrm>
            <a:off x="8483600" y="1600200"/>
            <a:ext cx="30988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E38694D4-FB40-E0AA-07C8-70297F871264}"/>
              </a:ext>
            </a:extLst>
          </p:cNvPr>
          <p:cNvSpPr txBox="1"/>
          <p:nvPr/>
        </p:nvSpPr>
        <p:spPr>
          <a:xfrm>
            <a:off x="8712200" y="1752600"/>
            <a:ext cx="2667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6" name="Ellipse 25">
            <a:extLst>
              <a:ext uri="{FF2B5EF4-FFF2-40B4-BE49-F238E27FC236}">
                <a16:creationId xmlns:a16="http://schemas.microsoft.com/office/drawing/2014/main" id="{73FE7CC4-FB5F-713C-8B7D-BD0993E8F22B}"/>
              </a:ext>
            </a:extLst>
          </p:cNvPr>
          <p:cNvSpPr/>
          <p:nvPr/>
        </p:nvSpPr>
        <p:spPr>
          <a:xfrm>
            <a:off x="87122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7" name="ZoneTexte 26">
            <a:extLst>
              <a:ext uri="{FF2B5EF4-FFF2-40B4-BE49-F238E27FC236}">
                <a16:creationId xmlns:a16="http://schemas.microsoft.com/office/drawing/2014/main" id="{2DC34E79-29E6-F6F3-E898-BA513881B59B}"/>
              </a:ext>
            </a:extLst>
          </p:cNvPr>
          <p:cNvSpPr txBox="1"/>
          <p:nvPr/>
        </p:nvSpPr>
        <p:spPr>
          <a:xfrm>
            <a:off x="9118600" y="2146300"/>
            <a:ext cx="2260600" cy="3683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Indicateurs : envoyées, en attente, à relancer, délai moyen</a:t>
            </a:r>
          </a:p>
        </p:txBody>
      </p:sp>
      <p:sp>
        <p:nvSpPr>
          <p:cNvPr id="28" name="Ellipse 27">
            <a:extLst>
              <a:ext uri="{FF2B5EF4-FFF2-40B4-BE49-F238E27FC236}">
                <a16:creationId xmlns:a16="http://schemas.microsoft.com/office/drawing/2014/main" id="{059AC9DE-0F39-6809-AAB6-6F2FBF4770A9}"/>
              </a:ext>
            </a:extLst>
          </p:cNvPr>
          <p:cNvSpPr/>
          <p:nvPr/>
        </p:nvSpPr>
        <p:spPr>
          <a:xfrm>
            <a:off x="8712200" y="25527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9" name="ZoneTexte 28">
            <a:extLst>
              <a:ext uri="{FF2B5EF4-FFF2-40B4-BE49-F238E27FC236}">
                <a16:creationId xmlns:a16="http://schemas.microsoft.com/office/drawing/2014/main" id="{0AD35809-162F-6C3D-9288-1839475D7735}"/>
              </a:ext>
            </a:extLst>
          </p:cNvPr>
          <p:cNvSpPr txBox="1"/>
          <p:nvPr/>
        </p:nvSpPr>
        <p:spPr>
          <a:xfrm>
            <a:off x="9118600" y="2565400"/>
            <a:ext cx="2260600" cy="3683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Filtres : à relancer, signées…</a:t>
            </a:r>
          </a:p>
        </p:txBody>
      </p:sp>
      <p:sp>
        <p:nvSpPr>
          <p:cNvPr id="30" name="Ellipse 29">
            <a:extLst>
              <a:ext uri="{FF2B5EF4-FFF2-40B4-BE49-F238E27FC236}">
                <a16:creationId xmlns:a16="http://schemas.microsoft.com/office/drawing/2014/main" id="{7562468B-0FE4-12CD-B592-CBEFBBBB1152}"/>
              </a:ext>
            </a:extLst>
          </p:cNvPr>
          <p:cNvSpPr/>
          <p:nvPr/>
        </p:nvSpPr>
        <p:spPr>
          <a:xfrm>
            <a:off x="8712200" y="29718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31" name="ZoneTexte 30">
            <a:extLst>
              <a:ext uri="{FF2B5EF4-FFF2-40B4-BE49-F238E27FC236}">
                <a16:creationId xmlns:a16="http://schemas.microsoft.com/office/drawing/2014/main" id="{F71E8AD8-9A31-7438-842D-B75092E3E326}"/>
              </a:ext>
            </a:extLst>
          </p:cNvPr>
          <p:cNvSpPr txBox="1"/>
          <p:nvPr/>
        </p:nvSpPr>
        <p:spPr>
          <a:xfrm>
            <a:off x="9118600" y="2984500"/>
            <a:ext cx="2260600" cy="3683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Période (date d'envoi)</a:t>
            </a:r>
          </a:p>
        </p:txBody>
      </p:sp>
      <p:sp>
        <p:nvSpPr>
          <p:cNvPr id="32" name="Ellipse 31">
            <a:extLst>
              <a:ext uri="{FF2B5EF4-FFF2-40B4-BE49-F238E27FC236}">
                <a16:creationId xmlns:a16="http://schemas.microsoft.com/office/drawing/2014/main" id="{92AE45EC-7A26-0BB9-D306-9097470C38AE}"/>
              </a:ext>
            </a:extLst>
          </p:cNvPr>
          <p:cNvSpPr/>
          <p:nvPr/>
        </p:nvSpPr>
        <p:spPr>
          <a:xfrm>
            <a:off x="8712200" y="33909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33" name="ZoneTexte 32">
            <a:extLst>
              <a:ext uri="{FF2B5EF4-FFF2-40B4-BE49-F238E27FC236}">
                <a16:creationId xmlns:a16="http://schemas.microsoft.com/office/drawing/2014/main" id="{3267246F-3960-56F2-9849-4B394E53289F}"/>
              </a:ext>
            </a:extLst>
          </p:cNvPr>
          <p:cNvSpPr txBox="1"/>
          <p:nvPr/>
        </p:nvSpPr>
        <p:spPr>
          <a:xfrm>
            <a:off x="9118600" y="3403600"/>
            <a:ext cx="2260600" cy="3683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Cycle de vie : envoyée, signée, archivée</a:t>
            </a:r>
          </a:p>
        </p:txBody>
      </p:sp>
      <p:sp>
        <p:nvSpPr>
          <p:cNvPr id="34" name="Ellipse 33">
            <a:extLst>
              <a:ext uri="{FF2B5EF4-FFF2-40B4-BE49-F238E27FC236}">
                <a16:creationId xmlns:a16="http://schemas.microsoft.com/office/drawing/2014/main" id="{69885A75-DFAD-83BE-3A23-893ACFBD1FD4}"/>
              </a:ext>
            </a:extLst>
          </p:cNvPr>
          <p:cNvSpPr/>
          <p:nvPr/>
        </p:nvSpPr>
        <p:spPr>
          <a:xfrm>
            <a:off x="8712200" y="38100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5" name="ZoneTexte 34">
            <a:extLst>
              <a:ext uri="{FF2B5EF4-FFF2-40B4-BE49-F238E27FC236}">
                <a16:creationId xmlns:a16="http://schemas.microsoft.com/office/drawing/2014/main" id="{544ABD8C-3B6F-9D7B-FEF2-AB49AE42C5FE}"/>
              </a:ext>
            </a:extLst>
          </p:cNvPr>
          <p:cNvSpPr txBox="1"/>
          <p:nvPr/>
        </p:nvSpPr>
        <p:spPr>
          <a:xfrm>
            <a:off x="9118600" y="3822700"/>
            <a:ext cx="2260600" cy="3683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En attente · N j (rouge dès 3 jours)</a:t>
            </a:r>
          </a:p>
        </p:txBody>
      </p:sp>
      <p:sp>
        <p:nvSpPr>
          <p:cNvPr id="36" name="Ellipse 35">
            <a:extLst>
              <a:ext uri="{FF2B5EF4-FFF2-40B4-BE49-F238E27FC236}">
                <a16:creationId xmlns:a16="http://schemas.microsoft.com/office/drawing/2014/main" id="{E7E67B7D-5E3D-F0ED-1217-9B40E61E4CE8}"/>
              </a:ext>
            </a:extLst>
          </p:cNvPr>
          <p:cNvSpPr/>
          <p:nvPr/>
        </p:nvSpPr>
        <p:spPr>
          <a:xfrm>
            <a:off x="8712200" y="42291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37" name="ZoneTexte 36">
            <a:extLst>
              <a:ext uri="{FF2B5EF4-FFF2-40B4-BE49-F238E27FC236}">
                <a16:creationId xmlns:a16="http://schemas.microsoft.com/office/drawing/2014/main" id="{99658C50-BE41-F7F6-D176-FAD6CF84BBC6}"/>
              </a:ext>
            </a:extLst>
          </p:cNvPr>
          <p:cNvSpPr txBox="1"/>
          <p:nvPr/>
        </p:nvSpPr>
        <p:spPr>
          <a:xfrm>
            <a:off x="9118600" y="4241800"/>
            <a:ext cx="2260600" cy="3683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Marquer comme signée</a:t>
            </a:r>
          </a:p>
        </p:txBody>
      </p:sp>
      <p:sp>
        <p:nvSpPr>
          <p:cNvPr id="38" name="Ellipse 37">
            <a:extLst>
              <a:ext uri="{FF2B5EF4-FFF2-40B4-BE49-F238E27FC236}">
                <a16:creationId xmlns:a16="http://schemas.microsoft.com/office/drawing/2014/main" id="{66425F7C-AF40-2072-3E08-2057EEBBA3A4}"/>
              </a:ext>
            </a:extLst>
          </p:cNvPr>
          <p:cNvSpPr/>
          <p:nvPr/>
        </p:nvSpPr>
        <p:spPr>
          <a:xfrm>
            <a:off x="8712200" y="46482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7</a:t>
            </a:r>
          </a:p>
        </p:txBody>
      </p:sp>
      <p:sp>
        <p:nvSpPr>
          <p:cNvPr id="39" name="ZoneTexte 38">
            <a:extLst>
              <a:ext uri="{FF2B5EF4-FFF2-40B4-BE49-F238E27FC236}">
                <a16:creationId xmlns:a16="http://schemas.microsoft.com/office/drawing/2014/main" id="{6F607CAC-F03F-83E0-81E2-BF90C7C32859}"/>
              </a:ext>
            </a:extLst>
          </p:cNvPr>
          <p:cNvSpPr txBox="1"/>
          <p:nvPr/>
        </p:nvSpPr>
        <p:spPr>
          <a:xfrm>
            <a:off x="9118600" y="4660900"/>
            <a:ext cx="2260600" cy="3683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PDF de l'attestation</a:t>
            </a:r>
          </a:p>
        </p:txBody>
      </p:sp>
      <p:sp>
        <p:nvSpPr>
          <p:cNvPr id="40" name="Ellipse 39">
            <a:extLst>
              <a:ext uri="{FF2B5EF4-FFF2-40B4-BE49-F238E27FC236}">
                <a16:creationId xmlns:a16="http://schemas.microsoft.com/office/drawing/2014/main" id="{E195D31A-2B28-852E-4B41-3BBD733F0FA1}"/>
              </a:ext>
            </a:extLst>
          </p:cNvPr>
          <p:cNvSpPr/>
          <p:nvPr/>
        </p:nvSpPr>
        <p:spPr>
          <a:xfrm>
            <a:off x="8712200" y="50673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8</a:t>
            </a:r>
          </a:p>
        </p:txBody>
      </p:sp>
      <p:sp>
        <p:nvSpPr>
          <p:cNvPr id="41" name="ZoneTexte 40">
            <a:extLst>
              <a:ext uri="{FF2B5EF4-FFF2-40B4-BE49-F238E27FC236}">
                <a16:creationId xmlns:a16="http://schemas.microsoft.com/office/drawing/2014/main" id="{F1358898-9D15-4B9E-B42A-215109874FB4}"/>
              </a:ext>
            </a:extLst>
          </p:cNvPr>
          <p:cNvSpPr txBox="1"/>
          <p:nvPr/>
        </p:nvSpPr>
        <p:spPr>
          <a:xfrm>
            <a:off x="9118600" y="5080000"/>
            <a:ext cx="2260600" cy="3683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Exporter CSV</a:t>
            </a:r>
          </a:p>
        </p:txBody>
      </p:sp>
      <p:sp>
        <p:nvSpPr>
          <p:cNvPr id="42" name="Ellipse 41">
            <a:extLst>
              <a:ext uri="{FF2B5EF4-FFF2-40B4-BE49-F238E27FC236}">
                <a16:creationId xmlns:a16="http://schemas.microsoft.com/office/drawing/2014/main" id="{F6E98F41-2186-9448-C4D6-8166AD42092D}"/>
              </a:ext>
            </a:extLst>
          </p:cNvPr>
          <p:cNvSpPr/>
          <p:nvPr/>
        </p:nvSpPr>
        <p:spPr>
          <a:xfrm>
            <a:off x="8712200" y="54864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9</a:t>
            </a:r>
          </a:p>
        </p:txBody>
      </p:sp>
      <p:sp>
        <p:nvSpPr>
          <p:cNvPr id="43" name="ZoneTexte 42">
            <a:extLst>
              <a:ext uri="{FF2B5EF4-FFF2-40B4-BE49-F238E27FC236}">
                <a16:creationId xmlns:a16="http://schemas.microsoft.com/office/drawing/2014/main" id="{71846F36-9A80-6BD2-71CE-5B1B317A98F7}"/>
              </a:ext>
            </a:extLst>
          </p:cNvPr>
          <p:cNvSpPr txBox="1"/>
          <p:nvPr/>
        </p:nvSpPr>
        <p:spPr>
          <a:xfrm>
            <a:off x="9118600" y="5499100"/>
            <a:ext cx="2260600" cy="3683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Sélection multiple (cases à cocher)</a:t>
            </a:r>
          </a:p>
        </p:txBody>
      </p:sp>
    </p:spTree>
    <p:extLst>
      <p:ext uri="{BB962C8B-B14F-4D97-AF65-F5344CB8AC3E}">
        <p14:creationId xmlns:p14="http://schemas.microsoft.com/office/powerpoint/2010/main" val="83079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378358-BBE5-60B4-629A-1C88924A889A}"/>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Attestations : actions groupées</a:t>
            </a:r>
          </a:p>
        </p:txBody>
      </p:sp>
      <p:sp>
        <p:nvSpPr>
          <p:cNvPr id="3" name="ZoneTexte 2">
            <a:extLst>
              <a:ext uri="{FF2B5EF4-FFF2-40B4-BE49-F238E27FC236}">
                <a16:creationId xmlns:a16="http://schemas.microsoft.com/office/drawing/2014/main" id="{44FC73B5-04C1-83DE-562C-DF01026CB09A}"/>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6</a:t>
            </a:r>
          </a:p>
        </p:txBody>
      </p:sp>
      <p:sp>
        <p:nvSpPr>
          <p:cNvPr id="4" name="ZoneTexte 3">
            <a:extLst>
              <a:ext uri="{FF2B5EF4-FFF2-40B4-BE49-F238E27FC236}">
                <a16:creationId xmlns:a16="http://schemas.microsoft.com/office/drawing/2014/main" id="{37049473-DEA3-99AC-D5CF-7E69AC4CDCA0}"/>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Cocher plusieurs attestations, puis les signer ou les exporter d'un coup</a:t>
            </a:r>
          </a:p>
        </p:txBody>
      </p:sp>
      <p:sp>
        <p:nvSpPr>
          <p:cNvPr id="5" name="ZoneTexte 4">
            <a:extLst>
              <a:ext uri="{FF2B5EF4-FFF2-40B4-BE49-F238E27FC236}">
                <a16:creationId xmlns:a16="http://schemas.microsoft.com/office/drawing/2014/main" id="{6192E5B0-D144-EA65-F385-83AC096953E6}"/>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047FAB62-0B95-F241-3199-44BB2ED29E7F}"/>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05B8E884-304E-4D12-B640-3DE3C479236A}" type="slidenum">
              <a:rPr lang="fr-FR" sz="900" smtClean="0">
                <a:solidFill>
                  <a:srgbClr val="586080"/>
                </a:solidFill>
                <a:latin typeface="Calibri" panose="020F0502020204030204" pitchFamily="34" charset="0"/>
              </a:rPr>
              <a:t>19</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B1DCDD06-5028-E62D-D52E-FECC553E0A9B}"/>
              </a:ext>
            </a:extLst>
          </p:cNvPr>
          <p:cNvSpPr/>
          <p:nvPr/>
        </p:nvSpPr>
        <p:spPr>
          <a:xfrm>
            <a:off x="609600" y="1600200"/>
            <a:ext cx="6604000" cy="44069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5AAD2249-B9FC-2AB0-0A68-C48B89FB6528}"/>
              </a:ext>
            </a:extLst>
          </p:cNvPr>
          <p:cNvSpPr/>
          <p:nvPr/>
        </p:nvSpPr>
        <p:spPr>
          <a:xfrm>
            <a:off x="609600" y="1600200"/>
            <a:ext cx="6604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A3CA840C-8DAA-7EA1-1793-69BE69C6D1B4}"/>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414DE55C-5396-CCE8-EBAB-0D30C536018B}"/>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54E9537E-A764-2738-6974-80D129AE50BA}"/>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0296BC3C-200E-B599-6495-9BCB55F9BF99}"/>
              </a:ext>
            </a:extLst>
          </p:cNvPr>
          <p:cNvSpPr/>
          <p:nvPr/>
        </p:nvSpPr>
        <p:spPr>
          <a:xfrm>
            <a:off x="2768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709DD436-ABB0-DAA4-FF75-8796ABAE671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6604000" cy="4127500"/>
          </a:xfrm>
          <a:prstGeom prst="rect">
            <a:avLst/>
          </a:prstGeom>
        </p:spPr>
      </p:pic>
      <p:sp>
        <p:nvSpPr>
          <p:cNvPr id="15" name="Rectangle : coins arrondis 14">
            <a:extLst>
              <a:ext uri="{FF2B5EF4-FFF2-40B4-BE49-F238E27FC236}">
                <a16:creationId xmlns:a16="http://schemas.microsoft.com/office/drawing/2014/main" id="{520FFF64-7D67-95B9-CDFC-35055DC08DDA}"/>
              </a:ext>
            </a:extLst>
          </p:cNvPr>
          <p:cNvSpPr/>
          <p:nvPr/>
        </p:nvSpPr>
        <p:spPr>
          <a:xfrm>
            <a:off x="7518400" y="1600200"/>
            <a:ext cx="4064000" cy="43434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98F5EE18-4288-2C94-BA2B-AE496C328BDD}"/>
              </a:ext>
            </a:extLst>
          </p:cNvPr>
          <p:cNvSpPr/>
          <p:nvPr/>
        </p:nvSpPr>
        <p:spPr>
          <a:xfrm>
            <a:off x="7518400" y="1600200"/>
            <a:ext cx="4064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CE0050C5-AA9A-BE23-E1FB-5899CC8599AE}"/>
              </a:ext>
            </a:extLst>
          </p:cNvPr>
          <p:cNvSpPr/>
          <p:nvPr/>
        </p:nvSpPr>
        <p:spPr>
          <a:xfrm>
            <a:off x="76454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C8E3E354-A3BC-D1D8-273C-907369F5475D}"/>
              </a:ext>
            </a:extLst>
          </p:cNvPr>
          <p:cNvSpPr/>
          <p:nvPr/>
        </p:nvSpPr>
        <p:spPr>
          <a:xfrm>
            <a:off x="78105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D2CB6A2E-F685-FFE6-F120-3AFBE2538FFB}"/>
              </a:ext>
            </a:extLst>
          </p:cNvPr>
          <p:cNvSpPr/>
          <p:nvPr/>
        </p:nvSpPr>
        <p:spPr>
          <a:xfrm>
            <a:off x="79756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C14F9B0D-0BEE-5BFE-1308-FF68F3682C54}"/>
              </a:ext>
            </a:extLst>
          </p:cNvPr>
          <p:cNvSpPr/>
          <p:nvPr/>
        </p:nvSpPr>
        <p:spPr>
          <a:xfrm>
            <a:off x="84074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5F302602-B2A8-AE3F-7D86-311C23B551F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518400" y="1879600"/>
            <a:ext cx="4064000" cy="4064000"/>
          </a:xfrm>
          <a:prstGeom prst="rect">
            <a:avLst/>
          </a:prstGeom>
        </p:spPr>
      </p:pic>
      <p:sp>
        <p:nvSpPr>
          <p:cNvPr id="23" name="Rectangle : coins arrondis 22">
            <a:extLst>
              <a:ext uri="{FF2B5EF4-FFF2-40B4-BE49-F238E27FC236}">
                <a16:creationId xmlns:a16="http://schemas.microsoft.com/office/drawing/2014/main" id="{4CEE7F9D-D768-4DA2-1448-4CFC9C84FA1B}"/>
              </a:ext>
            </a:extLst>
          </p:cNvPr>
          <p:cNvSpPr/>
          <p:nvPr/>
        </p:nvSpPr>
        <p:spPr>
          <a:xfrm>
            <a:off x="609600" y="6096000"/>
            <a:ext cx="6604000" cy="355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CF96C6D6-FDC0-438C-9A5E-A7FBCE6FB4C8}"/>
              </a:ext>
            </a:extLst>
          </p:cNvPr>
          <p:cNvSpPr txBox="1"/>
          <p:nvPr/>
        </p:nvSpPr>
        <p:spPr>
          <a:xfrm>
            <a:off x="736600" y="6159500"/>
            <a:ext cx="6350000" cy="2540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Marquer N comme signées  ·  Exporter la sélection (CSV)  ·  Désélectionner</a:t>
            </a:r>
          </a:p>
        </p:txBody>
      </p:sp>
    </p:spTree>
    <p:extLst>
      <p:ext uri="{BB962C8B-B14F-4D97-AF65-F5344CB8AC3E}">
        <p14:creationId xmlns:p14="http://schemas.microsoft.com/office/powerpoint/2010/main" val="3743475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0E217B-EECE-291E-64E7-A21A486D7A5E}"/>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 Marquer comme signée » pas à pas</a:t>
            </a:r>
          </a:p>
        </p:txBody>
      </p:sp>
      <p:sp>
        <p:nvSpPr>
          <p:cNvPr id="3" name="ZoneTexte 2">
            <a:extLst>
              <a:ext uri="{FF2B5EF4-FFF2-40B4-BE49-F238E27FC236}">
                <a16:creationId xmlns:a16="http://schemas.microsoft.com/office/drawing/2014/main" id="{76E858C6-92AF-EB8E-B2D6-3AA34FCBC692}"/>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6</a:t>
            </a:r>
          </a:p>
        </p:txBody>
      </p:sp>
      <p:sp>
        <p:nvSpPr>
          <p:cNvPr id="4" name="ZoneTexte 3">
            <a:extLst>
              <a:ext uri="{FF2B5EF4-FFF2-40B4-BE49-F238E27FC236}">
                <a16:creationId xmlns:a16="http://schemas.microsoft.com/office/drawing/2014/main" id="{15AA2A40-7E20-5B10-B642-891AB43502ED}"/>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Une date, une signature, une mention, un PDF archivé</a:t>
            </a:r>
          </a:p>
        </p:txBody>
      </p:sp>
      <p:sp>
        <p:nvSpPr>
          <p:cNvPr id="5" name="ZoneTexte 4">
            <a:extLst>
              <a:ext uri="{FF2B5EF4-FFF2-40B4-BE49-F238E27FC236}">
                <a16:creationId xmlns:a16="http://schemas.microsoft.com/office/drawing/2014/main" id="{F25E1A99-2C4D-F79E-6847-7BC82EE8B0BD}"/>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C8CBA3D6-DEDE-3672-94A8-F8CC043BE7BC}"/>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B7092609-B862-4B9C-B926-05A9623856D1}" type="slidenum">
              <a:rPr lang="fr-FR" sz="900" smtClean="0">
                <a:solidFill>
                  <a:srgbClr val="586080"/>
                </a:solidFill>
                <a:latin typeface="Calibri" panose="020F0502020204030204" pitchFamily="34" charset="0"/>
              </a:rPr>
              <a:t>20</a:t>
            </a:fld>
            <a:endParaRPr lang="fr-FR" sz="900">
              <a:solidFill>
                <a:srgbClr val="586080"/>
              </a:solidFill>
              <a:latin typeface="Calibri" panose="020F0502020204030204" pitchFamily="34" charset="0"/>
            </a:endParaRPr>
          </a:p>
        </p:txBody>
      </p:sp>
      <p:sp>
        <p:nvSpPr>
          <p:cNvPr id="7" name="Ellipse 6">
            <a:extLst>
              <a:ext uri="{FF2B5EF4-FFF2-40B4-BE49-F238E27FC236}">
                <a16:creationId xmlns:a16="http://schemas.microsoft.com/office/drawing/2014/main" id="{EFDA137F-45F5-1615-BEC8-BFCF67841DA3}"/>
              </a:ext>
            </a:extLst>
          </p:cNvPr>
          <p:cNvSpPr/>
          <p:nvPr/>
        </p:nvSpPr>
        <p:spPr>
          <a:xfrm>
            <a:off x="609600" y="1625600"/>
            <a:ext cx="508000" cy="5080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b="1">
                <a:solidFill>
                  <a:srgbClr val="FFFFFF"/>
                </a:solidFill>
                <a:latin typeface="Calibri" panose="020F0502020204030204" pitchFamily="34" charset="0"/>
              </a:rPr>
              <a:t>1</a:t>
            </a:r>
          </a:p>
        </p:txBody>
      </p:sp>
      <p:sp>
        <p:nvSpPr>
          <p:cNvPr id="8" name="ZoneTexte 7">
            <a:extLst>
              <a:ext uri="{FF2B5EF4-FFF2-40B4-BE49-F238E27FC236}">
                <a16:creationId xmlns:a16="http://schemas.microsoft.com/office/drawing/2014/main" id="{C41A8A16-EC22-BB41-D26B-DD2A19118391}"/>
              </a:ext>
            </a:extLst>
          </p:cNvPr>
          <p:cNvSpPr txBox="1"/>
          <p:nvPr/>
        </p:nvSpPr>
        <p:spPr>
          <a:xfrm>
            <a:off x="1295400" y="1612900"/>
            <a:ext cx="4191000" cy="3048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Clic sur le bouton</a:t>
            </a:r>
          </a:p>
        </p:txBody>
      </p:sp>
      <p:sp>
        <p:nvSpPr>
          <p:cNvPr id="9" name="ZoneTexte 8">
            <a:extLst>
              <a:ext uri="{FF2B5EF4-FFF2-40B4-BE49-F238E27FC236}">
                <a16:creationId xmlns:a16="http://schemas.microsoft.com/office/drawing/2014/main" id="{203EF5E9-E799-56EA-6C1D-F4446D3C3251}"/>
              </a:ext>
            </a:extLst>
          </p:cNvPr>
          <p:cNvSpPr txBox="1"/>
          <p:nvPr/>
        </p:nvSpPr>
        <p:spPr>
          <a:xfrm>
            <a:off x="1295400" y="1930400"/>
            <a:ext cx="4064000" cy="508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Dans Attestations ou dans la fiche de la personne</a:t>
            </a:r>
          </a:p>
        </p:txBody>
      </p:sp>
      <p:sp>
        <p:nvSpPr>
          <p:cNvPr id="10" name="Ellipse 9">
            <a:extLst>
              <a:ext uri="{FF2B5EF4-FFF2-40B4-BE49-F238E27FC236}">
                <a16:creationId xmlns:a16="http://schemas.microsoft.com/office/drawing/2014/main" id="{E0FCBA59-9240-D70D-ADBE-DAF307E74051}"/>
              </a:ext>
            </a:extLst>
          </p:cNvPr>
          <p:cNvSpPr/>
          <p:nvPr/>
        </p:nvSpPr>
        <p:spPr>
          <a:xfrm>
            <a:off x="609600" y="2540000"/>
            <a:ext cx="508000" cy="5080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b="1">
                <a:solidFill>
                  <a:srgbClr val="FFFFFF"/>
                </a:solidFill>
                <a:latin typeface="Calibri" panose="020F0502020204030204" pitchFamily="34" charset="0"/>
              </a:rPr>
              <a:t>2</a:t>
            </a:r>
          </a:p>
        </p:txBody>
      </p:sp>
      <p:sp>
        <p:nvSpPr>
          <p:cNvPr id="11" name="ZoneTexte 10">
            <a:extLst>
              <a:ext uri="{FF2B5EF4-FFF2-40B4-BE49-F238E27FC236}">
                <a16:creationId xmlns:a16="http://schemas.microsoft.com/office/drawing/2014/main" id="{648B53D8-8F09-42E9-57F3-06E95AA78F4C}"/>
              </a:ext>
            </a:extLst>
          </p:cNvPr>
          <p:cNvSpPr txBox="1"/>
          <p:nvPr/>
        </p:nvSpPr>
        <p:spPr>
          <a:xfrm>
            <a:off x="1295400" y="2527300"/>
            <a:ext cx="4191000" cy="3048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Date, et signature ou mention</a:t>
            </a:r>
          </a:p>
        </p:txBody>
      </p:sp>
      <p:sp>
        <p:nvSpPr>
          <p:cNvPr id="12" name="ZoneTexte 11">
            <a:extLst>
              <a:ext uri="{FF2B5EF4-FFF2-40B4-BE49-F238E27FC236}">
                <a16:creationId xmlns:a16="http://schemas.microsoft.com/office/drawing/2014/main" id="{2B6D54F5-F258-5B61-73C8-C1E13CCECC06}"/>
              </a:ext>
            </a:extLst>
          </p:cNvPr>
          <p:cNvSpPr txBox="1"/>
          <p:nvPr/>
        </p:nvSpPr>
        <p:spPr>
          <a:xfrm>
            <a:off x="1295400" y="2844800"/>
            <a:ext cx="4064000" cy="508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Un tracé ou une mention est obligatoire : le bouton Valider reste grisé sinon</a:t>
            </a:r>
          </a:p>
        </p:txBody>
      </p:sp>
      <p:sp>
        <p:nvSpPr>
          <p:cNvPr id="13" name="Ellipse 12">
            <a:extLst>
              <a:ext uri="{FF2B5EF4-FFF2-40B4-BE49-F238E27FC236}">
                <a16:creationId xmlns:a16="http://schemas.microsoft.com/office/drawing/2014/main" id="{C6F0A372-CE2A-116B-BA68-657CED2308DC}"/>
              </a:ext>
            </a:extLst>
          </p:cNvPr>
          <p:cNvSpPr/>
          <p:nvPr/>
        </p:nvSpPr>
        <p:spPr>
          <a:xfrm>
            <a:off x="609600" y="3454400"/>
            <a:ext cx="508000" cy="5080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b="1">
                <a:solidFill>
                  <a:srgbClr val="FFFFFF"/>
                </a:solidFill>
                <a:latin typeface="Calibri" panose="020F0502020204030204" pitchFamily="34" charset="0"/>
              </a:rPr>
              <a:t>3</a:t>
            </a:r>
          </a:p>
        </p:txBody>
      </p:sp>
      <p:sp>
        <p:nvSpPr>
          <p:cNvPr id="14" name="ZoneTexte 13">
            <a:extLst>
              <a:ext uri="{FF2B5EF4-FFF2-40B4-BE49-F238E27FC236}">
                <a16:creationId xmlns:a16="http://schemas.microsoft.com/office/drawing/2014/main" id="{DCA721C0-E79C-ACE6-51ED-4222514B775C}"/>
              </a:ext>
            </a:extLst>
          </p:cNvPr>
          <p:cNvSpPr txBox="1"/>
          <p:nvPr/>
        </p:nvSpPr>
        <p:spPr>
          <a:xfrm>
            <a:off x="1295400" y="3441700"/>
            <a:ext cx="4191000" cy="3048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PDF signé généré</a:t>
            </a:r>
          </a:p>
        </p:txBody>
      </p:sp>
      <p:sp>
        <p:nvSpPr>
          <p:cNvPr id="15" name="ZoneTexte 14">
            <a:extLst>
              <a:ext uri="{FF2B5EF4-FFF2-40B4-BE49-F238E27FC236}">
                <a16:creationId xmlns:a16="http://schemas.microsoft.com/office/drawing/2014/main" id="{90A458DE-63D7-5656-3ECD-ADFB461534FB}"/>
              </a:ext>
            </a:extLst>
          </p:cNvPr>
          <p:cNvSpPr txBox="1"/>
          <p:nvPr/>
        </p:nvSpPr>
        <p:spPr>
          <a:xfrm>
            <a:off x="1295400" y="3759200"/>
            <a:ext cx="4064000" cy="508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Signature et mention dans le PDF ; « DSI » côté IT</a:t>
            </a:r>
          </a:p>
        </p:txBody>
      </p:sp>
      <p:sp>
        <p:nvSpPr>
          <p:cNvPr id="16" name="Ellipse 15">
            <a:extLst>
              <a:ext uri="{FF2B5EF4-FFF2-40B4-BE49-F238E27FC236}">
                <a16:creationId xmlns:a16="http://schemas.microsoft.com/office/drawing/2014/main" id="{7FA25172-77EC-DD9B-DB64-947689FD22D1}"/>
              </a:ext>
            </a:extLst>
          </p:cNvPr>
          <p:cNvSpPr/>
          <p:nvPr/>
        </p:nvSpPr>
        <p:spPr>
          <a:xfrm>
            <a:off x="609600" y="4368800"/>
            <a:ext cx="508000" cy="5080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b="1">
                <a:solidFill>
                  <a:srgbClr val="FFFFFF"/>
                </a:solidFill>
                <a:latin typeface="Calibri" panose="020F0502020204030204" pitchFamily="34" charset="0"/>
              </a:rPr>
              <a:t>4</a:t>
            </a:r>
          </a:p>
        </p:txBody>
      </p:sp>
      <p:sp>
        <p:nvSpPr>
          <p:cNvPr id="17" name="ZoneTexte 16">
            <a:extLst>
              <a:ext uri="{FF2B5EF4-FFF2-40B4-BE49-F238E27FC236}">
                <a16:creationId xmlns:a16="http://schemas.microsoft.com/office/drawing/2014/main" id="{96EC2097-B171-ED4F-66D3-46ECBFE96AFF}"/>
              </a:ext>
            </a:extLst>
          </p:cNvPr>
          <p:cNvSpPr txBox="1"/>
          <p:nvPr/>
        </p:nvSpPr>
        <p:spPr>
          <a:xfrm>
            <a:off x="1295400" y="4356100"/>
            <a:ext cx="4191000" cy="3048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Archivage, message et Annuler</a:t>
            </a:r>
          </a:p>
        </p:txBody>
      </p:sp>
      <p:sp>
        <p:nvSpPr>
          <p:cNvPr id="18" name="ZoneTexte 17">
            <a:extLst>
              <a:ext uri="{FF2B5EF4-FFF2-40B4-BE49-F238E27FC236}">
                <a16:creationId xmlns:a16="http://schemas.microsoft.com/office/drawing/2014/main" id="{D416CF92-F61A-509A-6BED-E34D0F4DA1D6}"/>
              </a:ext>
            </a:extLst>
          </p:cNvPr>
          <p:cNvSpPr txBox="1"/>
          <p:nvPr/>
        </p:nvSpPr>
        <p:spPr>
          <a:xfrm>
            <a:off x="1295400" y="4673600"/>
            <a:ext cx="4064000" cy="508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PDF rangé dans Archives ; envoi au collaborateur proposé ; Annuler 10 s</a:t>
            </a:r>
          </a:p>
        </p:txBody>
      </p:sp>
      <p:sp>
        <p:nvSpPr>
          <p:cNvPr id="19" name="Rectangle : coins arrondis 18">
            <a:extLst>
              <a:ext uri="{FF2B5EF4-FFF2-40B4-BE49-F238E27FC236}">
                <a16:creationId xmlns:a16="http://schemas.microsoft.com/office/drawing/2014/main" id="{DF9605AC-071C-B872-1DA1-3CBB8D626448}"/>
              </a:ext>
            </a:extLst>
          </p:cNvPr>
          <p:cNvSpPr/>
          <p:nvPr/>
        </p:nvSpPr>
        <p:spPr>
          <a:xfrm>
            <a:off x="609600" y="5384800"/>
            <a:ext cx="5080000" cy="838200"/>
          </a:xfrm>
          <a:prstGeom prst="roundRect">
            <a:avLst>
              <a:gd name="adj" fmla="val 6000"/>
            </a:avLst>
          </a:prstGeom>
          <a:solidFill>
            <a:srgbClr val="FDF0D5"/>
          </a:solidFill>
          <a:ln w="12700">
            <a:solidFill>
              <a:srgbClr val="B67608"/>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noAutofit/>
          </a:bodyPr>
          <a:lstStyle/>
          <a:p>
            <a:r>
              <a:rPr lang="fr-FR" sz="1300">
                <a:solidFill>
                  <a:srgbClr val="12162B"/>
                </a:solidFill>
                <a:latin typeface="Calibri" panose="020F0502020204030204" pitchFamily="34" charset="0"/>
              </a:rPr>
              <a:t>Si l'archivage échoue, la signature est quand même enregistrée : « Archiver le PDF » permet de recommencer.</a:t>
            </a:r>
          </a:p>
        </p:txBody>
      </p:sp>
      <p:sp>
        <p:nvSpPr>
          <p:cNvPr id="20" name="Rectangle : coins arrondis 19">
            <a:extLst>
              <a:ext uri="{FF2B5EF4-FFF2-40B4-BE49-F238E27FC236}">
                <a16:creationId xmlns:a16="http://schemas.microsoft.com/office/drawing/2014/main" id="{A1F2C25E-1161-35F3-5867-E397FF516B31}"/>
              </a:ext>
            </a:extLst>
          </p:cNvPr>
          <p:cNvSpPr/>
          <p:nvPr/>
        </p:nvSpPr>
        <p:spPr>
          <a:xfrm>
            <a:off x="6553200" y="1574800"/>
            <a:ext cx="2476500" cy="481965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 coins arrondis 20">
            <a:extLst>
              <a:ext uri="{FF2B5EF4-FFF2-40B4-BE49-F238E27FC236}">
                <a16:creationId xmlns:a16="http://schemas.microsoft.com/office/drawing/2014/main" id="{F943A29D-14D0-A17A-DBEE-9A76B6FE7098}"/>
              </a:ext>
            </a:extLst>
          </p:cNvPr>
          <p:cNvSpPr/>
          <p:nvPr/>
        </p:nvSpPr>
        <p:spPr>
          <a:xfrm>
            <a:off x="6553200" y="1574800"/>
            <a:ext cx="24765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94E7783A-E164-32B5-55A3-F42497C32AD1}"/>
              </a:ext>
            </a:extLst>
          </p:cNvPr>
          <p:cNvSpPr/>
          <p:nvPr/>
        </p:nvSpPr>
        <p:spPr>
          <a:xfrm>
            <a:off x="6680200" y="16637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08F3CFDB-3474-4340-3CFD-CC24CBBFCFA2}"/>
              </a:ext>
            </a:extLst>
          </p:cNvPr>
          <p:cNvSpPr/>
          <p:nvPr/>
        </p:nvSpPr>
        <p:spPr>
          <a:xfrm>
            <a:off x="6845300" y="16637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576E5076-2916-ABCA-C456-2E008596D1A7}"/>
              </a:ext>
            </a:extLst>
          </p:cNvPr>
          <p:cNvSpPr/>
          <p:nvPr/>
        </p:nvSpPr>
        <p:spPr>
          <a:xfrm>
            <a:off x="7010400" y="16637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2BAC5A52-6CDD-424A-A042-6A7FA717F498}"/>
              </a:ext>
            </a:extLst>
          </p:cNvPr>
          <p:cNvSpPr/>
          <p:nvPr/>
        </p:nvSpPr>
        <p:spPr>
          <a:xfrm>
            <a:off x="6648450" y="16256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7" name="Image 26">
            <a:extLst>
              <a:ext uri="{FF2B5EF4-FFF2-40B4-BE49-F238E27FC236}">
                <a16:creationId xmlns:a16="http://schemas.microsoft.com/office/drawing/2014/main" id="{BF234B01-C910-EE52-0C23-285668F9C9E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553200" y="1854200"/>
            <a:ext cx="2476500" cy="4540250"/>
          </a:xfrm>
          <a:prstGeom prst="rect">
            <a:avLst/>
          </a:prstGeom>
        </p:spPr>
      </p:pic>
      <p:sp>
        <p:nvSpPr>
          <p:cNvPr id="28" name="Ellipse 27">
            <a:extLst>
              <a:ext uri="{FF2B5EF4-FFF2-40B4-BE49-F238E27FC236}">
                <a16:creationId xmlns:a16="http://schemas.microsoft.com/office/drawing/2014/main" id="{D96049C4-8825-E8CA-8C80-B8B99811E46A}"/>
              </a:ext>
            </a:extLst>
          </p:cNvPr>
          <p:cNvSpPr/>
          <p:nvPr/>
        </p:nvSpPr>
        <p:spPr>
          <a:xfrm>
            <a:off x="6500922" y="3056184"/>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29" name="Ellipse 28">
            <a:extLst>
              <a:ext uri="{FF2B5EF4-FFF2-40B4-BE49-F238E27FC236}">
                <a16:creationId xmlns:a16="http://schemas.microsoft.com/office/drawing/2014/main" id="{83F32486-7720-8087-61EE-EBE8F0B0DDFC}"/>
              </a:ext>
            </a:extLst>
          </p:cNvPr>
          <p:cNvSpPr/>
          <p:nvPr/>
        </p:nvSpPr>
        <p:spPr>
          <a:xfrm>
            <a:off x="6500922" y="409161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30" name="Ellipse 29">
            <a:extLst>
              <a:ext uri="{FF2B5EF4-FFF2-40B4-BE49-F238E27FC236}">
                <a16:creationId xmlns:a16="http://schemas.microsoft.com/office/drawing/2014/main" id="{088419BB-1D50-4ECA-C6F1-54D39318E8DB}"/>
              </a:ext>
            </a:extLst>
          </p:cNvPr>
          <p:cNvSpPr/>
          <p:nvPr/>
        </p:nvSpPr>
        <p:spPr>
          <a:xfrm>
            <a:off x="8427682" y="356322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31" name="Ellipse 30">
            <a:extLst>
              <a:ext uri="{FF2B5EF4-FFF2-40B4-BE49-F238E27FC236}">
                <a16:creationId xmlns:a16="http://schemas.microsoft.com/office/drawing/2014/main" id="{B80B4032-B5C6-28CC-452B-D2C8BF039F57}"/>
              </a:ext>
            </a:extLst>
          </p:cNvPr>
          <p:cNvSpPr/>
          <p:nvPr/>
        </p:nvSpPr>
        <p:spPr>
          <a:xfrm>
            <a:off x="6500922" y="5111038"/>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32" name="Ellipse 31">
            <a:extLst>
              <a:ext uri="{FF2B5EF4-FFF2-40B4-BE49-F238E27FC236}">
                <a16:creationId xmlns:a16="http://schemas.microsoft.com/office/drawing/2014/main" id="{21584C40-12DF-A28E-FF75-4B7F397EB210}"/>
              </a:ext>
            </a:extLst>
          </p:cNvPr>
          <p:cNvSpPr/>
          <p:nvPr/>
        </p:nvSpPr>
        <p:spPr>
          <a:xfrm>
            <a:off x="7877942" y="4865523"/>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33" name="Ellipse 32">
            <a:extLst>
              <a:ext uri="{FF2B5EF4-FFF2-40B4-BE49-F238E27FC236}">
                <a16:creationId xmlns:a16="http://schemas.microsoft.com/office/drawing/2014/main" id="{48D132F9-8B05-027B-1C37-BD346C7F273A}"/>
              </a:ext>
            </a:extLst>
          </p:cNvPr>
          <p:cNvSpPr/>
          <p:nvPr/>
        </p:nvSpPr>
        <p:spPr>
          <a:xfrm>
            <a:off x="6500922" y="5708814"/>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34" name="Ellipse 33">
            <a:extLst>
              <a:ext uri="{FF2B5EF4-FFF2-40B4-BE49-F238E27FC236}">
                <a16:creationId xmlns:a16="http://schemas.microsoft.com/office/drawing/2014/main" id="{6D378E09-DA49-078F-F686-435780A6B4A4}"/>
              </a:ext>
            </a:extLst>
          </p:cNvPr>
          <p:cNvSpPr/>
          <p:nvPr/>
        </p:nvSpPr>
        <p:spPr>
          <a:xfrm>
            <a:off x="7381574" y="6125122"/>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7</a:t>
            </a:r>
          </a:p>
        </p:txBody>
      </p:sp>
      <p:sp>
        <p:nvSpPr>
          <p:cNvPr id="35" name="Ellipse 34">
            <a:extLst>
              <a:ext uri="{FF2B5EF4-FFF2-40B4-BE49-F238E27FC236}">
                <a16:creationId xmlns:a16="http://schemas.microsoft.com/office/drawing/2014/main" id="{6E4DDF45-D4E3-8439-66F8-F33EA78C6D00}"/>
              </a:ext>
            </a:extLst>
          </p:cNvPr>
          <p:cNvSpPr/>
          <p:nvPr/>
        </p:nvSpPr>
        <p:spPr>
          <a:xfrm>
            <a:off x="8710557" y="6125122"/>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8</a:t>
            </a:r>
          </a:p>
        </p:txBody>
      </p:sp>
      <p:sp>
        <p:nvSpPr>
          <p:cNvPr id="36" name="Rectangle : coins arrondis 35">
            <a:extLst>
              <a:ext uri="{FF2B5EF4-FFF2-40B4-BE49-F238E27FC236}">
                <a16:creationId xmlns:a16="http://schemas.microsoft.com/office/drawing/2014/main" id="{DF1DD723-3127-71AF-37F2-DAA882299445}"/>
              </a:ext>
            </a:extLst>
          </p:cNvPr>
          <p:cNvSpPr/>
          <p:nvPr/>
        </p:nvSpPr>
        <p:spPr>
          <a:xfrm>
            <a:off x="9804400" y="1574800"/>
            <a:ext cx="1778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ZoneTexte 36">
            <a:extLst>
              <a:ext uri="{FF2B5EF4-FFF2-40B4-BE49-F238E27FC236}">
                <a16:creationId xmlns:a16="http://schemas.microsoft.com/office/drawing/2014/main" id="{70AEDDB1-C488-6ECF-6CEB-EAD79921DAFD}"/>
              </a:ext>
            </a:extLst>
          </p:cNvPr>
          <p:cNvSpPr txBox="1"/>
          <p:nvPr/>
        </p:nvSpPr>
        <p:spPr>
          <a:xfrm>
            <a:off x="9931400" y="1676400"/>
            <a:ext cx="1524000" cy="228600"/>
          </a:xfrm>
          <a:prstGeom prst="rect">
            <a:avLst/>
          </a:prstGeom>
          <a:noFill/>
        </p:spPr>
        <p:txBody>
          <a:bodyPr vert="horz" wrap="square" lIns="0" tIns="0" rIns="0" bIns="0" rtlCol="0">
            <a:noAutofit/>
          </a:bodyPr>
          <a:lstStyle/>
          <a:p>
            <a:r>
              <a:rPr lang="fr-FR" sz="1300" b="1">
                <a:solidFill>
                  <a:srgbClr val="1E1C8C"/>
                </a:solidFill>
                <a:latin typeface="Calibri" panose="020F0502020204030204" pitchFamily="34" charset="0"/>
              </a:rPr>
              <a:t>Repères</a:t>
            </a:r>
          </a:p>
        </p:txBody>
      </p:sp>
      <p:sp>
        <p:nvSpPr>
          <p:cNvPr id="38" name="Ellipse 37">
            <a:extLst>
              <a:ext uri="{FF2B5EF4-FFF2-40B4-BE49-F238E27FC236}">
                <a16:creationId xmlns:a16="http://schemas.microsoft.com/office/drawing/2014/main" id="{ED8F58B5-0948-CF53-A371-17F238239389}"/>
              </a:ext>
            </a:extLst>
          </p:cNvPr>
          <p:cNvSpPr/>
          <p:nvPr/>
        </p:nvSpPr>
        <p:spPr>
          <a:xfrm>
            <a:off x="9956800" y="2006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39" name="ZoneTexte 38">
            <a:extLst>
              <a:ext uri="{FF2B5EF4-FFF2-40B4-BE49-F238E27FC236}">
                <a16:creationId xmlns:a16="http://schemas.microsoft.com/office/drawing/2014/main" id="{B35E3FD5-7705-D7A3-BB80-AB0072137259}"/>
              </a:ext>
            </a:extLst>
          </p:cNvPr>
          <p:cNvSpPr txBox="1"/>
          <p:nvPr/>
        </p:nvSpPr>
        <p:spPr>
          <a:xfrm>
            <a:off x="10363200" y="2019300"/>
            <a:ext cx="1193800" cy="330200"/>
          </a:xfrm>
          <a:prstGeom prst="rect">
            <a:avLst/>
          </a:prstGeom>
          <a:noFill/>
        </p:spPr>
        <p:txBody>
          <a:bodyPr vert="horz" wrap="square" lIns="0" tIns="0" rIns="0" bIns="0" rtlCol="0">
            <a:noAutofit/>
          </a:bodyPr>
          <a:lstStyle/>
          <a:p>
            <a:r>
              <a:rPr lang="fr-FR" sz="1100">
                <a:solidFill>
                  <a:srgbClr val="12162B"/>
                </a:solidFill>
                <a:latin typeface="Calibri" panose="020F0502020204030204" pitchFamily="34" charset="0"/>
              </a:rPr>
              <a:t>Date</a:t>
            </a:r>
          </a:p>
        </p:txBody>
      </p:sp>
      <p:sp>
        <p:nvSpPr>
          <p:cNvPr id="40" name="Ellipse 39">
            <a:extLst>
              <a:ext uri="{FF2B5EF4-FFF2-40B4-BE49-F238E27FC236}">
                <a16:creationId xmlns:a16="http://schemas.microsoft.com/office/drawing/2014/main" id="{3F23EF64-AC80-255E-C08D-EC77671D3300}"/>
              </a:ext>
            </a:extLst>
          </p:cNvPr>
          <p:cNvSpPr/>
          <p:nvPr/>
        </p:nvSpPr>
        <p:spPr>
          <a:xfrm>
            <a:off x="9956800" y="2387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41" name="ZoneTexte 40">
            <a:extLst>
              <a:ext uri="{FF2B5EF4-FFF2-40B4-BE49-F238E27FC236}">
                <a16:creationId xmlns:a16="http://schemas.microsoft.com/office/drawing/2014/main" id="{8975593B-F7A8-1ED4-21DF-08C8D43C2C07}"/>
              </a:ext>
            </a:extLst>
          </p:cNvPr>
          <p:cNvSpPr txBox="1"/>
          <p:nvPr/>
        </p:nvSpPr>
        <p:spPr>
          <a:xfrm>
            <a:off x="10363200" y="2400300"/>
            <a:ext cx="1193800" cy="330200"/>
          </a:xfrm>
          <a:prstGeom prst="rect">
            <a:avLst/>
          </a:prstGeom>
          <a:noFill/>
        </p:spPr>
        <p:txBody>
          <a:bodyPr vert="horz" wrap="square" lIns="0" tIns="0" rIns="0" bIns="0" rtlCol="0">
            <a:noAutofit/>
          </a:bodyPr>
          <a:lstStyle/>
          <a:p>
            <a:r>
              <a:rPr lang="fr-FR" sz="1100">
                <a:solidFill>
                  <a:srgbClr val="12162B"/>
                </a:solidFill>
                <a:latin typeface="Calibri" panose="020F0502020204030204" pitchFamily="34" charset="0"/>
              </a:rPr>
              <a:t>Signature</a:t>
            </a:r>
          </a:p>
        </p:txBody>
      </p:sp>
      <p:sp>
        <p:nvSpPr>
          <p:cNvPr id="42" name="Ellipse 41">
            <a:extLst>
              <a:ext uri="{FF2B5EF4-FFF2-40B4-BE49-F238E27FC236}">
                <a16:creationId xmlns:a16="http://schemas.microsoft.com/office/drawing/2014/main" id="{41E2BF35-8768-EEBE-AE71-8D2437D0DC0C}"/>
              </a:ext>
            </a:extLst>
          </p:cNvPr>
          <p:cNvSpPr/>
          <p:nvPr/>
        </p:nvSpPr>
        <p:spPr>
          <a:xfrm>
            <a:off x="9956800" y="2768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43" name="ZoneTexte 42">
            <a:extLst>
              <a:ext uri="{FF2B5EF4-FFF2-40B4-BE49-F238E27FC236}">
                <a16:creationId xmlns:a16="http://schemas.microsoft.com/office/drawing/2014/main" id="{5BF5879A-4CE9-4424-922D-0E83F634E125}"/>
              </a:ext>
            </a:extLst>
          </p:cNvPr>
          <p:cNvSpPr txBox="1"/>
          <p:nvPr/>
        </p:nvSpPr>
        <p:spPr>
          <a:xfrm>
            <a:off x="10363200" y="2781300"/>
            <a:ext cx="1193800" cy="330200"/>
          </a:xfrm>
          <a:prstGeom prst="rect">
            <a:avLst/>
          </a:prstGeom>
          <a:noFill/>
        </p:spPr>
        <p:txBody>
          <a:bodyPr vert="horz" wrap="square" lIns="0" tIns="0" rIns="0" bIns="0" rtlCol="0">
            <a:noAutofit/>
          </a:bodyPr>
          <a:lstStyle/>
          <a:p>
            <a:r>
              <a:rPr lang="fr-FR" sz="1100">
                <a:solidFill>
                  <a:srgbClr val="12162B"/>
                </a:solidFill>
                <a:latin typeface="Calibri" panose="020F0502020204030204" pitchFamily="34" charset="0"/>
              </a:rPr>
              <a:t>Effacer</a:t>
            </a:r>
          </a:p>
        </p:txBody>
      </p:sp>
      <p:sp>
        <p:nvSpPr>
          <p:cNvPr id="44" name="Ellipse 43">
            <a:extLst>
              <a:ext uri="{FF2B5EF4-FFF2-40B4-BE49-F238E27FC236}">
                <a16:creationId xmlns:a16="http://schemas.microsoft.com/office/drawing/2014/main" id="{1FFAE0C4-D41A-6811-369E-463CF1791824}"/>
              </a:ext>
            </a:extLst>
          </p:cNvPr>
          <p:cNvSpPr/>
          <p:nvPr/>
        </p:nvSpPr>
        <p:spPr>
          <a:xfrm>
            <a:off x="9956800" y="3149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45" name="ZoneTexte 44">
            <a:extLst>
              <a:ext uri="{FF2B5EF4-FFF2-40B4-BE49-F238E27FC236}">
                <a16:creationId xmlns:a16="http://schemas.microsoft.com/office/drawing/2014/main" id="{48E8646D-C0E7-1FFE-191A-CCCEFCBE9E77}"/>
              </a:ext>
            </a:extLst>
          </p:cNvPr>
          <p:cNvSpPr txBox="1"/>
          <p:nvPr/>
        </p:nvSpPr>
        <p:spPr>
          <a:xfrm>
            <a:off x="10363200" y="3162300"/>
            <a:ext cx="1193800" cy="330200"/>
          </a:xfrm>
          <a:prstGeom prst="rect">
            <a:avLst/>
          </a:prstGeom>
          <a:noFill/>
        </p:spPr>
        <p:txBody>
          <a:bodyPr vert="horz" wrap="square" lIns="0" tIns="0" rIns="0" bIns="0" rtlCol="0">
            <a:noAutofit/>
          </a:bodyPr>
          <a:lstStyle/>
          <a:p>
            <a:r>
              <a:rPr lang="fr-FR" sz="1100">
                <a:solidFill>
                  <a:srgbClr val="12162B"/>
                </a:solidFill>
                <a:latin typeface="Calibri" panose="020F0502020204030204" pitchFamily="34" charset="0"/>
              </a:rPr>
              <a:t>Mention</a:t>
            </a:r>
          </a:p>
        </p:txBody>
      </p:sp>
      <p:sp>
        <p:nvSpPr>
          <p:cNvPr id="46" name="Ellipse 45">
            <a:extLst>
              <a:ext uri="{FF2B5EF4-FFF2-40B4-BE49-F238E27FC236}">
                <a16:creationId xmlns:a16="http://schemas.microsoft.com/office/drawing/2014/main" id="{EF021BEA-E6A1-35C4-E0EA-94011F69ECEF}"/>
              </a:ext>
            </a:extLst>
          </p:cNvPr>
          <p:cNvSpPr/>
          <p:nvPr/>
        </p:nvSpPr>
        <p:spPr>
          <a:xfrm>
            <a:off x="9956800" y="3530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47" name="ZoneTexte 46">
            <a:extLst>
              <a:ext uri="{FF2B5EF4-FFF2-40B4-BE49-F238E27FC236}">
                <a16:creationId xmlns:a16="http://schemas.microsoft.com/office/drawing/2014/main" id="{E9DFEB86-6A57-A255-6ACC-E6E85B4808EB}"/>
              </a:ext>
            </a:extLst>
          </p:cNvPr>
          <p:cNvSpPr txBox="1"/>
          <p:nvPr/>
        </p:nvSpPr>
        <p:spPr>
          <a:xfrm>
            <a:off x="10363200" y="3543300"/>
            <a:ext cx="1193800" cy="330200"/>
          </a:xfrm>
          <a:prstGeom prst="rect">
            <a:avLst/>
          </a:prstGeom>
          <a:noFill/>
        </p:spPr>
        <p:txBody>
          <a:bodyPr vert="horz" wrap="square" lIns="0" tIns="0" rIns="0" bIns="0" rtlCol="0">
            <a:noAutofit/>
          </a:bodyPr>
          <a:lstStyle/>
          <a:p>
            <a:r>
              <a:rPr lang="fr-FR" sz="1100">
                <a:solidFill>
                  <a:srgbClr val="12162B"/>
                </a:solidFill>
                <a:latin typeface="Calibri" panose="020F0502020204030204" pitchFamily="34" charset="0"/>
              </a:rPr>
              <a:t>Pré-remplir</a:t>
            </a:r>
          </a:p>
        </p:txBody>
      </p:sp>
      <p:sp>
        <p:nvSpPr>
          <p:cNvPr id="48" name="Ellipse 47">
            <a:extLst>
              <a:ext uri="{FF2B5EF4-FFF2-40B4-BE49-F238E27FC236}">
                <a16:creationId xmlns:a16="http://schemas.microsoft.com/office/drawing/2014/main" id="{46A71031-475D-D0A9-D4EA-29E5DF577E55}"/>
              </a:ext>
            </a:extLst>
          </p:cNvPr>
          <p:cNvSpPr/>
          <p:nvPr/>
        </p:nvSpPr>
        <p:spPr>
          <a:xfrm>
            <a:off x="9956800" y="3911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49" name="ZoneTexte 48">
            <a:extLst>
              <a:ext uri="{FF2B5EF4-FFF2-40B4-BE49-F238E27FC236}">
                <a16:creationId xmlns:a16="http://schemas.microsoft.com/office/drawing/2014/main" id="{77022C17-792A-D6FA-3ECC-42D79EA412D9}"/>
              </a:ext>
            </a:extLst>
          </p:cNvPr>
          <p:cNvSpPr txBox="1"/>
          <p:nvPr/>
        </p:nvSpPr>
        <p:spPr>
          <a:xfrm>
            <a:off x="10363200" y="3924300"/>
            <a:ext cx="1193800" cy="330200"/>
          </a:xfrm>
          <a:prstGeom prst="rect">
            <a:avLst/>
          </a:prstGeom>
          <a:noFill/>
        </p:spPr>
        <p:txBody>
          <a:bodyPr vert="horz" wrap="square" lIns="0" tIns="0" rIns="0" bIns="0" rtlCol="0">
            <a:noAutofit/>
          </a:bodyPr>
          <a:lstStyle/>
          <a:p>
            <a:r>
              <a:rPr lang="fr-FR" sz="1100">
                <a:solidFill>
                  <a:srgbClr val="12162B"/>
                </a:solidFill>
                <a:latin typeface="Calibri" panose="020F0502020204030204" pitchFamily="34" charset="0"/>
              </a:rPr>
              <a:t>Message d'aide</a:t>
            </a:r>
          </a:p>
        </p:txBody>
      </p:sp>
      <p:sp>
        <p:nvSpPr>
          <p:cNvPr id="50" name="Ellipse 49">
            <a:extLst>
              <a:ext uri="{FF2B5EF4-FFF2-40B4-BE49-F238E27FC236}">
                <a16:creationId xmlns:a16="http://schemas.microsoft.com/office/drawing/2014/main" id="{E14BFBC7-CDFA-CBB9-1677-E9D0AF06264F}"/>
              </a:ext>
            </a:extLst>
          </p:cNvPr>
          <p:cNvSpPr/>
          <p:nvPr/>
        </p:nvSpPr>
        <p:spPr>
          <a:xfrm>
            <a:off x="9956800" y="4292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7</a:t>
            </a:r>
          </a:p>
        </p:txBody>
      </p:sp>
      <p:sp>
        <p:nvSpPr>
          <p:cNvPr id="51" name="ZoneTexte 50">
            <a:extLst>
              <a:ext uri="{FF2B5EF4-FFF2-40B4-BE49-F238E27FC236}">
                <a16:creationId xmlns:a16="http://schemas.microsoft.com/office/drawing/2014/main" id="{28F6D71E-D7D5-317F-C842-9931CACC05D2}"/>
              </a:ext>
            </a:extLst>
          </p:cNvPr>
          <p:cNvSpPr txBox="1"/>
          <p:nvPr/>
        </p:nvSpPr>
        <p:spPr>
          <a:xfrm>
            <a:off x="10363200" y="4305300"/>
            <a:ext cx="1193800" cy="330200"/>
          </a:xfrm>
          <a:prstGeom prst="rect">
            <a:avLst/>
          </a:prstGeom>
          <a:noFill/>
        </p:spPr>
        <p:txBody>
          <a:bodyPr vert="horz" wrap="square" lIns="0" tIns="0" rIns="0" bIns="0" rtlCol="0">
            <a:noAutofit/>
          </a:bodyPr>
          <a:lstStyle/>
          <a:p>
            <a:r>
              <a:rPr lang="fr-FR" sz="1100">
                <a:solidFill>
                  <a:srgbClr val="12162B"/>
                </a:solidFill>
                <a:latin typeface="Calibri" panose="020F0502020204030204" pitchFamily="34" charset="0"/>
              </a:rPr>
              <a:t>Annuler</a:t>
            </a:r>
          </a:p>
        </p:txBody>
      </p:sp>
      <p:sp>
        <p:nvSpPr>
          <p:cNvPr id="52" name="Ellipse 51">
            <a:extLst>
              <a:ext uri="{FF2B5EF4-FFF2-40B4-BE49-F238E27FC236}">
                <a16:creationId xmlns:a16="http://schemas.microsoft.com/office/drawing/2014/main" id="{1826B8AB-BB1F-7E83-B09D-AAD47D9CB8D9}"/>
              </a:ext>
            </a:extLst>
          </p:cNvPr>
          <p:cNvSpPr/>
          <p:nvPr/>
        </p:nvSpPr>
        <p:spPr>
          <a:xfrm>
            <a:off x="9956800" y="467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8</a:t>
            </a:r>
          </a:p>
        </p:txBody>
      </p:sp>
      <p:sp>
        <p:nvSpPr>
          <p:cNvPr id="53" name="ZoneTexte 52">
            <a:extLst>
              <a:ext uri="{FF2B5EF4-FFF2-40B4-BE49-F238E27FC236}">
                <a16:creationId xmlns:a16="http://schemas.microsoft.com/office/drawing/2014/main" id="{54BD86C8-D8B8-BC55-299D-91321DC80A38}"/>
              </a:ext>
            </a:extLst>
          </p:cNvPr>
          <p:cNvSpPr txBox="1"/>
          <p:nvPr/>
        </p:nvSpPr>
        <p:spPr>
          <a:xfrm>
            <a:off x="10363200" y="4686300"/>
            <a:ext cx="1193800" cy="330200"/>
          </a:xfrm>
          <a:prstGeom prst="rect">
            <a:avLst/>
          </a:prstGeom>
          <a:noFill/>
        </p:spPr>
        <p:txBody>
          <a:bodyPr vert="horz" wrap="square" lIns="0" tIns="0" rIns="0" bIns="0" rtlCol="0">
            <a:noAutofit/>
          </a:bodyPr>
          <a:lstStyle/>
          <a:p>
            <a:r>
              <a:rPr lang="fr-FR" sz="1100">
                <a:solidFill>
                  <a:srgbClr val="12162B"/>
                </a:solidFill>
                <a:latin typeface="Calibri" panose="020F0502020204030204" pitchFamily="34" charset="0"/>
              </a:rPr>
              <a:t>Valider</a:t>
            </a:r>
          </a:p>
        </p:txBody>
      </p:sp>
    </p:spTree>
    <p:extLst>
      <p:ext uri="{BB962C8B-B14F-4D97-AF65-F5344CB8AC3E}">
        <p14:creationId xmlns:p14="http://schemas.microsoft.com/office/powerpoint/2010/main" val="1261367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7F349B-181F-7AF2-C2DB-D59537E1E373}"/>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Envoyer l'attestation signée par email</a:t>
            </a:r>
          </a:p>
        </p:txBody>
      </p:sp>
      <p:sp>
        <p:nvSpPr>
          <p:cNvPr id="3" name="ZoneTexte 2">
            <a:extLst>
              <a:ext uri="{FF2B5EF4-FFF2-40B4-BE49-F238E27FC236}">
                <a16:creationId xmlns:a16="http://schemas.microsoft.com/office/drawing/2014/main" id="{D7D33BB0-3314-B00A-5245-F48FF03519C7}"/>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6</a:t>
            </a:r>
          </a:p>
        </p:txBody>
      </p:sp>
      <p:sp>
        <p:nvSpPr>
          <p:cNvPr id="4" name="ZoneTexte 3">
            <a:extLst>
              <a:ext uri="{FF2B5EF4-FFF2-40B4-BE49-F238E27FC236}">
                <a16:creationId xmlns:a16="http://schemas.microsoft.com/office/drawing/2014/main" id="{464E8305-539E-8279-D6B0-D3972EB54563}"/>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Après la signature : un message prêt à envoyer, avec le PDF signé joint</a:t>
            </a:r>
          </a:p>
        </p:txBody>
      </p:sp>
      <p:sp>
        <p:nvSpPr>
          <p:cNvPr id="5" name="ZoneTexte 4">
            <a:extLst>
              <a:ext uri="{FF2B5EF4-FFF2-40B4-BE49-F238E27FC236}">
                <a16:creationId xmlns:a16="http://schemas.microsoft.com/office/drawing/2014/main" id="{C716E0F7-3729-BA31-25D0-D88F6C0D7369}"/>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95F66CB2-81D2-4EBA-48A9-18C41F0DA45B}"/>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ACF61268-F2CB-4B04-BCA7-F9F2F4F11846}" type="slidenum">
              <a:rPr lang="fr-FR" sz="900" smtClean="0">
                <a:solidFill>
                  <a:srgbClr val="586080"/>
                </a:solidFill>
                <a:latin typeface="Calibri" panose="020F0502020204030204" pitchFamily="34" charset="0"/>
              </a:rPr>
              <a:t>21</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1E983387-45EA-EC0D-C7E5-433ADC7A7EE6}"/>
              </a:ext>
            </a:extLst>
          </p:cNvPr>
          <p:cNvSpPr/>
          <p:nvPr/>
        </p:nvSpPr>
        <p:spPr>
          <a:xfrm>
            <a:off x="609600" y="1574800"/>
            <a:ext cx="3175000" cy="453463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DAB567F0-326A-C05D-F459-4260953B56D6}"/>
              </a:ext>
            </a:extLst>
          </p:cNvPr>
          <p:cNvSpPr/>
          <p:nvPr/>
        </p:nvSpPr>
        <p:spPr>
          <a:xfrm>
            <a:off x="609600" y="1574800"/>
            <a:ext cx="3175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717A5F38-CEC2-FF43-FE3A-7C303088E6F9}"/>
              </a:ext>
            </a:extLst>
          </p:cNvPr>
          <p:cNvSpPr/>
          <p:nvPr/>
        </p:nvSpPr>
        <p:spPr>
          <a:xfrm>
            <a:off x="736600" y="16637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B7E420FF-131F-5CEE-2E83-69F0855E3C2B}"/>
              </a:ext>
            </a:extLst>
          </p:cNvPr>
          <p:cNvSpPr/>
          <p:nvPr/>
        </p:nvSpPr>
        <p:spPr>
          <a:xfrm>
            <a:off x="901700" y="16637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7E237C0-E40A-3080-0945-C582E3E491E5}"/>
              </a:ext>
            </a:extLst>
          </p:cNvPr>
          <p:cNvSpPr/>
          <p:nvPr/>
        </p:nvSpPr>
        <p:spPr>
          <a:xfrm>
            <a:off x="1066800" y="16637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E896EBF5-1B84-6CE1-26D5-90E81A93F432}"/>
              </a:ext>
            </a:extLst>
          </p:cNvPr>
          <p:cNvSpPr/>
          <p:nvPr/>
        </p:nvSpPr>
        <p:spPr>
          <a:xfrm>
            <a:off x="1054100" y="16256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95472E30-F091-ADCE-0491-7883F1E6B38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54200"/>
            <a:ext cx="3175000" cy="4255230"/>
          </a:xfrm>
          <a:prstGeom prst="rect">
            <a:avLst/>
          </a:prstGeom>
        </p:spPr>
      </p:pic>
      <p:sp>
        <p:nvSpPr>
          <p:cNvPr id="15" name="Rectangle : coins arrondis 14">
            <a:extLst>
              <a:ext uri="{FF2B5EF4-FFF2-40B4-BE49-F238E27FC236}">
                <a16:creationId xmlns:a16="http://schemas.microsoft.com/office/drawing/2014/main" id="{4AB98E20-CAFC-56FE-30B0-DEA899E9DEE8}"/>
              </a:ext>
            </a:extLst>
          </p:cNvPr>
          <p:cNvSpPr/>
          <p:nvPr/>
        </p:nvSpPr>
        <p:spPr>
          <a:xfrm>
            <a:off x="4191000" y="1600200"/>
            <a:ext cx="7391400" cy="2235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A292AC03-2C0F-940E-263A-0DA11F8FB605}"/>
              </a:ext>
            </a:extLst>
          </p:cNvPr>
          <p:cNvSpPr txBox="1"/>
          <p:nvPr/>
        </p:nvSpPr>
        <p:spPr>
          <a:xfrm>
            <a:off x="4445000" y="1752600"/>
            <a:ext cx="6858000" cy="2794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Quatre choix dans la fenêtre</a:t>
            </a:r>
          </a:p>
        </p:txBody>
      </p:sp>
      <p:sp>
        <p:nvSpPr>
          <p:cNvPr id="17" name="ZoneTexte 16">
            <a:extLst>
              <a:ext uri="{FF2B5EF4-FFF2-40B4-BE49-F238E27FC236}">
                <a16:creationId xmlns:a16="http://schemas.microsoft.com/office/drawing/2014/main" id="{AE226591-D316-25BC-02AE-6B2DEB8E690F}"/>
              </a:ext>
            </a:extLst>
          </p:cNvPr>
          <p:cNvSpPr txBox="1"/>
          <p:nvPr/>
        </p:nvSpPr>
        <p:spPr>
          <a:xfrm>
            <a:off x="4445000" y="2133600"/>
            <a:ext cx="6934200" cy="16510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Envoyer maintenant : le message part avec le PDF signé joint, copie dans les éléments envoyés</a:t>
            </a:r>
          </a:p>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Modifier : l'objet et le texte (pas le destinataire ni le PDF)</a:t>
            </a:r>
          </a:p>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Créer un brouillon : dossier Brouillons d'Outlook</a:t>
            </a:r>
          </a:p>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Ne pas envoyer : la signature reste enregistrée</a:t>
            </a:r>
          </a:p>
        </p:txBody>
      </p:sp>
      <p:sp>
        <p:nvSpPr>
          <p:cNvPr id="18" name="Rectangle : coins arrondis 17">
            <a:extLst>
              <a:ext uri="{FF2B5EF4-FFF2-40B4-BE49-F238E27FC236}">
                <a16:creationId xmlns:a16="http://schemas.microsoft.com/office/drawing/2014/main" id="{D1523EB9-674B-A43F-3907-4C352C69B6DF}"/>
              </a:ext>
            </a:extLst>
          </p:cNvPr>
          <p:cNvSpPr/>
          <p:nvPr/>
        </p:nvSpPr>
        <p:spPr>
          <a:xfrm>
            <a:off x="4191000" y="4013200"/>
            <a:ext cx="7391400" cy="2235200"/>
          </a:xfrm>
          <a:prstGeom prst="roundRect">
            <a:avLst>
              <a:gd name="adj" fmla="val 4500"/>
            </a:avLst>
          </a:prstGeom>
          <a:solidFill>
            <a:srgbClr val="FDF0D5"/>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FDE786D6-FF37-C174-AA13-3F308464A3DB}"/>
              </a:ext>
            </a:extLst>
          </p:cNvPr>
          <p:cNvSpPr txBox="1"/>
          <p:nvPr/>
        </p:nvSpPr>
        <p:spPr>
          <a:xfrm>
            <a:off x="4445000" y="4165600"/>
            <a:ext cx="6858000" cy="279400"/>
          </a:xfrm>
          <a:prstGeom prst="rect">
            <a:avLst/>
          </a:prstGeom>
          <a:noFill/>
        </p:spPr>
        <p:txBody>
          <a:bodyPr vert="horz" wrap="square" lIns="0" tIns="0" rIns="0" bIns="0" rtlCol="0">
            <a:noAutofit/>
          </a:bodyPr>
          <a:lstStyle/>
          <a:p>
            <a:r>
              <a:rPr lang="fr-FR" b="1">
                <a:solidFill>
                  <a:srgbClr val="B67608"/>
                </a:solidFill>
                <a:latin typeface="Calibri" panose="020F0502020204030204" pitchFamily="34" charset="0"/>
              </a:rPr>
              <a:t>À savoir</a:t>
            </a:r>
          </a:p>
        </p:txBody>
      </p:sp>
      <p:sp>
        <p:nvSpPr>
          <p:cNvPr id="20" name="ZoneTexte 19">
            <a:extLst>
              <a:ext uri="{FF2B5EF4-FFF2-40B4-BE49-F238E27FC236}">
                <a16:creationId xmlns:a16="http://schemas.microsoft.com/office/drawing/2014/main" id="{0FE89C3F-364F-21EA-DAED-3CCDE2772028}"/>
              </a:ext>
            </a:extLst>
          </p:cNvPr>
          <p:cNvSpPr txBox="1"/>
          <p:nvPr/>
        </p:nvSpPr>
        <p:spPr>
          <a:xfrm>
            <a:off x="4445000" y="4546600"/>
            <a:ext cx="6934200" cy="16510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Rien ne part sans clic ; la date d'envoi est tracée sur l'attestation</a:t>
            </a:r>
          </a:p>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Sans connecteur : fichier .eml à ouvrir dans Outlook</a:t>
            </a:r>
          </a:p>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Outlook sur le web ne s'ouvre pas depuis la page : brouillon ou .eml</a:t>
            </a:r>
          </a:p>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Aperçu du message dans la fenêtre ; connecteur indisponible : raison claire, Copier le texte, .eml</a:t>
            </a:r>
          </a:p>
        </p:txBody>
      </p:sp>
    </p:spTree>
    <p:extLst>
      <p:ext uri="{BB962C8B-B14F-4D97-AF65-F5344CB8AC3E}">
        <p14:creationId xmlns:p14="http://schemas.microsoft.com/office/powerpoint/2010/main" val="2445253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BE119C-BCF0-C490-F741-85A63970B370}"/>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Aperçu du PDF, destinataire et bouton Annuler</a:t>
            </a:r>
          </a:p>
        </p:txBody>
      </p:sp>
      <p:sp>
        <p:nvSpPr>
          <p:cNvPr id="3" name="ZoneTexte 2">
            <a:extLst>
              <a:ext uri="{FF2B5EF4-FFF2-40B4-BE49-F238E27FC236}">
                <a16:creationId xmlns:a16="http://schemas.microsoft.com/office/drawing/2014/main" id="{FAAD3A71-843B-6492-C17C-48D23565CAA1}"/>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CONFORT</a:t>
            </a:r>
          </a:p>
        </p:txBody>
      </p:sp>
      <p:sp>
        <p:nvSpPr>
          <p:cNvPr id="4" name="ZoneTexte 3">
            <a:extLst>
              <a:ext uri="{FF2B5EF4-FFF2-40B4-BE49-F238E27FC236}">
                <a16:creationId xmlns:a16="http://schemas.microsoft.com/office/drawing/2014/main" id="{E41F9F35-A87F-3449-E199-C02CFB7731DB}"/>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Vérifier avant d'envoyer, corriger tout de suite</a:t>
            </a:r>
          </a:p>
        </p:txBody>
      </p:sp>
      <p:sp>
        <p:nvSpPr>
          <p:cNvPr id="5" name="ZoneTexte 4">
            <a:extLst>
              <a:ext uri="{FF2B5EF4-FFF2-40B4-BE49-F238E27FC236}">
                <a16:creationId xmlns:a16="http://schemas.microsoft.com/office/drawing/2014/main" id="{94981E77-B342-BE65-F9AF-F3C49286DBB7}"/>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25F770CF-B5AD-97E5-60FA-FC2A498CA6CC}"/>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70B85615-9584-4F14-A761-6C907CB7FFA8}" type="slidenum">
              <a:rPr lang="fr-FR" sz="900" smtClean="0">
                <a:solidFill>
                  <a:srgbClr val="586080"/>
                </a:solidFill>
                <a:latin typeface="Calibri" panose="020F0502020204030204" pitchFamily="34" charset="0"/>
              </a:rPr>
              <a:t>22</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A8F4AA7B-A054-D3B7-B93D-7A6E59F4AC88}"/>
              </a:ext>
            </a:extLst>
          </p:cNvPr>
          <p:cNvSpPr/>
          <p:nvPr/>
        </p:nvSpPr>
        <p:spPr>
          <a:xfrm>
            <a:off x="609600" y="1600200"/>
            <a:ext cx="2730500" cy="4590716"/>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AD2A4E79-4807-A6AC-4A1B-BE28A56FDBBD}"/>
              </a:ext>
            </a:extLst>
          </p:cNvPr>
          <p:cNvSpPr/>
          <p:nvPr/>
        </p:nvSpPr>
        <p:spPr>
          <a:xfrm>
            <a:off x="609600" y="1600200"/>
            <a:ext cx="27305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D55AA171-21C7-580F-F7E4-372C6CD8FB18}"/>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0D318198-9EDC-7264-49A9-CCB5088DC810}"/>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9EEC75E0-EC36-E6B4-FC0D-DC6E39164C7B}"/>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64F49EED-6D7E-9E03-6E69-4BAB6AD80783}"/>
              </a:ext>
            </a:extLst>
          </p:cNvPr>
          <p:cNvSpPr/>
          <p:nvPr/>
        </p:nvSpPr>
        <p:spPr>
          <a:xfrm>
            <a:off x="83185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099C77D6-05DD-D895-C913-320E89451AC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2730500" cy="4311316"/>
          </a:xfrm>
          <a:prstGeom prst="rect">
            <a:avLst/>
          </a:prstGeom>
        </p:spPr>
      </p:pic>
      <p:sp>
        <p:nvSpPr>
          <p:cNvPr id="15" name="Rectangle : coins arrondis 14">
            <a:extLst>
              <a:ext uri="{FF2B5EF4-FFF2-40B4-BE49-F238E27FC236}">
                <a16:creationId xmlns:a16="http://schemas.microsoft.com/office/drawing/2014/main" id="{98942AD2-10FE-D63A-04CC-E63E4EC7950D}"/>
              </a:ext>
            </a:extLst>
          </p:cNvPr>
          <p:cNvSpPr/>
          <p:nvPr/>
        </p:nvSpPr>
        <p:spPr>
          <a:xfrm>
            <a:off x="3683000" y="1600200"/>
            <a:ext cx="7899400" cy="2235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0026533E-C94C-EF92-A259-A9869F2E68C4}"/>
              </a:ext>
            </a:extLst>
          </p:cNvPr>
          <p:cNvSpPr txBox="1"/>
          <p:nvPr/>
        </p:nvSpPr>
        <p:spPr>
          <a:xfrm>
            <a:off x="3911600" y="1752600"/>
            <a:ext cx="7442200" cy="279400"/>
          </a:xfrm>
          <a:prstGeom prst="rect">
            <a:avLst/>
          </a:prstGeom>
          <a:noFill/>
        </p:spPr>
        <p:txBody>
          <a:bodyPr vert="horz" wrap="square" lIns="0" tIns="0" rIns="0" bIns="0" rtlCol="0">
            <a:noAutofit/>
          </a:bodyPr>
          <a:lstStyle/>
          <a:p>
            <a:r>
              <a:rPr lang="fr-FR" b="1">
                <a:solidFill>
                  <a:srgbClr val="2F7DD1"/>
                </a:solidFill>
                <a:latin typeface="Calibri" panose="020F0502020204030204" pitchFamily="34" charset="0"/>
              </a:rPr>
              <a:t>Aperçu du PDF et destinataire du message</a:t>
            </a:r>
          </a:p>
        </p:txBody>
      </p:sp>
      <p:sp>
        <p:nvSpPr>
          <p:cNvPr id="17" name="ZoneTexte 16">
            <a:extLst>
              <a:ext uri="{FF2B5EF4-FFF2-40B4-BE49-F238E27FC236}">
                <a16:creationId xmlns:a16="http://schemas.microsoft.com/office/drawing/2014/main" id="{4E0C75D9-7CD4-92A7-8CE0-EE717C034B75}"/>
              </a:ext>
            </a:extLst>
          </p:cNvPr>
          <p:cNvSpPr txBox="1"/>
          <p:nvPr/>
        </p:nvSpPr>
        <p:spPr>
          <a:xfrm>
            <a:off x="3911600" y="2133600"/>
            <a:ext cx="7442200" cy="16510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Par email : le PDF s'affiche tel qu'il sera joint</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Destinataire : adresse enregistrée, ou autre adresse saisie à la main (personne sans compte professionnel) ; conservée avec l'attestation</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 Continuer et envoyer » enregistre et prépare le brouillon ; « Retour » ne change rien</a:t>
            </a:r>
          </a:p>
        </p:txBody>
      </p:sp>
      <p:sp>
        <p:nvSpPr>
          <p:cNvPr id="18" name="Rectangle : coins arrondis 17">
            <a:extLst>
              <a:ext uri="{FF2B5EF4-FFF2-40B4-BE49-F238E27FC236}">
                <a16:creationId xmlns:a16="http://schemas.microsoft.com/office/drawing/2014/main" id="{AE3046EB-3C87-64B8-383B-F915C2CFE2FD}"/>
              </a:ext>
            </a:extLst>
          </p:cNvPr>
          <p:cNvSpPr/>
          <p:nvPr/>
        </p:nvSpPr>
        <p:spPr>
          <a:xfrm>
            <a:off x="3683000" y="4013200"/>
            <a:ext cx="7899400" cy="2235200"/>
          </a:xfrm>
          <a:prstGeom prst="roundRect">
            <a:avLst>
              <a:gd name="adj" fmla="val 4500"/>
            </a:avLst>
          </a:prstGeom>
          <a:solidFill>
            <a:srgbClr val="FDF0D5"/>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2B4EC346-0E06-C650-F12D-6A923509072E}"/>
              </a:ext>
            </a:extLst>
          </p:cNvPr>
          <p:cNvSpPr txBox="1"/>
          <p:nvPr/>
        </p:nvSpPr>
        <p:spPr>
          <a:xfrm>
            <a:off x="3911600" y="4165600"/>
            <a:ext cx="7442200" cy="279400"/>
          </a:xfrm>
          <a:prstGeom prst="rect">
            <a:avLst/>
          </a:prstGeom>
          <a:noFill/>
        </p:spPr>
        <p:txBody>
          <a:bodyPr vert="horz" wrap="square" lIns="0" tIns="0" rIns="0" bIns="0" rtlCol="0">
            <a:noAutofit/>
          </a:bodyPr>
          <a:lstStyle/>
          <a:p>
            <a:r>
              <a:rPr lang="fr-FR" b="1">
                <a:solidFill>
                  <a:srgbClr val="B67608"/>
                </a:solidFill>
                <a:latin typeface="Calibri" panose="020F0502020204030204" pitchFamily="34" charset="0"/>
              </a:rPr>
              <a:t>Annuler une saisie qui vient d'être faite</a:t>
            </a:r>
          </a:p>
        </p:txBody>
      </p:sp>
      <p:sp>
        <p:nvSpPr>
          <p:cNvPr id="20" name="ZoneTexte 19">
            <a:extLst>
              <a:ext uri="{FF2B5EF4-FFF2-40B4-BE49-F238E27FC236}">
                <a16:creationId xmlns:a16="http://schemas.microsoft.com/office/drawing/2014/main" id="{DFB8CDB3-BCC0-A33F-DBDB-C03817EA9282}"/>
              </a:ext>
            </a:extLst>
          </p:cNvPr>
          <p:cNvSpPr txBox="1"/>
          <p:nvPr/>
        </p:nvSpPr>
        <p:spPr>
          <a:xfrm>
            <a:off x="3911600" y="4546600"/>
            <a:ext cx="7442200" cy="16510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Après un emprunt ou une signature, le message propose « Annuler » pendant 10 secondes au moins</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Emprunt supprimé ; attestation « En attente », archive et mention supprimées</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Refusé si une autre action a été enregistrée depuis pour la personne</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Au-delà : commentaire et administrateur</a:t>
            </a:r>
          </a:p>
        </p:txBody>
      </p:sp>
    </p:spTree>
    <p:extLst>
      <p:ext uri="{BB962C8B-B14F-4D97-AF65-F5344CB8AC3E}">
        <p14:creationId xmlns:p14="http://schemas.microsoft.com/office/powerpoint/2010/main" val="3626206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2941D0-3ECA-C1C9-27C0-38E3FE0A1A06}"/>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Le PDF d'attestation</a:t>
            </a:r>
          </a:p>
        </p:txBody>
      </p:sp>
      <p:sp>
        <p:nvSpPr>
          <p:cNvPr id="3" name="ZoneTexte 2">
            <a:extLst>
              <a:ext uri="{FF2B5EF4-FFF2-40B4-BE49-F238E27FC236}">
                <a16:creationId xmlns:a16="http://schemas.microsoft.com/office/drawing/2014/main" id="{3B8BF0C1-891C-211F-C304-C953AA63A2D1}"/>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LE DOCUMENT</a:t>
            </a:r>
          </a:p>
        </p:txBody>
      </p:sp>
      <p:sp>
        <p:nvSpPr>
          <p:cNvPr id="4" name="ZoneTexte 3">
            <a:extLst>
              <a:ext uri="{FF2B5EF4-FFF2-40B4-BE49-F238E27FC236}">
                <a16:creationId xmlns:a16="http://schemas.microsoft.com/office/drawing/2014/main" id="{661006A5-0DC6-F0C9-7CA6-8A4C9819C25D}"/>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Deux versions du même document, deux cases toujours remplies</a:t>
            </a:r>
          </a:p>
        </p:txBody>
      </p:sp>
      <p:sp>
        <p:nvSpPr>
          <p:cNvPr id="5" name="ZoneTexte 4">
            <a:extLst>
              <a:ext uri="{FF2B5EF4-FFF2-40B4-BE49-F238E27FC236}">
                <a16:creationId xmlns:a16="http://schemas.microsoft.com/office/drawing/2014/main" id="{7967E2C8-C1EC-B759-656B-12C8A093B318}"/>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56F19DB6-B094-E2EC-AD80-36E3743F3839}"/>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6DF1FFA4-F59C-4485-8FC0-D7C187C6E4AF}" type="slidenum">
              <a:rPr lang="fr-FR" sz="900" smtClean="0">
                <a:solidFill>
                  <a:srgbClr val="586080"/>
                </a:solidFill>
                <a:latin typeface="Calibri" panose="020F0502020204030204" pitchFamily="34" charset="0"/>
              </a:rPr>
              <a:t>23</a:t>
            </a:fld>
            <a:endParaRPr lang="fr-FR" sz="900">
              <a:solidFill>
                <a:srgbClr val="586080"/>
              </a:solidFill>
              <a:latin typeface="Calibri" panose="020F0502020204030204" pitchFamily="34" charset="0"/>
            </a:endParaRPr>
          </a:p>
        </p:txBody>
      </p:sp>
      <p:sp>
        <p:nvSpPr>
          <p:cNvPr id="7" name="Rectangle 6">
            <a:extLst>
              <a:ext uri="{FF2B5EF4-FFF2-40B4-BE49-F238E27FC236}">
                <a16:creationId xmlns:a16="http://schemas.microsoft.com/office/drawing/2014/main" id="{7EB15E97-FCC7-FCC6-3EE9-9349CA377A01}"/>
              </a:ext>
            </a:extLst>
          </p:cNvPr>
          <p:cNvSpPr/>
          <p:nvPr/>
        </p:nvSpPr>
        <p:spPr>
          <a:xfrm>
            <a:off x="609600" y="1600200"/>
            <a:ext cx="3327400" cy="4648200"/>
          </a:xfrm>
          <a:prstGeom prst="rect">
            <a:avLst/>
          </a:prstGeom>
          <a:solidFill>
            <a:srgbClr val="FFFFFF"/>
          </a:solidFill>
          <a:ln w="12700">
            <a:solidFill>
              <a:srgbClr val="DADDEE"/>
            </a:solidFill>
          </a:ln>
          <a:effectLst>
            <a:outerShdw blurRad="203200" dist="50800" dir="5400000" rotWithShape="0">
              <a:srgbClr val="1E1C8C">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4CCAAEB2-8F88-11EB-A5B3-1FB1E1B441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0400" y="1651000"/>
            <a:ext cx="3225800" cy="4559300"/>
          </a:xfrm>
          <a:prstGeom prst="rect">
            <a:avLst/>
          </a:prstGeom>
        </p:spPr>
      </p:pic>
      <p:sp>
        <p:nvSpPr>
          <p:cNvPr id="10" name="Rectangle : coins arrondis 9">
            <a:extLst>
              <a:ext uri="{FF2B5EF4-FFF2-40B4-BE49-F238E27FC236}">
                <a16:creationId xmlns:a16="http://schemas.microsoft.com/office/drawing/2014/main" id="{2A6B2C6A-09A1-6036-A04F-91E68AF21419}"/>
              </a:ext>
            </a:extLst>
          </p:cNvPr>
          <p:cNvSpPr/>
          <p:nvPr/>
        </p:nvSpPr>
        <p:spPr>
          <a:xfrm>
            <a:off x="4191000" y="1600200"/>
            <a:ext cx="3429000" cy="2159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B9653B48-BC9E-2A01-295F-0B2F564263BE}"/>
              </a:ext>
            </a:extLst>
          </p:cNvPr>
          <p:cNvSpPr txBox="1"/>
          <p:nvPr/>
        </p:nvSpPr>
        <p:spPr>
          <a:xfrm>
            <a:off x="4419600" y="1752600"/>
            <a:ext cx="2971800" cy="304800"/>
          </a:xfrm>
          <a:prstGeom prst="rect">
            <a:avLst/>
          </a:prstGeom>
          <a:noFill/>
        </p:spPr>
        <p:txBody>
          <a:bodyPr vert="horz" wrap="square" lIns="0" tIns="0" rIns="0" bIns="0" rtlCol="0">
            <a:noAutofit/>
          </a:bodyPr>
          <a:lstStyle/>
          <a:p>
            <a:r>
              <a:rPr lang="fr-FR" sz="1900" b="1">
                <a:solidFill>
                  <a:srgbClr val="2F7DD1"/>
                </a:solidFill>
                <a:latin typeface="Calibri" panose="020F0502020204030204" pitchFamily="34" charset="0"/>
              </a:rPr>
              <a:t>Émise</a:t>
            </a:r>
          </a:p>
        </p:txBody>
      </p:sp>
      <p:sp>
        <p:nvSpPr>
          <p:cNvPr id="12" name="ZoneTexte 11">
            <a:extLst>
              <a:ext uri="{FF2B5EF4-FFF2-40B4-BE49-F238E27FC236}">
                <a16:creationId xmlns:a16="http://schemas.microsoft.com/office/drawing/2014/main" id="{E6B2881C-5A5D-8E89-036B-CF40DB4E6192}"/>
              </a:ext>
            </a:extLst>
          </p:cNvPr>
          <p:cNvSpPr txBox="1"/>
          <p:nvPr/>
        </p:nvSpPr>
        <p:spPr>
          <a:xfrm>
            <a:off x="4419600" y="2159000"/>
            <a:ext cx="3022600" cy="15240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À l'envoi par email ou téléphone</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Date d'envoi dans les cases</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Bloc « Attestation émise »</a:t>
            </a:r>
          </a:p>
        </p:txBody>
      </p:sp>
      <p:sp>
        <p:nvSpPr>
          <p:cNvPr id="13" name="Rectangle : coins arrondis 12">
            <a:extLst>
              <a:ext uri="{FF2B5EF4-FFF2-40B4-BE49-F238E27FC236}">
                <a16:creationId xmlns:a16="http://schemas.microsoft.com/office/drawing/2014/main" id="{40E5B2A4-7524-11E3-FA4A-069ECBD86B6C}"/>
              </a:ext>
            </a:extLst>
          </p:cNvPr>
          <p:cNvSpPr/>
          <p:nvPr/>
        </p:nvSpPr>
        <p:spPr>
          <a:xfrm>
            <a:off x="7874000" y="1600200"/>
            <a:ext cx="3708400" cy="2159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3EC65966-5AD1-62E2-38E0-0413387A3A95}"/>
              </a:ext>
            </a:extLst>
          </p:cNvPr>
          <p:cNvSpPr txBox="1"/>
          <p:nvPr/>
        </p:nvSpPr>
        <p:spPr>
          <a:xfrm>
            <a:off x="8102600" y="1752600"/>
            <a:ext cx="3251200" cy="304800"/>
          </a:xfrm>
          <a:prstGeom prst="rect">
            <a:avLst/>
          </a:prstGeom>
          <a:noFill/>
        </p:spPr>
        <p:txBody>
          <a:bodyPr vert="horz" wrap="square" lIns="0" tIns="0" rIns="0" bIns="0" rtlCol="0">
            <a:noAutofit/>
          </a:bodyPr>
          <a:lstStyle/>
          <a:p>
            <a:r>
              <a:rPr lang="fr-FR" sz="1900" b="1">
                <a:solidFill>
                  <a:srgbClr val="1B9E6B"/>
                </a:solidFill>
                <a:latin typeface="Calibri" panose="020F0502020204030204" pitchFamily="34" charset="0"/>
              </a:rPr>
              <a:t>Signée</a:t>
            </a:r>
          </a:p>
        </p:txBody>
      </p:sp>
      <p:sp>
        <p:nvSpPr>
          <p:cNvPr id="15" name="ZoneTexte 14">
            <a:extLst>
              <a:ext uri="{FF2B5EF4-FFF2-40B4-BE49-F238E27FC236}">
                <a16:creationId xmlns:a16="http://schemas.microsoft.com/office/drawing/2014/main" id="{BC461B63-5C58-48CE-6989-5199AF703239}"/>
              </a:ext>
            </a:extLst>
          </p:cNvPr>
          <p:cNvSpPr txBox="1"/>
          <p:nvPr/>
        </p:nvSpPr>
        <p:spPr>
          <a:xfrm>
            <a:off x="8102600" y="2159000"/>
            <a:ext cx="3302000" cy="15240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Après « Marquer comme signée »</a:t>
            </a:r>
          </a:p>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Date de signature choisie</a:t>
            </a:r>
          </a:p>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Signature tracée ou nom</a:t>
            </a:r>
          </a:p>
          <a:p>
            <a:pPr marL="203200" indent="-203200">
              <a:spcAft>
                <a:spcPts val="400"/>
              </a:spcAft>
              <a:buClr>
                <a:srgbClr val="5853FF"/>
              </a:buClr>
              <a:buFont typeface="+mj-lt"/>
              <a:buChar char="•"/>
            </a:pPr>
            <a:r>
              <a:rPr lang="fr-FR" sz="1400">
                <a:solidFill>
                  <a:srgbClr val="12162B"/>
                </a:solidFill>
                <a:latin typeface="Calibri" panose="020F0502020204030204" pitchFamily="34" charset="0"/>
              </a:rPr>
              <a:t>Mention écrite éventuelle</a:t>
            </a:r>
          </a:p>
        </p:txBody>
      </p:sp>
      <p:sp>
        <p:nvSpPr>
          <p:cNvPr id="16" name="Rectangle : coins arrondis 15">
            <a:extLst>
              <a:ext uri="{FF2B5EF4-FFF2-40B4-BE49-F238E27FC236}">
                <a16:creationId xmlns:a16="http://schemas.microsoft.com/office/drawing/2014/main" id="{E22FBD84-F628-7CFF-B57D-ACAE0F9922E4}"/>
              </a:ext>
            </a:extLst>
          </p:cNvPr>
          <p:cNvSpPr/>
          <p:nvPr/>
        </p:nvSpPr>
        <p:spPr>
          <a:xfrm>
            <a:off x="4191000" y="3962400"/>
            <a:ext cx="7391400" cy="2286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4911EC75-B2DF-BFEF-86F0-2B4627E1A6BC}"/>
              </a:ext>
            </a:extLst>
          </p:cNvPr>
          <p:cNvSpPr txBox="1"/>
          <p:nvPr/>
        </p:nvSpPr>
        <p:spPr>
          <a:xfrm>
            <a:off x="4419600" y="4114800"/>
            <a:ext cx="69342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Contenu</a:t>
            </a:r>
          </a:p>
        </p:txBody>
      </p:sp>
      <p:sp>
        <p:nvSpPr>
          <p:cNvPr id="18" name="ZoneTexte 17">
            <a:extLst>
              <a:ext uri="{FF2B5EF4-FFF2-40B4-BE49-F238E27FC236}">
                <a16:creationId xmlns:a16="http://schemas.microsoft.com/office/drawing/2014/main" id="{C0430763-83BD-F60A-818B-012C3D10694C}"/>
              </a:ext>
            </a:extLst>
          </p:cNvPr>
          <p:cNvSpPr txBox="1"/>
          <p:nvPr/>
        </p:nvSpPr>
        <p:spPr>
          <a:xfrm>
            <a:off x="4419600" y="4495800"/>
            <a:ext cx="6934200" cy="12700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Collaborateur, texte d'attestation, tableau du matériel et total</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Dates d'emprunt et de restitution, envoi, signature, mention</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Cases de signature : date, signature ou nom, et « DSI » côté IT ; logo eXalt en en-tête</a:t>
            </a:r>
          </a:p>
        </p:txBody>
      </p:sp>
      <p:sp>
        <p:nvSpPr>
          <p:cNvPr id="19" name="ZoneTexte 18">
            <a:extLst>
              <a:ext uri="{FF2B5EF4-FFF2-40B4-BE49-F238E27FC236}">
                <a16:creationId xmlns:a16="http://schemas.microsoft.com/office/drawing/2014/main" id="{1D36B6A7-28F8-7C83-1254-75F5BF990FFF}"/>
              </a:ext>
            </a:extLst>
          </p:cNvPr>
          <p:cNvSpPr txBox="1"/>
          <p:nvPr/>
        </p:nvSpPr>
        <p:spPr>
          <a:xfrm>
            <a:off x="4419600" y="5842000"/>
            <a:ext cx="6934200" cy="254000"/>
          </a:xfrm>
          <a:prstGeom prst="rect">
            <a:avLst/>
          </a:prstGeom>
          <a:noFill/>
        </p:spPr>
        <p:txBody>
          <a:bodyPr vert="horz" wrap="square" lIns="0" tIns="0" rIns="0" bIns="0" rtlCol="0">
            <a:noAutofit/>
          </a:bodyPr>
          <a:lstStyle/>
          <a:p>
            <a:r>
              <a:rPr lang="fr-FR" sz="1200">
                <a:solidFill>
                  <a:srgbClr val="586080"/>
                </a:solidFill>
                <a:latin typeface="Calibri" panose="020F0502020204030204" pitchFamily="34" charset="0"/>
              </a:rPr>
              <a:t>Fichier : attestation_restitution_prenom-nom_ATT-3-5_signee.pdf</a:t>
            </a:r>
          </a:p>
        </p:txBody>
      </p:sp>
    </p:spTree>
    <p:extLst>
      <p:ext uri="{BB962C8B-B14F-4D97-AF65-F5344CB8AC3E}">
        <p14:creationId xmlns:p14="http://schemas.microsoft.com/office/powerpoint/2010/main" val="109446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48E4C5-7F00-16D7-3847-4E5C76D92818}"/>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Archives PDF : retrouver une preuve</a:t>
            </a:r>
          </a:p>
        </p:txBody>
      </p:sp>
      <p:sp>
        <p:nvSpPr>
          <p:cNvPr id="3" name="ZoneTexte 2">
            <a:extLst>
              <a:ext uri="{FF2B5EF4-FFF2-40B4-BE49-F238E27FC236}">
                <a16:creationId xmlns:a16="http://schemas.microsoft.com/office/drawing/2014/main" id="{31DC870C-2713-4A87-B61B-4FF957691059}"/>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7</a:t>
            </a:r>
          </a:p>
        </p:txBody>
      </p:sp>
      <p:sp>
        <p:nvSpPr>
          <p:cNvPr id="4" name="ZoneTexte 3">
            <a:extLst>
              <a:ext uri="{FF2B5EF4-FFF2-40B4-BE49-F238E27FC236}">
                <a16:creationId xmlns:a16="http://schemas.microsoft.com/office/drawing/2014/main" id="{5DDBF8F3-1F56-E550-CCE3-FF14A195FE47}"/>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Le PDF signé de chaque attestation, à tout moment</a:t>
            </a:r>
          </a:p>
        </p:txBody>
      </p:sp>
      <p:sp>
        <p:nvSpPr>
          <p:cNvPr id="5" name="ZoneTexte 4">
            <a:extLst>
              <a:ext uri="{FF2B5EF4-FFF2-40B4-BE49-F238E27FC236}">
                <a16:creationId xmlns:a16="http://schemas.microsoft.com/office/drawing/2014/main" id="{CA73AFC3-6552-8BDF-5419-BD5F6C175E2D}"/>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AD4CFA0E-9708-0387-5653-4C84FDE2300C}"/>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6C7C121D-A677-498C-95B8-F8B37A6BDD5C}" type="slidenum">
              <a:rPr lang="fr-FR" sz="900" smtClean="0">
                <a:solidFill>
                  <a:srgbClr val="586080"/>
                </a:solidFill>
                <a:latin typeface="Calibri" panose="020F0502020204030204" pitchFamily="34" charset="0"/>
              </a:rPr>
              <a:t>24</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6EF5AA21-8498-CFCB-7569-2D96B5CF8E37}"/>
              </a:ext>
            </a:extLst>
          </p:cNvPr>
          <p:cNvSpPr/>
          <p:nvPr/>
        </p:nvSpPr>
        <p:spPr>
          <a:xfrm>
            <a:off x="609600" y="1600200"/>
            <a:ext cx="7239000" cy="4803775"/>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B6C45A02-DA06-3E74-B311-EB9991365C9F}"/>
              </a:ext>
            </a:extLst>
          </p:cNvPr>
          <p:cNvSpPr/>
          <p:nvPr/>
        </p:nvSpPr>
        <p:spPr>
          <a:xfrm>
            <a:off x="609600" y="1600200"/>
            <a:ext cx="7239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AA9B4B3D-FF02-C7D2-0215-DC4641897490}"/>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DB00A8D0-7B55-2145-B884-5193779520D0}"/>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4F7326C-7163-8A0C-6712-E4E09ABA928D}"/>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9175A883-2761-0631-931C-25396B367791}"/>
              </a:ext>
            </a:extLst>
          </p:cNvPr>
          <p:cNvSpPr/>
          <p:nvPr/>
        </p:nvSpPr>
        <p:spPr>
          <a:xfrm>
            <a:off x="3086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B4D1FA6C-70FE-CF97-7B5F-6615630A4B3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7239000" cy="4524375"/>
          </a:xfrm>
          <a:prstGeom prst="rect">
            <a:avLst/>
          </a:prstGeom>
        </p:spPr>
      </p:pic>
      <p:sp>
        <p:nvSpPr>
          <p:cNvPr id="15" name="Ellipse 14">
            <a:extLst>
              <a:ext uri="{FF2B5EF4-FFF2-40B4-BE49-F238E27FC236}">
                <a16:creationId xmlns:a16="http://schemas.microsoft.com/office/drawing/2014/main" id="{97793400-FB44-1B3C-EAC9-639DCFC80C44}"/>
              </a:ext>
            </a:extLst>
          </p:cNvPr>
          <p:cNvSpPr/>
          <p:nvPr/>
        </p:nvSpPr>
        <p:spPr>
          <a:xfrm>
            <a:off x="1910292" y="294904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5885C2F6-91FC-AFC7-69DD-76EF380C56AE}"/>
              </a:ext>
            </a:extLst>
          </p:cNvPr>
          <p:cNvSpPr/>
          <p:nvPr/>
        </p:nvSpPr>
        <p:spPr>
          <a:xfrm>
            <a:off x="1910292" y="392932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5AD263DB-FF3B-A179-C57A-2E04588CF888}"/>
              </a:ext>
            </a:extLst>
          </p:cNvPr>
          <p:cNvSpPr/>
          <p:nvPr/>
        </p:nvSpPr>
        <p:spPr>
          <a:xfrm>
            <a:off x="3901017" y="392932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46066046-9583-CD1E-CE74-6F1202D55ECE}"/>
              </a:ext>
            </a:extLst>
          </p:cNvPr>
          <p:cNvSpPr/>
          <p:nvPr/>
        </p:nvSpPr>
        <p:spPr>
          <a:xfrm>
            <a:off x="2438135" y="477387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DE31C75E-DEA8-2456-BBA6-83BC7EABD779}"/>
              </a:ext>
            </a:extLst>
          </p:cNvPr>
          <p:cNvSpPr/>
          <p:nvPr/>
        </p:nvSpPr>
        <p:spPr>
          <a:xfrm>
            <a:off x="6434667" y="4577821"/>
            <a:ext cx="253999"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Ellipse 19">
            <a:extLst>
              <a:ext uri="{FF2B5EF4-FFF2-40B4-BE49-F238E27FC236}">
                <a16:creationId xmlns:a16="http://schemas.microsoft.com/office/drawing/2014/main" id="{307A818C-D888-9ABC-0ADE-F837C3544725}"/>
              </a:ext>
            </a:extLst>
          </p:cNvPr>
          <p:cNvSpPr/>
          <p:nvPr/>
        </p:nvSpPr>
        <p:spPr>
          <a:xfrm>
            <a:off x="7143486" y="4577821"/>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21" name="Rectangle : coins arrondis 20">
            <a:extLst>
              <a:ext uri="{FF2B5EF4-FFF2-40B4-BE49-F238E27FC236}">
                <a16:creationId xmlns:a16="http://schemas.microsoft.com/office/drawing/2014/main" id="{A34C30E9-D3EF-367C-8632-7FA235A0137F}"/>
              </a:ext>
            </a:extLst>
          </p:cNvPr>
          <p:cNvSpPr/>
          <p:nvPr/>
        </p:nvSpPr>
        <p:spPr>
          <a:xfrm>
            <a:off x="8483600" y="1600200"/>
            <a:ext cx="30988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FA393321-8F96-86AE-BC3B-24BBCDAE1D2C}"/>
              </a:ext>
            </a:extLst>
          </p:cNvPr>
          <p:cNvSpPr txBox="1"/>
          <p:nvPr/>
        </p:nvSpPr>
        <p:spPr>
          <a:xfrm>
            <a:off x="8712200" y="1752600"/>
            <a:ext cx="2667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3" name="Ellipse 22">
            <a:extLst>
              <a:ext uri="{FF2B5EF4-FFF2-40B4-BE49-F238E27FC236}">
                <a16:creationId xmlns:a16="http://schemas.microsoft.com/office/drawing/2014/main" id="{38ACF4B3-B20D-3426-6347-91C30B6E0E35}"/>
              </a:ext>
            </a:extLst>
          </p:cNvPr>
          <p:cNvSpPr/>
          <p:nvPr/>
        </p:nvSpPr>
        <p:spPr>
          <a:xfrm>
            <a:off x="87122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4" name="ZoneTexte 23">
            <a:extLst>
              <a:ext uri="{FF2B5EF4-FFF2-40B4-BE49-F238E27FC236}">
                <a16:creationId xmlns:a16="http://schemas.microsoft.com/office/drawing/2014/main" id="{79653A0A-D2CF-1588-079A-3F8279EE9971}"/>
              </a:ext>
            </a:extLst>
          </p:cNvPr>
          <p:cNvSpPr txBox="1"/>
          <p:nvPr/>
        </p:nvSpPr>
        <p:spPr>
          <a:xfrm>
            <a:off x="9118600" y="2146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Indicateurs : archivés, à archiver, espace, dernière signature</a:t>
            </a:r>
          </a:p>
        </p:txBody>
      </p:sp>
      <p:sp>
        <p:nvSpPr>
          <p:cNvPr id="25" name="Ellipse 24">
            <a:extLst>
              <a:ext uri="{FF2B5EF4-FFF2-40B4-BE49-F238E27FC236}">
                <a16:creationId xmlns:a16="http://schemas.microsoft.com/office/drawing/2014/main" id="{8D45D8FE-A2C3-D710-EADD-2A7F36611A8C}"/>
              </a:ext>
            </a:extLst>
          </p:cNvPr>
          <p:cNvSpPr/>
          <p:nvPr/>
        </p:nvSpPr>
        <p:spPr>
          <a:xfrm>
            <a:off x="8712200" y="2641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6" name="ZoneTexte 25">
            <a:extLst>
              <a:ext uri="{FF2B5EF4-FFF2-40B4-BE49-F238E27FC236}">
                <a16:creationId xmlns:a16="http://schemas.microsoft.com/office/drawing/2014/main" id="{AFFEB061-3020-C65A-5C9D-3ED9E779ABE2}"/>
              </a:ext>
            </a:extLst>
          </p:cNvPr>
          <p:cNvSpPr txBox="1"/>
          <p:nvPr/>
        </p:nvSpPr>
        <p:spPr>
          <a:xfrm>
            <a:off x="9118600" y="2654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Filtres : tous, archivés, à archiver</a:t>
            </a:r>
          </a:p>
        </p:txBody>
      </p:sp>
      <p:sp>
        <p:nvSpPr>
          <p:cNvPr id="27" name="Ellipse 26">
            <a:extLst>
              <a:ext uri="{FF2B5EF4-FFF2-40B4-BE49-F238E27FC236}">
                <a16:creationId xmlns:a16="http://schemas.microsoft.com/office/drawing/2014/main" id="{3924D025-B69D-BF2E-0C4E-EAE98FC4256F}"/>
              </a:ext>
            </a:extLst>
          </p:cNvPr>
          <p:cNvSpPr/>
          <p:nvPr/>
        </p:nvSpPr>
        <p:spPr>
          <a:xfrm>
            <a:off x="8712200" y="3149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28" name="ZoneTexte 27">
            <a:extLst>
              <a:ext uri="{FF2B5EF4-FFF2-40B4-BE49-F238E27FC236}">
                <a16:creationId xmlns:a16="http://schemas.microsoft.com/office/drawing/2014/main" id="{DF5E7E2E-4447-42B1-09AA-1F3B3FEF0F77}"/>
              </a:ext>
            </a:extLst>
          </p:cNvPr>
          <p:cNvSpPr txBox="1"/>
          <p:nvPr/>
        </p:nvSpPr>
        <p:spPr>
          <a:xfrm>
            <a:off x="9118600" y="3162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Période (date de signature)</a:t>
            </a:r>
          </a:p>
        </p:txBody>
      </p:sp>
      <p:sp>
        <p:nvSpPr>
          <p:cNvPr id="29" name="Ellipse 28">
            <a:extLst>
              <a:ext uri="{FF2B5EF4-FFF2-40B4-BE49-F238E27FC236}">
                <a16:creationId xmlns:a16="http://schemas.microsoft.com/office/drawing/2014/main" id="{BE2E51D6-B63D-95AB-BC03-4D0726C9182A}"/>
              </a:ext>
            </a:extLst>
          </p:cNvPr>
          <p:cNvSpPr/>
          <p:nvPr/>
        </p:nvSpPr>
        <p:spPr>
          <a:xfrm>
            <a:off x="8712200" y="3657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30" name="ZoneTexte 29">
            <a:extLst>
              <a:ext uri="{FF2B5EF4-FFF2-40B4-BE49-F238E27FC236}">
                <a16:creationId xmlns:a16="http://schemas.microsoft.com/office/drawing/2014/main" id="{39F586FE-A639-02E1-EC6B-F28CE913E2AD}"/>
              </a:ext>
            </a:extLst>
          </p:cNvPr>
          <p:cNvSpPr txBox="1"/>
          <p:nvPr/>
        </p:nvSpPr>
        <p:spPr>
          <a:xfrm>
            <a:off x="9118600" y="3670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Cycle de vie de l'attestation</a:t>
            </a:r>
          </a:p>
        </p:txBody>
      </p:sp>
      <p:sp>
        <p:nvSpPr>
          <p:cNvPr id="31" name="Ellipse 30">
            <a:extLst>
              <a:ext uri="{FF2B5EF4-FFF2-40B4-BE49-F238E27FC236}">
                <a16:creationId xmlns:a16="http://schemas.microsoft.com/office/drawing/2014/main" id="{C19583DB-E8FF-A93F-53B9-A6689BB9AB85}"/>
              </a:ext>
            </a:extLst>
          </p:cNvPr>
          <p:cNvSpPr/>
          <p:nvPr/>
        </p:nvSpPr>
        <p:spPr>
          <a:xfrm>
            <a:off x="8712200" y="4165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2" name="ZoneTexte 31">
            <a:extLst>
              <a:ext uri="{FF2B5EF4-FFF2-40B4-BE49-F238E27FC236}">
                <a16:creationId xmlns:a16="http://schemas.microsoft.com/office/drawing/2014/main" id="{F20403EC-9901-298E-E790-E5ED7AABACF7}"/>
              </a:ext>
            </a:extLst>
          </p:cNvPr>
          <p:cNvSpPr txBox="1"/>
          <p:nvPr/>
        </p:nvSpPr>
        <p:spPr>
          <a:xfrm>
            <a:off x="9118600" y="4178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Statut : Archivé ou Non archivé</a:t>
            </a:r>
          </a:p>
        </p:txBody>
      </p:sp>
      <p:sp>
        <p:nvSpPr>
          <p:cNvPr id="33" name="Ellipse 32">
            <a:extLst>
              <a:ext uri="{FF2B5EF4-FFF2-40B4-BE49-F238E27FC236}">
                <a16:creationId xmlns:a16="http://schemas.microsoft.com/office/drawing/2014/main" id="{96671DDA-5953-A25A-07D3-BE21BC48AED9}"/>
              </a:ext>
            </a:extLst>
          </p:cNvPr>
          <p:cNvSpPr/>
          <p:nvPr/>
        </p:nvSpPr>
        <p:spPr>
          <a:xfrm>
            <a:off x="8712200" y="467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34" name="ZoneTexte 33">
            <a:extLst>
              <a:ext uri="{FF2B5EF4-FFF2-40B4-BE49-F238E27FC236}">
                <a16:creationId xmlns:a16="http://schemas.microsoft.com/office/drawing/2014/main" id="{F900B9EB-D04A-C126-AEBB-3C7611606C4D}"/>
              </a:ext>
            </a:extLst>
          </p:cNvPr>
          <p:cNvSpPr txBox="1"/>
          <p:nvPr/>
        </p:nvSpPr>
        <p:spPr>
          <a:xfrm>
            <a:off x="9118600" y="4686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Télécharger / Archiver le PDF</a:t>
            </a:r>
          </a:p>
        </p:txBody>
      </p:sp>
    </p:spTree>
    <p:extLst>
      <p:ext uri="{BB962C8B-B14F-4D97-AF65-F5344CB8AC3E}">
        <p14:creationId xmlns:p14="http://schemas.microsoft.com/office/powerpoint/2010/main" val="3862271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6370BF-8EE4-7589-7A21-CA9D37C5C191}"/>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Matériel perdu : la synthèse</a:t>
            </a:r>
          </a:p>
        </p:txBody>
      </p:sp>
      <p:sp>
        <p:nvSpPr>
          <p:cNvPr id="3" name="ZoneTexte 2">
            <a:extLst>
              <a:ext uri="{FF2B5EF4-FFF2-40B4-BE49-F238E27FC236}">
                <a16:creationId xmlns:a16="http://schemas.microsoft.com/office/drawing/2014/main" id="{F03DD75E-01EF-6A2C-2638-1872F57B817E}"/>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4</a:t>
            </a:r>
          </a:p>
        </p:txBody>
      </p:sp>
      <p:sp>
        <p:nvSpPr>
          <p:cNvPr id="4" name="ZoneTexte 3">
            <a:extLst>
              <a:ext uri="{FF2B5EF4-FFF2-40B4-BE49-F238E27FC236}">
                <a16:creationId xmlns:a16="http://schemas.microsoft.com/office/drawing/2014/main" id="{D5FDEA72-6D90-0673-DB1E-8063B8066D41}"/>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Perdu, volé ou abîmé, par type d'équipement</a:t>
            </a:r>
          </a:p>
        </p:txBody>
      </p:sp>
      <p:sp>
        <p:nvSpPr>
          <p:cNvPr id="5" name="ZoneTexte 4">
            <a:extLst>
              <a:ext uri="{FF2B5EF4-FFF2-40B4-BE49-F238E27FC236}">
                <a16:creationId xmlns:a16="http://schemas.microsoft.com/office/drawing/2014/main" id="{45E1D2D6-6838-DFBC-543E-54BA4FA22CCC}"/>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41AFED67-125C-DDB1-8E60-E05BE76C93A6}"/>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0D213892-5223-45FA-8BBD-91D6CEA08237}" type="slidenum">
              <a:rPr lang="fr-FR" sz="900" smtClean="0">
                <a:solidFill>
                  <a:srgbClr val="586080"/>
                </a:solidFill>
                <a:latin typeface="Calibri" panose="020F0502020204030204" pitchFamily="34" charset="0"/>
              </a:rPr>
              <a:t>25</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364D65F4-4B69-CEBE-890E-459DC3354081}"/>
              </a:ext>
            </a:extLst>
          </p:cNvPr>
          <p:cNvSpPr/>
          <p:nvPr/>
        </p:nvSpPr>
        <p:spPr>
          <a:xfrm>
            <a:off x="609600" y="1600200"/>
            <a:ext cx="7239000" cy="4200525"/>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C1553E0A-722B-6848-B69E-109C5EE32878}"/>
              </a:ext>
            </a:extLst>
          </p:cNvPr>
          <p:cNvSpPr/>
          <p:nvPr/>
        </p:nvSpPr>
        <p:spPr>
          <a:xfrm>
            <a:off x="609600" y="1600200"/>
            <a:ext cx="7239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98AC40D6-4AD2-EFE4-391F-A647BA9AD35D}"/>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673DF131-AFF6-1E60-312E-B21A52B63FDF}"/>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7E437137-D014-C1D3-A1BD-54E8DF53B997}"/>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FB784A24-09B3-83FB-A1D0-18DAE253E52F}"/>
              </a:ext>
            </a:extLst>
          </p:cNvPr>
          <p:cNvSpPr/>
          <p:nvPr/>
        </p:nvSpPr>
        <p:spPr>
          <a:xfrm>
            <a:off x="3086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E18E70A4-F005-1E6C-3445-A780BB88549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7239000" cy="3921125"/>
          </a:xfrm>
          <a:prstGeom prst="rect">
            <a:avLst/>
          </a:prstGeom>
        </p:spPr>
      </p:pic>
      <p:sp>
        <p:nvSpPr>
          <p:cNvPr id="15" name="Ellipse 14">
            <a:extLst>
              <a:ext uri="{FF2B5EF4-FFF2-40B4-BE49-F238E27FC236}">
                <a16:creationId xmlns:a16="http://schemas.microsoft.com/office/drawing/2014/main" id="{7D172966-E05C-632C-CC77-24BC91AB56A7}"/>
              </a:ext>
            </a:extLst>
          </p:cNvPr>
          <p:cNvSpPr/>
          <p:nvPr/>
        </p:nvSpPr>
        <p:spPr>
          <a:xfrm>
            <a:off x="1960563" y="2727854"/>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CBDE587C-B215-C837-7210-178CAF2C48DA}"/>
              </a:ext>
            </a:extLst>
          </p:cNvPr>
          <p:cNvSpPr/>
          <p:nvPr/>
        </p:nvSpPr>
        <p:spPr>
          <a:xfrm>
            <a:off x="2960952" y="375840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F8DE4F9C-0B21-20CD-EB7C-CBAB64E78AB5}"/>
              </a:ext>
            </a:extLst>
          </p:cNvPr>
          <p:cNvSpPr/>
          <p:nvPr/>
        </p:nvSpPr>
        <p:spPr>
          <a:xfrm>
            <a:off x="4453996" y="375840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6C1F9EFA-1F83-3F38-626C-51D73D0D56CD}"/>
              </a:ext>
            </a:extLst>
          </p:cNvPr>
          <p:cNvSpPr/>
          <p:nvPr/>
        </p:nvSpPr>
        <p:spPr>
          <a:xfrm>
            <a:off x="2669381" y="4381765"/>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981BD24B-8783-6F1E-2D53-6CCA42FC1EDA}"/>
              </a:ext>
            </a:extLst>
          </p:cNvPr>
          <p:cNvSpPr/>
          <p:nvPr/>
        </p:nvSpPr>
        <p:spPr>
          <a:xfrm>
            <a:off x="6605588" y="425106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Ellipse 19">
            <a:extLst>
              <a:ext uri="{FF2B5EF4-FFF2-40B4-BE49-F238E27FC236}">
                <a16:creationId xmlns:a16="http://schemas.microsoft.com/office/drawing/2014/main" id="{6A67C8D2-3135-1F47-D5EF-F6BDE2E5AB8C}"/>
              </a:ext>
            </a:extLst>
          </p:cNvPr>
          <p:cNvSpPr/>
          <p:nvPr/>
        </p:nvSpPr>
        <p:spPr>
          <a:xfrm>
            <a:off x="5394060" y="375840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21" name="Rectangle : coins arrondis 20">
            <a:extLst>
              <a:ext uri="{FF2B5EF4-FFF2-40B4-BE49-F238E27FC236}">
                <a16:creationId xmlns:a16="http://schemas.microsoft.com/office/drawing/2014/main" id="{96CB6078-1013-3048-DC7D-36A31AF41721}"/>
              </a:ext>
            </a:extLst>
          </p:cNvPr>
          <p:cNvSpPr/>
          <p:nvPr/>
        </p:nvSpPr>
        <p:spPr>
          <a:xfrm>
            <a:off x="8483600" y="1600200"/>
            <a:ext cx="30988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563F3A33-893B-CD82-B53F-77AC2D78EA0D}"/>
              </a:ext>
            </a:extLst>
          </p:cNvPr>
          <p:cNvSpPr txBox="1"/>
          <p:nvPr/>
        </p:nvSpPr>
        <p:spPr>
          <a:xfrm>
            <a:off x="8712200" y="1752600"/>
            <a:ext cx="2667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3" name="Ellipse 22">
            <a:extLst>
              <a:ext uri="{FF2B5EF4-FFF2-40B4-BE49-F238E27FC236}">
                <a16:creationId xmlns:a16="http://schemas.microsoft.com/office/drawing/2014/main" id="{D21D4DD1-EEDE-09AE-B9E7-336EB3DBE07D}"/>
              </a:ext>
            </a:extLst>
          </p:cNvPr>
          <p:cNvSpPr/>
          <p:nvPr/>
        </p:nvSpPr>
        <p:spPr>
          <a:xfrm>
            <a:off x="87122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4" name="ZoneTexte 23">
            <a:extLst>
              <a:ext uri="{FF2B5EF4-FFF2-40B4-BE49-F238E27FC236}">
                <a16:creationId xmlns:a16="http://schemas.microsoft.com/office/drawing/2014/main" id="{9CE93E9C-0E3B-E52A-5E60-AB9F5C74699B}"/>
              </a:ext>
            </a:extLst>
          </p:cNvPr>
          <p:cNvSpPr txBox="1"/>
          <p:nvPr/>
        </p:nvSpPr>
        <p:spPr>
          <a:xfrm>
            <a:off x="9118600" y="2146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Indicateurs : unités, déclarations, type le plus touché, ce mois-ci</a:t>
            </a:r>
          </a:p>
        </p:txBody>
      </p:sp>
      <p:sp>
        <p:nvSpPr>
          <p:cNvPr id="25" name="Ellipse 24">
            <a:extLst>
              <a:ext uri="{FF2B5EF4-FFF2-40B4-BE49-F238E27FC236}">
                <a16:creationId xmlns:a16="http://schemas.microsoft.com/office/drawing/2014/main" id="{2B4235FC-BA87-A743-B1E1-095AF9AE8007}"/>
              </a:ext>
            </a:extLst>
          </p:cNvPr>
          <p:cNvSpPr/>
          <p:nvPr/>
        </p:nvSpPr>
        <p:spPr>
          <a:xfrm>
            <a:off x="8712200" y="2641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6" name="ZoneTexte 25">
            <a:extLst>
              <a:ext uri="{FF2B5EF4-FFF2-40B4-BE49-F238E27FC236}">
                <a16:creationId xmlns:a16="http://schemas.microsoft.com/office/drawing/2014/main" id="{A230D18A-4342-9DF6-4396-BFF6036777D5}"/>
              </a:ext>
            </a:extLst>
          </p:cNvPr>
          <p:cNvSpPr txBox="1"/>
          <p:nvPr/>
        </p:nvSpPr>
        <p:spPr>
          <a:xfrm>
            <a:off x="9118600" y="2654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Type de matériel (liste déroulante)</a:t>
            </a:r>
          </a:p>
        </p:txBody>
      </p:sp>
      <p:sp>
        <p:nvSpPr>
          <p:cNvPr id="27" name="Ellipse 26">
            <a:extLst>
              <a:ext uri="{FF2B5EF4-FFF2-40B4-BE49-F238E27FC236}">
                <a16:creationId xmlns:a16="http://schemas.microsoft.com/office/drawing/2014/main" id="{BA6D42A9-03D3-739E-578C-A0B137D6E53C}"/>
              </a:ext>
            </a:extLst>
          </p:cNvPr>
          <p:cNvSpPr/>
          <p:nvPr/>
        </p:nvSpPr>
        <p:spPr>
          <a:xfrm>
            <a:off x="8712200" y="3149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28" name="ZoneTexte 27">
            <a:extLst>
              <a:ext uri="{FF2B5EF4-FFF2-40B4-BE49-F238E27FC236}">
                <a16:creationId xmlns:a16="http://schemas.microsoft.com/office/drawing/2014/main" id="{E65D82B8-BA8A-284A-3277-A09C19A2BB87}"/>
              </a:ext>
            </a:extLst>
          </p:cNvPr>
          <p:cNvSpPr txBox="1"/>
          <p:nvPr/>
        </p:nvSpPr>
        <p:spPr>
          <a:xfrm>
            <a:off x="9118600" y="3162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Période</a:t>
            </a:r>
          </a:p>
        </p:txBody>
      </p:sp>
      <p:sp>
        <p:nvSpPr>
          <p:cNvPr id="29" name="Ellipse 28">
            <a:extLst>
              <a:ext uri="{FF2B5EF4-FFF2-40B4-BE49-F238E27FC236}">
                <a16:creationId xmlns:a16="http://schemas.microsoft.com/office/drawing/2014/main" id="{00B08C37-E6BB-2859-53DA-472564825251}"/>
              </a:ext>
            </a:extLst>
          </p:cNvPr>
          <p:cNvSpPr/>
          <p:nvPr/>
        </p:nvSpPr>
        <p:spPr>
          <a:xfrm>
            <a:off x="8712200" y="3657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30" name="ZoneTexte 29">
            <a:extLst>
              <a:ext uri="{FF2B5EF4-FFF2-40B4-BE49-F238E27FC236}">
                <a16:creationId xmlns:a16="http://schemas.microsoft.com/office/drawing/2014/main" id="{A4529976-A6AB-A50E-5D0B-0CC1F37E82BD}"/>
              </a:ext>
            </a:extLst>
          </p:cNvPr>
          <p:cNvSpPr txBox="1"/>
          <p:nvPr/>
        </p:nvSpPr>
        <p:spPr>
          <a:xfrm>
            <a:off x="9118600" y="3670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Une pastille par déclaration</a:t>
            </a:r>
          </a:p>
        </p:txBody>
      </p:sp>
      <p:sp>
        <p:nvSpPr>
          <p:cNvPr id="31" name="Ellipse 30">
            <a:extLst>
              <a:ext uri="{FF2B5EF4-FFF2-40B4-BE49-F238E27FC236}">
                <a16:creationId xmlns:a16="http://schemas.microsoft.com/office/drawing/2014/main" id="{0A66E969-2E68-9AA4-7499-DE473372FB94}"/>
              </a:ext>
            </a:extLst>
          </p:cNvPr>
          <p:cNvSpPr/>
          <p:nvPr/>
        </p:nvSpPr>
        <p:spPr>
          <a:xfrm>
            <a:off x="8712200" y="4165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2" name="ZoneTexte 31">
            <a:extLst>
              <a:ext uri="{FF2B5EF4-FFF2-40B4-BE49-F238E27FC236}">
                <a16:creationId xmlns:a16="http://schemas.microsoft.com/office/drawing/2014/main" id="{6E21EFF1-6FC8-DAC4-3238-FD29D9F3D1E2}"/>
              </a:ext>
            </a:extLst>
          </p:cNvPr>
          <p:cNvSpPr txBox="1"/>
          <p:nvPr/>
        </p:nvSpPr>
        <p:spPr>
          <a:xfrm>
            <a:off x="9118600" y="4178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Jauge : part des pertes</a:t>
            </a:r>
          </a:p>
        </p:txBody>
      </p:sp>
      <p:sp>
        <p:nvSpPr>
          <p:cNvPr id="33" name="Ellipse 32">
            <a:extLst>
              <a:ext uri="{FF2B5EF4-FFF2-40B4-BE49-F238E27FC236}">
                <a16:creationId xmlns:a16="http://schemas.microsoft.com/office/drawing/2014/main" id="{C83D2B9C-4F2C-2659-5B29-CCA4E98737DA}"/>
              </a:ext>
            </a:extLst>
          </p:cNvPr>
          <p:cNvSpPr/>
          <p:nvPr/>
        </p:nvSpPr>
        <p:spPr>
          <a:xfrm>
            <a:off x="8712200" y="467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34" name="ZoneTexte 33">
            <a:extLst>
              <a:ext uri="{FF2B5EF4-FFF2-40B4-BE49-F238E27FC236}">
                <a16:creationId xmlns:a16="http://schemas.microsoft.com/office/drawing/2014/main" id="{8E01855D-6FF4-A625-6D8F-50BF76CC4A50}"/>
              </a:ext>
            </a:extLst>
          </p:cNvPr>
          <p:cNvSpPr txBox="1"/>
          <p:nvPr/>
        </p:nvSpPr>
        <p:spPr>
          <a:xfrm>
            <a:off x="9118600" y="4686300"/>
            <a:ext cx="2260600" cy="457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Exporter CSV</a:t>
            </a:r>
          </a:p>
        </p:txBody>
      </p:sp>
      <p:sp>
        <p:nvSpPr>
          <p:cNvPr id="35" name="ZoneTexte 34">
            <a:extLst>
              <a:ext uri="{FF2B5EF4-FFF2-40B4-BE49-F238E27FC236}">
                <a16:creationId xmlns:a16="http://schemas.microsoft.com/office/drawing/2014/main" id="{B6A87F0A-362A-0DE0-0F5B-68C4F26E1053}"/>
              </a:ext>
            </a:extLst>
          </p:cNvPr>
          <p:cNvSpPr txBox="1"/>
          <p:nvPr/>
        </p:nvSpPr>
        <p:spPr>
          <a:xfrm>
            <a:off x="8712200" y="5384800"/>
            <a:ext cx="2667000" cy="787400"/>
          </a:xfrm>
          <a:prstGeom prst="rect">
            <a:avLst/>
          </a:prstGeom>
          <a:noFill/>
        </p:spPr>
        <p:txBody>
          <a:bodyPr vert="horz" wrap="square" lIns="0" tIns="0" rIns="0" bIns="0" rtlCol="0">
            <a:noAutofit/>
          </a:bodyPr>
          <a:lstStyle/>
          <a:p>
            <a:r>
              <a:rPr lang="fr-FR" sz="1200">
                <a:solidFill>
                  <a:srgbClr val="586080"/>
                </a:solidFill>
                <a:latin typeface="Calibri" panose="020F0502020204030204" pitchFamily="34" charset="0"/>
              </a:rPr>
              <a:t>Au-delà de six pastilles : « + N autres ».</a:t>
            </a:r>
          </a:p>
        </p:txBody>
      </p:sp>
    </p:spTree>
    <p:extLst>
      <p:ext uri="{BB962C8B-B14F-4D97-AF65-F5344CB8AC3E}">
        <p14:creationId xmlns:p14="http://schemas.microsoft.com/office/powerpoint/2010/main" val="1500561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9C2EB1-0FCA-C76D-BEA4-25A6D0249C42}"/>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Inventaire : la vue d'ensemble en anneaux</a:t>
            </a:r>
          </a:p>
        </p:txBody>
      </p:sp>
      <p:sp>
        <p:nvSpPr>
          <p:cNvPr id="3" name="ZoneTexte 2">
            <a:extLst>
              <a:ext uri="{FF2B5EF4-FFF2-40B4-BE49-F238E27FC236}">
                <a16:creationId xmlns:a16="http://schemas.microsoft.com/office/drawing/2014/main" id="{CBC94290-B22C-AED3-728C-C4A6D4F0F43D}"/>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5</a:t>
            </a:r>
          </a:p>
        </p:txBody>
      </p:sp>
      <p:sp>
        <p:nvSpPr>
          <p:cNvPr id="4" name="ZoneTexte 3">
            <a:extLst>
              <a:ext uri="{FF2B5EF4-FFF2-40B4-BE49-F238E27FC236}">
                <a16:creationId xmlns:a16="http://schemas.microsoft.com/office/drawing/2014/main" id="{81E0D0F6-447D-AE75-EB98-E4285CF73074}"/>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 anneau par type de matériel : le stock au centre, la répartition autour</a:t>
            </a:r>
          </a:p>
        </p:txBody>
      </p:sp>
      <p:sp>
        <p:nvSpPr>
          <p:cNvPr id="5" name="ZoneTexte 4">
            <a:extLst>
              <a:ext uri="{FF2B5EF4-FFF2-40B4-BE49-F238E27FC236}">
                <a16:creationId xmlns:a16="http://schemas.microsoft.com/office/drawing/2014/main" id="{00C0F631-7CD6-C406-B780-B6358EE81219}"/>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961836FD-FC7D-353F-1BC9-8EF1339628A1}"/>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9A6AAEA5-C502-4C84-BACB-CEBDEBED4E6D}" type="slidenum">
              <a:rPr lang="fr-FR" sz="900" smtClean="0">
                <a:solidFill>
                  <a:srgbClr val="586080"/>
                </a:solidFill>
                <a:latin typeface="Calibri" panose="020F0502020204030204" pitchFamily="34" charset="0"/>
              </a:rPr>
              <a:t>26</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9E3185AD-1E90-1585-C8AF-E8B487453EA0}"/>
              </a:ext>
            </a:extLst>
          </p:cNvPr>
          <p:cNvSpPr/>
          <p:nvPr/>
        </p:nvSpPr>
        <p:spPr>
          <a:xfrm>
            <a:off x="609600" y="1600200"/>
            <a:ext cx="5715000" cy="456565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AE236FC6-2316-CAC2-844D-47FE0928F736}"/>
              </a:ext>
            </a:extLst>
          </p:cNvPr>
          <p:cNvSpPr/>
          <p:nvPr/>
        </p:nvSpPr>
        <p:spPr>
          <a:xfrm>
            <a:off x="609600" y="1600200"/>
            <a:ext cx="5715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98BB7759-E90A-F5BD-AC83-EBF4245A2009}"/>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F7005A41-3776-53C7-77D7-294F8F1D06B8}"/>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2711D64-9B21-DACA-98D4-9232B50759F2}"/>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1D9FFCFC-5521-248A-A6C4-5B4FE471E3CF}"/>
              </a:ext>
            </a:extLst>
          </p:cNvPr>
          <p:cNvSpPr/>
          <p:nvPr/>
        </p:nvSpPr>
        <p:spPr>
          <a:xfrm>
            <a:off x="2324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B5664E11-F12F-AF6E-DBE7-66634891915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5715000" cy="4286250"/>
          </a:xfrm>
          <a:prstGeom prst="rect">
            <a:avLst/>
          </a:prstGeom>
        </p:spPr>
      </p:pic>
      <p:sp>
        <p:nvSpPr>
          <p:cNvPr id="15" name="Ellipse 14">
            <a:extLst>
              <a:ext uri="{FF2B5EF4-FFF2-40B4-BE49-F238E27FC236}">
                <a16:creationId xmlns:a16="http://schemas.microsoft.com/office/drawing/2014/main" id="{FB618C1A-2A21-9A5B-8EB9-35A6565BCF7F}"/>
              </a:ext>
            </a:extLst>
          </p:cNvPr>
          <p:cNvSpPr/>
          <p:nvPr/>
        </p:nvSpPr>
        <p:spPr>
          <a:xfrm>
            <a:off x="1712913" y="2439194"/>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6BBFB79E-3BBA-6065-3BC2-47CF884660FE}"/>
              </a:ext>
            </a:extLst>
          </p:cNvPr>
          <p:cNvSpPr/>
          <p:nvPr/>
        </p:nvSpPr>
        <p:spPr>
          <a:xfrm>
            <a:off x="3141663" y="2439194"/>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2D4E9046-91B8-11EF-62C2-6697D0B3E880}"/>
              </a:ext>
            </a:extLst>
          </p:cNvPr>
          <p:cNvSpPr/>
          <p:nvPr/>
        </p:nvSpPr>
        <p:spPr>
          <a:xfrm>
            <a:off x="5626100" y="2439194"/>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61FCD7CC-CFBC-7BA4-442A-8996CFD69C96}"/>
              </a:ext>
            </a:extLst>
          </p:cNvPr>
          <p:cNvSpPr/>
          <p:nvPr/>
        </p:nvSpPr>
        <p:spPr>
          <a:xfrm>
            <a:off x="2629694" y="318135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B7FDE6DA-F4F2-3940-35FF-243A825928EE}"/>
              </a:ext>
            </a:extLst>
          </p:cNvPr>
          <p:cNvSpPr/>
          <p:nvPr/>
        </p:nvSpPr>
        <p:spPr>
          <a:xfrm>
            <a:off x="4197350" y="274875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Ellipse 19">
            <a:extLst>
              <a:ext uri="{FF2B5EF4-FFF2-40B4-BE49-F238E27FC236}">
                <a16:creationId xmlns:a16="http://schemas.microsoft.com/office/drawing/2014/main" id="{A339BE33-37D6-46C9-DD93-D211DF17EED9}"/>
              </a:ext>
            </a:extLst>
          </p:cNvPr>
          <p:cNvSpPr/>
          <p:nvPr/>
        </p:nvSpPr>
        <p:spPr>
          <a:xfrm>
            <a:off x="2681288" y="274875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21" name="Ellipse 20">
            <a:extLst>
              <a:ext uri="{FF2B5EF4-FFF2-40B4-BE49-F238E27FC236}">
                <a16:creationId xmlns:a16="http://schemas.microsoft.com/office/drawing/2014/main" id="{359BF2BC-C272-216C-E8C6-2ECF52817FC0}"/>
              </a:ext>
            </a:extLst>
          </p:cNvPr>
          <p:cNvSpPr/>
          <p:nvPr/>
        </p:nvSpPr>
        <p:spPr>
          <a:xfrm>
            <a:off x="2629694" y="3554413"/>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7</a:t>
            </a:r>
          </a:p>
        </p:txBody>
      </p:sp>
      <p:sp>
        <p:nvSpPr>
          <p:cNvPr id="22" name="Rectangle : coins arrondis 21">
            <a:extLst>
              <a:ext uri="{FF2B5EF4-FFF2-40B4-BE49-F238E27FC236}">
                <a16:creationId xmlns:a16="http://schemas.microsoft.com/office/drawing/2014/main" id="{8D8FAAC3-B074-82AA-CAB4-E54FAF24FBF0}"/>
              </a:ext>
            </a:extLst>
          </p:cNvPr>
          <p:cNvSpPr/>
          <p:nvPr/>
        </p:nvSpPr>
        <p:spPr>
          <a:xfrm>
            <a:off x="6604000" y="1600200"/>
            <a:ext cx="49784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C0C71AC9-2452-9FF4-AC42-A4EC66D28269}"/>
              </a:ext>
            </a:extLst>
          </p:cNvPr>
          <p:cNvSpPr txBox="1"/>
          <p:nvPr/>
        </p:nvSpPr>
        <p:spPr>
          <a:xfrm>
            <a:off x="6832600" y="1752600"/>
            <a:ext cx="45212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4" name="Ellipse 23">
            <a:extLst>
              <a:ext uri="{FF2B5EF4-FFF2-40B4-BE49-F238E27FC236}">
                <a16:creationId xmlns:a16="http://schemas.microsoft.com/office/drawing/2014/main" id="{0520D66E-C387-BACD-8286-3342144BA044}"/>
              </a:ext>
            </a:extLst>
          </p:cNvPr>
          <p:cNvSpPr/>
          <p:nvPr/>
        </p:nvSpPr>
        <p:spPr>
          <a:xfrm>
            <a:off x="68326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5" name="ZoneTexte 24">
            <a:extLst>
              <a:ext uri="{FF2B5EF4-FFF2-40B4-BE49-F238E27FC236}">
                <a16:creationId xmlns:a16="http://schemas.microsoft.com/office/drawing/2014/main" id="{F2E6C70F-0BDF-7C54-B22A-5188A26DC54A}"/>
              </a:ext>
            </a:extLst>
          </p:cNvPr>
          <p:cNvSpPr txBox="1"/>
          <p:nvPr/>
        </p:nvSpPr>
        <p:spPr>
          <a:xfrm>
            <a:off x="7239000" y="2146300"/>
            <a:ext cx="4114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Deux volets : Stock, Prix et dépenses</a:t>
            </a:r>
          </a:p>
        </p:txBody>
      </p:sp>
      <p:sp>
        <p:nvSpPr>
          <p:cNvPr id="26" name="Ellipse 25">
            <a:extLst>
              <a:ext uri="{FF2B5EF4-FFF2-40B4-BE49-F238E27FC236}">
                <a16:creationId xmlns:a16="http://schemas.microsoft.com/office/drawing/2014/main" id="{33DFE460-67C2-0F70-3DA6-F09C31D7C3C3}"/>
              </a:ext>
            </a:extLst>
          </p:cNvPr>
          <p:cNvSpPr/>
          <p:nvPr/>
        </p:nvSpPr>
        <p:spPr>
          <a:xfrm>
            <a:off x="6832600" y="2641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7" name="ZoneTexte 26">
            <a:extLst>
              <a:ext uri="{FF2B5EF4-FFF2-40B4-BE49-F238E27FC236}">
                <a16:creationId xmlns:a16="http://schemas.microsoft.com/office/drawing/2014/main" id="{3B43C7D8-3A42-4EA9-979B-F5510CECFCE7}"/>
              </a:ext>
            </a:extLst>
          </p:cNvPr>
          <p:cNvSpPr txBox="1"/>
          <p:nvPr/>
        </p:nvSpPr>
        <p:spPr>
          <a:xfrm>
            <a:off x="7239000" y="2654300"/>
            <a:ext cx="4114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Période, type de matériel et Factures</a:t>
            </a:r>
          </a:p>
        </p:txBody>
      </p:sp>
      <p:sp>
        <p:nvSpPr>
          <p:cNvPr id="28" name="Ellipse 27">
            <a:extLst>
              <a:ext uri="{FF2B5EF4-FFF2-40B4-BE49-F238E27FC236}">
                <a16:creationId xmlns:a16="http://schemas.microsoft.com/office/drawing/2014/main" id="{09CBFD4B-A466-779C-8144-755E5B390C0F}"/>
              </a:ext>
            </a:extLst>
          </p:cNvPr>
          <p:cNvSpPr/>
          <p:nvPr/>
        </p:nvSpPr>
        <p:spPr>
          <a:xfrm>
            <a:off x="6832600" y="3149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29" name="ZoneTexte 28">
            <a:extLst>
              <a:ext uri="{FF2B5EF4-FFF2-40B4-BE49-F238E27FC236}">
                <a16:creationId xmlns:a16="http://schemas.microsoft.com/office/drawing/2014/main" id="{85B30718-851D-07C3-1D1B-A757885C2A6C}"/>
              </a:ext>
            </a:extLst>
          </p:cNvPr>
          <p:cNvSpPr txBox="1"/>
          <p:nvPr/>
        </p:nvSpPr>
        <p:spPr>
          <a:xfrm>
            <a:off x="7239000" y="3162300"/>
            <a:ext cx="4114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Enregistrer un achat</a:t>
            </a:r>
          </a:p>
        </p:txBody>
      </p:sp>
      <p:sp>
        <p:nvSpPr>
          <p:cNvPr id="30" name="Ellipse 29">
            <a:extLst>
              <a:ext uri="{FF2B5EF4-FFF2-40B4-BE49-F238E27FC236}">
                <a16:creationId xmlns:a16="http://schemas.microsoft.com/office/drawing/2014/main" id="{56DA7C46-79C8-1DDC-1D0A-CCCAE875935E}"/>
              </a:ext>
            </a:extLst>
          </p:cNvPr>
          <p:cNvSpPr/>
          <p:nvPr/>
        </p:nvSpPr>
        <p:spPr>
          <a:xfrm>
            <a:off x="6832600" y="3657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31" name="ZoneTexte 30">
            <a:extLst>
              <a:ext uri="{FF2B5EF4-FFF2-40B4-BE49-F238E27FC236}">
                <a16:creationId xmlns:a16="http://schemas.microsoft.com/office/drawing/2014/main" id="{BF0E7D9A-962F-66FA-FC42-7FD4F45682B7}"/>
              </a:ext>
            </a:extLst>
          </p:cNvPr>
          <p:cNvSpPr txBox="1"/>
          <p:nvPr/>
        </p:nvSpPr>
        <p:spPr>
          <a:xfrm>
            <a:off x="7239000" y="3670300"/>
            <a:ext cx="4114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Un anneau par type : le stock au centre</a:t>
            </a:r>
          </a:p>
        </p:txBody>
      </p:sp>
      <p:sp>
        <p:nvSpPr>
          <p:cNvPr id="32" name="Ellipse 31">
            <a:extLst>
              <a:ext uri="{FF2B5EF4-FFF2-40B4-BE49-F238E27FC236}">
                <a16:creationId xmlns:a16="http://schemas.microsoft.com/office/drawing/2014/main" id="{EA758931-73F4-1197-9E3D-06007D1D4D6D}"/>
              </a:ext>
            </a:extLst>
          </p:cNvPr>
          <p:cNvSpPr/>
          <p:nvPr/>
        </p:nvSpPr>
        <p:spPr>
          <a:xfrm>
            <a:off x="6832600" y="4165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3" name="ZoneTexte 32">
            <a:extLst>
              <a:ext uri="{FF2B5EF4-FFF2-40B4-BE49-F238E27FC236}">
                <a16:creationId xmlns:a16="http://schemas.microsoft.com/office/drawing/2014/main" id="{810613C1-2E82-7ACD-6A6C-2794CD0634CE}"/>
              </a:ext>
            </a:extLst>
          </p:cNvPr>
          <p:cNvSpPr txBox="1"/>
          <p:nvPr/>
        </p:nvSpPr>
        <p:spPr>
          <a:xfrm>
            <a:off x="7239000" y="4178300"/>
            <a:ext cx="4114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Légende : À commander, stock, chez les personnes, à signer, perdu</a:t>
            </a:r>
          </a:p>
        </p:txBody>
      </p:sp>
      <p:sp>
        <p:nvSpPr>
          <p:cNvPr id="34" name="Ellipse 33">
            <a:extLst>
              <a:ext uri="{FF2B5EF4-FFF2-40B4-BE49-F238E27FC236}">
                <a16:creationId xmlns:a16="http://schemas.microsoft.com/office/drawing/2014/main" id="{E401633B-A9BF-2378-7947-3F50EE60E9C9}"/>
              </a:ext>
            </a:extLst>
          </p:cNvPr>
          <p:cNvSpPr/>
          <p:nvPr/>
        </p:nvSpPr>
        <p:spPr>
          <a:xfrm>
            <a:off x="6832600" y="467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35" name="ZoneTexte 34">
            <a:extLst>
              <a:ext uri="{FF2B5EF4-FFF2-40B4-BE49-F238E27FC236}">
                <a16:creationId xmlns:a16="http://schemas.microsoft.com/office/drawing/2014/main" id="{1DA551AA-A9FA-824E-E877-228E93A526AB}"/>
              </a:ext>
            </a:extLst>
          </p:cNvPr>
          <p:cNvSpPr txBox="1"/>
          <p:nvPr/>
        </p:nvSpPr>
        <p:spPr>
          <a:xfrm>
            <a:off x="7239000" y="4686300"/>
            <a:ext cx="4114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Survol d'une pastille : le chiffre central change (prêtés, à commander…) ; un clic l'épingle</a:t>
            </a:r>
          </a:p>
        </p:txBody>
      </p:sp>
      <p:sp>
        <p:nvSpPr>
          <p:cNvPr id="36" name="Ellipse 35">
            <a:extLst>
              <a:ext uri="{FF2B5EF4-FFF2-40B4-BE49-F238E27FC236}">
                <a16:creationId xmlns:a16="http://schemas.microsoft.com/office/drawing/2014/main" id="{0EBB41E3-8F36-3072-C6A1-4FECC3DD134A}"/>
              </a:ext>
            </a:extLst>
          </p:cNvPr>
          <p:cNvSpPr/>
          <p:nvPr/>
        </p:nvSpPr>
        <p:spPr>
          <a:xfrm>
            <a:off x="6832600" y="5181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7</a:t>
            </a:r>
          </a:p>
        </p:txBody>
      </p:sp>
      <p:sp>
        <p:nvSpPr>
          <p:cNvPr id="37" name="ZoneTexte 36">
            <a:extLst>
              <a:ext uri="{FF2B5EF4-FFF2-40B4-BE49-F238E27FC236}">
                <a16:creationId xmlns:a16="http://schemas.microsoft.com/office/drawing/2014/main" id="{B12EDF33-9DAF-B6AA-918A-0EDD1FF82AC2}"/>
              </a:ext>
            </a:extLst>
          </p:cNvPr>
          <p:cNvSpPr txBox="1"/>
          <p:nvPr/>
        </p:nvSpPr>
        <p:spPr>
          <a:xfrm>
            <a:off x="7239000" y="5194300"/>
            <a:ext cx="4114800" cy="4572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Sous l'anneau : la quantité achetée</a:t>
            </a:r>
          </a:p>
        </p:txBody>
      </p:sp>
    </p:spTree>
    <p:extLst>
      <p:ext uri="{BB962C8B-B14F-4D97-AF65-F5344CB8AC3E}">
        <p14:creationId xmlns:p14="http://schemas.microsoft.com/office/powerpoint/2010/main" val="3328695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D03050-1C2B-E5D8-BA9B-98A95B0E82A7}"/>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Inventaire : la carte détaillée d'un type</a:t>
            </a:r>
          </a:p>
        </p:txBody>
      </p:sp>
      <p:sp>
        <p:nvSpPr>
          <p:cNvPr id="3" name="ZoneTexte 2">
            <a:extLst>
              <a:ext uri="{FF2B5EF4-FFF2-40B4-BE49-F238E27FC236}">
                <a16:creationId xmlns:a16="http://schemas.microsoft.com/office/drawing/2014/main" id="{6B2C847D-174C-2334-1A18-47442EC84F1D}"/>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5</a:t>
            </a:r>
          </a:p>
        </p:txBody>
      </p:sp>
      <p:sp>
        <p:nvSpPr>
          <p:cNvPr id="4" name="ZoneTexte 3">
            <a:extLst>
              <a:ext uri="{FF2B5EF4-FFF2-40B4-BE49-F238E27FC236}">
                <a16:creationId xmlns:a16="http://schemas.microsoft.com/office/drawing/2014/main" id="{30E89A87-2170-8617-34AB-954CB86E5BAB}"/>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Au survol d'un anneau, chaque ligne mène à la page concernée</a:t>
            </a:r>
          </a:p>
        </p:txBody>
      </p:sp>
      <p:sp>
        <p:nvSpPr>
          <p:cNvPr id="5" name="ZoneTexte 4">
            <a:extLst>
              <a:ext uri="{FF2B5EF4-FFF2-40B4-BE49-F238E27FC236}">
                <a16:creationId xmlns:a16="http://schemas.microsoft.com/office/drawing/2014/main" id="{F71C1803-A522-D90C-A37B-B39EA31A0496}"/>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0AE999BE-94F6-9FB5-BE96-9AC2DB8970E2}"/>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6BDFB4EB-BD38-414F-8981-ED2DD4F8CCE3}" type="slidenum">
              <a:rPr lang="fr-FR" sz="900" smtClean="0">
                <a:solidFill>
                  <a:srgbClr val="586080"/>
                </a:solidFill>
                <a:latin typeface="Calibri" panose="020F0502020204030204" pitchFamily="34" charset="0"/>
              </a:rPr>
              <a:t>27</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DD5A5479-EF56-266A-BCD4-DEE3F1974760}"/>
              </a:ext>
            </a:extLst>
          </p:cNvPr>
          <p:cNvSpPr/>
          <p:nvPr/>
        </p:nvSpPr>
        <p:spPr>
          <a:xfrm>
            <a:off x="609600" y="1600200"/>
            <a:ext cx="5715000" cy="33274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4CF898A2-7414-35D8-23FA-D0AE30DD61DD}"/>
              </a:ext>
            </a:extLst>
          </p:cNvPr>
          <p:cNvSpPr/>
          <p:nvPr/>
        </p:nvSpPr>
        <p:spPr>
          <a:xfrm>
            <a:off x="609600" y="1600200"/>
            <a:ext cx="5715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92F1DB55-83BD-5BE7-EBCA-841D61424C2C}"/>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176C860D-336C-52F5-00DB-6A4E9B5E9627}"/>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0B294FB1-6B14-232A-BD71-E6469E62138C}"/>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6B14CEAB-3B61-6405-83E3-5AAF89B5410F}"/>
              </a:ext>
            </a:extLst>
          </p:cNvPr>
          <p:cNvSpPr/>
          <p:nvPr/>
        </p:nvSpPr>
        <p:spPr>
          <a:xfrm>
            <a:off x="2324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CE58D9C6-E366-CF61-D0D6-300156E8E39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5715000" cy="3048000"/>
          </a:xfrm>
          <a:prstGeom prst="rect">
            <a:avLst/>
          </a:prstGeom>
        </p:spPr>
      </p:pic>
      <p:sp>
        <p:nvSpPr>
          <p:cNvPr id="15" name="Ellipse 14">
            <a:extLst>
              <a:ext uri="{FF2B5EF4-FFF2-40B4-BE49-F238E27FC236}">
                <a16:creationId xmlns:a16="http://schemas.microsoft.com/office/drawing/2014/main" id="{9A48DE6B-FCDA-265B-7782-740871E22DA8}"/>
              </a:ext>
            </a:extLst>
          </p:cNvPr>
          <p:cNvSpPr/>
          <p:nvPr/>
        </p:nvSpPr>
        <p:spPr>
          <a:xfrm>
            <a:off x="2219960" y="188976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DA77AB33-590E-7ACB-529E-E1430BF582B6}"/>
              </a:ext>
            </a:extLst>
          </p:cNvPr>
          <p:cNvSpPr/>
          <p:nvPr/>
        </p:nvSpPr>
        <p:spPr>
          <a:xfrm>
            <a:off x="2540000" y="207264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3584D8E9-0E09-2F4C-5CA7-124DFE9577E6}"/>
              </a:ext>
            </a:extLst>
          </p:cNvPr>
          <p:cNvSpPr/>
          <p:nvPr/>
        </p:nvSpPr>
        <p:spPr>
          <a:xfrm>
            <a:off x="2254250" y="222504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D198DE40-E834-F9C9-DCE8-0A7AE9756DFA}"/>
              </a:ext>
            </a:extLst>
          </p:cNvPr>
          <p:cNvSpPr/>
          <p:nvPr/>
        </p:nvSpPr>
        <p:spPr>
          <a:xfrm>
            <a:off x="2482850" y="283083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F85DA6AF-177E-7492-30B7-389A1D462533}"/>
              </a:ext>
            </a:extLst>
          </p:cNvPr>
          <p:cNvSpPr/>
          <p:nvPr/>
        </p:nvSpPr>
        <p:spPr>
          <a:xfrm>
            <a:off x="2223770" y="315468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Ellipse 19">
            <a:extLst>
              <a:ext uri="{FF2B5EF4-FFF2-40B4-BE49-F238E27FC236}">
                <a16:creationId xmlns:a16="http://schemas.microsoft.com/office/drawing/2014/main" id="{E69AE29F-9A49-79C8-8380-C3ABA1B18D7A}"/>
              </a:ext>
            </a:extLst>
          </p:cNvPr>
          <p:cNvSpPr/>
          <p:nvPr/>
        </p:nvSpPr>
        <p:spPr>
          <a:xfrm>
            <a:off x="2444750" y="300609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6</a:t>
            </a:r>
          </a:p>
        </p:txBody>
      </p:sp>
      <p:sp>
        <p:nvSpPr>
          <p:cNvPr id="21" name="Rectangle : coins arrondis 20">
            <a:extLst>
              <a:ext uri="{FF2B5EF4-FFF2-40B4-BE49-F238E27FC236}">
                <a16:creationId xmlns:a16="http://schemas.microsoft.com/office/drawing/2014/main" id="{1A68151F-36AF-2D28-515D-14AA3F9981B0}"/>
              </a:ext>
            </a:extLst>
          </p:cNvPr>
          <p:cNvSpPr/>
          <p:nvPr/>
        </p:nvSpPr>
        <p:spPr>
          <a:xfrm>
            <a:off x="6604000" y="1600200"/>
            <a:ext cx="49784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30F51124-0260-0491-A611-6561BC238F08}"/>
              </a:ext>
            </a:extLst>
          </p:cNvPr>
          <p:cNvSpPr txBox="1"/>
          <p:nvPr/>
        </p:nvSpPr>
        <p:spPr>
          <a:xfrm>
            <a:off x="6832600" y="1752600"/>
            <a:ext cx="45212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3" name="Ellipse 22">
            <a:extLst>
              <a:ext uri="{FF2B5EF4-FFF2-40B4-BE49-F238E27FC236}">
                <a16:creationId xmlns:a16="http://schemas.microsoft.com/office/drawing/2014/main" id="{0D6A4DD7-6F77-63BA-85A2-F2C022D1DF33}"/>
              </a:ext>
            </a:extLst>
          </p:cNvPr>
          <p:cNvSpPr/>
          <p:nvPr/>
        </p:nvSpPr>
        <p:spPr>
          <a:xfrm>
            <a:off x="68326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4" name="ZoneTexte 23">
            <a:extLst>
              <a:ext uri="{FF2B5EF4-FFF2-40B4-BE49-F238E27FC236}">
                <a16:creationId xmlns:a16="http://schemas.microsoft.com/office/drawing/2014/main" id="{558C0F29-C933-6E13-3B6C-3D23BD3463E1}"/>
              </a:ext>
            </a:extLst>
          </p:cNvPr>
          <p:cNvSpPr txBox="1"/>
          <p:nvPr/>
        </p:nvSpPr>
        <p:spPr>
          <a:xfrm>
            <a:off x="7239000" y="2146300"/>
            <a:ext cx="4114800" cy="406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Nom du type et état (stock suffisant, à commander)</a:t>
            </a:r>
          </a:p>
        </p:txBody>
      </p:sp>
      <p:sp>
        <p:nvSpPr>
          <p:cNvPr id="25" name="Ellipse 24">
            <a:extLst>
              <a:ext uri="{FF2B5EF4-FFF2-40B4-BE49-F238E27FC236}">
                <a16:creationId xmlns:a16="http://schemas.microsoft.com/office/drawing/2014/main" id="{4C05DCFF-04D6-9BDF-A3FF-81B804559341}"/>
              </a:ext>
            </a:extLst>
          </p:cNvPr>
          <p:cNvSpPr/>
          <p:nvPr/>
        </p:nvSpPr>
        <p:spPr>
          <a:xfrm>
            <a:off x="6832600" y="25908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6" name="ZoneTexte 25">
            <a:extLst>
              <a:ext uri="{FF2B5EF4-FFF2-40B4-BE49-F238E27FC236}">
                <a16:creationId xmlns:a16="http://schemas.microsoft.com/office/drawing/2014/main" id="{F37232C6-BDD5-DE1A-B028-B1A5118CDE4D}"/>
              </a:ext>
            </a:extLst>
          </p:cNvPr>
          <p:cNvSpPr txBox="1"/>
          <p:nvPr/>
        </p:nvSpPr>
        <p:spPr>
          <a:xfrm>
            <a:off x="7239000" y="2603500"/>
            <a:ext cx="4114800" cy="406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Acheté au total : mène au contrôle des prix</a:t>
            </a:r>
          </a:p>
        </p:txBody>
      </p:sp>
      <p:sp>
        <p:nvSpPr>
          <p:cNvPr id="27" name="Ellipse 26">
            <a:extLst>
              <a:ext uri="{FF2B5EF4-FFF2-40B4-BE49-F238E27FC236}">
                <a16:creationId xmlns:a16="http://schemas.microsoft.com/office/drawing/2014/main" id="{B02D6B84-AE2F-76D1-7D20-037AEA42F7F2}"/>
              </a:ext>
            </a:extLst>
          </p:cNvPr>
          <p:cNvSpPr/>
          <p:nvPr/>
        </p:nvSpPr>
        <p:spPr>
          <a:xfrm>
            <a:off x="6832600" y="30480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28" name="ZoneTexte 27">
            <a:extLst>
              <a:ext uri="{FF2B5EF4-FFF2-40B4-BE49-F238E27FC236}">
                <a16:creationId xmlns:a16="http://schemas.microsoft.com/office/drawing/2014/main" id="{D5E2B97D-42BB-C871-4238-E6FDC5597D01}"/>
              </a:ext>
            </a:extLst>
          </p:cNvPr>
          <p:cNvSpPr txBox="1"/>
          <p:nvPr/>
        </p:nvSpPr>
        <p:spPr>
          <a:xfrm>
            <a:off x="7239000" y="3060700"/>
            <a:ext cx="4114800" cy="406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En stock : mène à Emprunter</a:t>
            </a:r>
          </a:p>
        </p:txBody>
      </p:sp>
      <p:sp>
        <p:nvSpPr>
          <p:cNvPr id="29" name="Ellipse 28">
            <a:extLst>
              <a:ext uri="{FF2B5EF4-FFF2-40B4-BE49-F238E27FC236}">
                <a16:creationId xmlns:a16="http://schemas.microsoft.com/office/drawing/2014/main" id="{4EB02F76-36A5-5598-1AE9-547E6DE7C0F8}"/>
              </a:ext>
            </a:extLst>
          </p:cNvPr>
          <p:cNvSpPr/>
          <p:nvPr/>
        </p:nvSpPr>
        <p:spPr>
          <a:xfrm>
            <a:off x="6832600" y="35052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30" name="ZoneTexte 29">
            <a:extLst>
              <a:ext uri="{FF2B5EF4-FFF2-40B4-BE49-F238E27FC236}">
                <a16:creationId xmlns:a16="http://schemas.microsoft.com/office/drawing/2014/main" id="{9F1C40F3-259C-2E92-BAEA-DC0132E7A070}"/>
              </a:ext>
            </a:extLst>
          </p:cNvPr>
          <p:cNvSpPr txBox="1"/>
          <p:nvPr/>
        </p:nvSpPr>
        <p:spPr>
          <a:xfrm>
            <a:off x="7239000" y="3517900"/>
            <a:ext cx="4114800" cy="406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À remettre aux personnes : mène à Emprunter</a:t>
            </a:r>
          </a:p>
        </p:txBody>
      </p:sp>
      <p:sp>
        <p:nvSpPr>
          <p:cNvPr id="31" name="Ellipse 30">
            <a:extLst>
              <a:ext uri="{FF2B5EF4-FFF2-40B4-BE49-F238E27FC236}">
                <a16:creationId xmlns:a16="http://schemas.microsoft.com/office/drawing/2014/main" id="{41E3455E-F3B2-FD57-F29C-52AB52709FC0}"/>
              </a:ext>
            </a:extLst>
          </p:cNvPr>
          <p:cNvSpPr/>
          <p:nvPr/>
        </p:nvSpPr>
        <p:spPr>
          <a:xfrm>
            <a:off x="6832600" y="39624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2" name="ZoneTexte 31">
            <a:extLst>
              <a:ext uri="{FF2B5EF4-FFF2-40B4-BE49-F238E27FC236}">
                <a16:creationId xmlns:a16="http://schemas.microsoft.com/office/drawing/2014/main" id="{B6947FD5-06E5-A054-F081-B55949D2F631}"/>
              </a:ext>
            </a:extLst>
          </p:cNvPr>
          <p:cNvSpPr txBox="1"/>
          <p:nvPr/>
        </p:nvSpPr>
        <p:spPr>
          <a:xfrm>
            <a:off x="7239000" y="3975100"/>
            <a:ext cx="4114800" cy="406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Détail par modèle (familles Chargeur et Écran)</a:t>
            </a:r>
          </a:p>
        </p:txBody>
      </p:sp>
      <p:sp>
        <p:nvSpPr>
          <p:cNvPr id="33" name="Ellipse 32">
            <a:extLst>
              <a:ext uri="{FF2B5EF4-FFF2-40B4-BE49-F238E27FC236}">
                <a16:creationId xmlns:a16="http://schemas.microsoft.com/office/drawing/2014/main" id="{692044AB-2741-4946-70C5-2B0A4E8A3D2A}"/>
              </a:ext>
            </a:extLst>
          </p:cNvPr>
          <p:cNvSpPr/>
          <p:nvPr/>
        </p:nvSpPr>
        <p:spPr>
          <a:xfrm>
            <a:off x="6832600" y="4419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6</a:t>
            </a:r>
          </a:p>
        </p:txBody>
      </p:sp>
      <p:sp>
        <p:nvSpPr>
          <p:cNvPr id="34" name="ZoneTexte 33">
            <a:extLst>
              <a:ext uri="{FF2B5EF4-FFF2-40B4-BE49-F238E27FC236}">
                <a16:creationId xmlns:a16="http://schemas.microsoft.com/office/drawing/2014/main" id="{C6785866-8389-1340-EF8A-44C53D7670FD}"/>
              </a:ext>
            </a:extLst>
          </p:cNvPr>
          <p:cNvSpPr txBox="1"/>
          <p:nvPr/>
        </p:nvSpPr>
        <p:spPr>
          <a:xfrm>
            <a:off x="7239000" y="4432300"/>
            <a:ext cx="4114800" cy="406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Cliquer sur une ligne pour y aller</a:t>
            </a:r>
          </a:p>
        </p:txBody>
      </p:sp>
      <p:sp>
        <p:nvSpPr>
          <p:cNvPr id="35" name="ZoneTexte 34">
            <a:extLst>
              <a:ext uri="{FF2B5EF4-FFF2-40B4-BE49-F238E27FC236}">
                <a16:creationId xmlns:a16="http://schemas.microsoft.com/office/drawing/2014/main" id="{5E688EF6-4DD8-36BF-8B4E-7435EAFD628F}"/>
              </a:ext>
            </a:extLst>
          </p:cNvPr>
          <p:cNvSpPr txBox="1"/>
          <p:nvPr/>
        </p:nvSpPr>
        <p:spPr>
          <a:xfrm>
            <a:off x="6832600" y="4978400"/>
            <a:ext cx="4521200" cy="228600"/>
          </a:xfrm>
          <a:prstGeom prst="rect">
            <a:avLst/>
          </a:prstGeom>
          <a:noFill/>
        </p:spPr>
        <p:txBody>
          <a:bodyPr vert="horz" wrap="square" lIns="0" tIns="0" rIns="0" bIns="0" rtlCol="0">
            <a:noAutofit/>
          </a:bodyPr>
          <a:lstStyle/>
          <a:p>
            <a:r>
              <a:rPr lang="fr-FR" sz="1400" b="1">
                <a:solidFill>
                  <a:srgbClr val="1E1C8C"/>
                </a:solidFill>
                <a:latin typeface="Calibri" panose="020F0502020204030204" pitchFamily="34" charset="0"/>
              </a:rPr>
              <a:t>Au toucher</a:t>
            </a:r>
          </a:p>
        </p:txBody>
      </p:sp>
      <p:sp>
        <p:nvSpPr>
          <p:cNvPr id="36" name="ZoneTexte 35">
            <a:extLst>
              <a:ext uri="{FF2B5EF4-FFF2-40B4-BE49-F238E27FC236}">
                <a16:creationId xmlns:a16="http://schemas.microsoft.com/office/drawing/2014/main" id="{D5B6283B-BA1E-B051-840A-F9FFB10EB1E8}"/>
              </a:ext>
            </a:extLst>
          </p:cNvPr>
          <p:cNvSpPr txBox="1"/>
          <p:nvPr/>
        </p:nvSpPr>
        <p:spPr>
          <a:xfrm>
            <a:off x="6832600" y="5232400"/>
            <a:ext cx="4521200" cy="939800"/>
          </a:xfrm>
          <a:prstGeom prst="rect">
            <a:avLst/>
          </a:prstGeom>
          <a:noFill/>
        </p:spPr>
        <p:txBody>
          <a:bodyPr vert="horz" wrap="square" lIns="0" tIns="0" rIns="0" bIns="0" rtlCol="0">
            <a:noAutofit/>
          </a:bodyPr>
          <a:lstStyle/>
          <a:p>
            <a:r>
              <a:rPr lang="fr-FR" sz="1200">
                <a:solidFill>
                  <a:srgbClr val="586080"/>
                </a:solidFill>
                <a:latin typeface="Calibri" panose="020F0502020204030204" pitchFamily="34" charset="0"/>
              </a:rPr>
              <a:t>Sur tablette, un appui sur l'anneau affiche la carte ; un second appui sur une ligne ouvre la page. L'anneau change de curseur (main) au survol.</a:t>
            </a:r>
          </a:p>
        </p:txBody>
      </p:sp>
    </p:spTree>
    <p:extLst>
      <p:ext uri="{BB962C8B-B14F-4D97-AF65-F5344CB8AC3E}">
        <p14:creationId xmlns:p14="http://schemas.microsoft.com/office/powerpoint/2010/main" val="801026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448985-3EAF-CDEB-5C60-F4C0299B2947}"/>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Inventaire : prix et dépenses</a:t>
            </a:r>
          </a:p>
        </p:txBody>
      </p:sp>
      <p:sp>
        <p:nvSpPr>
          <p:cNvPr id="3" name="ZoneTexte 2">
            <a:extLst>
              <a:ext uri="{FF2B5EF4-FFF2-40B4-BE49-F238E27FC236}">
                <a16:creationId xmlns:a16="http://schemas.microsoft.com/office/drawing/2014/main" id="{41C5CB88-6EA1-1921-6F9B-1ACD8E41FF50}"/>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5</a:t>
            </a:r>
          </a:p>
        </p:txBody>
      </p:sp>
      <p:sp>
        <p:nvSpPr>
          <p:cNvPr id="4" name="ZoneTexte 3">
            <a:extLst>
              <a:ext uri="{FF2B5EF4-FFF2-40B4-BE49-F238E27FC236}">
                <a16:creationId xmlns:a16="http://schemas.microsoft.com/office/drawing/2014/main" id="{2257188F-F33E-4552-345F-F0584600927E}"/>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Tous les prix du matériel au même endroit, sans lien avec les prêts</a:t>
            </a:r>
          </a:p>
        </p:txBody>
      </p:sp>
      <p:sp>
        <p:nvSpPr>
          <p:cNvPr id="5" name="ZoneTexte 4">
            <a:extLst>
              <a:ext uri="{FF2B5EF4-FFF2-40B4-BE49-F238E27FC236}">
                <a16:creationId xmlns:a16="http://schemas.microsoft.com/office/drawing/2014/main" id="{1B7ADDA0-407D-EBC7-1A4C-54D850396B43}"/>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70EA2D55-562A-B44A-7DA2-005685804FA1}"/>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36915066-14A9-4F78-BFF8-998849B17232}" type="slidenum">
              <a:rPr lang="fr-FR" sz="900" smtClean="0">
                <a:solidFill>
                  <a:srgbClr val="586080"/>
                </a:solidFill>
                <a:latin typeface="Calibri" panose="020F0502020204030204" pitchFamily="34" charset="0"/>
              </a:rPr>
              <a:t>28</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C607E1B9-8916-6A2E-CBDA-AC934DB4A329}"/>
              </a:ext>
            </a:extLst>
          </p:cNvPr>
          <p:cNvSpPr/>
          <p:nvPr/>
        </p:nvSpPr>
        <p:spPr>
          <a:xfrm>
            <a:off x="609600" y="1600200"/>
            <a:ext cx="5080000" cy="4689122"/>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764A395A-2556-EF8C-FE6C-87A3F2041FAD}"/>
              </a:ext>
            </a:extLst>
          </p:cNvPr>
          <p:cNvSpPr/>
          <p:nvPr/>
        </p:nvSpPr>
        <p:spPr>
          <a:xfrm>
            <a:off x="609600" y="1600200"/>
            <a:ext cx="5080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35476CFF-655C-E86E-F26D-351FB23D007C}"/>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B5905B3F-D12C-B8D6-E842-C9A409ED8A2A}"/>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294EF01D-1806-14FB-87D3-1030D3E9DEF5}"/>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16ADA0C4-50A4-0CAA-00BC-FF9710CC2F64}"/>
              </a:ext>
            </a:extLst>
          </p:cNvPr>
          <p:cNvSpPr/>
          <p:nvPr/>
        </p:nvSpPr>
        <p:spPr>
          <a:xfrm>
            <a:off x="2006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D9592176-5A42-79CC-D62C-00FB160E9AA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5080000" cy="4409722"/>
          </a:xfrm>
          <a:prstGeom prst="rect">
            <a:avLst/>
          </a:prstGeom>
        </p:spPr>
      </p:pic>
      <p:sp>
        <p:nvSpPr>
          <p:cNvPr id="15" name="Ellipse 14">
            <a:extLst>
              <a:ext uri="{FF2B5EF4-FFF2-40B4-BE49-F238E27FC236}">
                <a16:creationId xmlns:a16="http://schemas.microsoft.com/office/drawing/2014/main" id="{4434E482-884E-1E41-9E1B-FA93AA1BBDAB}"/>
              </a:ext>
            </a:extLst>
          </p:cNvPr>
          <p:cNvSpPr/>
          <p:nvPr/>
        </p:nvSpPr>
        <p:spPr>
          <a:xfrm>
            <a:off x="1512711" y="264160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838C9E44-6C92-2A98-C168-EF48E5EB3869}"/>
              </a:ext>
            </a:extLst>
          </p:cNvPr>
          <p:cNvSpPr/>
          <p:nvPr/>
        </p:nvSpPr>
        <p:spPr>
          <a:xfrm>
            <a:off x="1816100" y="375285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DFBF6D53-2D26-E073-36E5-1DA69E8AC586}"/>
              </a:ext>
            </a:extLst>
          </p:cNvPr>
          <p:cNvSpPr/>
          <p:nvPr/>
        </p:nvSpPr>
        <p:spPr>
          <a:xfrm>
            <a:off x="4800600" y="3830461"/>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A9725464-2514-BE70-1562-7D33E950ABD8}"/>
              </a:ext>
            </a:extLst>
          </p:cNvPr>
          <p:cNvSpPr/>
          <p:nvPr/>
        </p:nvSpPr>
        <p:spPr>
          <a:xfrm>
            <a:off x="2666294" y="308610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Rectangle : coins arrondis 18">
            <a:extLst>
              <a:ext uri="{FF2B5EF4-FFF2-40B4-BE49-F238E27FC236}">
                <a16:creationId xmlns:a16="http://schemas.microsoft.com/office/drawing/2014/main" id="{734E4600-BCA8-FC85-44C5-E3F25C2E1D13}"/>
              </a:ext>
            </a:extLst>
          </p:cNvPr>
          <p:cNvSpPr/>
          <p:nvPr/>
        </p:nvSpPr>
        <p:spPr>
          <a:xfrm>
            <a:off x="5969000" y="1600200"/>
            <a:ext cx="56134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F7FEF566-431A-BE51-EEFF-40C8FDF56A58}"/>
              </a:ext>
            </a:extLst>
          </p:cNvPr>
          <p:cNvSpPr txBox="1"/>
          <p:nvPr/>
        </p:nvSpPr>
        <p:spPr>
          <a:xfrm>
            <a:off x="6197600" y="1752600"/>
            <a:ext cx="51562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1" name="Ellipse 20">
            <a:extLst>
              <a:ext uri="{FF2B5EF4-FFF2-40B4-BE49-F238E27FC236}">
                <a16:creationId xmlns:a16="http://schemas.microsoft.com/office/drawing/2014/main" id="{B62FFD22-CB0B-3897-6F74-2433A61AB100}"/>
              </a:ext>
            </a:extLst>
          </p:cNvPr>
          <p:cNvSpPr/>
          <p:nvPr/>
        </p:nvSpPr>
        <p:spPr>
          <a:xfrm>
            <a:off x="61976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2" name="ZoneTexte 21">
            <a:extLst>
              <a:ext uri="{FF2B5EF4-FFF2-40B4-BE49-F238E27FC236}">
                <a16:creationId xmlns:a16="http://schemas.microsoft.com/office/drawing/2014/main" id="{AA941088-1BC8-3024-26EB-D7F1839F17D1}"/>
              </a:ext>
            </a:extLst>
          </p:cNvPr>
          <p:cNvSpPr txBox="1"/>
          <p:nvPr/>
        </p:nvSpPr>
        <p:spPr>
          <a:xfrm>
            <a:off x="6604000" y="2146300"/>
            <a:ext cx="4749800" cy="533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Indicateurs : total dépensé, ce mois-ci, type le plus coûteux, entrées sans prix</a:t>
            </a:r>
          </a:p>
        </p:txBody>
      </p:sp>
      <p:sp>
        <p:nvSpPr>
          <p:cNvPr id="23" name="Ellipse 22">
            <a:extLst>
              <a:ext uri="{FF2B5EF4-FFF2-40B4-BE49-F238E27FC236}">
                <a16:creationId xmlns:a16="http://schemas.microsoft.com/office/drawing/2014/main" id="{060681FA-537B-C112-320E-FE16B2F75B50}"/>
              </a:ext>
            </a:extLst>
          </p:cNvPr>
          <p:cNvSpPr/>
          <p:nvPr/>
        </p:nvSpPr>
        <p:spPr>
          <a:xfrm>
            <a:off x="6197600" y="27178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4" name="ZoneTexte 23">
            <a:extLst>
              <a:ext uri="{FF2B5EF4-FFF2-40B4-BE49-F238E27FC236}">
                <a16:creationId xmlns:a16="http://schemas.microsoft.com/office/drawing/2014/main" id="{A727F35A-F9B9-AA3F-7243-27A16F35C62C}"/>
              </a:ext>
            </a:extLst>
          </p:cNvPr>
          <p:cNvSpPr txBox="1"/>
          <p:nvPr/>
        </p:nvSpPr>
        <p:spPr>
          <a:xfrm>
            <a:off x="6604000" y="2730500"/>
            <a:ext cx="4749800" cy="533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Répartition des dépenses par type (anneau)</a:t>
            </a:r>
          </a:p>
        </p:txBody>
      </p:sp>
      <p:sp>
        <p:nvSpPr>
          <p:cNvPr id="25" name="Ellipse 24">
            <a:extLst>
              <a:ext uri="{FF2B5EF4-FFF2-40B4-BE49-F238E27FC236}">
                <a16:creationId xmlns:a16="http://schemas.microsoft.com/office/drawing/2014/main" id="{9A423B40-C376-B6D9-BFC9-41DAC2D8EE5B}"/>
              </a:ext>
            </a:extLst>
          </p:cNvPr>
          <p:cNvSpPr/>
          <p:nvPr/>
        </p:nvSpPr>
        <p:spPr>
          <a:xfrm>
            <a:off x="6197600" y="33020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26" name="ZoneTexte 25">
            <a:extLst>
              <a:ext uri="{FF2B5EF4-FFF2-40B4-BE49-F238E27FC236}">
                <a16:creationId xmlns:a16="http://schemas.microsoft.com/office/drawing/2014/main" id="{DC2F7B2B-D7E9-AF92-24B5-7B5D8B060237}"/>
              </a:ext>
            </a:extLst>
          </p:cNvPr>
          <p:cNvSpPr txBox="1"/>
          <p:nvPr/>
        </p:nvSpPr>
        <p:spPr>
          <a:xfrm>
            <a:off x="6604000" y="3314700"/>
            <a:ext cx="4749800" cy="533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Dépenses par mois : chaque mois est cliquable</a:t>
            </a:r>
          </a:p>
        </p:txBody>
      </p:sp>
      <p:sp>
        <p:nvSpPr>
          <p:cNvPr id="27" name="Ellipse 26">
            <a:extLst>
              <a:ext uri="{FF2B5EF4-FFF2-40B4-BE49-F238E27FC236}">
                <a16:creationId xmlns:a16="http://schemas.microsoft.com/office/drawing/2014/main" id="{3FB84A2A-B287-99F4-1874-80E5D66240A5}"/>
              </a:ext>
            </a:extLst>
          </p:cNvPr>
          <p:cNvSpPr/>
          <p:nvPr/>
        </p:nvSpPr>
        <p:spPr>
          <a:xfrm>
            <a:off x="6197600" y="38862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28" name="ZoneTexte 27">
            <a:extLst>
              <a:ext uri="{FF2B5EF4-FFF2-40B4-BE49-F238E27FC236}">
                <a16:creationId xmlns:a16="http://schemas.microsoft.com/office/drawing/2014/main" id="{87DA5AE9-E106-6FFA-21FB-37DC84AA502E}"/>
              </a:ext>
            </a:extLst>
          </p:cNvPr>
          <p:cNvSpPr txBox="1"/>
          <p:nvPr/>
        </p:nvSpPr>
        <p:spPr>
          <a:xfrm>
            <a:off x="6604000" y="3898900"/>
            <a:ext cx="4749800" cy="533400"/>
          </a:xfrm>
          <a:prstGeom prst="rect">
            <a:avLst/>
          </a:prstGeom>
          <a:noFill/>
        </p:spPr>
        <p:txBody>
          <a:bodyPr vert="horz" wrap="square" lIns="0" tIns="0" rIns="0" bIns="0" rtlCol="0">
            <a:noAutofit/>
          </a:bodyPr>
          <a:lstStyle/>
          <a:p>
            <a:r>
              <a:rPr lang="fr-FR" sz="1300">
                <a:solidFill>
                  <a:srgbClr val="12162B"/>
                </a:solidFill>
                <a:latin typeface="Calibri" panose="020F0502020204030204" pitchFamily="34" charset="0"/>
              </a:rPr>
              <a:t>Deux boutons : Prix par type de matériel, Contrôle des prix entrée par entrée</a:t>
            </a:r>
          </a:p>
        </p:txBody>
      </p:sp>
      <p:sp>
        <p:nvSpPr>
          <p:cNvPr id="29" name="ZoneTexte 28">
            <a:extLst>
              <a:ext uri="{FF2B5EF4-FFF2-40B4-BE49-F238E27FC236}">
                <a16:creationId xmlns:a16="http://schemas.microsoft.com/office/drawing/2014/main" id="{36338D95-84C7-0622-E54D-1FEF487B3F24}"/>
              </a:ext>
            </a:extLst>
          </p:cNvPr>
          <p:cNvSpPr txBox="1"/>
          <p:nvPr/>
        </p:nvSpPr>
        <p:spPr>
          <a:xfrm>
            <a:off x="6197600" y="4724400"/>
            <a:ext cx="5156200" cy="228600"/>
          </a:xfrm>
          <a:prstGeom prst="rect">
            <a:avLst/>
          </a:prstGeom>
          <a:noFill/>
        </p:spPr>
        <p:txBody>
          <a:bodyPr vert="horz" wrap="square" lIns="0" tIns="0" rIns="0" bIns="0" rtlCol="0">
            <a:noAutofit/>
          </a:bodyPr>
          <a:lstStyle/>
          <a:p>
            <a:r>
              <a:rPr lang="fr-FR" sz="1400" b="1">
                <a:solidFill>
                  <a:srgbClr val="1E1C8C"/>
                </a:solidFill>
                <a:latin typeface="Calibri" panose="020F0502020204030204" pitchFamily="34" charset="0"/>
              </a:rPr>
              <a:t>Aussi dans ce volet</a:t>
            </a:r>
          </a:p>
        </p:txBody>
      </p:sp>
      <p:sp>
        <p:nvSpPr>
          <p:cNvPr id="30" name="ZoneTexte 29">
            <a:extLst>
              <a:ext uri="{FF2B5EF4-FFF2-40B4-BE49-F238E27FC236}">
                <a16:creationId xmlns:a16="http://schemas.microsoft.com/office/drawing/2014/main" id="{4FC9D776-8609-C470-7DA1-19A67EC192FF}"/>
              </a:ext>
            </a:extLst>
          </p:cNvPr>
          <p:cNvSpPr txBox="1"/>
          <p:nvPr/>
        </p:nvSpPr>
        <p:spPr>
          <a:xfrm>
            <a:off x="6197600" y="4978400"/>
            <a:ext cx="5156200" cy="1219200"/>
          </a:xfrm>
          <a:prstGeom prst="rect">
            <a:avLst/>
          </a:prstGeom>
          <a:noFill/>
        </p:spPr>
        <p:txBody>
          <a:bodyPr vert="horz" wrap="square" lIns="0" tIns="0" rIns="0" bIns="0" rtlCol="0">
            <a:noAutofit/>
          </a:bodyPr>
          <a:lstStyle/>
          <a:p>
            <a:r>
              <a:rPr lang="fr-FR" sz="1200">
                <a:solidFill>
                  <a:srgbClr val="586080"/>
                </a:solidFill>
                <a:latin typeface="Calibri" panose="020F0502020204030204" pitchFamily="34" charset="0"/>
              </a:rPr>
              <a:t>Entrées à compléter (achats sans prix) · contrôle des prix entrée par entrée (écart à la moyenne) · filtre de période et de type · export CSV · rapport PDF ou Excel de l'Inventaire.</a:t>
            </a:r>
          </a:p>
        </p:txBody>
      </p:sp>
    </p:spTree>
    <p:extLst>
      <p:ext uri="{BB962C8B-B14F-4D97-AF65-F5344CB8AC3E}">
        <p14:creationId xmlns:p14="http://schemas.microsoft.com/office/powerpoint/2010/main" val="2302943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2D2E3A-58B9-21F0-2F8B-FC77E5737B2E}"/>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Inventaire : enregistrer un achat</a:t>
            </a:r>
          </a:p>
        </p:txBody>
      </p:sp>
      <p:sp>
        <p:nvSpPr>
          <p:cNvPr id="3" name="ZoneTexte 2">
            <a:extLst>
              <a:ext uri="{FF2B5EF4-FFF2-40B4-BE49-F238E27FC236}">
                <a16:creationId xmlns:a16="http://schemas.microsoft.com/office/drawing/2014/main" id="{EAB69BA3-F04B-24E6-BCA7-A2E65BE29F62}"/>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5</a:t>
            </a:r>
          </a:p>
        </p:txBody>
      </p:sp>
      <p:sp>
        <p:nvSpPr>
          <p:cNvPr id="4" name="ZoneTexte 3">
            <a:extLst>
              <a:ext uri="{FF2B5EF4-FFF2-40B4-BE49-F238E27FC236}">
                <a16:creationId xmlns:a16="http://schemas.microsoft.com/office/drawing/2014/main" id="{F80F1F0D-D583-A495-BECD-34BF16513707}"/>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Importer la facture (remplissage automatique) ou saisir à la main</a:t>
            </a:r>
          </a:p>
        </p:txBody>
      </p:sp>
      <p:sp>
        <p:nvSpPr>
          <p:cNvPr id="5" name="ZoneTexte 4">
            <a:extLst>
              <a:ext uri="{FF2B5EF4-FFF2-40B4-BE49-F238E27FC236}">
                <a16:creationId xmlns:a16="http://schemas.microsoft.com/office/drawing/2014/main" id="{6012C6EB-EEE9-9EE2-6303-43B5BFBBAA62}"/>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FC03450C-6D0B-2219-D04D-4B384E5299C2}"/>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51EF9911-9910-4F42-A897-BFA92E7D4CEC}" type="slidenum">
              <a:rPr lang="fr-FR" sz="900" smtClean="0">
                <a:solidFill>
                  <a:srgbClr val="586080"/>
                </a:solidFill>
                <a:latin typeface="Calibri" panose="020F0502020204030204" pitchFamily="34" charset="0"/>
              </a:rPr>
              <a:t>29</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038BA341-2904-E568-0857-2E42A3EFA94B}"/>
              </a:ext>
            </a:extLst>
          </p:cNvPr>
          <p:cNvSpPr/>
          <p:nvPr/>
        </p:nvSpPr>
        <p:spPr>
          <a:xfrm>
            <a:off x="609600" y="1600200"/>
            <a:ext cx="3505200" cy="29083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BC774818-E403-767A-2C7C-BD4D6EEA4D9E}"/>
              </a:ext>
            </a:extLst>
          </p:cNvPr>
          <p:cNvSpPr/>
          <p:nvPr/>
        </p:nvSpPr>
        <p:spPr>
          <a:xfrm>
            <a:off x="609600" y="1600200"/>
            <a:ext cx="35052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8F7487DB-9F80-E0C6-72A1-D7C0D3128548}"/>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E092A463-EF1C-5CDC-5A5B-01A7529B9223}"/>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07227DF-5A64-E6B5-B508-CED5512C2A6D}"/>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8CF9738D-7625-F7B2-0DF8-D3CE799B37B3}"/>
              </a:ext>
            </a:extLst>
          </p:cNvPr>
          <p:cNvSpPr/>
          <p:nvPr/>
        </p:nvSpPr>
        <p:spPr>
          <a:xfrm>
            <a:off x="12192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A2EBA7FF-410F-E20D-377A-B309C5A0E5E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3505200" cy="2628900"/>
          </a:xfrm>
          <a:prstGeom prst="rect">
            <a:avLst/>
          </a:prstGeom>
        </p:spPr>
      </p:pic>
      <p:sp>
        <p:nvSpPr>
          <p:cNvPr id="15" name="Rectangle : coins arrondis 14">
            <a:extLst>
              <a:ext uri="{FF2B5EF4-FFF2-40B4-BE49-F238E27FC236}">
                <a16:creationId xmlns:a16="http://schemas.microsoft.com/office/drawing/2014/main" id="{550FE52C-0F4F-DB03-385B-5A91F20AB027}"/>
              </a:ext>
            </a:extLst>
          </p:cNvPr>
          <p:cNvSpPr/>
          <p:nvPr/>
        </p:nvSpPr>
        <p:spPr>
          <a:xfrm>
            <a:off x="4267200" y="1600200"/>
            <a:ext cx="3175000" cy="4608945"/>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3A86AF11-534B-5446-2055-EB54FE5B7288}"/>
              </a:ext>
            </a:extLst>
          </p:cNvPr>
          <p:cNvSpPr/>
          <p:nvPr/>
        </p:nvSpPr>
        <p:spPr>
          <a:xfrm>
            <a:off x="4267200" y="1600200"/>
            <a:ext cx="3175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875D59A9-1D1B-638E-0F03-5C499ADB34F8}"/>
              </a:ext>
            </a:extLst>
          </p:cNvPr>
          <p:cNvSpPr/>
          <p:nvPr/>
        </p:nvSpPr>
        <p:spPr>
          <a:xfrm>
            <a:off x="43942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E3BDD39B-FE99-7896-9964-F4152D9607D2}"/>
              </a:ext>
            </a:extLst>
          </p:cNvPr>
          <p:cNvSpPr/>
          <p:nvPr/>
        </p:nvSpPr>
        <p:spPr>
          <a:xfrm>
            <a:off x="45593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61972599-A3AD-208A-BE3A-899CE118A7C1}"/>
              </a:ext>
            </a:extLst>
          </p:cNvPr>
          <p:cNvSpPr/>
          <p:nvPr/>
        </p:nvSpPr>
        <p:spPr>
          <a:xfrm>
            <a:off x="47244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DA7ABEDA-E4BE-C962-452F-EA66A26AF192}"/>
              </a:ext>
            </a:extLst>
          </p:cNvPr>
          <p:cNvSpPr/>
          <p:nvPr/>
        </p:nvSpPr>
        <p:spPr>
          <a:xfrm>
            <a:off x="47117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43BC50DA-72C7-1D77-3CE1-45BDB66F541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267200" y="1879600"/>
            <a:ext cx="3175000" cy="4329545"/>
          </a:xfrm>
          <a:prstGeom prst="rect">
            <a:avLst/>
          </a:prstGeom>
        </p:spPr>
      </p:pic>
      <p:sp>
        <p:nvSpPr>
          <p:cNvPr id="23" name="Rectangle : coins arrondis 22">
            <a:extLst>
              <a:ext uri="{FF2B5EF4-FFF2-40B4-BE49-F238E27FC236}">
                <a16:creationId xmlns:a16="http://schemas.microsoft.com/office/drawing/2014/main" id="{A566BBBD-922F-D974-5A27-03C952CF7A2A}"/>
              </a:ext>
            </a:extLst>
          </p:cNvPr>
          <p:cNvSpPr/>
          <p:nvPr/>
        </p:nvSpPr>
        <p:spPr>
          <a:xfrm>
            <a:off x="8026400" y="1600200"/>
            <a:ext cx="3556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461BB7C7-518E-9FB6-5A08-D8C70B0F33B8}"/>
              </a:ext>
            </a:extLst>
          </p:cNvPr>
          <p:cNvSpPr txBox="1"/>
          <p:nvPr/>
        </p:nvSpPr>
        <p:spPr>
          <a:xfrm>
            <a:off x="8255000" y="1752600"/>
            <a:ext cx="30988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À retenir</a:t>
            </a:r>
          </a:p>
        </p:txBody>
      </p:sp>
      <p:sp>
        <p:nvSpPr>
          <p:cNvPr id="25" name="ZoneTexte 24">
            <a:extLst>
              <a:ext uri="{FF2B5EF4-FFF2-40B4-BE49-F238E27FC236}">
                <a16:creationId xmlns:a16="http://schemas.microsoft.com/office/drawing/2014/main" id="{D5D432D2-4FFF-7FF6-E7BF-7C98416F965F}"/>
              </a:ext>
            </a:extLst>
          </p:cNvPr>
          <p:cNvSpPr txBox="1"/>
          <p:nvPr/>
        </p:nvSpPr>
        <p:spPr>
          <a:xfrm>
            <a:off x="8255000" y="2133600"/>
            <a:ext cx="3124200" cy="40132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200">
                <a:solidFill>
                  <a:srgbClr val="12162B"/>
                </a:solidFill>
                <a:latin typeface="Calibri" panose="020F0502020204030204" pitchFamily="34" charset="0"/>
              </a:rPr>
              <a:t>Chargeur et Écran : modèle ou marque obligatoire</a:t>
            </a:r>
          </a:p>
          <a:p>
            <a:pPr marL="203200" indent="-203200">
              <a:spcAft>
                <a:spcPts val="600"/>
              </a:spcAft>
              <a:buClr>
                <a:srgbClr val="5853FF"/>
              </a:buClr>
              <a:buFont typeface="+mj-lt"/>
              <a:buChar char="•"/>
            </a:pPr>
            <a:r>
              <a:rPr lang="fr-FR" sz="1200">
                <a:solidFill>
                  <a:srgbClr val="12162B"/>
                </a:solidFill>
                <a:latin typeface="Calibri" panose="020F0502020204030204" pitchFamily="34" charset="0"/>
              </a:rPr>
              <a:t>Ordinateur portable : marque obligatoire (Acer, HP, Asus, Lenovo, Dell)</a:t>
            </a:r>
          </a:p>
          <a:p>
            <a:pPr marL="203200" indent="-203200">
              <a:spcAft>
                <a:spcPts val="600"/>
              </a:spcAft>
              <a:buClr>
                <a:srgbClr val="5853FF"/>
              </a:buClr>
              <a:buFont typeface="+mj-lt"/>
              <a:buChar char="•"/>
            </a:pPr>
            <a:r>
              <a:rPr lang="fr-FR" sz="1200">
                <a:solidFill>
                  <a:srgbClr val="12162B"/>
                </a:solidFill>
                <a:latin typeface="Calibri" panose="020F0502020204030204" pitchFamily="34" charset="0"/>
              </a:rPr>
              <a:t>Nom du PC et n° de série par exemplaire (facultatif)</a:t>
            </a:r>
          </a:p>
          <a:p>
            <a:pPr marL="203200" indent="-203200">
              <a:spcAft>
                <a:spcPts val="600"/>
              </a:spcAft>
              <a:buClr>
                <a:srgbClr val="5853FF"/>
              </a:buClr>
              <a:buFont typeface="+mj-lt"/>
              <a:buChar char="•"/>
            </a:pPr>
            <a:r>
              <a:rPr lang="fr-FR" sz="1200">
                <a:solidFill>
                  <a:srgbClr val="12162B"/>
                </a:solidFill>
                <a:latin typeface="Calibri" panose="020F0502020204030204" pitchFamily="34" charset="0"/>
              </a:rPr>
              <a:t>1 · Saisir à la main : tout reste modifiable</a:t>
            </a:r>
          </a:p>
          <a:p>
            <a:pPr marL="203200" indent="-203200">
              <a:spcAft>
                <a:spcPts val="600"/>
              </a:spcAft>
              <a:buClr>
                <a:srgbClr val="5853FF"/>
              </a:buClr>
              <a:buFont typeface="+mj-lt"/>
              <a:buChar char="•"/>
            </a:pPr>
            <a:r>
              <a:rPr lang="fr-FR" sz="1200">
                <a:solidFill>
                  <a:srgbClr val="12162B"/>
                </a:solidFill>
                <a:latin typeface="Calibri" panose="020F0502020204030204" pitchFamily="34" charset="0"/>
              </a:rPr>
              <a:t>2 · Ou importer la facture (en bas) : le PDF remplit le formulaire</a:t>
            </a:r>
          </a:p>
          <a:p>
            <a:pPr marL="203200" indent="-203200">
              <a:spcAft>
                <a:spcPts val="600"/>
              </a:spcAft>
              <a:buClr>
                <a:srgbClr val="5853FF"/>
              </a:buClr>
              <a:buFont typeface="+mj-lt"/>
              <a:buChar char="•"/>
            </a:pPr>
            <a:r>
              <a:rPr lang="fr-FR" sz="1200">
                <a:solidFill>
                  <a:srgbClr val="12162B"/>
                </a:solidFill>
                <a:latin typeface="Calibri" panose="020F0502020204030204" pitchFamily="34" charset="0"/>
              </a:rPr>
              <a:t>Prix total TTC (TVA comprise) lu ou calculé : à vérifier</a:t>
            </a:r>
          </a:p>
          <a:p>
            <a:pPr marL="203200" indent="-203200">
              <a:spcAft>
                <a:spcPts val="600"/>
              </a:spcAft>
              <a:buClr>
                <a:srgbClr val="5853FF"/>
              </a:buClr>
              <a:buFont typeface="+mj-lt"/>
              <a:buChar char="•"/>
            </a:pPr>
            <a:r>
              <a:rPr lang="fr-FR" sz="1200">
                <a:solidFill>
                  <a:srgbClr val="12162B"/>
                </a:solidFill>
                <a:latin typeface="Calibri" panose="020F0502020204030204" pitchFamily="34" charset="0"/>
              </a:rPr>
              <a:t>Image ou PDF scanné : joint, mais à saisir à la main</a:t>
            </a:r>
          </a:p>
          <a:p>
            <a:pPr marL="203200" indent="-203200">
              <a:spcAft>
                <a:spcPts val="600"/>
              </a:spcAft>
              <a:buClr>
                <a:srgbClr val="5853FF"/>
              </a:buClr>
              <a:buFont typeface="+mj-lt"/>
              <a:buChar char="•"/>
            </a:pPr>
            <a:r>
              <a:rPr lang="fr-FR" sz="1200">
                <a:solidFill>
                  <a:srgbClr val="12162B"/>
                </a:solidFill>
                <a:latin typeface="Calibri" panose="020F0502020204030204" pitchFamily="34" charset="0"/>
              </a:rPr>
              <a:t>Bouton Factures : lire, télécharger, rechercher</a:t>
            </a:r>
          </a:p>
        </p:txBody>
      </p:sp>
    </p:spTree>
    <p:extLst>
      <p:ext uri="{BB962C8B-B14F-4D97-AF65-F5344CB8AC3E}">
        <p14:creationId xmlns:p14="http://schemas.microsoft.com/office/powerpoint/2010/main" val="3755209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7A9C5-A1DC-745A-7C76-9726A3448262}"/>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Acheter, puis prêter : le stock suit</a:t>
            </a:r>
          </a:p>
        </p:txBody>
      </p:sp>
      <p:sp>
        <p:nvSpPr>
          <p:cNvPr id="3" name="ZoneTexte 2">
            <a:extLst>
              <a:ext uri="{FF2B5EF4-FFF2-40B4-BE49-F238E27FC236}">
                <a16:creationId xmlns:a16="http://schemas.microsoft.com/office/drawing/2014/main" id="{38AC2EF2-8305-3EC3-7617-8DC10C5613E2}"/>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5</a:t>
            </a:r>
          </a:p>
        </p:txBody>
      </p:sp>
      <p:sp>
        <p:nvSpPr>
          <p:cNvPr id="4" name="ZoneTexte 3">
            <a:extLst>
              <a:ext uri="{FF2B5EF4-FFF2-40B4-BE49-F238E27FC236}">
                <a16:creationId xmlns:a16="http://schemas.microsoft.com/office/drawing/2014/main" id="{4DA5AE68-BF28-6BA9-FC80-B967799166D3}"/>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 matériel sans stock est grisé dans Emprunter</a:t>
            </a:r>
          </a:p>
        </p:txBody>
      </p:sp>
      <p:sp>
        <p:nvSpPr>
          <p:cNvPr id="5" name="ZoneTexte 4">
            <a:extLst>
              <a:ext uri="{FF2B5EF4-FFF2-40B4-BE49-F238E27FC236}">
                <a16:creationId xmlns:a16="http://schemas.microsoft.com/office/drawing/2014/main" id="{E77C15FA-73A2-49DC-D740-8A66719BEA0D}"/>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5539AAE5-92A8-B886-3968-2A7FD2C6229E}"/>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D503D6C9-6BE8-4335-A5ED-5DD05BFA19B2}" type="slidenum">
              <a:rPr lang="fr-FR" sz="900" smtClean="0">
                <a:solidFill>
                  <a:srgbClr val="586080"/>
                </a:solidFill>
                <a:latin typeface="Calibri" panose="020F0502020204030204" pitchFamily="34" charset="0"/>
              </a:rPr>
              <a:t>30</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4D56EFA0-9C31-D0A5-2FE6-AE74EBC1C274}"/>
              </a:ext>
            </a:extLst>
          </p:cNvPr>
          <p:cNvSpPr/>
          <p:nvPr/>
        </p:nvSpPr>
        <p:spPr>
          <a:xfrm>
            <a:off x="609600" y="1600200"/>
            <a:ext cx="2540000" cy="3901252"/>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99CBC1B8-D029-4332-407F-DF45192A6B22}"/>
              </a:ext>
            </a:extLst>
          </p:cNvPr>
          <p:cNvSpPr/>
          <p:nvPr/>
        </p:nvSpPr>
        <p:spPr>
          <a:xfrm>
            <a:off x="609600" y="1600200"/>
            <a:ext cx="2540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0028D7D2-93CD-BDF4-09CA-B7A97979420F}"/>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3A2D0399-D433-8543-0504-D3D4C19431B8}"/>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AE34A17-7AA7-07C2-27A7-81D8DF82F911}"/>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6E846A07-0966-DE21-EFC5-1FF16BB5E94E}"/>
              </a:ext>
            </a:extLst>
          </p:cNvPr>
          <p:cNvSpPr/>
          <p:nvPr/>
        </p:nvSpPr>
        <p:spPr>
          <a:xfrm>
            <a:off x="736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19FDC6C3-35DE-383A-AAAA-ED9D912BF1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2540000" cy="3621852"/>
          </a:xfrm>
          <a:prstGeom prst="rect">
            <a:avLst/>
          </a:prstGeom>
        </p:spPr>
      </p:pic>
      <p:sp>
        <p:nvSpPr>
          <p:cNvPr id="15" name="Rectangle : coins arrondis 14">
            <a:extLst>
              <a:ext uri="{FF2B5EF4-FFF2-40B4-BE49-F238E27FC236}">
                <a16:creationId xmlns:a16="http://schemas.microsoft.com/office/drawing/2014/main" id="{2FDB3D5D-699F-1911-E4DA-89874A644258}"/>
              </a:ext>
            </a:extLst>
          </p:cNvPr>
          <p:cNvSpPr/>
          <p:nvPr/>
        </p:nvSpPr>
        <p:spPr>
          <a:xfrm>
            <a:off x="3352800" y="1600200"/>
            <a:ext cx="4191000" cy="399415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8836638B-3F15-F91C-0CF7-6498ECA2E969}"/>
              </a:ext>
            </a:extLst>
          </p:cNvPr>
          <p:cNvSpPr/>
          <p:nvPr/>
        </p:nvSpPr>
        <p:spPr>
          <a:xfrm>
            <a:off x="3352800" y="1600200"/>
            <a:ext cx="4191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C3A462FC-D7BC-81EE-6297-6BCCF6D951B5}"/>
              </a:ext>
            </a:extLst>
          </p:cNvPr>
          <p:cNvSpPr/>
          <p:nvPr/>
        </p:nvSpPr>
        <p:spPr>
          <a:xfrm>
            <a:off x="34798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4C03A658-9484-F1CD-B6C4-C77AC0AF08A2}"/>
              </a:ext>
            </a:extLst>
          </p:cNvPr>
          <p:cNvSpPr/>
          <p:nvPr/>
        </p:nvSpPr>
        <p:spPr>
          <a:xfrm>
            <a:off x="36449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0B09FBBD-085B-1933-6CCB-BE640E178197}"/>
              </a:ext>
            </a:extLst>
          </p:cNvPr>
          <p:cNvSpPr/>
          <p:nvPr/>
        </p:nvSpPr>
        <p:spPr>
          <a:xfrm>
            <a:off x="38100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F5348631-3DDE-2034-9539-357B0DAEAC35}"/>
              </a:ext>
            </a:extLst>
          </p:cNvPr>
          <p:cNvSpPr/>
          <p:nvPr/>
        </p:nvSpPr>
        <p:spPr>
          <a:xfrm>
            <a:off x="43053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0F291DE0-7AC1-6057-41CC-96785B00B75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352800" y="1879600"/>
            <a:ext cx="4191000" cy="3714750"/>
          </a:xfrm>
          <a:prstGeom prst="rect">
            <a:avLst/>
          </a:prstGeom>
        </p:spPr>
      </p:pic>
      <p:sp>
        <p:nvSpPr>
          <p:cNvPr id="23" name="Rectangle : coins arrondis 22">
            <a:extLst>
              <a:ext uri="{FF2B5EF4-FFF2-40B4-BE49-F238E27FC236}">
                <a16:creationId xmlns:a16="http://schemas.microsoft.com/office/drawing/2014/main" id="{020BBD3D-57DC-8780-8CCC-F87D52AE5C27}"/>
              </a:ext>
            </a:extLst>
          </p:cNvPr>
          <p:cNvSpPr/>
          <p:nvPr/>
        </p:nvSpPr>
        <p:spPr>
          <a:xfrm>
            <a:off x="7797800" y="1600200"/>
            <a:ext cx="37846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9BF90B50-0CE7-54FC-010A-FC2D4A5F6D66}"/>
              </a:ext>
            </a:extLst>
          </p:cNvPr>
          <p:cNvSpPr txBox="1"/>
          <p:nvPr/>
        </p:nvSpPr>
        <p:spPr>
          <a:xfrm>
            <a:off x="8026400" y="1752600"/>
            <a:ext cx="33274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Comment ça marche</a:t>
            </a:r>
          </a:p>
        </p:txBody>
      </p:sp>
      <p:sp>
        <p:nvSpPr>
          <p:cNvPr id="25" name="ZoneTexte 24">
            <a:extLst>
              <a:ext uri="{FF2B5EF4-FFF2-40B4-BE49-F238E27FC236}">
                <a16:creationId xmlns:a16="http://schemas.microsoft.com/office/drawing/2014/main" id="{541761D2-7910-ED17-4A63-C84746FC19BF}"/>
              </a:ext>
            </a:extLst>
          </p:cNvPr>
          <p:cNvSpPr txBox="1"/>
          <p:nvPr/>
        </p:nvSpPr>
        <p:spPr>
          <a:xfrm>
            <a:off x="8026400" y="2133600"/>
            <a:ext cx="3378200" cy="40640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Enregistrer un achat : quantité, date, prix (facultatif)</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Prix par unité ou total, TTC ou HT, taux de TVA : liés par la quantité</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Retrait refusé s'il dépasse le stock</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Emprunter : « Plus en stock », ligne grisée et non cochable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Retour signé : le matériel revient en stock</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Perte : le matériel sort du stock</a:t>
            </a:r>
          </a:p>
        </p:txBody>
      </p:sp>
    </p:spTree>
    <p:extLst>
      <p:ext uri="{BB962C8B-B14F-4D97-AF65-F5344CB8AC3E}">
        <p14:creationId xmlns:p14="http://schemas.microsoft.com/office/powerpoint/2010/main" val="3618823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EC9C22-697E-8780-3996-A8DCA0515D6A}"/>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Activités récentes : le journal</a:t>
            </a:r>
          </a:p>
        </p:txBody>
      </p:sp>
      <p:sp>
        <p:nvSpPr>
          <p:cNvPr id="3" name="ZoneTexte 2">
            <a:extLst>
              <a:ext uri="{FF2B5EF4-FFF2-40B4-BE49-F238E27FC236}">
                <a16:creationId xmlns:a16="http://schemas.microsoft.com/office/drawing/2014/main" id="{4940B31D-7FE9-9150-104E-581AF7654BC5}"/>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ONGLET 8</a:t>
            </a:r>
          </a:p>
        </p:txBody>
      </p:sp>
      <p:sp>
        <p:nvSpPr>
          <p:cNvPr id="4" name="ZoneTexte 3">
            <a:extLst>
              <a:ext uri="{FF2B5EF4-FFF2-40B4-BE49-F238E27FC236}">
                <a16:creationId xmlns:a16="http://schemas.microsoft.com/office/drawing/2014/main" id="{E6556283-EE8F-7ECF-50A0-74BD2F272662}"/>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Tout ce qui a été enregistré, du plus récent au plus ancien</a:t>
            </a:r>
          </a:p>
        </p:txBody>
      </p:sp>
      <p:sp>
        <p:nvSpPr>
          <p:cNvPr id="5" name="ZoneTexte 4">
            <a:extLst>
              <a:ext uri="{FF2B5EF4-FFF2-40B4-BE49-F238E27FC236}">
                <a16:creationId xmlns:a16="http://schemas.microsoft.com/office/drawing/2014/main" id="{051F6A5F-41B3-E7CC-2EE3-B0726ED75470}"/>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F70719C9-181E-4061-7884-FE44A781F1D5}"/>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10E87576-B150-4263-ABFD-67F92CE04D2B}" type="slidenum">
              <a:rPr lang="fr-FR" sz="900" smtClean="0">
                <a:solidFill>
                  <a:srgbClr val="586080"/>
                </a:solidFill>
                <a:latin typeface="Calibri" panose="020F0502020204030204" pitchFamily="34" charset="0"/>
              </a:rPr>
              <a:t>31</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8A7DFECC-D3C1-5A69-E4DC-7A791AE78AE0}"/>
              </a:ext>
            </a:extLst>
          </p:cNvPr>
          <p:cNvSpPr/>
          <p:nvPr/>
        </p:nvSpPr>
        <p:spPr>
          <a:xfrm>
            <a:off x="609600" y="1600200"/>
            <a:ext cx="7239000" cy="4803775"/>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540E21FD-2EC9-2E97-D3E8-9AA3BCE824EA}"/>
              </a:ext>
            </a:extLst>
          </p:cNvPr>
          <p:cNvSpPr/>
          <p:nvPr/>
        </p:nvSpPr>
        <p:spPr>
          <a:xfrm>
            <a:off x="609600" y="1600200"/>
            <a:ext cx="7239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400AF70F-3396-AC2B-935E-1597411EE5A2}"/>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5E48BBC2-C0E3-4356-2844-40A44D7EB4D5}"/>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9281D4F9-932D-0769-268F-EA19023A4CCF}"/>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7280702B-EDF6-C3DD-D291-7EED5B895828}"/>
              </a:ext>
            </a:extLst>
          </p:cNvPr>
          <p:cNvSpPr/>
          <p:nvPr/>
        </p:nvSpPr>
        <p:spPr>
          <a:xfrm>
            <a:off x="3086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EEF973DB-DBA3-821B-86F8-FD50729E0D8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7239000" cy="4524375"/>
          </a:xfrm>
          <a:prstGeom prst="rect">
            <a:avLst/>
          </a:prstGeom>
        </p:spPr>
      </p:pic>
      <p:sp>
        <p:nvSpPr>
          <p:cNvPr id="15" name="Ellipse 14">
            <a:extLst>
              <a:ext uri="{FF2B5EF4-FFF2-40B4-BE49-F238E27FC236}">
                <a16:creationId xmlns:a16="http://schemas.microsoft.com/office/drawing/2014/main" id="{61463799-C61C-5C95-38E6-19C91F8193B3}"/>
              </a:ext>
            </a:extLst>
          </p:cNvPr>
          <p:cNvSpPr/>
          <p:nvPr/>
        </p:nvSpPr>
        <p:spPr>
          <a:xfrm>
            <a:off x="1910292" y="2949046"/>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1</a:t>
            </a:r>
          </a:p>
        </p:txBody>
      </p:sp>
      <p:sp>
        <p:nvSpPr>
          <p:cNvPr id="16" name="Ellipse 15">
            <a:extLst>
              <a:ext uri="{FF2B5EF4-FFF2-40B4-BE49-F238E27FC236}">
                <a16:creationId xmlns:a16="http://schemas.microsoft.com/office/drawing/2014/main" id="{670FF8CF-B3E0-D414-26D1-3E2973A1A2E2}"/>
              </a:ext>
            </a:extLst>
          </p:cNvPr>
          <p:cNvSpPr/>
          <p:nvPr/>
        </p:nvSpPr>
        <p:spPr>
          <a:xfrm>
            <a:off x="3016250" y="392932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2</a:t>
            </a:r>
          </a:p>
        </p:txBody>
      </p:sp>
      <p:sp>
        <p:nvSpPr>
          <p:cNvPr id="17" name="Ellipse 16">
            <a:extLst>
              <a:ext uri="{FF2B5EF4-FFF2-40B4-BE49-F238E27FC236}">
                <a16:creationId xmlns:a16="http://schemas.microsoft.com/office/drawing/2014/main" id="{2F6CDA13-4172-0729-E187-D5C15F0ABAC6}"/>
              </a:ext>
            </a:extLst>
          </p:cNvPr>
          <p:cNvSpPr/>
          <p:nvPr/>
        </p:nvSpPr>
        <p:spPr>
          <a:xfrm>
            <a:off x="5137679" y="3929327"/>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3</a:t>
            </a:r>
          </a:p>
        </p:txBody>
      </p:sp>
      <p:sp>
        <p:nvSpPr>
          <p:cNvPr id="18" name="Ellipse 17">
            <a:extLst>
              <a:ext uri="{FF2B5EF4-FFF2-40B4-BE49-F238E27FC236}">
                <a16:creationId xmlns:a16="http://schemas.microsoft.com/office/drawing/2014/main" id="{F0C68F4A-3FC4-42E4-E891-2A108C6D4CFC}"/>
              </a:ext>
            </a:extLst>
          </p:cNvPr>
          <p:cNvSpPr/>
          <p:nvPr/>
        </p:nvSpPr>
        <p:spPr>
          <a:xfrm>
            <a:off x="2292350" y="4150519"/>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4</a:t>
            </a:r>
          </a:p>
        </p:txBody>
      </p:sp>
      <p:sp>
        <p:nvSpPr>
          <p:cNvPr id="19" name="Ellipse 18">
            <a:extLst>
              <a:ext uri="{FF2B5EF4-FFF2-40B4-BE49-F238E27FC236}">
                <a16:creationId xmlns:a16="http://schemas.microsoft.com/office/drawing/2014/main" id="{5F0ECFD8-519F-8BE1-7DEB-A74382F2B32D}"/>
              </a:ext>
            </a:extLst>
          </p:cNvPr>
          <p:cNvSpPr/>
          <p:nvPr/>
        </p:nvSpPr>
        <p:spPr>
          <a:xfrm>
            <a:off x="2654300" y="4371710"/>
            <a:ext cx="254000" cy="254000"/>
          </a:xfrm>
          <a:prstGeom prst="ellipse">
            <a:avLst/>
          </a:prstGeom>
          <a:solidFill>
            <a:srgbClr val="5853FF"/>
          </a:solid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100" b="1">
                <a:solidFill>
                  <a:srgbClr val="FFFFFF"/>
                </a:solidFill>
                <a:latin typeface="Calibri" panose="020F0502020204030204" pitchFamily="34" charset="0"/>
              </a:rPr>
              <a:t>5</a:t>
            </a:r>
          </a:p>
        </p:txBody>
      </p:sp>
      <p:sp>
        <p:nvSpPr>
          <p:cNvPr id="20" name="Rectangle : coins arrondis 19">
            <a:extLst>
              <a:ext uri="{FF2B5EF4-FFF2-40B4-BE49-F238E27FC236}">
                <a16:creationId xmlns:a16="http://schemas.microsoft.com/office/drawing/2014/main" id="{05E5E32C-B20C-4BB8-D58E-956FA6AC4C80}"/>
              </a:ext>
            </a:extLst>
          </p:cNvPr>
          <p:cNvSpPr/>
          <p:nvPr/>
        </p:nvSpPr>
        <p:spPr>
          <a:xfrm>
            <a:off x="8483600" y="1600200"/>
            <a:ext cx="30988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24704B85-C07E-A450-84EE-4D0B29F0873C}"/>
              </a:ext>
            </a:extLst>
          </p:cNvPr>
          <p:cNvSpPr txBox="1"/>
          <p:nvPr/>
        </p:nvSpPr>
        <p:spPr>
          <a:xfrm>
            <a:off x="8712200" y="1752600"/>
            <a:ext cx="2667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Repères</a:t>
            </a:r>
          </a:p>
        </p:txBody>
      </p:sp>
      <p:sp>
        <p:nvSpPr>
          <p:cNvPr id="22" name="Ellipse 21">
            <a:extLst>
              <a:ext uri="{FF2B5EF4-FFF2-40B4-BE49-F238E27FC236}">
                <a16:creationId xmlns:a16="http://schemas.microsoft.com/office/drawing/2014/main" id="{54E39FF7-B4B8-DB6A-8C3B-0B339F3E9F7B}"/>
              </a:ext>
            </a:extLst>
          </p:cNvPr>
          <p:cNvSpPr/>
          <p:nvPr/>
        </p:nvSpPr>
        <p:spPr>
          <a:xfrm>
            <a:off x="8712200" y="21336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1</a:t>
            </a:r>
          </a:p>
        </p:txBody>
      </p:sp>
      <p:sp>
        <p:nvSpPr>
          <p:cNvPr id="23" name="ZoneTexte 22">
            <a:extLst>
              <a:ext uri="{FF2B5EF4-FFF2-40B4-BE49-F238E27FC236}">
                <a16:creationId xmlns:a16="http://schemas.microsoft.com/office/drawing/2014/main" id="{92DF6E54-AE13-2D1A-FED5-1DCED36E8886}"/>
              </a:ext>
            </a:extLst>
          </p:cNvPr>
          <p:cNvSpPr txBox="1"/>
          <p:nvPr/>
        </p:nvSpPr>
        <p:spPr>
          <a:xfrm>
            <a:off x="9118600" y="2146300"/>
            <a:ext cx="2260600" cy="5080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Indicateurs et filtres : prêts, envois, signatures, pertes</a:t>
            </a:r>
          </a:p>
        </p:txBody>
      </p:sp>
      <p:sp>
        <p:nvSpPr>
          <p:cNvPr id="24" name="Ellipse 23">
            <a:extLst>
              <a:ext uri="{FF2B5EF4-FFF2-40B4-BE49-F238E27FC236}">
                <a16:creationId xmlns:a16="http://schemas.microsoft.com/office/drawing/2014/main" id="{268B6966-A617-E623-CC20-57F60C0EDCD9}"/>
              </a:ext>
            </a:extLst>
          </p:cNvPr>
          <p:cNvSpPr/>
          <p:nvPr/>
        </p:nvSpPr>
        <p:spPr>
          <a:xfrm>
            <a:off x="8712200" y="26924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2</a:t>
            </a:r>
          </a:p>
        </p:txBody>
      </p:sp>
      <p:sp>
        <p:nvSpPr>
          <p:cNvPr id="25" name="ZoneTexte 24">
            <a:extLst>
              <a:ext uri="{FF2B5EF4-FFF2-40B4-BE49-F238E27FC236}">
                <a16:creationId xmlns:a16="http://schemas.microsoft.com/office/drawing/2014/main" id="{D28E897A-F1F3-ED55-6FFF-95DD230CFF80}"/>
              </a:ext>
            </a:extLst>
          </p:cNvPr>
          <p:cNvSpPr txBox="1"/>
          <p:nvPr/>
        </p:nvSpPr>
        <p:spPr>
          <a:xfrm>
            <a:off x="9118600" y="2705100"/>
            <a:ext cx="2260600" cy="5080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Filtres par type d'événement</a:t>
            </a:r>
          </a:p>
        </p:txBody>
      </p:sp>
      <p:sp>
        <p:nvSpPr>
          <p:cNvPr id="26" name="Ellipse 25">
            <a:extLst>
              <a:ext uri="{FF2B5EF4-FFF2-40B4-BE49-F238E27FC236}">
                <a16:creationId xmlns:a16="http://schemas.microsoft.com/office/drawing/2014/main" id="{5A4366B8-87E8-9108-ABC7-7BF73C436387}"/>
              </a:ext>
            </a:extLst>
          </p:cNvPr>
          <p:cNvSpPr/>
          <p:nvPr/>
        </p:nvSpPr>
        <p:spPr>
          <a:xfrm>
            <a:off x="8712200" y="32512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3</a:t>
            </a:r>
          </a:p>
        </p:txBody>
      </p:sp>
      <p:sp>
        <p:nvSpPr>
          <p:cNvPr id="27" name="ZoneTexte 26">
            <a:extLst>
              <a:ext uri="{FF2B5EF4-FFF2-40B4-BE49-F238E27FC236}">
                <a16:creationId xmlns:a16="http://schemas.microsoft.com/office/drawing/2014/main" id="{F6916480-6318-9E69-0578-AA9861962DF1}"/>
              </a:ext>
            </a:extLst>
          </p:cNvPr>
          <p:cNvSpPr txBox="1"/>
          <p:nvPr/>
        </p:nvSpPr>
        <p:spPr>
          <a:xfrm>
            <a:off x="9118600" y="3263900"/>
            <a:ext cx="2260600" cy="5080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Période</a:t>
            </a:r>
          </a:p>
        </p:txBody>
      </p:sp>
      <p:sp>
        <p:nvSpPr>
          <p:cNvPr id="28" name="Ellipse 27">
            <a:extLst>
              <a:ext uri="{FF2B5EF4-FFF2-40B4-BE49-F238E27FC236}">
                <a16:creationId xmlns:a16="http://schemas.microsoft.com/office/drawing/2014/main" id="{B0C22E79-534B-EE96-BD64-9638E0874F25}"/>
              </a:ext>
            </a:extLst>
          </p:cNvPr>
          <p:cNvSpPr/>
          <p:nvPr/>
        </p:nvSpPr>
        <p:spPr>
          <a:xfrm>
            <a:off x="8712200" y="38100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4</a:t>
            </a:r>
          </a:p>
        </p:txBody>
      </p:sp>
      <p:sp>
        <p:nvSpPr>
          <p:cNvPr id="29" name="ZoneTexte 28">
            <a:extLst>
              <a:ext uri="{FF2B5EF4-FFF2-40B4-BE49-F238E27FC236}">
                <a16:creationId xmlns:a16="http://schemas.microsoft.com/office/drawing/2014/main" id="{027D38E7-6989-A838-85E4-84CB26D09877}"/>
              </a:ext>
            </a:extLst>
          </p:cNvPr>
          <p:cNvSpPr txBox="1"/>
          <p:nvPr/>
        </p:nvSpPr>
        <p:spPr>
          <a:xfrm>
            <a:off x="9118600" y="3822700"/>
            <a:ext cx="2260600" cy="5080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Regroupement par jour</a:t>
            </a:r>
          </a:p>
        </p:txBody>
      </p:sp>
      <p:sp>
        <p:nvSpPr>
          <p:cNvPr id="30" name="Ellipse 29">
            <a:extLst>
              <a:ext uri="{FF2B5EF4-FFF2-40B4-BE49-F238E27FC236}">
                <a16:creationId xmlns:a16="http://schemas.microsoft.com/office/drawing/2014/main" id="{793E17D0-165E-0BD6-8E43-30E0CADA6BA2}"/>
              </a:ext>
            </a:extLst>
          </p:cNvPr>
          <p:cNvSpPr/>
          <p:nvPr/>
        </p:nvSpPr>
        <p:spPr>
          <a:xfrm>
            <a:off x="8712200" y="4368800"/>
            <a:ext cx="279400" cy="2794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a:solidFill>
                  <a:srgbClr val="FFFFFF"/>
                </a:solidFill>
                <a:latin typeface="Calibri" panose="020F0502020204030204" pitchFamily="34" charset="0"/>
              </a:rPr>
              <a:t>5</a:t>
            </a:r>
          </a:p>
        </p:txBody>
      </p:sp>
      <p:sp>
        <p:nvSpPr>
          <p:cNvPr id="31" name="ZoneTexte 30">
            <a:extLst>
              <a:ext uri="{FF2B5EF4-FFF2-40B4-BE49-F238E27FC236}">
                <a16:creationId xmlns:a16="http://schemas.microsoft.com/office/drawing/2014/main" id="{D9F40E9D-4CC8-BA24-4B95-08B7B29530A2}"/>
              </a:ext>
            </a:extLst>
          </p:cNvPr>
          <p:cNvSpPr txBox="1"/>
          <p:nvPr/>
        </p:nvSpPr>
        <p:spPr>
          <a:xfrm>
            <a:off x="9118600" y="4381500"/>
            <a:ext cx="2260600" cy="5080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Événement : personne, matériel, heure, auteur</a:t>
            </a:r>
          </a:p>
        </p:txBody>
      </p:sp>
    </p:spTree>
    <p:extLst>
      <p:ext uri="{BB962C8B-B14F-4D97-AF65-F5344CB8AC3E}">
        <p14:creationId xmlns:p14="http://schemas.microsoft.com/office/powerpoint/2010/main" val="180610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CCDABE-57B3-25F3-F620-5E4B7115FA28}"/>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Filtrer par période</a:t>
            </a:r>
          </a:p>
        </p:txBody>
      </p:sp>
      <p:sp>
        <p:nvSpPr>
          <p:cNvPr id="3" name="ZoneTexte 2">
            <a:extLst>
              <a:ext uri="{FF2B5EF4-FFF2-40B4-BE49-F238E27FC236}">
                <a16:creationId xmlns:a16="http://schemas.microsoft.com/office/drawing/2014/main" id="{6967B127-D930-89B2-2A82-AEAF07F9489F}"/>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TRANSVERSAL</a:t>
            </a:r>
          </a:p>
        </p:txBody>
      </p:sp>
      <p:sp>
        <p:nvSpPr>
          <p:cNvPr id="4" name="ZoneTexte 3">
            <a:extLst>
              <a:ext uri="{FF2B5EF4-FFF2-40B4-BE49-F238E27FC236}">
                <a16:creationId xmlns:a16="http://schemas.microsoft.com/office/drawing/2014/main" id="{F24054E1-2401-7F1A-0BD8-ED20892CDF87}"/>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Sur chaque liste, entre deux dates, deux mois ou deux années</a:t>
            </a:r>
          </a:p>
        </p:txBody>
      </p:sp>
      <p:sp>
        <p:nvSpPr>
          <p:cNvPr id="5" name="ZoneTexte 4">
            <a:extLst>
              <a:ext uri="{FF2B5EF4-FFF2-40B4-BE49-F238E27FC236}">
                <a16:creationId xmlns:a16="http://schemas.microsoft.com/office/drawing/2014/main" id="{916FB40B-D210-06F3-4837-49D798BDAD54}"/>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7C0D2322-BFA7-2E64-58E4-5D142E9DDAA3}"/>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6DA452C6-E18A-4BB2-9BFA-58A6216EF60E}" type="slidenum">
              <a:rPr lang="fr-FR" sz="900" smtClean="0">
                <a:solidFill>
                  <a:srgbClr val="586080"/>
                </a:solidFill>
                <a:latin typeface="Calibri" panose="020F0502020204030204" pitchFamily="34" charset="0"/>
              </a:rPr>
              <a:t>32</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28018133-A368-B49F-4F19-F4FCBC6B8DC3}"/>
              </a:ext>
            </a:extLst>
          </p:cNvPr>
          <p:cNvSpPr/>
          <p:nvPr/>
        </p:nvSpPr>
        <p:spPr>
          <a:xfrm>
            <a:off x="609600" y="1600200"/>
            <a:ext cx="10972800" cy="1288548"/>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18B4EEDC-BDD9-44EE-9D09-1F3F26A74973}"/>
              </a:ext>
            </a:extLst>
          </p:cNvPr>
          <p:cNvSpPr/>
          <p:nvPr/>
        </p:nvSpPr>
        <p:spPr>
          <a:xfrm>
            <a:off x="609600" y="1600200"/>
            <a:ext cx="109728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C7F7BC5E-AD3A-1318-2BDC-C788F246E840}"/>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CD0BA468-5F63-9B29-3701-4E736CD0C05C}"/>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1ECC1A0B-5820-C714-E92B-B833B4D5B4FC}"/>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B1F3DCDF-CED3-8D1C-76A8-861F8D139E4B}"/>
              </a:ext>
            </a:extLst>
          </p:cNvPr>
          <p:cNvSpPr/>
          <p:nvPr/>
        </p:nvSpPr>
        <p:spPr>
          <a:xfrm>
            <a:off x="49530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82FBD318-75A0-00EC-DFE6-5BE07EC4699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10972800" cy="1009148"/>
          </a:xfrm>
          <a:prstGeom prst="rect">
            <a:avLst/>
          </a:prstGeom>
        </p:spPr>
      </p:pic>
      <p:sp>
        <p:nvSpPr>
          <p:cNvPr id="15" name="Rectangle : coins arrondis 14">
            <a:extLst>
              <a:ext uri="{FF2B5EF4-FFF2-40B4-BE49-F238E27FC236}">
                <a16:creationId xmlns:a16="http://schemas.microsoft.com/office/drawing/2014/main" id="{066CE33D-AA8C-1A07-85E9-C1D7D98CAB77}"/>
              </a:ext>
            </a:extLst>
          </p:cNvPr>
          <p:cNvSpPr/>
          <p:nvPr/>
        </p:nvSpPr>
        <p:spPr>
          <a:xfrm>
            <a:off x="609600" y="3759200"/>
            <a:ext cx="5334000" cy="2489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030C39C4-5BE0-6604-2261-D2764E3BEBA9}"/>
              </a:ext>
            </a:extLst>
          </p:cNvPr>
          <p:cNvSpPr txBox="1"/>
          <p:nvPr/>
        </p:nvSpPr>
        <p:spPr>
          <a:xfrm>
            <a:off x="863600" y="3911600"/>
            <a:ext cx="4826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Quatre modes</a:t>
            </a:r>
          </a:p>
        </p:txBody>
      </p:sp>
      <p:sp>
        <p:nvSpPr>
          <p:cNvPr id="17" name="ZoneTexte 16">
            <a:extLst>
              <a:ext uri="{FF2B5EF4-FFF2-40B4-BE49-F238E27FC236}">
                <a16:creationId xmlns:a16="http://schemas.microsoft.com/office/drawing/2014/main" id="{B4FC7D86-BCB2-EF36-37E9-C032F3F77A8E}"/>
              </a:ext>
            </a:extLst>
          </p:cNvPr>
          <p:cNvSpPr txBox="1"/>
          <p:nvPr/>
        </p:nvSpPr>
        <p:spPr>
          <a:xfrm>
            <a:off x="863600" y="4292600"/>
            <a:ext cx="4876800" cy="19050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Toutes les dates (par défaut)</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Entre deux dates : du … au …</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De mois à mois</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D'année à année</a:t>
            </a:r>
          </a:p>
        </p:txBody>
      </p:sp>
      <p:sp>
        <p:nvSpPr>
          <p:cNvPr id="18" name="Rectangle : coins arrondis 17">
            <a:extLst>
              <a:ext uri="{FF2B5EF4-FFF2-40B4-BE49-F238E27FC236}">
                <a16:creationId xmlns:a16="http://schemas.microsoft.com/office/drawing/2014/main" id="{B176B741-528B-E945-2E40-7D821297B086}"/>
              </a:ext>
            </a:extLst>
          </p:cNvPr>
          <p:cNvSpPr/>
          <p:nvPr/>
        </p:nvSpPr>
        <p:spPr>
          <a:xfrm>
            <a:off x="6248400" y="3759200"/>
            <a:ext cx="5334000" cy="2489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CE65437D-FCB9-7CEE-E5E3-CD7CEA26F284}"/>
              </a:ext>
            </a:extLst>
          </p:cNvPr>
          <p:cNvSpPr txBox="1"/>
          <p:nvPr/>
        </p:nvSpPr>
        <p:spPr>
          <a:xfrm>
            <a:off x="6502400" y="3911600"/>
            <a:ext cx="4826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Date utilisée selon l'onglet</a:t>
            </a:r>
          </a:p>
        </p:txBody>
      </p:sp>
      <p:sp>
        <p:nvSpPr>
          <p:cNvPr id="20" name="ZoneTexte 19">
            <a:extLst>
              <a:ext uri="{FF2B5EF4-FFF2-40B4-BE49-F238E27FC236}">
                <a16:creationId xmlns:a16="http://schemas.microsoft.com/office/drawing/2014/main" id="{63FC7506-8A16-B528-F80B-4B0A0D6C98FD}"/>
              </a:ext>
            </a:extLst>
          </p:cNvPr>
          <p:cNvSpPr txBox="1"/>
          <p:nvPr/>
        </p:nvSpPr>
        <p:spPr>
          <a:xfrm>
            <a:off x="6502400" y="4292600"/>
            <a:ext cx="4876800" cy="19050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Emprunter : date de remise</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Restituer, Matériel perdu : retour ou déclaration</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Attestations : date d'envoi</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Archives PDF : date de signature</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Activités : date de l'événement</a:t>
            </a:r>
          </a:p>
        </p:txBody>
      </p:sp>
    </p:spTree>
    <p:extLst>
      <p:ext uri="{BB962C8B-B14F-4D97-AF65-F5344CB8AC3E}">
        <p14:creationId xmlns:p14="http://schemas.microsoft.com/office/powerpoint/2010/main" val="2997278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68FAD-3B2B-011E-BE0C-D7CBC73BC9EE}"/>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Codes QR : étiquettes</a:t>
            </a:r>
          </a:p>
        </p:txBody>
      </p:sp>
      <p:sp>
        <p:nvSpPr>
          <p:cNvPr id="3" name="ZoneTexte 2">
            <a:extLst>
              <a:ext uri="{FF2B5EF4-FFF2-40B4-BE49-F238E27FC236}">
                <a16:creationId xmlns:a16="http://schemas.microsoft.com/office/drawing/2014/main" id="{81DB5FA5-CF26-CCDD-8DC5-25DC6906D480}"/>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TRANSVERSAL</a:t>
            </a:r>
          </a:p>
        </p:txBody>
      </p:sp>
      <p:sp>
        <p:nvSpPr>
          <p:cNvPr id="4" name="ZoneTexte 3">
            <a:extLst>
              <a:ext uri="{FF2B5EF4-FFF2-40B4-BE49-F238E27FC236}">
                <a16:creationId xmlns:a16="http://schemas.microsoft.com/office/drawing/2014/main" id="{1C1A4208-4A3F-E3B2-0DCE-67A13B89AC79}"/>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Identifier physiquement chaque équipement</a:t>
            </a:r>
          </a:p>
        </p:txBody>
      </p:sp>
      <p:sp>
        <p:nvSpPr>
          <p:cNvPr id="5" name="ZoneTexte 4">
            <a:extLst>
              <a:ext uri="{FF2B5EF4-FFF2-40B4-BE49-F238E27FC236}">
                <a16:creationId xmlns:a16="http://schemas.microsoft.com/office/drawing/2014/main" id="{153E7223-DD3C-C32B-6786-0E01B2F12FE0}"/>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CA74D61C-96FB-DD42-4605-AC756298DCDB}"/>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FF0E10C9-FBD2-4F43-8D2D-1171DA954DE6}" type="slidenum">
              <a:rPr lang="fr-FR" sz="900" smtClean="0">
                <a:solidFill>
                  <a:srgbClr val="586080"/>
                </a:solidFill>
                <a:latin typeface="Calibri" panose="020F0502020204030204" pitchFamily="34" charset="0"/>
              </a:rPr>
              <a:t>33</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F9220383-E343-E7F7-845C-3EDC854F7F71}"/>
              </a:ext>
            </a:extLst>
          </p:cNvPr>
          <p:cNvSpPr/>
          <p:nvPr/>
        </p:nvSpPr>
        <p:spPr>
          <a:xfrm>
            <a:off x="609600" y="1600200"/>
            <a:ext cx="5461000" cy="2921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3E59951A-03F9-859C-03C6-194080F27616}"/>
              </a:ext>
            </a:extLst>
          </p:cNvPr>
          <p:cNvSpPr txBox="1"/>
          <p:nvPr/>
        </p:nvSpPr>
        <p:spPr>
          <a:xfrm>
            <a:off x="838200" y="1778000"/>
            <a:ext cx="5003800" cy="2794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Étiquettes QR (PDF)</a:t>
            </a:r>
          </a:p>
        </p:txBody>
      </p:sp>
      <p:sp>
        <p:nvSpPr>
          <p:cNvPr id="9" name="ZoneTexte 8">
            <a:extLst>
              <a:ext uri="{FF2B5EF4-FFF2-40B4-BE49-F238E27FC236}">
                <a16:creationId xmlns:a16="http://schemas.microsoft.com/office/drawing/2014/main" id="{A6C73113-9007-CC4D-39F6-6C4DA7131BA9}"/>
              </a:ext>
            </a:extLst>
          </p:cNvPr>
          <p:cNvSpPr txBox="1"/>
          <p:nvPr/>
        </p:nvSpPr>
        <p:spPr>
          <a:xfrm>
            <a:off x="838200" y="2184400"/>
            <a:ext cx="5003800" cy="3810000"/>
          </a:xfrm>
          <a:prstGeom prst="rect">
            <a:avLst/>
          </a:prstGeom>
          <a:noFill/>
        </p:spPr>
        <p:txBody>
          <a:bodyPr vert="horz" wrap="square" lIns="0" tIns="0" rIns="0" bIns="0" rtlCol="0">
            <a:noAutofit/>
          </a:bodyPr>
          <a:lstStyle/>
          <a:p>
            <a:pPr marL="203200" indent="-203200">
              <a:spcAft>
                <a:spcPts val="800"/>
              </a:spcAft>
              <a:buClr>
                <a:srgbClr val="5853FF"/>
              </a:buClr>
              <a:buFont typeface="+mj-lt"/>
              <a:buChar char="•"/>
            </a:pPr>
            <a:r>
              <a:rPr lang="fr-FR" sz="1500">
                <a:solidFill>
                  <a:srgbClr val="12162B"/>
                </a:solidFill>
                <a:latin typeface="Calibri" panose="020F0502020204030204" pitchFamily="34" charset="0"/>
              </a:rPr>
              <a:t>Bouton dans la fiche d'une personne (Emprunter ou Restituer)</a:t>
            </a:r>
          </a:p>
          <a:p>
            <a:pPr marL="203200" indent="-203200">
              <a:spcAft>
                <a:spcPts val="800"/>
              </a:spcAft>
              <a:buClr>
                <a:srgbClr val="5853FF"/>
              </a:buClr>
              <a:buFont typeface="+mj-lt"/>
              <a:buChar char="•"/>
            </a:pPr>
            <a:r>
              <a:rPr lang="fr-FR" sz="1500">
                <a:solidFill>
                  <a:srgbClr val="12162B"/>
                </a:solidFill>
                <a:latin typeface="Calibri" panose="020F0502020204030204" pitchFamily="34" charset="0"/>
              </a:rPr>
              <a:t>24 étiquettes par page A4 (3 × 8)</a:t>
            </a:r>
          </a:p>
          <a:p>
            <a:pPr marL="203200" indent="-203200">
              <a:spcAft>
                <a:spcPts val="800"/>
              </a:spcAft>
              <a:buClr>
                <a:srgbClr val="5853FF"/>
              </a:buClr>
              <a:buFont typeface="+mj-lt"/>
              <a:buChar char="•"/>
            </a:pPr>
            <a:r>
              <a:rPr lang="fr-FR" sz="1500">
                <a:solidFill>
                  <a:srgbClr val="12162B"/>
                </a:solidFill>
                <a:latin typeface="Calibri" panose="020F0502020204030204" pitchFamily="34" charset="0"/>
              </a:rPr>
              <a:t>Chaque étiquette : QR, libellé, code (ex. AP-1), personne, date</a:t>
            </a:r>
          </a:p>
          <a:p>
            <a:pPr marL="203200" indent="-203200">
              <a:spcAft>
                <a:spcPts val="800"/>
              </a:spcAft>
              <a:buClr>
                <a:srgbClr val="5853FF"/>
              </a:buClr>
              <a:buFont typeface="+mj-lt"/>
              <a:buChar char="•"/>
            </a:pPr>
            <a:r>
              <a:rPr lang="fr-FR" sz="1500">
                <a:solidFill>
                  <a:srgbClr val="12162B"/>
                </a:solidFill>
                <a:latin typeface="Calibri" panose="020F0502020204030204" pitchFamily="34" charset="0"/>
              </a:rPr>
              <a:t>À imprimer, découper et coller sur le matériel</a:t>
            </a:r>
          </a:p>
        </p:txBody>
      </p:sp>
      <p:sp>
        <p:nvSpPr>
          <p:cNvPr id="10" name="Rectangle : coins arrondis 9">
            <a:extLst>
              <a:ext uri="{FF2B5EF4-FFF2-40B4-BE49-F238E27FC236}">
                <a16:creationId xmlns:a16="http://schemas.microsoft.com/office/drawing/2014/main" id="{3BC1A36C-880C-F8CF-55D6-5534391A0A05}"/>
              </a:ext>
            </a:extLst>
          </p:cNvPr>
          <p:cNvSpPr/>
          <p:nvPr/>
        </p:nvSpPr>
        <p:spPr>
          <a:xfrm>
            <a:off x="6273800" y="1600200"/>
            <a:ext cx="5308600" cy="2921000"/>
          </a:xfrm>
          <a:prstGeom prst="roundRect">
            <a:avLst>
              <a:gd name="adj" fmla="val 4500"/>
            </a:avLst>
          </a:prstGeom>
          <a:solidFill>
            <a:srgbClr val="FDF0D5"/>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C233B7A9-4EF4-05C2-ADB3-3D8684A251D1}"/>
              </a:ext>
            </a:extLst>
          </p:cNvPr>
          <p:cNvSpPr txBox="1"/>
          <p:nvPr/>
        </p:nvSpPr>
        <p:spPr>
          <a:xfrm>
            <a:off x="6502400" y="1778000"/>
            <a:ext cx="4851400" cy="279400"/>
          </a:xfrm>
          <a:prstGeom prst="rect">
            <a:avLst/>
          </a:prstGeom>
          <a:noFill/>
        </p:spPr>
        <p:txBody>
          <a:bodyPr vert="horz" wrap="square" lIns="0" tIns="0" rIns="0" bIns="0" rtlCol="0">
            <a:noAutofit/>
          </a:bodyPr>
          <a:lstStyle/>
          <a:p>
            <a:r>
              <a:rPr lang="fr-FR" b="1">
                <a:solidFill>
                  <a:srgbClr val="B67608"/>
                </a:solidFill>
                <a:latin typeface="Calibri" panose="020F0502020204030204" pitchFamily="34" charset="0"/>
              </a:rPr>
              <a:t>Scanner : retiré</a:t>
            </a:r>
          </a:p>
        </p:txBody>
      </p:sp>
      <p:sp>
        <p:nvSpPr>
          <p:cNvPr id="12" name="ZoneTexte 11">
            <a:extLst>
              <a:ext uri="{FF2B5EF4-FFF2-40B4-BE49-F238E27FC236}">
                <a16:creationId xmlns:a16="http://schemas.microsoft.com/office/drawing/2014/main" id="{EF446FAF-5B51-EF90-7FCD-F2C0CE029820}"/>
              </a:ext>
            </a:extLst>
          </p:cNvPr>
          <p:cNvSpPr txBox="1"/>
          <p:nvPr/>
        </p:nvSpPr>
        <p:spPr>
          <a:xfrm>
            <a:off x="6502400" y="2184400"/>
            <a:ext cx="4851400" cy="3810000"/>
          </a:xfrm>
          <a:prstGeom prst="rect">
            <a:avLst/>
          </a:prstGeom>
          <a:noFill/>
        </p:spPr>
        <p:txBody>
          <a:bodyPr vert="horz" wrap="square" lIns="0" tIns="0" rIns="0" bIns="0" rtlCol="0">
            <a:noAutofit/>
          </a:bodyPr>
          <a:lstStyle/>
          <a:p>
            <a:pPr marL="203200" indent="-203200">
              <a:spcAft>
                <a:spcPts val="800"/>
              </a:spcAft>
              <a:buClr>
                <a:srgbClr val="5853FF"/>
              </a:buClr>
              <a:buFont typeface="+mj-lt"/>
              <a:buChar char="•"/>
            </a:pPr>
            <a:r>
              <a:rPr lang="fr-FR" sz="1500">
                <a:solidFill>
                  <a:srgbClr val="12162B"/>
                </a:solidFill>
                <a:latin typeface="Calibri" panose="020F0502020204030204" pitchFamily="34" charset="0"/>
              </a:rPr>
              <a:t>La lecture par caméra, photo ou saisie du code n'existe plus dans l'interface</a:t>
            </a:r>
          </a:p>
          <a:p>
            <a:pPr marL="203200" indent="-203200">
              <a:spcAft>
                <a:spcPts val="800"/>
              </a:spcAft>
              <a:buClr>
                <a:srgbClr val="5853FF"/>
              </a:buClr>
              <a:buFont typeface="+mj-lt"/>
              <a:buChar char="•"/>
            </a:pPr>
            <a:r>
              <a:rPr lang="fr-FR" sz="1500">
                <a:solidFill>
                  <a:srgbClr val="12162B"/>
                </a:solidFill>
                <a:latin typeface="Calibri" panose="020F0502020204030204" pitchFamily="34" charset="0"/>
              </a:rPr>
              <a:t>Plus de bouton « Scanner un QR » : Accueil, menu, Emprunter, Restituer, recherche rapide</a:t>
            </a:r>
          </a:p>
          <a:p>
            <a:pPr marL="203200" indent="-203200">
              <a:spcAft>
                <a:spcPts val="800"/>
              </a:spcAft>
              <a:buClr>
                <a:srgbClr val="5853FF"/>
              </a:buClr>
              <a:buFont typeface="+mj-lt"/>
              <a:buChar char="•"/>
            </a:pPr>
            <a:r>
              <a:rPr lang="fr-FR" sz="1500">
                <a:solidFill>
                  <a:srgbClr val="12162B"/>
                </a:solidFill>
                <a:latin typeface="Calibri" panose="020F0502020204030204" pitchFamily="34" charset="0"/>
              </a:rPr>
              <a:t>Le code QR d'une étiquette contient l'identifiant de l'équipement (ex. AP-1)</a:t>
            </a:r>
          </a:p>
        </p:txBody>
      </p:sp>
    </p:spTree>
    <p:extLst>
      <p:ext uri="{BB962C8B-B14F-4D97-AF65-F5344CB8AC3E}">
        <p14:creationId xmlns:p14="http://schemas.microsoft.com/office/powerpoint/2010/main" val="3895718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C6EEF8-7BAD-9EB5-5040-41AD2992F651}"/>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Panneau latéral sur grand écran</a:t>
            </a:r>
          </a:p>
        </p:txBody>
      </p:sp>
      <p:sp>
        <p:nvSpPr>
          <p:cNvPr id="3" name="ZoneTexte 2">
            <a:extLst>
              <a:ext uri="{FF2B5EF4-FFF2-40B4-BE49-F238E27FC236}">
                <a16:creationId xmlns:a16="http://schemas.microsoft.com/office/drawing/2014/main" id="{4947DE5C-DFB5-71BD-8084-BA5FC8B64F05}"/>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TRANSVERSAL</a:t>
            </a:r>
          </a:p>
        </p:txBody>
      </p:sp>
      <p:sp>
        <p:nvSpPr>
          <p:cNvPr id="4" name="ZoneTexte 3">
            <a:extLst>
              <a:ext uri="{FF2B5EF4-FFF2-40B4-BE49-F238E27FC236}">
                <a16:creationId xmlns:a16="http://schemas.microsoft.com/office/drawing/2014/main" id="{DB51581B-FCC9-993F-0DFF-8CFF1E6B6840}"/>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Garder la liste sous les yeux pendant que l'on remplit la fiche</a:t>
            </a:r>
          </a:p>
        </p:txBody>
      </p:sp>
      <p:sp>
        <p:nvSpPr>
          <p:cNvPr id="5" name="ZoneTexte 4">
            <a:extLst>
              <a:ext uri="{FF2B5EF4-FFF2-40B4-BE49-F238E27FC236}">
                <a16:creationId xmlns:a16="http://schemas.microsoft.com/office/drawing/2014/main" id="{2F1D5B3D-2F04-1764-56AD-2023F1CC1F38}"/>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35BAF40B-813D-E7C1-B2F1-5D0B3A759EFD}"/>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B87E8745-8ECF-490C-976D-AB115BBAF0B5}" type="slidenum">
              <a:rPr lang="fr-FR" sz="900" smtClean="0">
                <a:solidFill>
                  <a:srgbClr val="586080"/>
                </a:solidFill>
                <a:latin typeface="Calibri" panose="020F0502020204030204" pitchFamily="34" charset="0"/>
              </a:rPr>
              <a:t>34</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36188A59-5AAB-D832-1AA1-B7CD98A2641D}"/>
              </a:ext>
            </a:extLst>
          </p:cNvPr>
          <p:cNvSpPr/>
          <p:nvPr/>
        </p:nvSpPr>
        <p:spPr>
          <a:xfrm>
            <a:off x="609600" y="1600200"/>
            <a:ext cx="7493000" cy="4510741"/>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308D8A7B-3D31-3B73-4AD2-754E536F15D2}"/>
              </a:ext>
            </a:extLst>
          </p:cNvPr>
          <p:cNvSpPr/>
          <p:nvPr/>
        </p:nvSpPr>
        <p:spPr>
          <a:xfrm>
            <a:off x="609600" y="1600200"/>
            <a:ext cx="7493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E3577904-2760-C046-CD9F-530CA3E9CC67}"/>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C429E57-0010-BFF6-3D55-6B15907A3CB6}"/>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5856FDF-8692-466A-C573-AD69C9E0F471}"/>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A11FC3A2-C3CC-4EC0-68A4-5F39D30C528F}"/>
              </a:ext>
            </a:extLst>
          </p:cNvPr>
          <p:cNvSpPr/>
          <p:nvPr/>
        </p:nvSpPr>
        <p:spPr>
          <a:xfrm>
            <a:off x="3213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D9AB0CD8-3D39-DC6A-B746-859D4CA00C3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7493000" cy="4231341"/>
          </a:xfrm>
          <a:prstGeom prst="rect">
            <a:avLst/>
          </a:prstGeom>
        </p:spPr>
      </p:pic>
      <p:sp>
        <p:nvSpPr>
          <p:cNvPr id="15" name="Rectangle : coins arrondis 14">
            <a:extLst>
              <a:ext uri="{FF2B5EF4-FFF2-40B4-BE49-F238E27FC236}">
                <a16:creationId xmlns:a16="http://schemas.microsoft.com/office/drawing/2014/main" id="{9291B0CF-6C40-3310-35FD-B0672928A008}"/>
              </a:ext>
            </a:extLst>
          </p:cNvPr>
          <p:cNvSpPr/>
          <p:nvPr/>
        </p:nvSpPr>
        <p:spPr>
          <a:xfrm>
            <a:off x="8407400" y="1600200"/>
            <a:ext cx="3175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1627BF3E-CBD7-EBF9-D90D-47D9D0D25B61}"/>
              </a:ext>
            </a:extLst>
          </p:cNvPr>
          <p:cNvSpPr txBox="1"/>
          <p:nvPr/>
        </p:nvSpPr>
        <p:spPr>
          <a:xfrm>
            <a:off x="8610600" y="1778000"/>
            <a:ext cx="2768600" cy="2794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Comportement</a:t>
            </a:r>
          </a:p>
        </p:txBody>
      </p:sp>
      <p:sp>
        <p:nvSpPr>
          <p:cNvPr id="17" name="ZoneTexte 16">
            <a:extLst>
              <a:ext uri="{FF2B5EF4-FFF2-40B4-BE49-F238E27FC236}">
                <a16:creationId xmlns:a16="http://schemas.microsoft.com/office/drawing/2014/main" id="{04CCB1DC-9145-5B77-98DC-AF16BEF56D9C}"/>
              </a:ext>
            </a:extLst>
          </p:cNvPr>
          <p:cNvSpPr txBox="1"/>
          <p:nvPr/>
        </p:nvSpPr>
        <p:spPr>
          <a:xfrm>
            <a:off x="8610600" y="2184400"/>
            <a:ext cx="2819400" cy="3937000"/>
          </a:xfrm>
          <a:prstGeom prst="rect">
            <a:avLst/>
          </a:prstGeom>
          <a:noFill/>
        </p:spPr>
        <p:txBody>
          <a:bodyPr vert="horz" wrap="square" lIns="0" tIns="0" rIns="0" bIns="0" rtlCol="0">
            <a:noAutofit/>
          </a:bodyPr>
          <a:lstStyle/>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 1 480 px : fiche à droite, liste cliquable</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Autre personne : la fiche change</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Matériel coché non enregistré : confirmation</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&lt; 1 480 px : la fiche reste une fenêtre</a:t>
            </a:r>
          </a:p>
        </p:txBody>
      </p:sp>
    </p:spTree>
    <p:extLst>
      <p:ext uri="{BB962C8B-B14F-4D97-AF65-F5344CB8AC3E}">
        <p14:creationId xmlns:p14="http://schemas.microsoft.com/office/powerpoint/2010/main" val="4286266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1C0A0F-AFB9-1BE0-7CFB-519FFCD73E97}"/>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Fiche personne et commentaires</a:t>
            </a:r>
          </a:p>
        </p:txBody>
      </p:sp>
      <p:sp>
        <p:nvSpPr>
          <p:cNvPr id="3" name="ZoneTexte 2">
            <a:extLst>
              <a:ext uri="{FF2B5EF4-FFF2-40B4-BE49-F238E27FC236}">
                <a16:creationId xmlns:a16="http://schemas.microsoft.com/office/drawing/2014/main" id="{8B60B99D-5599-D249-A9DD-CB659BB78ED1}"/>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FICHE PERSONNE</a:t>
            </a:r>
          </a:p>
        </p:txBody>
      </p:sp>
      <p:sp>
        <p:nvSpPr>
          <p:cNvPr id="4" name="ZoneTexte 3">
            <a:extLst>
              <a:ext uri="{FF2B5EF4-FFF2-40B4-BE49-F238E27FC236}">
                <a16:creationId xmlns:a16="http://schemas.microsoft.com/office/drawing/2014/main" id="{0492825D-5C2A-26AE-B4C3-00CA63544D2D}"/>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Le contexte de chaque personne, au même endroit</a:t>
            </a:r>
          </a:p>
        </p:txBody>
      </p:sp>
      <p:sp>
        <p:nvSpPr>
          <p:cNvPr id="5" name="ZoneTexte 4">
            <a:extLst>
              <a:ext uri="{FF2B5EF4-FFF2-40B4-BE49-F238E27FC236}">
                <a16:creationId xmlns:a16="http://schemas.microsoft.com/office/drawing/2014/main" id="{E558670B-FA70-9E65-2E08-3E374252687D}"/>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F1C152AA-4002-3B43-AF50-AE2DC185639E}"/>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D83D66E1-1D7D-49A8-A7D5-C250B860DFE9}" type="slidenum">
              <a:rPr lang="fr-FR" sz="900" smtClean="0">
                <a:solidFill>
                  <a:srgbClr val="586080"/>
                </a:solidFill>
                <a:latin typeface="Calibri" panose="020F0502020204030204" pitchFamily="34" charset="0"/>
              </a:rPr>
              <a:t>35</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ABC4900E-2F93-C367-4422-014247C465FC}"/>
              </a:ext>
            </a:extLst>
          </p:cNvPr>
          <p:cNvSpPr/>
          <p:nvPr/>
        </p:nvSpPr>
        <p:spPr>
          <a:xfrm>
            <a:off x="609600" y="1600200"/>
            <a:ext cx="5334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D4D2889A-2B9F-E03B-B732-698B6BF93FC4}"/>
              </a:ext>
            </a:extLst>
          </p:cNvPr>
          <p:cNvSpPr/>
          <p:nvPr/>
        </p:nvSpPr>
        <p:spPr>
          <a:xfrm>
            <a:off x="863600" y="1828800"/>
            <a:ext cx="508000" cy="5080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700" b="1">
                <a:solidFill>
                  <a:srgbClr val="FFFFFF"/>
                </a:solidFill>
                <a:latin typeface="Calibri" panose="020F0502020204030204" pitchFamily="34" charset="0"/>
              </a:rPr>
              <a:t>1</a:t>
            </a:r>
          </a:p>
        </p:txBody>
      </p:sp>
      <p:sp>
        <p:nvSpPr>
          <p:cNvPr id="9" name="ZoneTexte 8">
            <a:extLst>
              <a:ext uri="{FF2B5EF4-FFF2-40B4-BE49-F238E27FC236}">
                <a16:creationId xmlns:a16="http://schemas.microsoft.com/office/drawing/2014/main" id="{E7C0BE59-E5A0-2789-AC77-7A2A33BE5556}"/>
              </a:ext>
            </a:extLst>
          </p:cNvPr>
          <p:cNvSpPr txBox="1"/>
          <p:nvPr/>
        </p:nvSpPr>
        <p:spPr>
          <a:xfrm>
            <a:off x="1524000" y="1930400"/>
            <a:ext cx="4191000" cy="304800"/>
          </a:xfrm>
          <a:prstGeom prst="rect">
            <a:avLst/>
          </a:prstGeom>
          <a:noFill/>
        </p:spPr>
        <p:txBody>
          <a:bodyPr vert="horz" wrap="square" lIns="0" tIns="0" rIns="0" bIns="0" rtlCol="0">
            <a:noAutofit/>
          </a:bodyPr>
          <a:lstStyle/>
          <a:p>
            <a:r>
              <a:rPr lang="fr-FR" sz="2000" b="1">
                <a:solidFill>
                  <a:srgbClr val="1E1C8C"/>
                </a:solidFill>
                <a:latin typeface="Calibri" panose="020F0502020204030204" pitchFamily="34" charset="0"/>
              </a:rPr>
              <a:t>La fiche</a:t>
            </a:r>
          </a:p>
        </p:txBody>
      </p:sp>
      <p:sp>
        <p:nvSpPr>
          <p:cNvPr id="10" name="ZoneTexte 9">
            <a:extLst>
              <a:ext uri="{FF2B5EF4-FFF2-40B4-BE49-F238E27FC236}">
                <a16:creationId xmlns:a16="http://schemas.microsoft.com/office/drawing/2014/main" id="{9178C667-2716-B042-3978-5C1F7A87732F}"/>
              </a:ext>
            </a:extLst>
          </p:cNvPr>
          <p:cNvSpPr txBox="1"/>
          <p:nvPr/>
        </p:nvSpPr>
        <p:spPr>
          <a:xfrm>
            <a:off x="863600" y="2565400"/>
            <a:ext cx="4826000" cy="3556000"/>
          </a:xfrm>
          <a:prstGeom prst="rect">
            <a:avLst/>
          </a:prstGeom>
          <a:noFill/>
        </p:spPr>
        <p:txBody>
          <a:bodyPr vert="horz" wrap="square" lIns="0" tIns="0" rIns="0" bIns="0" rtlCol="0">
            <a:noAutofit/>
          </a:bodyPr>
          <a:lstStyle/>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S'ouvre dans une fenêtre (ou un panneau à droite sur grand écran) ; croix, Échap ou clic à côté ; flèches précédent / suivant</a:t>
            </a:r>
          </a:p>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Clic sur l'email ou le téléphone : copie</a:t>
            </a:r>
          </a:p>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Compteurs : restitués, à signer, perdus</a:t>
            </a:r>
          </a:p>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Historiques (emprunts, attestations, pertes) avec l'auteur de chaque action</a:t>
            </a:r>
          </a:p>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Matériel emprunté et disponible</a:t>
            </a:r>
          </a:p>
        </p:txBody>
      </p:sp>
      <p:sp>
        <p:nvSpPr>
          <p:cNvPr id="11" name="Rectangle : coins arrondis 10">
            <a:extLst>
              <a:ext uri="{FF2B5EF4-FFF2-40B4-BE49-F238E27FC236}">
                <a16:creationId xmlns:a16="http://schemas.microsoft.com/office/drawing/2014/main" id="{7A01C876-744B-FB9B-1DFD-5ACABDD80A17}"/>
              </a:ext>
            </a:extLst>
          </p:cNvPr>
          <p:cNvSpPr/>
          <p:nvPr/>
        </p:nvSpPr>
        <p:spPr>
          <a:xfrm>
            <a:off x="6248400" y="1600200"/>
            <a:ext cx="5334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284F562C-0D5B-56AD-B49F-6FB7E5EB27DC}"/>
              </a:ext>
            </a:extLst>
          </p:cNvPr>
          <p:cNvSpPr/>
          <p:nvPr/>
        </p:nvSpPr>
        <p:spPr>
          <a:xfrm>
            <a:off x="6502400" y="1828800"/>
            <a:ext cx="508000" cy="508000"/>
          </a:xfrm>
          <a:prstGeom prst="ellipse">
            <a:avLst/>
          </a:prstGeom>
          <a:solidFill>
            <a:srgbClr val="7C4D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700" b="1">
                <a:solidFill>
                  <a:srgbClr val="FFFFFF"/>
                </a:solidFill>
                <a:latin typeface="Calibri" panose="020F0502020204030204" pitchFamily="34" charset="0"/>
              </a:rPr>
              <a:t>2</a:t>
            </a:r>
          </a:p>
        </p:txBody>
      </p:sp>
      <p:sp>
        <p:nvSpPr>
          <p:cNvPr id="13" name="ZoneTexte 12">
            <a:extLst>
              <a:ext uri="{FF2B5EF4-FFF2-40B4-BE49-F238E27FC236}">
                <a16:creationId xmlns:a16="http://schemas.microsoft.com/office/drawing/2014/main" id="{3E874CD8-BAAB-A148-A055-AF79A0FDA477}"/>
              </a:ext>
            </a:extLst>
          </p:cNvPr>
          <p:cNvSpPr txBox="1"/>
          <p:nvPr/>
        </p:nvSpPr>
        <p:spPr>
          <a:xfrm>
            <a:off x="7162800" y="1930400"/>
            <a:ext cx="4191000" cy="304800"/>
          </a:xfrm>
          <a:prstGeom prst="rect">
            <a:avLst/>
          </a:prstGeom>
          <a:noFill/>
        </p:spPr>
        <p:txBody>
          <a:bodyPr vert="horz" wrap="square" lIns="0" tIns="0" rIns="0" bIns="0" rtlCol="0">
            <a:noAutofit/>
          </a:bodyPr>
          <a:lstStyle/>
          <a:p>
            <a:r>
              <a:rPr lang="fr-FR" sz="2000" b="1">
                <a:solidFill>
                  <a:srgbClr val="1E1C8C"/>
                </a:solidFill>
                <a:latin typeface="Calibri" panose="020F0502020204030204" pitchFamily="34" charset="0"/>
              </a:rPr>
              <a:t>Les commentaires</a:t>
            </a:r>
          </a:p>
        </p:txBody>
      </p:sp>
      <p:sp>
        <p:nvSpPr>
          <p:cNvPr id="14" name="ZoneTexte 13">
            <a:extLst>
              <a:ext uri="{FF2B5EF4-FFF2-40B4-BE49-F238E27FC236}">
                <a16:creationId xmlns:a16="http://schemas.microsoft.com/office/drawing/2014/main" id="{1C6E8F87-38CC-500B-D15F-0766E606EDA8}"/>
              </a:ext>
            </a:extLst>
          </p:cNvPr>
          <p:cNvSpPr txBox="1"/>
          <p:nvPr/>
        </p:nvSpPr>
        <p:spPr>
          <a:xfrm>
            <a:off x="6502400" y="2565400"/>
            <a:ext cx="4826000" cy="3556000"/>
          </a:xfrm>
          <a:prstGeom prst="rect">
            <a:avLst/>
          </a:prstGeom>
          <a:noFill/>
        </p:spPr>
        <p:txBody>
          <a:bodyPr vert="horz" wrap="square" lIns="0" tIns="0" rIns="0" bIns="0" rtlCol="0">
            <a:noAutofit/>
          </a:bodyPr>
          <a:lstStyle/>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Fil horodaté propre à chaque personne</a:t>
            </a:r>
          </a:p>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Auteur, date et heure sur chaque message</a:t>
            </a:r>
          </a:p>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Chacun modifie ses propres commentaires</a:t>
            </a:r>
          </a:p>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Un brouillon en cours n'est jamais effacé</a:t>
            </a:r>
          </a:p>
          <a:p>
            <a:pPr marL="203200" indent="-203200">
              <a:spcAft>
                <a:spcPts val="1000"/>
              </a:spcAft>
              <a:buClr>
                <a:srgbClr val="5853FF"/>
              </a:buClr>
              <a:buFont typeface="+mj-lt"/>
              <a:buChar char="•"/>
            </a:pPr>
            <a:r>
              <a:rPr lang="fr-FR" sz="1600">
                <a:solidFill>
                  <a:srgbClr val="12162B"/>
                </a:solidFill>
                <a:latin typeface="Calibri" panose="020F0502020204030204" pitchFamily="34" charset="0"/>
              </a:rPr>
              <a:t>Visibles de tous les utilisateurs : pas d'information sensible</a:t>
            </a:r>
          </a:p>
        </p:txBody>
      </p:sp>
    </p:spTree>
    <p:extLst>
      <p:ext uri="{BB962C8B-B14F-4D97-AF65-F5344CB8AC3E}">
        <p14:creationId xmlns:p14="http://schemas.microsoft.com/office/powerpoint/2010/main" val="37251667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C2C0DF-53FB-AC40-0997-142C494D02F1}"/>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Email et SMS : comment partent les messages</a:t>
            </a:r>
          </a:p>
        </p:txBody>
      </p:sp>
      <p:sp>
        <p:nvSpPr>
          <p:cNvPr id="3" name="ZoneTexte 2">
            <a:extLst>
              <a:ext uri="{FF2B5EF4-FFF2-40B4-BE49-F238E27FC236}">
                <a16:creationId xmlns:a16="http://schemas.microsoft.com/office/drawing/2014/main" id="{EA0CB7D4-866F-E801-ED95-F911A0ED6A2E}"/>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ENVOI</a:t>
            </a:r>
          </a:p>
        </p:txBody>
      </p:sp>
      <p:sp>
        <p:nvSpPr>
          <p:cNvPr id="4" name="ZoneTexte 3">
            <a:extLst>
              <a:ext uri="{FF2B5EF4-FFF2-40B4-BE49-F238E27FC236}">
                <a16:creationId xmlns:a16="http://schemas.microsoft.com/office/drawing/2014/main" id="{946EDB3F-1D8A-04AA-5287-A2A468182A19}"/>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L'application prépare, l'utilisateur envoie</a:t>
            </a:r>
          </a:p>
        </p:txBody>
      </p:sp>
      <p:sp>
        <p:nvSpPr>
          <p:cNvPr id="5" name="ZoneTexte 4">
            <a:extLst>
              <a:ext uri="{FF2B5EF4-FFF2-40B4-BE49-F238E27FC236}">
                <a16:creationId xmlns:a16="http://schemas.microsoft.com/office/drawing/2014/main" id="{AAAB3E82-24A4-CFAD-FCCC-CF722B7DE3CF}"/>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3F99BD01-4708-FC0B-9BA8-8E288C78E553}"/>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ED5038ED-45BE-42D1-84E5-4FB001DA5A28}" type="slidenum">
              <a:rPr lang="fr-FR" sz="900" smtClean="0">
                <a:solidFill>
                  <a:srgbClr val="586080"/>
                </a:solidFill>
                <a:latin typeface="Calibri" panose="020F0502020204030204" pitchFamily="34" charset="0"/>
              </a:rPr>
              <a:t>36</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95609A08-B98D-A308-37B1-667D5924032E}"/>
              </a:ext>
            </a:extLst>
          </p:cNvPr>
          <p:cNvSpPr/>
          <p:nvPr/>
        </p:nvSpPr>
        <p:spPr>
          <a:xfrm>
            <a:off x="609600" y="1625600"/>
            <a:ext cx="3429000" cy="2794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AA8967F8-8661-876F-4F42-F64FB4CB6920}"/>
              </a:ext>
            </a:extLst>
          </p:cNvPr>
          <p:cNvSpPr txBox="1"/>
          <p:nvPr/>
        </p:nvSpPr>
        <p:spPr>
          <a:xfrm>
            <a:off x="863600" y="1879600"/>
            <a:ext cx="2946400" cy="635000"/>
          </a:xfrm>
          <a:prstGeom prst="rect">
            <a:avLst/>
          </a:prstGeom>
          <a:noFill/>
        </p:spPr>
        <p:txBody>
          <a:bodyPr vert="horz" wrap="square" lIns="0" tIns="0" rIns="0" bIns="0" rtlCol="0">
            <a:noAutofit/>
          </a:bodyPr>
          <a:lstStyle/>
          <a:p>
            <a:r>
              <a:rPr lang="fr-FR" sz="1700" b="1">
                <a:solidFill>
                  <a:srgbClr val="1B9E6B"/>
                </a:solidFill>
                <a:latin typeface="Calibri" panose="020F0502020204030204" pitchFamily="34" charset="0"/>
              </a:rPr>
              <a:t>Connecteur Microsoft 365 autorisé</a:t>
            </a:r>
          </a:p>
        </p:txBody>
      </p:sp>
      <p:sp>
        <p:nvSpPr>
          <p:cNvPr id="9" name="ZoneTexte 8">
            <a:extLst>
              <a:ext uri="{FF2B5EF4-FFF2-40B4-BE49-F238E27FC236}">
                <a16:creationId xmlns:a16="http://schemas.microsoft.com/office/drawing/2014/main" id="{A70D8553-AC7F-57DA-049D-FF39C4EF583D}"/>
              </a:ext>
            </a:extLst>
          </p:cNvPr>
          <p:cNvSpPr txBox="1"/>
          <p:nvPr/>
        </p:nvSpPr>
        <p:spPr>
          <a:xfrm>
            <a:off x="863600" y="2590800"/>
            <a:ext cx="2946400" cy="17780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Brouillon dans Outlook (dossier Brouillons), attestation jointe. La fenêtre « Message prêt à envoyer » propose un fichier .eml à ouvrir dans Outlook. Rien n'est envoyé sans clic.</a:t>
            </a:r>
          </a:p>
        </p:txBody>
      </p:sp>
      <p:sp>
        <p:nvSpPr>
          <p:cNvPr id="10" name="Rectangle : coins arrondis 9">
            <a:extLst>
              <a:ext uri="{FF2B5EF4-FFF2-40B4-BE49-F238E27FC236}">
                <a16:creationId xmlns:a16="http://schemas.microsoft.com/office/drawing/2014/main" id="{58ABA909-09E7-740F-20C0-E5FCC292A649}"/>
              </a:ext>
            </a:extLst>
          </p:cNvPr>
          <p:cNvSpPr/>
          <p:nvPr/>
        </p:nvSpPr>
        <p:spPr>
          <a:xfrm>
            <a:off x="4381500" y="1625600"/>
            <a:ext cx="3429000" cy="2794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991F09B0-2235-F201-4205-EA00BC37503D}"/>
              </a:ext>
            </a:extLst>
          </p:cNvPr>
          <p:cNvSpPr txBox="1"/>
          <p:nvPr/>
        </p:nvSpPr>
        <p:spPr>
          <a:xfrm>
            <a:off x="4635500" y="1879600"/>
            <a:ext cx="2946400" cy="635000"/>
          </a:xfrm>
          <a:prstGeom prst="rect">
            <a:avLst/>
          </a:prstGeom>
          <a:noFill/>
        </p:spPr>
        <p:txBody>
          <a:bodyPr vert="horz" wrap="square" lIns="0" tIns="0" rIns="0" bIns="0" rtlCol="0">
            <a:noAutofit/>
          </a:bodyPr>
          <a:lstStyle/>
          <a:p>
            <a:r>
              <a:rPr lang="fr-FR" sz="1700" b="1">
                <a:solidFill>
                  <a:srgbClr val="B67608"/>
                </a:solidFill>
                <a:latin typeface="Calibri" panose="020F0502020204030204" pitchFamily="34" charset="0"/>
              </a:rPr>
              <a:t>Connecteur absent, expiré ou refusé</a:t>
            </a:r>
          </a:p>
        </p:txBody>
      </p:sp>
      <p:sp>
        <p:nvSpPr>
          <p:cNvPr id="12" name="ZoneTexte 11">
            <a:extLst>
              <a:ext uri="{FF2B5EF4-FFF2-40B4-BE49-F238E27FC236}">
                <a16:creationId xmlns:a16="http://schemas.microsoft.com/office/drawing/2014/main" id="{FC436A05-8496-C293-FC92-ACBD960C3005}"/>
              </a:ext>
            </a:extLst>
          </p:cNvPr>
          <p:cNvSpPr txBox="1"/>
          <p:nvPr/>
        </p:nvSpPr>
        <p:spPr>
          <a:xfrm>
            <a:off x="4635500" y="2590800"/>
            <a:ext cx="2946400" cy="17780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Même fenêtre : aperçu du message, Copier le texte, fichier .eml (PDF joint), Envoyer maintenant (retente la connexion) et raison de l'échec affichée.</a:t>
            </a:r>
          </a:p>
        </p:txBody>
      </p:sp>
      <p:sp>
        <p:nvSpPr>
          <p:cNvPr id="13" name="Rectangle : coins arrondis 12">
            <a:extLst>
              <a:ext uri="{FF2B5EF4-FFF2-40B4-BE49-F238E27FC236}">
                <a16:creationId xmlns:a16="http://schemas.microsoft.com/office/drawing/2014/main" id="{B87FCA57-E567-E497-F991-BA5CD049349A}"/>
              </a:ext>
            </a:extLst>
          </p:cNvPr>
          <p:cNvSpPr/>
          <p:nvPr/>
        </p:nvSpPr>
        <p:spPr>
          <a:xfrm>
            <a:off x="8153400" y="1625600"/>
            <a:ext cx="3429000" cy="2794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F90E12FB-1247-4E79-1F18-2E6629E92DC6}"/>
              </a:ext>
            </a:extLst>
          </p:cNvPr>
          <p:cNvSpPr txBox="1"/>
          <p:nvPr/>
        </p:nvSpPr>
        <p:spPr>
          <a:xfrm>
            <a:off x="8407400" y="1879600"/>
            <a:ext cx="2946400" cy="635000"/>
          </a:xfrm>
          <a:prstGeom prst="rect">
            <a:avLst/>
          </a:prstGeom>
          <a:noFill/>
        </p:spPr>
        <p:txBody>
          <a:bodyPr vert="horz" wrap="square" lIns="0" tIns="0" rIns="0" bIns="0" rtlCol="0">
            <a:noAutofit/>
          </a:bodyPr>
          <a:lstStyle/>
          <a:p>
            <a:r>
              <a:rPr lang="fr-FR" sz="1700" b="1">
                <a:solidFill>
                  <a:srgbClr val="2F7DD1"/>
                </a:solidFill>
                <a:latin typeface="Calibri" panose="020F0502020204030204" pitchFamily="34" charset="0"/>
              </a:rPr>
              <a:t>Page ouverte hors de Claude</a:t>
            </a:r>
          </a:p>
        </p:txBody>
      </p:sp>
      <p:sp>
        <p:nvSpPr>
          <p:cNvPr id="15" name="ZoneTexte 14">
            <a:extLst>
              <a:ext uri="{FF2B5EF4-FFF2-40B4-BE49-F238E27FC236}">
                <a16:creationId xmlns:a16="http://schemas.microsoft.com/office/drawing/2014/main" id="{45EB3936-1607-D57C-1E1F-8404BA47C084}"/>
              </a:ext>
            </a:extLst>
          </p:cNvPr>
          <p:cNvSpPr txBox="1"/>
          <p:nvPr/>
        </p:nvSpPr>
        <p:spPr>
          <a:xfrm>
            <a:off x="8407400" y="2590800"/>
            <a:ext cx="2946400" cy="17780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Pas de connecteur : la messagerie par défaut s'ouvre sur le message préparé, PDF téléchargé.</a:t>
            </a:r>
          </a:p>
        </p:txBody>
      </p:sp>
      <p:sp>
        <p:nvSpPr>
          <p:cNvPr id="16" name="Rectangle : coins arrondis 15">
            <a:extLst>
              <a:ext uri="{FF2B5EF4-FFF2-40B4-BE49-F238E27FC236}">
                <a16:creationId xmlns:a16="http://schemas.microsoft.com/office/drawing/2014/main" id="{28CF34D6-74AC-82BB-2323-ABC4AC9429CB}"/>
              </a:ext>
            </a:extLst>
          </p:cNvPr>
          <p:cNvSpPr/>
          <p:nvPr/>
        </p:nvSpPr>
        <p:spPr>
          <a:xfrm>
            <a:off x="609600" y="4648200"/>
            <a:ext cx="10972800" cy="711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BC542D4F-FD59-7396-52FD-8B22A0A407AC}"/>
              </a:ext>
            </a:extLst>
          </p:cNvPr>
          <p:cNvSpPr txBox="1"/>
          <p:nvPr/>
        </p:nvSpPr>
        <p:spPr>
          <a:xfrm>
            <a:off x="863600" y="4800600"/>
            <a:ext cx="10541000" cy="4572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SMS : application de messages, numéro de test 06 95 17 58 74.  Email : destinataire au choix, adresse enregistrée ou saisie à la main (personne sans compte professionnel).</a:t>
            </a:r>
          </a:p>
        </p:txBody>
      </p:sp>
      <p:sp>
        <p:nvSpPr>
          <p:cNvPr id="18" name="Rectangle : coins arrondis 17">
            <a:extLst>
              <a:ext uri="{FF2B5EF4-FFF2-40B4-BE49-F238E27FC236}">
                <a16:creationId xmlns:a16="http://schemas.microsoft.com/office/drawing/2014/main" id="{711041E7-4903-9344-7A32-4B49458B2F05}"/>
              </a:ext>
            </a:extLst>
          </p:cNvPr>
          <p:cNvSpPr/>
          <p:nvPr/>
        </p:nvSpPr>
        <p:spPr>
          <a:xfrm>
            <a:off x="609600" y="5537200"/>
            <a:ext cx="10972800" cy="685800"/>
          </a:xfrm>
          <a:prstGeom prst="roundRect">
            <a:avLst>
              <a:gd name="adj" fmla="val 6000"/>
            </a:avLst>
          </a:prstGeom>
          <a:solidFill>
            <a:srgbClr val="FDF0D5"/>
          </a:solidFill>
          <a:ln w="12700">
            <a:solidFill>
              <a:srgbClr val="B67608"/>
            </a:solidFill>
          </a:ln>
        </p:spPr>
        <p:style>
          <a:lnRef idx="2">
            <a:schemeClr val="accent1">
              <a:shade val="15000"/>
            </a:schemeClr>
          </a:lnRef>
          <a:fillRef idx="1">
            <a:schemeClr val="accent1"/>
          </a:fillRef>
          <a:effectRef idx="0">
            <a:schemeClr val="accent1"/>
          </a:effectRef>
          <a:fontRef idx="minor">
            <a:schemeClr val="lt1"/>
          </a:fontRef>
        </p:style>
        <p:txBody>
          <a:bodyPr wrap="square" lIns="228600" tIns="50800" rIns="127000" bIns="50800" rtlCol="0" anchor="ctr">
            <a:noAutofit/>
          </a:bodyPr>
          <a:lstStyle/>
          <a:p>
            <a:r>
              <a:rPr lang="fr-FR" sz="1400">
                <a:solidFill>
                  <a:srgbClr val="12162B"/>
                </a:solidFill>
                <a:latin typeface="Calibri" panose="020F0502020204030204" pitchFamily="34" charset="0"/>
              </a:rPr>
              <a:t>Outlook sur le web ne s'ouvre pas depuis la page (bloqué par le navigateur) : brouillon ou fichier .eml. Premier essai réel à contrôler.</a:t>
            </a:r>
          </a:p>
        </p:txBody>
      </p:sp>
    </p:spTree>
    <p:extLst>
      <p:ext uri="{BB962C8B-B14F-4D97-AF65-F5344CB8AC3E}">
        <p14:creationId xmlns:p14="http://schemas.microsoft.com/office/powerpoint/2010/main" val="7406628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59C0DE-EFED-1893-45F3-A8DFB850E5DB}"/>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Apparence : thèmes et couleurs</a:t>
            </a:r>
          </a:p>
        </p:txBody>
      </p:sp>
      <p:sp>
        <p:nvSpPr>
          <p:cNvPr id="3" name="ZoneTexte 2">
            <a:extLst>
              <a:ext uri="{FF2B5EF4-FFF2-40B4-BE49-F238E27FC236}">
                <a16:creationId xmlns:a16="http://schemas.microsoft.com/office/drawing/2014/main" id="{3FA6AA66-3040-E5E4-FD01-C216FD014B07}"/>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CONFORT</a:t>
            </a:r>
          </a:p>
        </p:txBody>
      </p:sp>
      <p:sp>
        <p:nvSpPr>
          <p:cNvPr id="4" name="ZoneTexte 3">
            <a:extLst>
              <a:ext uri="{FF2B5EF4-FFF2-40B4-BE49-F238E27FC236}">
                <a16:creationId xmlns:a16="http://schemas.microsoft.com/office/drawing/2014/main" id="{9BF24007-D626-2E3A-0EB8-06ECBB16B598}"/>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Douze thèmes, sept couleurs d'accent, au choix de chacun</a:t>
            </a:r>
          </a:p>
        </p:txBody>
      </p:sp>
      <p:sp>
        <p:nvSpPr>
          <p:cNvPr id="5" name="ZoneTexte 4">
            <a:extLst>
              <a:ext uri="{FF2B5EF4-FFF2-40B4-BE49-F238E27FC236}">
                <a16:creationId xmlns:a16="http://schemas.microsoft.com/office/drawing/2014/main" id="{6F4C7ECE-EF18-E216-155A-9F9486F66AD3}"/>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4E9268B6-6C91-1A1B-53A6-D13506F06BF8}"/>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63D3A3CB-FE4C-4902-8CD8-312A8E53A99E}" type="slidenum">
              <a:rPr lang="fr-FR" sz="900" smtClean="0">
                <a:solidFill>
                  <a:srgbClr val="586080"/>
                </a:solidFill>
                <a:latin typeface="Calibri" panose="020F0502020204030204" pitchFamily="34" charset="0"/>
              </a:rPr>
              <a:t>37</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BBAF6D89-8FE4-270D-915B-AA7363EC9006}"/>
              </a:ext>
            </a:extLst>
          </p:cNvPr>
          <p:cNvSpPr/>
          <p:nvPr/>
        </p:nvSpPr>
        <p:spPr>
          <a:xfrm>
            <a:off x="609600" y="1600200"/>
            <a:ext cx="2286000" cy="21082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88709FE1-BC6A-C759-F17E-1071AE4B45F4}"/>
              </a:ext>
            </a:extLst>
          </p:cNvPr>
          <p:cNvSpPr/>
          <p:nvPr/>
        </p:nvSpPr>
        <p:spPr>
          <a:xfrm>
            <a:off x="609600" y="1600200"/>
            <a:ext cx="2286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1E388021-B292-4423-5CDA-FEC50EB2702F}"/>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1790F08-837E-08DF-81BB-1C234E60E829}"/>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0E8B35B3-A813-B1E0-CE4F-85C9D4991E0F}"/>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74F70064-CB81-720A-C10B-B63C9D5EDDC6}"/>
              </a:ext>
            </a:extLst>
          </p:cNvPr>
          <p:cNvSpPr/>
          <p:nvPr/>
        </p:nvSpPr>
        <p:spPr>
          <a:xfrm>
            <a:off x="609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E8700AF7-A8E9-2D62-FFE1-ADDBC4DE5B4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2286000" cy="1828800"/>
          </a:xfrm>
          <a:prstGeom prst="rect">
            <a:avLst/>
          </a:prstGeom>
        </p:spPr>
      </p:pic>
      <p:sp>
        <p:nvSpPr>
          <p:cNvPr id="15" name="Rectangle : coins arrondis 14">
            <a:extLst>
              <a:ext uri="{FF2B5EF4-FFF2-40B4-BE49-F238E27FC236}">
                <a16:creationId xmlns:a16="http://schemas.microsoft.com/office/drawing/2014/main" id="{43136DFE-472C-DD54-9FF6-0DB6BAE329B8}"/>
              </a:ext>
            </a:extLst>
          </p:cNvPr>
          <p:cNvSpPr/>
          <p:nvPr/>
        </p:nvSpPr>
        <p:spPr>
          <a:xfrm>
            <a:off x="4191000" y="1600200"/>
            <a:ext cx="3429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F4E8AA3B-5F1C-0AB7-8909-E387E39EF228}"/>
              </a:ext>
            </a:extLst>
          </p:cNvPr>
          <p:cNvSpPr txBox="1"/>
          <p:nvPr/>
        </p:nvSpPr>
        <p:spPr>
          <a:xfrm>
            <a:off x="4419600" y="1752600"/>
            <a:ext cx="2971800" cy="2794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Thèmes</a:t>
            </a:r>
          </a:p>
        </p:txBody>
      </p:sp>
      <p:sp>
        <p:nvSpPr>
          <p:cNvPr id="17" name="ZoneTexte 16">
            <a:extLst>
              <a:ext uri="{FF2B5EF4-FFF2-40B4-BE49-F238E27FC236}">
                <a16:creationId xmlns:a16="http://schemas.microsoft.com/office/drawing/2014/main" id="{8E9291C8-BDF7-00E5-1247-46B353DF53C9}"/>
              </a:ext>
            </a:extLst>
          </p:cNvPr>
          <p:cNvSpPr txBox="1"/>
          <p:nvPr/>
        </p:nvSpPr>
        <p:spPr>
          <a:xfrm>
            <a:off x="4419600" y="2133600"/>
            <a:ext cx="3022600" cy="40640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Système : suit l'appareil</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Clair et Sombre</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Minuit, Ardoise, Noir (sombres)</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Océan et Forêt (sombres teintés)</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Crème (clair chaud)</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Contraste : noir sur blanc, lecture maximale</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eXalt et eXalt nuit : charte de l'entreprise (Poppins, bleu eXalt, logo)</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Finition premium : relief, jauges et chiffres animés (désactivés si votre système demande moins d'animations)</a:t>
            </a:r>
          </a:p>
        </p:txBody>
      </p:sp>
      <p:sp>
        <p:nvSpPr>
          <p:cNvPr id="18" name="Rectangle : coins arrondis 17">
            <a:extLst>
              <a:ext uri="{FF2B5EF4-FFF2-40B4-BE49-F238E27FC236}">
                <a16:creationId xmlns:a16="http://schemas.microsoft.com/office/drawing/2014/main" id="{968B2219-E5C9-2BF4-B536-F662BF0D3099}"/>
              </a:ext>
            </a:extLst>
          </p:cNvPr>
          <p:cNvSpPr/>
          <p:nvPr/>
        </p:nvSpPr>
        <p:spPr>
          <a:xfrm>
            <a:off x="7899400" y="1600200"/>
            <a:ext cx="3683000" cy="2159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55073ECF-E58F-C551-F72B-7528E7C6B0FF}"/>
              </a:ext>
            </a:extLst>
          </p:cNvPr>
          <p:cNvSpPr txBox="1"/>
          <p:nvPr/>
        </p:nvSpPr>
        <p:spPr>
          <a:xfrm>
            <a:off x="8128000" y="1752600"/>
            <a:ext cx="3225800" cy="2794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Couleurs d'accent</a:t>
            </a:r>
          </a:p>
        </p:txBody>
      </p:sp>
      <p:sp>
        <p:nvSpPr>
          <p:cNvPr id="20" name="ZoneTexte 19">
            <a:extLst>
              <a:ext uri="{FF2B5EF4-FFF2-40B4-BE49-F238E27FC236}">
                <a16:creationId xmlns:a16="http://schemas.microsoft.com/office/drawing/2014/main" id="{DDA320DD-A81D-1960-911E-56AD42BA6345}"/>
              </a:ext>
            </a:extLst>
          </p:cNvPr>
          <p:cNvSpPr txBox="1"/>
          <p:nvPr/>
        </p:nvSpPr>
        <p:spPr>
          <a:xfrm>
            <a:off x="8128000" y="2133600"/>
            <a:ext cx="3251200" cy="16002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Orange (défaut), Bleu, Violet</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Turquoise, Rose, Graphite, eXalt (bleu de la charte)</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Boutons, filtres actifs, liens et menu</a:t>
            </a:r>
          </a:p>
        </p:txBody>
      </p:sp>
      <p:sp>
        <p:nvSpPr>
          <p:cNvPr id="21" name="Rectangle : coins arrondis 20">
            <a:extLst>
              <a:ext uri="{FF2B5EF4-FFF2-40B4-BE49-F238E27FC236}">
                <a16:creationId xmlns:a16="http://schemas.microsoft.com/office/drawing/2014/main" id="{A851EB0B-F75E-815B-B24C-AA5C01229932}"/>
              </a:ext>
            </a:extLst>
          </p:cNvPr>
          <p:cNvSpPr/>
          <p:nvPr/>
        </p:nvSpPr>
        <p:spPr>
          <a:xfrm>
            <a:off x="7899400" y="3937000"/>
            <a:ext cx="3683000" cy="2311400"/>
          </a:xfrm>
          <a:prstGeom prst="roundRect">
            <a:avLst>
              <a:gd name="adj" fmla="val 4500"/>
            </a:avLst>
          </a:prstGeom>
          <a:solidFill>
            <a:srgbClr val="E4EEFA"/>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102DDD6D-67F9-DDBE-9449-D569EE0CECF7}"/>
              </a:ext>
            </a:extLst>
          </p:cNvPr>
          <p:cNvSpPr txBox="1"/>
          <p:nvPr/>
        </p:nvSpPr>
        <p:spPr>
          <a:xfrm>
            <a:off x="8128000" y="4089400"/>
            <a:ext cx="3225800" cy="279400"/>
          </a:xfrm>
          <a:prstGeom prst="rect">
            <a:avLst/>
          </a:prstGeom>
          <a:noFill/>
        </p:spPr>
        <p:txBody>
          <a:bodyPr vert="horz" wrap="square" lIns="0" tIns="0" rIns="0" bIns="0" rtlCol="0">
            <a:noAutofit/>
          </a:bodyPr>
          <a:lstStyle/>
          <a:p>
            <a:r>
              <a:rPr lang="fr-FR" b="1">
                <a:solidFill>
                  <a:srgbClr val="2F7DD1"/>
                </a:solidFill>
                <a:latin typeface="Calibri" panose="020F0502020204030204" pitchFamily="34" charset="0"/>
              </a:rPr>
              <a:t>Où le choisir</a:t>
            </a:r>
          </a:p>
        </p:txBody>
      </p:sp>
      <p:sp>
        <p:nvSpPr>
          <p:cNvPr id="23" name="ZoneTexte 22">
            <a:extLst>
              <a:ext uri="{FF2B5EF4-FFF2-40B4-BE49-F238E27FC236}">
                <a16:creationId xmlns:a16="http://schemas.microsoft.com/office/drawing/2014/main" id="{3E445EE9-5C29-F8EF-993A-FE0C6D8D4F34}"/>
              </a:ext>
            </a:extLst>
          </p:cNvPr>
          <p:cNvSpPr txBox="1"/>
          <p:nvPr/>
        </p:nvSpPr>
        <p:spPr>
          <a:xfrm>
            <a:off x="8128000" y="4470400"/>
            <a:ext cx="3225800" cy="17018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Bouton « Thème » en bas du menu latéral : un panneau propose les thèmes et les couleurs. 84 combinaisons possibles ; un thème eXalt sélectionne l'accent eXalt.</a:t>
            </a:r>
          </a:p>
        </p:txBody>
      </p:sp>
    </p:spTree>
    <p:extLst>
      <p:ext uri="{BB962C8B-B14F-4D97-AF65-F5344CB8AC3E}">
        <p14:creationId xmlns:p14="http://schemas.microsoft.com/office/powerpoint/2010/main" val="37356152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D81C75-B065-3A56-E176-EF292179707C}"/>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Recherche rapide et raccourcis</a:t>
            </a:r>
          </a:p>
        </p:txBody>
      </p:sp>
      <p:sp>
        <p:nvSpPr>
          <p:cNvPr id="3" name="ZoneTexte 2">
            <a:extLst>
              <a:ext uri="{FF2B5EF4-FFF2-40B4-BE49-F238E27FC236}">
                <a16:creationId xmlns:a16="http://schemas.microsoft.com/office/drawing/2014/main" id="{871A9309-EB56-F99C-DFE7-DC96A449BD6A}"/>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TRANSVERSAL</a:t>
            </a:r>
          </a:p>
        </p:txBody>
      </p:sp>
      <p:sp>
        <p:nvSpPr>
          <p:cNvPr id="4" name="ZoneTexte 3">
            <a:extLst>
              <a:ext uri="{FF2B5EF4-FFF2-40B4-BE49-F238E27FC236}">
                <a16:creationId xmlns:a16="http://schemas.microsoft.com/office/drawing/2014/main" id="{814FC7F2-8928-BD0F-4A99-18888FACAB45}"/>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Ctrl K : une personne, un équipement, du stock, un achat ou une page</a:t>
            </a:r>
          </a:p>
        </p:txBody>
      </p:sp>
      <p:sp>
        <p:nvSpPr>
          <p:cNvPr id="5" name="ZoneTexte 4">
            <a:extLst>
              <a:ext uri="{FF2B5EF4-FFF2-40B4-BE49-F238E27FC236}">
                <a16:creationId xmlns:a16="http://schemas.microsoft.com/office/drawing/2014/main" id="{E7A999FD-2393-FC3B-6A7B-7793EA44C78F}"/>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E2F5F9FF-9787-1AAF-982F-6029EC2A9602}"/>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C2058A4A-57D5-4CD9-8927-E5B8AA4ADE8B}" type="slidenum">
              <a:rPr lang="fr-FR" sz="900" smtClean="0">
                <a:solidFill>
                  <a:srgbClr val="586080"/>
                </a:solidFill>
                <a:latin typeface="Calibri" panose="020F0502020204030204" pitchFamily="34" charset="0"/>
              </a:rPr>
              <a:t>38</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4F658B7E-5027-80C5-29AF-77BE55D7598C}"/>
              </a:ext>
            </a:extLst>
          </p:cNvPr>
          <p:cNvSpPr/>
          <p:nvPr/>
        </p:nvSpPr>
        <p:spPr>
          <a:xfrm>
            <a:off x="609600" y="1600200"/>
            <a:ext cx="3810000" cy="33274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EB8D613B-70BB-BB3C-BE8F-BC7D9943AD70}"/>
              </a:ext>
            </a:extLst>
          </p:cNvPr>
          <p:cNvSpPr/>
          <p:nvPr/>
        </p:nvSpPr>
        <p:spPr>
          <a:xfrm>
            <a:off x="609600" y="1600200"/>
            <a:ext cx="3810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EDE3D604-5529-280C-8084-A0850B6D4E37}"/>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742BCA4E-F883-0392-DAAE-DF5932656E40}"/>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15CB84E2-D148-BC72-80CC-EC235ED49F37}"/>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F669321E-C0FE-74FE-6F14-FD2F33B5EE4C}"/>
              </a:ext>
            </a:extLst>
          </p:cNvPr>
          <p:cNvSpPr/>
          <p:nvPr/>
        </p:nvSpPr>
        <p:spPr>
          <a:xfrm>
            <a:off x="1371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4650A212-D8C0-B5FF-92D5-252FE1B2247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3810000" cy="3048000"/>
          </a:xfrm>
          <a:prstGeom prst="rect">
            <a:avLst/>
          </a:prstGeom>
        </p:spPr>
      </p:pic>
      <p:sp>
        <p:nvSpPr>
          <p:cNvPr id="15" name="Rectangle : coins arrondis 14">
            <a:extLst>
              <a:ext uri="{FF2B5EF4-FFF2-40B4-BE49-F238E27FC236}">
                <a16:creationId xmlns:a16="http://schemas.microsoft.com/office/drawing/2014/main" id="{F47B5E8C-DAC7-CA88-E543-7E7996421DB9}"/>
              </a:ext>
            </a:extLst>
          </p:cNvPr>
          <p:cNvSpPr/>
          <p:nvPr/>
        </p:nvSpPr>
        <p:spPr>
          <a:xfrm>
            <a:off x="4622800" y="1600200"/>
            <a:ext cx="3810000" cy="2075543"/>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2C6C630B-74B1-08D7-EC7D-1D334F358A94}"/>
              </a:ext>
            </a:extLst>
          </p:cNvPr>
          <p:cNvSpPr/>
          <p:nvPr/>
        </p:nvSpPr>
        <p:spPr>
          <a:xfrm>
            <a:off x="4622800" y="1600200"/>
            <a:ext cx="3810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05C33E30-4221-1354-CCCC-A7247F6E123E}"/>
              </a:ext>
            </a:extLst>
          </p:cNvPr>
          <p:cNvSpPr/>
          <p:nvPr/>
        </p:nvSpPr>
        <p:spPr>
          <a:xfrm>
            <a:off x="47498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4A0B8B80-3202-EBC1-BE58-BABCECD7A937}"/>
              </a:ext>
            </a:extLst>
          </p:cNvPr>
          <p:cNvSpPr/>
          <p:nvPr/>
        </p:nvSpPr>
        <p:spPr>
          <a:xfrm>
            <a:off x="49149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8D6995D4-6DAB-7A57-2494-DB20004D9883}"/>
              </a:ext>
            </a:extLst>
          </p:cNvPr>
          <p:cNvSpPr/>
          <p:nvPr/>
        </p:nvSpPr>
        <p:spPr>
          <a:xfrm>
            <a:off x="50800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EBBAC126-6814-8767-7F6C-4F387F82DC0E}"/>
              </a:ext>
            </a:extLst>
          </p:cNvPr>
          <p:cNvSpPr/>
          <p:nvPr/>
        </p:nvSpPr>
        <p:spPr>
          <a:xfrm>
            <a:off x="53848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990A1F41-774E-E72D-B394-1D419E4DDF7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622800" y="1879600"/>
            <a:ext cx="3810000" cy="1796143"/>
          </a:xfrm>
          <a:prstGeom prst="rect">
            <a:avLst/>
          </a:prstGeom>
        </p:spPr>
      </p:pic>
      <p:sp>
        <p:nvSpPr>
          <p:cNvPr id="23" name="Rectangle : coins arrondis 22">
            <a:extLst>
              <a:ext uri="{FF2B5EF4-FFF2-40B4-BE49-F238E27FC236}">
                <a16:creationId xmlns:a16="http://schemas.microsoft.com/office/drawing/2014/main" id="{C4F7F1B2-AEBA-9A10-48A5-824A210324FA}"/>
              </a:ext>
            </a:extLst>
          </p:cNvPr>
          <p:cNvSpPr/>
          <p:nvPr/>
        </p:nvSpPr>
        <p:spPr>
          <a:xfrm>
            <a:off x="4622800" y="3860800"/>
            <a:ext cx="3810000" cy="2387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4578012D-FAFB-91A3-6713-8064BE24E5B6}"/>
              </a:ext>
            </a:extLst>
          </p:cNvPr>
          <p:cNvSpPr txBox="1"/>
          <p:nvPr/>
        </p:nvSpPr>
        <p:spPr>
          <a:xfrm>
            <a:off x="4800600" y="3962400"/>
            <a:ext cx="3454400" cy="279400"/>
          </a:xfrm>
          <a:prstGeom prst="rect">
            <a:avLst/>
          </a:prstGeom>
          <a:noFill/>
        </p:spPr>
        <p:txBody>
          <a:bodyPr vert="horz" wrap="square" lIns="0" tIns="0" rIns="0" bIns="0" rtlCol="0">
            <a:noAutofit/>
          </a:bodyPr>
          <a:lstStyle/>
          <a:p>
            <a:r>
              <a:rPr lang="fr-FR" sz="1500" b="1">
                <a:solidFill>
                  <a:srgbClr val="1E1C8C"/>
                </a:solidFill>
                <a:latin typeface="Calibri" panose="020F0502020204030204" pitchFamily="34" charset="0"/>
              </a:rPr>
              <a:t>Une ligne par personne</a:t>
            </a:r>
          </a:p>
        </p:txBody>
      </p:sp>
      <p:sp>
        <p:nvSpPr>
          <p:cNvPr id="25" name="ZoneTexte 24">
            <a:extLst>
              <a:ext uri="{FF2B5EF4-FFF2-40B4-BE49-F238E27FC236}">
                <a16:creationId xmlns:a16="http://schemas.microsoft.com/office/drawing/2014/main" id="{97D24329-0B2C-630E-631D-11DD301B3AD4}"/>
              </a:ext>
            </a:extLst>
          </p:cNvPr>
          <p:cNvSpPr txBox="1"/>
          <p:nvPr/>
        </p:nvSpPr>
        <p:spPr>
          <a:xfrm>
            <a:off x="4800600" y="4267200"/>
            <a:ext cx="3479800" cy="19558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200">
                <a:solidFill>
                  <a:srgbClr val="12162B"/>
                </a:solidFill>
                <a:latin typeface="Calibri" panose="020F0502020204030204" pitchFamily="34" charset="0"/>
              </a:rPr>
              <a:t>Entrée : l'action la plus utile (Restituer s'il y a du matériel à rendre, sinon Emprunter)</a:t>
            </a:r>
          </a:p>
          <a:p>
            <a:pPr marL="203200" indent="-203200">
              <a:spcAft>
                <a:spcPts val="400"/>
              </a:spcAft>
              <a:buClr>
                <a:srgbClr val="5853FF"/>
              </a:buClr>
              <a:buFont typeface="+mj-lt"/>
              <a:buChar char="•"/>
            </a:pPr>
            <a:r>
              <a:rPr lang="fr-FR" sz="1200">
                <a:solidFill>
                  <a:srgbClr val="12162B"/>
                </a:solidFill>
                <a:latin typeface="Calibri" panose="020F0502020204030204" pitchFamily="34" charset="0"/>
              </a:rPr>
              <a:t>Maj + Entrée : l'autre action</a:t>
            </a:r>
          </a:p>
          <a:p>
            <a:pPr marL="203200" indent="-203200">
              <a:spcAft>
                <a:spcPts val="400"/>
              </a:spcAft>
              <a:buClr>
                <a:srgbClr val="5853FF"/>
              </a:buClr>
              <a:buFont typeface="+mj-lt"/>
              <a:buChar char="•"/>
            </a:pPr>
            <a:r>
              <a:rPr lang="fr-FR" sz="1200">
                <a:solidFill>
                  <a:srgbClr val="12162B"/>
                </a:solidFill>
                <a:latin typeface="Calibri" panose="020F0502020204030204" pitchFamily="34" charset="0"/>
              </a:rPr>
              <a:t>Repères : En retard, 8 à rendre, Signature en attente</a:t>
            </a:r>
          </a:p>
        </p:txBody>
      </p:sp>
      <p:sp>
        <p:nvSpPr>
          <p:cNvPr id="26" name="Rectangle : coins arrondis 25">
            <a:extLst>
              <a:ext uri="{FF2B5EF4-FFF2-40B4-BE49-F238E27FC236}">
                <a16:creationId xmlns:a16="http://schemas.microsoft.com/office/drawing/2014/main" id="{55301597-4AD5-1D39-BBCB-CF85942074A7}"/>
              </a:ext>
            </a:extLst>
          </p:cNvPr>
          <p:cNvSpPr/>
          <p:nvPr/>
        </p:nvSpPr>
        <p:spPr>
          <a:xfrm>
            <a:off x="8636000" y="1600200"/>
            <a:ext cx="2946400" cy="263652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 coins arrondis 26">
            <a:extLst>
              <a:ext uri="{FF2B5EF4-FFF2-40B4-BE49-F238E27FC236}">
                <a16:creationId xmlns:a16="http://schemas.microsoft.com/office/drawing/2014/main" id="{B2E89510-E0F0-80DA-1494-E6A0E24A5C2D}"/>
              </a:ext>
            </a:extLst>
          </p:cNvPr>
          <p:cNvSpPr/>
          <p:nvPr/>
        </p:nvSpPr>
        <p:spPr>
          <a:xfrm>
            <a:off x="8636000" y="1600200"/>
            <a:ext cx="29464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011C0560-42C6-D701-2B12-0777C0FE6793}"/>
              </a:ext>
            </a:extLst>
          </p:cNvPr>
          <p:cNvSpPr/>
          <p:nvPr/>
        </p:nvSpPr>
        <p:spPr>
          <a:xfrm>
            <a:off x="87630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Ellipse 28">
            <a:extLst>
              <a:ext uri="{FF2B5EF4-FFF2-40B4-BE49-F238E27FC236}">
                <a16:creationId xmlns:a16="http://schemas.microsoft.com/office/drawing/2014/main" id="{E7BC4376-162A-8616-8FD9-A6BA22252955}"/>
              </a:ext>
            </a:extLst>
          </p:cNvPr>
          <p:cNvSpPr/>
          <p:nvPr/>
        </p:nvSpPr>
        <p:spPr>
          <a:xfrm>
            <a:off x="89281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Ellipse 29">
            <a:extLst>
              <a:ext uri="{FF2B5EF4-FFF2-40B4-BE49-F238E27FC236}">
                <a16:creationId xmlns:a16="http://schemas.microsoft.com/office/drawing/2014/main" id="{4880A71B-88D5-80D5-0071-49C0EE23381C}"/>
              </a:ext>
            </a:extLst>
          </p:cNvPr>
          <p:cNvSpPr/>
          <p:nvPr/>
        </p:nvSpPr>
        <p:spPr>
          <a:xfrm>
            <a:off x="90932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 coins arrondis 30">
            <a:extLst>
              <a:ext uri="{FF2B5EF4-FFF2-40B4-BE49-F238E27FC236}">
                <a16:creationId xmlns:a16="http://schemas.microsoft.com/office/drawing/2014/main" id="{3E6DEAD8-4FF9-6528-E1F7-BA6D1659602F}"/>
              </a:ext>
            </a:extLst>
          </p:cNvPr>
          <p:cNvSpPr/>
          <p:nvPr/>
        </p:nvSpPr>
        <p:spPr>
          <a:xfrm>
            <a:off x="89662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33" name="Image 32">
            <a:extLst>
              <a:ext uri="{FF2B5EF4-FFF2-40B4-BE49-F238E27FC236}">
                <a16:creationId xmlns:a16="http://schemas.microsoft.com/office/drawing/2014/main" id="{16FE97E5-0452-2193-034F-44CFD37D8556}"/>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636000" y="1879600"/>
            <a:ext cx="2946400" cy="2357120"/>
          </a:xfrm>
          <a:prstGeom prst="rect">
            <a:avLst/>
          </a:prstGeom>
        </p:spPr>
      </p:pic>
      <p:sp>
        <p:nvSpPr>
          <p:cNvPr id="34" name="ZoneTexte 33">
            <a:extLst>
              <a:ext uri="{FF2B5EF4-FFF2-40B4-BE49-F238E27FC236}">
                <a16:creationId xmlns:a16="http://schemas.microsoft.com/office/drawing/2014/main" id="{86D86219-D447-9E32-6151-6D79B1374023}"/>
              </a:ext>
            </a:extLst>
          </p:cNvPr>
          <p:cNvSpPr txBox="1"/>
          <p:nvPr/>
        </p:nvSpPr>
        <p:spPr>
          <a:xfrm>
            <a:off x="8636000" y="4267200"/>
            <a:ext cx="2946400" cy="1981200"/>
          </a:xfrm>
          <a:prstGeom prst="rect">
            <a:avLst/>
          </a:prstGeom>
          <a:noFill/>
        </p:spPr>
        <p:txBody>
          <a:bodyPr vert="horz" wrap="square" lIns="0" tIns="0" rIns="0" bIns="0" rtlCol="0">
            <a:noAutofit/>
          </a:bodyPr>
          <a:lstStyle/>
          <a:p>
            <a:r>
              <a:rPr lang="fr-FR" sz="1200">
                <a:solidFill>
                  <a:srgbClr val="586080"/>
                </a:solidFill>
                <a:latin typeface="Calibri" panose="020F0502020204030204" pitchFamily="34" charset="0"/>
              </a:rPr>
              <a:t>Liste de départ : À traiter (chiffres), Activité récente, Aller à, Actions. Touche ? : aide clavier. Alt + flèches : personne précédente ou suivante.</a:t>
            </a:r>
          </a:p>
        </p:txBody>
      </p:sp>
      <p:sp>
        <p:nvSpPr>
          <p:cNvPr id="35" name="Rectangle : coins arrondis 34">
            <a:extLst>
              <a:ext uri="{FF2B5EF4-FFF2-40B4-BE49-F238E27FC236}">
                <a16:creationId xmlns:a16="http://schemas.microsoft.com/office/drawing/2014/main" id="{B5BBC1F9-8461-50D7-DCCD-F028DFA2BA89}"/>
              </a:ext>
            </a:extLst>
          </p:cNvPr>
          <p:cNvSpPr/>
          <p:nvPr/>
        </p:nvSpPr>
        <p:spPr>
          <a:xfrm>
            <a:off x="609600" y="5130800"/>
            <a:ext cx="3810000" cy="1117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ZoneTexte 35">
            <a:extLst>
              <a:ext uri="{FF2B5EF4-FFF2-40B4-BE49-F238E27FC236}">
                <a16:creationId xmlns:a16="http://schemas.microsoft.com/office/drawing/2014/main" id="{018D9F5F-0A9E-BD60-B54C-D6491566F462}"/>
              </a:ext>
            </a:extLst>
          </p:cNvPr>
          <p:cNvSpPr txBox="1"/>
          <p:nvPr/>
        </p:nvSpPr>
        <p:spPr>
          <a:xfrm>
            <a:off x="762000" y="5207000"/>
            <a:ext cx="3505200" cy="279400"/>
          </a:xfrm>
          <a:prstGeom prst="rect">
            <a:avLst/>
          </a:prstGeom>
          <a:noFill/>
        </p:spPr>
        <p:txBody>
          <a:bodyPr vert="horz" wrap="square" lIns="0" tIns="0" rIns="0" bIns="0" rtlCol="0">
            <a:noAutofit/>
          </a:bodyPr>
          <a:lstStyle/>
          <a:p>
            <a:r>
              <a:rPr lang="fr-FR" sz="1500" b="1">
                <a:solidFill>
                  <a:srgbClr val="1E1C8C"/>
                </a:solidFill>
                <a:latin typeface="Calibri" panose="020F0502020204030204" pitchFamily="34" charset="0"/>
              </a:rPr>
              <a:t>À traiter, en un clic</a:t>
            </a:r>
          </a:p>
        </p:txBody>
      </p:sp>
      <p:sp>
        <p:nvSpPr>
          <p:cNvPr id="37" name="ZoneTexte 36">
            <a:extLst>
              <a:ext uri="{FF2B5EF4-FFF2-40B4-BE49-F238E27FC236}">
                <a16:creationId xmlns:a16="http://schemas.microsoft.com/office/drawing/2014/main" id="{1D3E6A6D-1DCE-39AA-6C87-311663EB2852}"/>
              </a:ext>
            </a:extLst>
          </p:cNvPr>
          <p:cNvSpPr txBox="1"/>
          <p:nvPr/>
        </p:nvSpPr>
        <p:spPr>
          <a:xfrm>
            <a:off x="762000" y="5511800"/>
            <a:ext cx="3505200" cy="7112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Retours en retard, attestations à relancer ou en attente, PDF à archiver, matériel à restituer : la page s'ouvre déjà filtrée.</a:t>
            </a:r>
          </a:p>
        </p:txBody>
      </p:sp>
    </p:spTree>
    <p:extLst>
      <p:ext uri="{BB962C8B-B14F-4D97-AF65-F5344CB8AC3E}">
        <p14:creationId xmlns:p14="http://schemas.microsoft.com/office/powerpoint/2010/main" val="20893772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183988-E45B-4CFD-ED29-76C7E0A7258D}"/>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Recherche rapide : tout trouver, partout</a:t>
            </a:r>
          </a:p>
        </p:txBody>
      </p:sp>
      <p:sp>
        <p:nvSpPr>
          <p:cNvPr id="3" name="ZoneTexte 2">
            <a:extLst>
              <a:ext uri="{FF2B5EF4-FFF2-40B4-BE49-F238E27FC236}">
                <a16:creationId xmlns:a16="http://schemas.microsoft.com/office/drawing/2014/main" id="{61B50E4B-ABC5-9372-DC01-A4C3477E4B39}"/>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TRANSVERSAL</a:t>
            </a:r>
          </a:p>
        </p:txBody>
      </p:sp>
      <p:sp>
        <p:nvSpPr>
          <p:cNvPr id="4" name="ZoneTexte 3">
            <a:extLst>
              <a:ext uri="{FF2B5EF4-FFF2-40B4-BE49-F238E27FC236}">
                <a16:creationId xmlns:a16="http://schemas.microsoft.com/office/drawing/2014/main" id="{12FDD814-1FE5-2459-8E81-B43B5569FD2D}"/>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Une seule barre pour le stock, les achats, les machines, les personnes et les pages</a:t>
            </a:r>
          </a:p>
        </p:txBody>
      </p:sp>
      <p:sp>
        <p:nvSpPr>
          <p:cNvPr id="5" name="ZoneTexte 4">
            <a:extLst>
              <a:ext uri="{FF2B5EF4-FFF2-40B4-BE49-F238E27FC236}">
                <a16:creationId xmlns:a16="http://schemas.microsoft.com/office/drawing/2014/main" id="{A9040785-EA84-F546-1AE2-1FB542C1B812}"/>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E4C54000-877F-D06A-A080-4B89F06488E5}"/>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F4993EF6-B721-4640-92D5-B1B2B60DDDA5}" type="slidenum">
              <a:rPr lang="fr-FR" sz="900" smtClean="0">
                <a:solidFill>
                  <a:srgbClr val="586080"/>
                </a:solidFill>
                <a:latin typeface="Calibri" panose="020F0502020204030204" pitchFamily="34" charset="0"/>
              </a:rPr>
              <a:t>39</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86893B19-5FD8-450E-63AB-B20049953484}"/>
              </a:ext>
            </a:extLst>
          </p:cNvPr>
          <p:cNvSpPr/>
          <p:nvPr/>
        </p:nvSpPr>
        <p:spPr>
          <a:xfrm>
            <a:off x="609600" y="1600200"/>
            <a:ext cx="5080000" cy="40894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28444719-F2D7-352C-C5BA-F7B3A1CE04B7}"/>
              </a:ext>
            </a:extLst>
          </p:cNvPr>
          <p:cNvSpPr/>
          <p:nvPr/>
        </p:nvSpPr>
        <p:spPr>
          <a:xfrm>
            <a:off x="609600" y="1600200"/>
            <a:ext cx="5080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A7858C1B-5CAE-691D-8000-E9CDE92A7D8D}"/>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22AFA2A2-B1CE-EBCB-0989-680F1A8F3F96}"/>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8A0D1F35-5284-47B3-24BA-6C6FF1F4D263}"/>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AB94CC19-3326-F0FD-1B35-DEB7F7D5A37F}"/>
              </a:ext>
            </a:extLst>
          </p:cNvPr>
          <p:cNvSpPr/>
          <p:nvPr/>
        </p:nvSpPr>
        <p:spPr>
          <a:xfrm>
            <a:off x="2006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366B3D3D-5565-E74A-71DE-0E83EB76EAE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5080000" cy="3810000"/>
          </a:xfrm>
          <a:prstGeom prst="rect">
            <a:avLst/>
          </a:prstGeom>
        </p:spPr>
      </p:pic>
      <p:sp>
        <p:nvSpPr>
          <p:cNvPr id="15" name="Rectangle : coins arrondis 14">
            <a:extLst>
              <a:ext uri="{FF2B5EF4-FFF2-40B4-BE49-F238E27FC236}">
                <a16:creationId xmlns:a16="http://schemas.microsoft.com/office/drawing/2014/main" id="{0FABBB2E-110E-51C2-AA44-00B45C10784E}"/>
              </a:ext>
            </a:extLst>
          </p:cNvPr>
          <p:cNvSpPr/>
          <p:nvPr/>
        </p:nvSpPr>
        <p:spPr>
          <a:xfrm>
            <a:off x="5969000" y="1600200"/>
            <a:ext cx="56134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336C027B-7EF9-71F2-16BE-AB6B0BEE7C73}"/>
              </a:ext>
            </a:extLst>
          </p:cNvPr>
          <p:cNvSpPr txBox="1"/>
          <p:nvPr/>
        </p:nvSpPr>
        <p:spPr>
          <a:xfrm>
            <a:off x="6197600" y="1752600"/>
            <a:ext cx="51562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Ce que la barre trouve</a:t>
            </a:r>
          </a:p>
        </p:txBody>
      </p:sp>
      <p:sp>
        <p:nvSpPr>
          <p:cNvPr id="17" name="ZoneTexte 16">
            <a:extLst>
              <a:ext uri="{FF2B5EF4-FFF2-40B4-BE49-F238E27FC236}">
                <a16:creationId xmlns:a16="http://schemas.microsoft.com/office/drawing/2014/main" id="{0ED502AE-0BC7-3C23-3695-4267455E3CD9}"/>
              </a:ext>
            </a:extLst>
          </p:cNvPr>
          <p:cNvSpPr txBox="1"/>
          <p:nvPr/>
        </p:nvSpPr>
        <p:spPr>
          <a:xfrm>
            <a:off x="6197600" y="2133600"/>
            <a:ext cx="5207000" cy="40132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Inventaire : un type de matériel, son stock, acheté, prêté, perdu</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Achats et factures : les cinq plus récents qui correspondent</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PC / Mac : par nom de machine, numéro de série ou marque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Personnes : Entrée ouvre l'action la plus utile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Dans les pages : nombre de résultats par page, un clic pour l'ouvrir déjà filtrée</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Actions : boutons de l'Inventaire, rapport, thème, visite guidée</a:t>
            </a:r>
          </a:p>
        </p:txBody>
      </p:sp>
    </p:spTree>
    <p:extLst>
      <p:ext uri="{BB962C8B-B14F-4D97-AF65-F5344CB8AC3E}">
        <p14:creationId xmlns:p14="http://schemas.microsoft.com/office/powerpoint/2010/main" val="1339675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21004A-64E6-FF7E-0EBC-C04D1B8EDC7E}"/>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Guide et démonstrations dans chaque page</a:t>
            </a:r>
          </a:p>
        </p:txBody>
      </p:sp>
      <p:sp>
        <p:nvSpPr>
          <p:cNvPr id="3" name="ZoneTexte 2">
            <a:extLst>
              <a:ext uri="{FF2B5EF4-FFF2-40B4-BE49-F238E27FC236}">
                <a16:creationId xmlns:a16="http://schemas.microsoft.com/office/drawing/2014/main" id="{994B4A6E-8E07-9AA9-8212-60EEC6F1EE46}"/>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TRANSVERSAL</a:t>
            </a:r>
          </a:p>
        </p:txBody>
      </p:sp>
      <p:sp>
        <p:nvSpPr>
          <p:cNvPr id="4" name="ZoneTexte 3">
            <a:extLst>
              <a:ext uri="{FF2B5EF4-FFF2-40B4-BE49-F238E27FC236}">
                <a16:creationId xmlns:a16="http://schemas.microsoft.com/office/drawing/2014/main" id="{A44BE4E3-9FB2-6B1C-BDA2-36BF2C3C278E}"/>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 bouton « Guide » : mode d'emploi détaillé et démonstration sur l'écran réel</a:t>
            </a:r>
          </a:p>
        </p:txBody>
      </p:sp>
      <p:sp>
        <p:nvSpPr>
          <p:cNvPr id="5" name="ZoneTexte 4">
            <a:extLst>
              <a:ext uri="{FF2B5EF4-FFF2-40B4-BE49-F238E27FC236}">
                <a16:creationId xmlns:a16="http://schemas.microsoft.com/office/drawing/2014/main" id="{0AB9BCA2-2AE0-8C1E-66C4-E16BA2750F35}"/>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F786FDF1-EBC0-29B1-6C48-94404F7F3A04}"/>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26009B84-1FF6-46B3-8468-9FFAFC0B6542}" type="slidenum">
              <a:rPr lang="fr-FR" sz="900" smtClean="0">
                <a:solidFill>
                  <a:srgbClr val="586080"/>
                </a:solidFill>
                <a:latin typeface="Calibri" panose="020F0502020204030204" pitchFamily="34" charset="0"/>
              </a:rPr>
              <a:t>40</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23F2A430-5145-93CE-FC16-1869D048E73F}"/>
              </a:ext>
            </a:extLst>
          </p:cNvPr>
          <p:cNvSpPr/>
          <p:nvPr/>
        </p:nvSpPr>
        <p:spPr>
          <a:xfrm>
            <a:off x="609600" y="1600200"/>
            <a:ext cx="2946400" cy="4176252"/>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D24867DC-9D8F-B58B-334A-AAB55C83BBD5}"/>
              </a:ext>
            </a:extLst>
          </p:cNvPr>
          <p:cNvSpPr/>
          <p:nvPr/>
        </p:nvSpPr>
        <p:spPr>
          <a:xfrm>
            <a:off x="609600" y="1600200"/>
            <a:ext cx="29464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34FCE8AB-C840-2A1C-D044-908CA6C52935}"/>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90823A8A-E536-5BBF-25F9-5EDB13C0B3BD}"/>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D231042D-52F6-BD2C-9931-A0783BD8645E}"/>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47A46CCE-A8CD-7B2C-B676-4C3974DA0AD0}"/>
              </a:ext>
            </a:extLst>
          </p:cNvPr>
          <p:cNvSpPr/>
          <p:nvPr/>
        </p:nvSpPr>
        <p:spPr>
          <a:xfrm>
            <a:off x="9398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6606DCD2-C9B6-B4C7-0062-7691B6FBDC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2946400" cy="3896852"/>
          </a:xfrm>
          <a:prstGeom prst="rect">
            <a:avLst/>
          </a:prstGeom>
        </p:spPr>
      </p:pic>
      <p:sp>
        <p:nvSpPr>
          <p:cNvPr id="15" name="Rectangle : coins arrondis 14">
            <a:extLst>
              <a:ext uri="{FF2B5EF4-FFF2-40B4-BE49-F238E27FC236}">
                <a16:creationId xmlns:a16="http://schemas.microsoft.com/office/drawing/2014/main" id="{4112C36D-562B-47BC-E844-5D6A30280103}"/>
              </a:ext>
            </a:extLst>
          </p:cNvPr>
          <p:cNvSpPr/>
          <p:nvPr/>
        </p:nvSpPr>
        <p:spPr>
          <a:xfrm>
            <a:off x="3708400" y="1600200"/>
            <a:ext cx="4191000" cy="293370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11FA0682-41DB-3476-BB4F-D78AC5EF16E3}"/>
              </a:ext>
            </a:extLst>
          </p:cNvPr>
          <p:cNvSpPr/>
          <p:nvPr/>
        </p:nvSpPr>
        <p:spPr>
          <a:xfrm>
            <a:off x="3708400" y="1600200"/>
            <a:ext cx="4191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47DDE39D-1C4D-F3CD-9194-9081A9ED78D0}"/>
              </a:ext>
            </a:extLst>
          </p:cNvPr>
          <p:cNvSpPr/>
          <p:nvPr/>
        </p:nvSpPr>
        <p:spPr>
          <a:xfrm>
            <a:off x="38354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374DDC02-6C25-23A5-43BE-9B7AF0FD1CC5}"/>
              </a:ext>
            </a:extLst>
          </p:cNvPr>
          <p:cNvSpPr/>
          <p:nvPr/>
        </p:nvSpPr>
        <p:spPr>
          <a:xfrm>
            <a:off x="40005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F70A386D-94BD-CB39-7AF0-7AB8E517DC51}"/>
              </a:ext>
            </a:extLst>
          </p:cNvPr>
          <p:cNvSpPr/>
          <p:nvPr/>
        </p:nvSpPr>
        <p:spPr>
          <a:xfrm>
            <a:off x="41656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A2719CA1-4914-3D63-187D-D3285759F77A}"/>
              </a:ext>
            </a:extLst>
          </p:cNvPr>
          <p:cNvSpPr/>
          <p:nvPr/>
        </p:nvSpPr>
        <p:spPr>
          <a:xfrm>
            <a:off x="46609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EA0C7396-F44A-C4A5-3D98-05AE6E24DE4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708400" y="1879600"/>
            <a:ext cx="4191000" cy="2654300"/>
          </a:xfrm>
          <a:prstGeom prst="rect">
            <a:avLst/>
          </a:prstGeom>
        </p:spPr>
      </p:pic>
      <p:sp>
        <p:nvSpPr>
          <p:cNvPr id="23" name="Rectangle : coins arrondis 22">
            <a:extLst>
              <a:ext uri="{FF2B5EF4-FFF2-40B4-BE49-F238E27FC236}">
                <a16:creationId xmlns:a16="http://schemas.microsoft.com/office/drawing/2014/main" id="{6244E2DD-F034-6A4B-00E8-36645CEF92B0}"/>
              </a:ext>
            </a:extLst>
          </p:cNvPr>
          <p:cNvSpPr/>
          <p:nvPr/>
        </p:nvSpPr>
        <p:spPr>
          <a:xfrm>
            <a:off x="3708400" y="4673600"/>
            <a:ext cx="4191000" cy="15748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10BC2E7C-BEDA-FED8-BC88-4583F764504A}"/>
              </a:ext>
            </a:extLst>
          </p:cNvPr>
          <p:cNvSpPr txBox="1"/>
          <p:nvPr/>
        </p:nvSpPr>
        <p:spPr>
          <a:xfrm>
            <a:off x="3911600" y="4775200"/>
            <a:ext cx="3810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Une démonstration</a:t>
            </a:r>
          </a:p>
        </p:txBody>
      </p:sp>
      <p:sp>
        <p:nvSpPr>
          <p:cNvPr id="25" name="ZoneTexte 24">
            <a:extLst>
              <a:ext uri="{FF2B5EF4-FFF2-40B4-BE49-F238E27FC236}">
                <a16:creationId xmlns:a16="http://schemas.microsoft.com/office/drawing/2014/main" id="{41B6F180-81A4-DF1E-9F34-6794C850BE21}"/>
              </a:ext>
            </a:extLst>
          </p:cNvPr>
          <p:cNvSpPr txBox="1"/>
          <p:nvPr/>
        </p:nvSpPr>
        <p:spPr>
          <a:xfrm>
            <a:off x="3911600" y="5105400"/>
            <a:ext cx="3860800" cy="11176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Le vrai écran est entouré, étape par étape</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Précédent, Suivant, Passer ou la croix ✕</a:t>
            </a:r>
          </a:p>
          <a:p>
            <a:pPr marL="203200" indent="-203200">
              <a:spcAft>
                <a:spcPts val="500"/>
              </a:spcAft>
              <a:buClr>
                <a:srgbClr val="5853FF"/>
              </a:buClr>
              <a:buFont typeface="+mj-lt"/>
              <a:buChar char="•"/>
            </a:pPr>
            <a:r>
              <a:rPr lang="fr-FR" sz="1300">
                <a:solidFill>
                  <a:srgbClr val="12162B"/>
                </a:solidFill>
                <a:latin typeface="Calibri" panose="020F0502020204030204" pitchFamily="34" charset="0"/>
              </a:rPr>
              <a:t>N'enregistre rien : tout est refermé à la fin</a:t>
            </a:r>
          </a:p>
        </p:txBody>
      </p:sp>
      <p:sp>
        <p:nvSpPr>
          <p:cNvPr id="26" name="Rectangle : coins arrondis 25">
            <a:extLst>
              <a:ext uri="{FF2B5EF4-FFF2-40B4-BE49-F238E27FC236}">
                <a16:creationId xmlns:a16="http://schemas.microsoft.com/office/drawing/2014/main" id="{4B9F9FEB-C76D-BF16-BD5C-1038D9CF8678}"/>
              </a:ext>
            </a:extLst>
          </p:cNvPr>
          <p:cNvSpPr/>
          <p:nvPr/>
        </p:nvSpPr>
        <p:spPr>
          <a:xfrm>
            <a:off x="8153400" y="1600200"/>
            <a:ext cx="3429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D906C9E8-BA19-CA67-645C-C407BC3D9B22}"/>
              </a:ext>
            </a:extLst>
          </p:cNvPr>
          <p:cNvSpPr txBox="1"/>
          <p:nvPr/>
        </p:nvSpPr>
        <p:spPr>
          <a:xfrm>
            <a:off x="8356600" y="1752600"/>
            <a:ext cx="30226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Dans chaque guide</a:t>
            </a:r>
          </a:p>
        </p:txBody>
      </p:sp>
      <p:sp>
        <p:nvSpPr>
          <p:cNvPr id="28" name="ZoneTexte 27">
            <a:extLst>
              <a:ext uri="{FF2B5EF4-FFF2-40B4-BE49-F238E27FC236}">
                <a16:creationId xmlns:a16="http://schemas.microsoft.com/office/drawing/2014/main" id="{1404A14A-0D63-F5E4-E878-5EABE7EDAE5D}"/>
              </a:ext>
            </a:extLst>
          </p:cNvPr>
          <p:cNvSpPr txBox="1"/>
          <p:nvPr/>
        </p:nvSpPr>
        <p:spPr>
          <a:xfrm>
            <a:off x="8356600" y="2133600"/>
            <a:ext cx="3048000" cy="40640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Rubriques en onglets, étapes numérotées</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 À retenir » : un à trois points importants</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Rubrique « Partout » : recherche, raccourcis, période, rapport…</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Six démonstrations : emprunt, restitution (avec et sans attestation), achat, prix, Accueil</a:t>
            </a:r>
          </a:p>
          <a:p>
            <a:pPr marL="203200" indent="-203200">
              <a:spcAft>
                <a:spcPts val="600"/>
              </a:spcAft>
              <a:buClr>
                <a:srgbClr val="5853FF"/>
              </a:buClr>
              <a:buFont typeface="+mj-lt"/>
              <a:buChar char="•"/>
            </a:pPr>
            <a:r>
              <a:rPr lang="fr-FR" sz="1300">
                <a:solidFill>
                  <a:srgbClr val="12162B"/>
                </a:solidFill>
                <a:latin typeface="Calibri" panose="020F0502020204030204" pitchFamily="34" charset="0"/>
              </a:rPr>
              <a:t>Dix pages couvertes</a:t>
            </a:r>
          </a:p>
        </p:txBody>
      </p:sp>
    </p:spTree>
    <p:extLst>
      <p:ext uri="{BB962C8B-B14F-4D97-AF65-F5344CB8AC3E}">
        <p14:creationId xmlns:p14="http://schemas.microsoft.com/office/powerpoint/2010/main" val="22464415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0112C4-D407-1D1F-2C4D-6A9F65B9DB72}"/>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Rapports PDF et Excel</a:t>
            </a:r>
          </a:p>
        </p:txBody>
      </p:sp>
      <p:sp>
        <p:nvSpPr>
          <p:cNvPr id="3" name="ZoneTexte 2">
            <a:extLst>
              <a:ext uri="{FF2B5EF4-FFF2-40B4-BE49-F238E27FC236}">
                <a16:creationId xmlns:a16="http://schemas.microsoft.com/office/drawing/2014/main" id="{F71A76A8-C7F5-2F75-2893-82373AD64629}"/>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TRANSVERSAL</a:t>
            </a:r>
          </a:p>
        </p:txBody>
      </p:sp>
      <p:sp>
        <p:nvSpPr>
          <p:cNvPr id="4" name="ZoneTexte 3">
            <a:extLst>
              <a:ext uri="{FF2B5EF4-FFF2-40B4-BE49-F238E27FC236}">
                <a16:creationId xmlns:a16="http://schemas.microsoft.com/office/drawing/2014/main" id="{E59AADBA-D5E6-19BC-E06C-1BB6940EA634}"/>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 état à partager, en un clic, propre à la page où l'on se trouve</a:t>
            </a:r>
          </a:p>
        </p:txBody>
      </p:sp>
      <p:sp>
        <p:nvSpPr>
          <p:cNvPr id="5" name="ZoneTexte 4">
            <a:extLst>
              <a:ext uri="{FF2B5EF4-FFF2-40B4-BE49-F238E27FC236}">
                <a16:creationId xmlns:a16="http://schemas.microsoft.com/office/drawing/2014/main" id="{27A93841-83A1-FE91-4380-4278548077C4}"/>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DEC645EF-DAD8-E13A-C50A-EDD4E34DBB5E}"/>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CB21F275-812E-4714-9C28-2578C2F12074}" type="slidenum">
              <a:rPr lang="fr-FR" sz="900" smtClean="0">
                <a:solidFill>
                  <a:srgbClr val="586080"/>
                </a:solidFill>
                <a:latin typeface="Calibri" panose="020F0502020204030204" pitchFamily="34" charset="0"/>
              </a:rPr>
              <a:t>41</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7F971979-5CD7-8CCA-C62A-6D0E145B15C0}"/>
              </a:ext>
            </a:extLst>
          </p:cNvPr>
          <p:cNvSpPr/>
          <p:nvPr/>
        </p:nvSpPr>
        <p:spPr>
          <a:xfrm>
            <a:off x="609600" y="1600200"/>
            <a:ext cx="2413000" cy="404368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C8E3B1B1-6C66-E299-C559-42E39929D60E}"/>
              </a:ext>
            </a:extLst>
          </p:cNvPr>
          <p:cNvSpPr/>
          <p:nvPr/>
        </p:nvSpPr>
        <p:spPr>
          <a:xfrm>
            <a:off x="609600" y="1600200"/>
            <a:ext cx="2413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1535CF92-8FB0-D533-5F30-8BDF58BBA3B4}"/>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4CF00C06-F686-B03D-E26F-2C459428A425}"/>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9E0C2532-210F-4FBB-0A79-50BC125ECED1}"/>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1C9DBBFE-90F3-4253-3857-FFC05AFD691A}"/>
              </a:ext>
            </a:extLst>
          </p:cNvPr>
          <p:cNvSpPr/>
          <p:nvPr/>
        </p:nvSpPr>
        <p:spPr>
          <a:xfrm>
            <a:off x="673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A1D53F31-3F77-771B-35AE-36CA9A08B99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2413000" cy="3764280"/>
          </a:xfrm>
          <a:prstGeom prst="rect">
            <a:avLst/>
          </a:prstGeom>
        </p:spPr>
      </p:pic>
      <p:sp>
        <p:nvSpPr>
          <p:cNvPr id="15" name="Rectangle : coins arrondis 14">
            <a:extLst>
              <a:ext uri="{FF2B5EF4-FFF2-40B4-BE49-F238E27FC236}">
                <a16:creationId xmlns:a16="http://schemas.microsoft.com/office/drawing/2014/main" id="{01882301-D462-DBA9-0F65-3729AB89BA0B}"/>
              </a:ext>
            </a:extLst>
          </p:cNvPr>
          <p:cNvSpPr/>
          <p:nvPr/>
        </p:nvSpPr>
        <p:spPr>
          <a:xfrm>
            <a:off x="3225800" y="1600200"/>
            <a:ext cx="2946400" cy="4447901"/>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25D3D195-5844-5756-771F-4D648B51A357}"/>
              </a:ext>
            </a:extLst>
          </p:cNvPr>
          <p:cNvSpPr/>
          <p:nvPr/>
        </p:nvSpPr>
        <p:spPr>
          <a:xfrm>
            <a:off x="3225800" y="1600200"/>
            <a:ext cx="29464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740B8BDF-EE6C-1309-2AB6-98F8FA33FCB0}"/>
              </a:ext>
            </a:extLst>
          </p:cNvPr>
          <p:cNvSpPr/>
          <p:nvPr/>
        </p:nvSpPr>
        <p:spPr>
          <a:xfrm>
            <a:off x="33528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9A94C846-9089-B17E-09C4-3AF49D2CA628}"/>
              </a:ext>
            </a:extLst>
          </p:cNvPr>
          <p:cNvSpPr/>
          <p:nvPr/>
        </p:nvSpPr>
        <p:spPr>
          <a:xfrm>
            <a:off x="35179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C396B563-BEFA-8CA1-B78F-01F9457C8683}"/>
              </a:ext>
            </a:extLst>
          </p:cNvPr>
          <p:cNvSpPr/>
          <p:nvPr/>
        </p:nvSpPr>
        <p:spPr>
          <a:xfrm>
            <a:off x="36830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777BB2E9-E405-FF2F-966A-BCB4B6D6C767}"/>
              </a:ext>
            </a:extLst>
          </p:cNvPr>
          <p:cNvSpPr/>
          <p:nvPr/>
        </p:nvSpPr>
        <p:spPr>
          <a:xfrm>
            <a:off x="35560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D79A109B-BC28-BF07-BC12-79B3FAD894C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225800" y="1879600"/>
            <a:ext cx="2946400" cy="4168501"/>
          </a:xfrm>
          <a:prstGeom prst="rect">
            <a:avLst/>
          </a:prstGeom>
        </p:spPr>
      </p:pic>
      <p:sp>
        <p:nvSpPr>
          <p:cNvPr id="23" name="Rectangle : coins arrondis 22">
            <a:extLst>
              <a:ext uri="{FF2B5EF4-FFF2-40B4-BE49-F238E27FC236}">
                <a16:creationId xmlns:a16="http://schemas.microsoft.com/office/drawing/2014/main" id="{A7515173-E28B-048F-D08F-493CCC3CF99D}"/>
              </a:ext>
            </a:extLst>
          </p:cNvPr>
          <p:cNvSpPr/>
          <p:nvPr/>
        </p:nvSpPr>
        <p:spPr>
          <a:xfrm>
            <a:off x="6426200" y="1600200"/>
            <a:ext cx="5156200" cy="2159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881B0968-5F3E-4E5A-8A3B-7062B3824A51}"/>
              </a:ext>
            </a:extLst>
          </p:cNvPr>
          <p:cNvSpPr txBox="1"/>
          <p:nvPr/>
        </p:nvSpPr>
        <p:spPr>
          <a:xfrm>
            <a:off x="6654800" y="1752600"/>
            <a:ext cx="4699000" cy="2794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Quatre clics</a:t>
            </a:r>
          </a:p>
        </p:txBody>
      </p:sp>
      <p:sp>
        <p:nvSpPr>
          <p:cNvPr id="25" name="ZoneTexte 24">
            <a:extLst>
              <a:ext uri="{FF2B5EF4-FFF2-40B4-BE49-F238E27FC236}">
                <a16:creationId xmlns:a16="http://schemas.microsoft.com/office/drawing/2014/main" id="{488A1EE7-9461-23AE-FD4A-8946309527A1}"/>
              </a:ext>
            </a:extLst>
          </p:cNvPr>
          <p:cNvSpPr txBox="1"/>
          <p:nvPr/>
        </p:nvSpPr>
        <p:spPr>
          <a:xfrm>
            <a:off x="6654800" y="2133600"/>
            <a:ext cx="4724400" cy="15748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Bouton Rapport, en haut à droite de chaque page</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Choisir la période, la personne (facultatif) et le format : PDF ou Excel</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Générer le rapport, puis confirmer le téléchargement, ou « Envoyer par email »</a:t>
            </a:r>
          </a:p>
        </p:txBody>
      </p:sp>
      <p:sp>
        <p:nvSpPr>
          <p:cNvPr id="26" name="Rectangle : coins arrondis 25">
            <a:extLst>
              <a:ext uri="{FF2B5EF4-FFF2-40B4-BE49-F238E27FC236}">
                <a16:creationId xmlns:a16="http://schemas.microsoft.com/office/drawing/2014/main" id="{6BA5AA6A-8678-A4AF-102B-62A266AF8282}"/>
              </a:ext>
            </a:extLst>
          </p:cNvPr>
          <p:cNvSpPr/>
          <p:nvPr/>
        </p:nvSpPr>
        <p:spPr>
          <a:xfrm>
            <a:off x="6426200" y="3937000"/>
            <a:ext cx="5156200" cy="2311400"/>
          </a:xfrm>
          <a:prstGeom prst="roundRect">
            <a:avLst>
              <a:gd name="adj" fmla="val 4500"/>
            </a:avLst>
          </a:prstGeom>
          <a:solidFill>
            <a:srgbClr val="E4EEFA"/>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A6CDF191-4893-D116-838E-85B34BAC65F0}"/>
              </a:ext>
            </a:extLst>
          </p:cNvPr>
          <p:cNvSpPr txBox="1"/>
          <p:nvPr/>
        </p:nvSpPr>
        <p:spPr>
          <a:xfrm>
            <a:off x="6654800" y="4089400"/>
            <a:ext cx="4699000" cy="279400"/>
          </a:xfrm>
          <a:prstGeom prst="rect">
            <a:avLst/>
          </a:prstGeom>
          <a:noFill/>
        </p:spPr>
        <p:txBody>
          <a:bodyPr vert="horz" wrap="square" lIns="0" tIns="0" rIns="0" bIns="0" rtlCol="0">
            <a:noAutofit/>
          </a:bodyPr>
          <a:lstStyle/>
          <a:p>
            <a:r>
              <a:rPr lang="fr-FR" b="1">
                <a:solidFill>
                  <a:srgbClr val="2F7DD1"/>
                </a:solidFill>
                <a:latin typeface="Calibri" panose="020F0502020204030204" pitchFamily="34" charset="0"/>
              </a:rPr>
              <a:t>Contenu</a:t>
            </a:r>
          </a:p>
        </p:txBody>
      </p:sp>
      <p:sp>
        <p:nvSpPr>
          <p:cNvPr id="28" name="ZoneTexte 27">
            <a:extLst>
              <a:ext uri="{FF2B5EF4-FFF2-40B4-BE49-F238E27FC236}">
                <a16:creationId xmlns:a16="http://schemas.microsoft.com/office/drawing/2014/main" id="{DCB58336-01E1-3421-D2D0-54174BAB38E2}"/>
              </a:ext>
            </a:extLst>
          </p:cNvPr>
          <p:cNvSpPr txBox="1"/>
          <p:nvPr/>
        </p:nvSpPr>
        <p:spPr>
          <a:xfrm>
            <a:off x="6654800" y="4470400"/>
            <a:ext cx="4724400" cy="17526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PDF : indicateurs, parc par type, attestations à traiter, signatures, pertes, emprunts, situation par personne ; logo eXalt</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Excel : 8 feuilles, filtres et première ligne figée</a:t>
            </a:r>
          </a:p>
        </p:txBody>
      </p:sp>
    </p:spTree>
    <p:extLst>
      <p:ext uri="{BB962C8B-B14F-4D97-AF65-F5344CB8AC3E}">
        <p14:creationId xmlns:p14="http://schemas.microsoft.com/office/powerpoint/2010/main" val="608193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741CEA-1960-F3A7-9303-AE12CA89F88A}"/>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Un rapport propre à chaque page</a:t>
            </a:r>
          </a:p>
        </p:txBody>
      </p:sp>
      <p:sp>
        <p:nvSpPr>
          <p:cNvPr id="3" name="ZoneTexte 2">
            <a:extLst>
              <a:ext uri="{FF2B5EF4-FFF2-40B4-BE49-F238E27FC236}">
                <a16:creationId xmlns:a16="http://schemas.microsoft.com/office/drawing/2014/main" id="{42CCC767-277D-3C2F-B50B-CF56D0872782}"/>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TRANSVERSAL</a:t>
            </a:r>
          </a:p>
        </p:txBody>
      </p:sp>
      <p:sp>
        <p:nvSpPr>
          <p:cNvPr id="4" name="ZoneTexte 3">
            <a:extLst>
              <a:ext uri="{FF2B5EF4-FFF2-40B4-BE49-F238E27FC236}">
                <a16:creationId xmlns:a16="http://schemas.microsoft.com/office/drawing/2014/main" id="{AAE1EE49-698E-6F55-963E-AA9CA748C990}"/>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Le contenu, le titre et le nom du fichier suivent la page choisie</a:t>
            </a:r>
          </a:p>
        </p:txBody>
      </p:sp>
      <p:sp>
        <p:nvSpPr>
          <p:cNvPr id="5" name="ZoneTexte 4">
            <a:extLst>
              <a:ext uri="{FF2B5EF4-FFF2-40B4-BE49-F238E27FC236}">
                <a16:creationId xmlns:a16="http://schemas.microsoft.com/office/drawing/2014/main" id="{C054A1AF-91F2-567F-1B06-7462D18181EA}"/>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31F07086-92CE-6FB0-68CB-D7D8878E9229}"/>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B57FE320-E7A7-4502-AA00-2A006ECD468C}" type="slidenum">
              <a:rPr lang="fr-FR" sz="900" smtClean="0">
                <a:solidFill>
                  <a:srgbClr val="586080"/>
                </a:solidFill>
                <a:latin typeface="Calibri" panose="020F0502020204030204" pitchFamily="34" charset="0"/>
              </a:rPr>
              <a:t>42</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870264BC-23B2-6900-446B-8897B85B1A2E}"/>
              </a:ext>
            </a:extLst>
          </p:cNvPr>
          <p:cNvSpPr/>
          <p:nvPr/>
        </p:nvSpPr>
        <p:spPr>
          <a:xfrm>
            <a:off x="609600" y="1600200"/>
            <a:ext cx="2286000" cy="384556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0CDE873B-C15A-00A9-A203-FB3A97F6111A}"/>
              </a:ext>
            </a:extLst>
          </p:cNvPr>
          <p:cNvSpPr/>
          <p:nvPr/>
        </p:nvSpPr>
        <p:spPr>
          <a:xfrm>
            <a:off x="609600" y="1600200"/>
            <a:ext cx="2286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F5587F86-7C9D-3D9A-8DD1-E8608A7E585A}"/>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58C3FFF9-48F1-6EE9-9B60-ABC280E211BA}"/>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2476C9AA-9D7D-1432-8F72-E5740398F85D}"/>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B015C810-C11A-0F67-7EC9-07C10C53893C}"/>
              </a:ext>
            </a:extLst>
          </p:cNvPr>
          <p:cNvSpPr/>
          <p:nvPr/>
        </p:nvSpPr>
        <p:spPr>
          <a:xfrm>
            <a:off x="609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4964158B-944E-B6B8-94CD-491A2BF089E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2286000" cy="3566160"/>
          </a:xfrm>
          <a:prstGeom prst="rect">
            <a:avLst/>
          </a:prstGeom>
        </p:spPr>
      </p:pic>
      <p:sp>
        <p:nvSpPr>
          <p:cNvPr id="15" name="Rectangle : coins arrondis 14">
            <a:extLst>
              <a:ext uri="{FF2B5EF4-FFF2-40B4-BE49-F238E27FC236}">
                <a16:creationId xmlns:a16="http://schemas.microsoft.com/office/drawing/2014/main" id="{F3104400-B421-8335-0015-41A155FC0FAD}"/>
              </a:ext>
            </a:extLst>
          </p:cNvPr>
          <p:cNvSpPr/>
          <p:nvPr/>
        </p:nvSpPr>
        <p:spPr>
          <a:xfrm>
            <a:off x="3098800" y="1600200"/>
            <a:ext cx="2794000" cy="4232288"/>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BCEA5CD6-66C0-97E7-7173-3FE1CB96ACA6}"/>
              </a:ext>
            </a:extLst>
          </p:cNvPr>
          <p:cNvSpPr/>
          <p:nvPr/>
        </p:nvSpPr>
        <p:spPr>
          <a:xfrm>
            <a:off x="3098800" y="1600200"/>
            <a:ext cx="2794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96B67AE3-F33D-8217-A34F-455A4F75B8C4}"/>
              </a:ext>
            </a:extLst>
          </p:cNvPr>
          <p:cNvSpPr/>
          <p:nvPr/>
        </p:nvSpPr>
        <p:spPr>
          <a:xfrm>
            <a:off x="32258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0F616EF6-7533-456D-876E-CAA7547A5C26}"/>
              </a:ext>
            </a:extLst>
          </p:cNvPr>
          <p:cNvSpPr/>
          <p:nvPr/>
        </p:nvSpPr>
        <p:spPr>
          <a:xfrm>
            <a:off x="33909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818F7C60-5982-805C-2C06-C90EAA90DF50}"/>
              </a:ext>
            </a:extLst>
          </p:cNvPr>
          <p:cNvSpPr/>
          <p:nvPr/>
        </p:nvSpPr>
        <p:spPr>
          <a:xfrm>
            <a:off x="35560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27AB0218-4440-1DD0-E118-BCD65D562E37}"/>
              </a:ext>
            </a:extLst>
          </p:cNvPr>
          <p:cNvSpPr/>
          <p:nvPr/>
        </p:nvSpPr>
        <p:spPr>
          <a:xfrm>
            <a:off x="33528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E5153423-48DA-0774-A56B-AFFEFE2900B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098800" y="1879600"/>
            <a:ext cx="2794000" cy="3952888"/>
          </a:xfrm>
          <a:prstGeom prst="rect">
            <a:avLst/>
          </a:prstGeom>
        </p:spPr>
      </p:pic>
      <p:graphicFrame>
        <p:nvGraphicFramePr>
          <p:cNvPr id="23" name="Tableau 22">
            <a:extLst>
              <a:ext uri="{FF2B5EF4-FFF2-40B4-BE49-F238E27FC236}">
                <a16:creationId xmlns:a16="http://schemas.microsoft.com/office/drawing/2014/main" id="{2DFAD7BD-2F65-AE2A-2E0A-9DE1BCC044CD}"/>
              </a:ext>
            </a:extLst>
          </p:cNvPr>
          <p:cNvGraphicFramePr>
            <a:graphicFrameLocks noGrp="1"/>
          </p:cNvGraphicFramePr>
          <p:nvPr>
            <p:extLst>
              <p:ext uri="{D42A27DB-BD31-4B8C-83A1-F6EECF244321}">
                <p14:modId xmlns:p14="http://schemas.microsoft.com/office/powerpoint/2010/main" val="321764933"/>
              </p:ext>
            </p:extLst>
          </p:nvPr>
        </p:nvGraphicFramePr>
        <p:xfrm>
          <a:off x="6197600" y="1600200"/>
          <a:ext cx="5384800" cy="4470400"/>
        </p:xfrm>
        <a:graphic>
          <a:graphicData uri="http://schemas.openxmlformats.org/drawingml/2006/table">
            <a:tbl>
              <a:tblPr firstRow="1" bandRow="1">
                <a:tableStyleId>{2D5ABB26-0587-4C30-8999-92F81FD0307C}</a:tableStyleId>
              </a:tblPr>
              <a:tblGrid>
                <a:gridCol w="1320800">
                  <a:extLst>
                    <a:ext uri="{9D8B030D-6E8A-4147-A177-3AD203B41FA5}">
                      <a16:colId xmlns:a16="http://schemas.microsoft.com/office/drawing/2014/main" val="1393494139"/>
                    </a:ext>
                  </a:extLst>
                </a:gridCol>
                <a:gridCol w="4064000">
                  <a:extLst>
                    <a:ext uri="{9D8B030D-6E8A-4147-A177-3AD203B41FA5}">
                      <a16:colId xmlns:a16="http://schemas.microsoft.com/office/drawing/2014/main" val="443346072"/>
                    </a:ext>
                  </a:extLst>
                </a:gridCol>
              </a:tblGrid>
              <a:tr h="558800">
                <a:tc>
                  <a:txBody>
                    <a:bodyPr/>
                    <a:lstStyle/>
                    <a:p>
                      <a:pPr algn="l"/>
                      <a:r>
                        <a:rPr lang="fr-FR" sz="1100" b="1">
                          <a:solidFill>
                            <a:srgbClr val="FFFFFF"/>
                          </a:solidFill>
                          <a:latin typeface="Calibri" panose="020F0502020204030204" pitchFamily="34" charset="0"/>
                        </a:rPr>
                        <a:t>Page</a:t>
                      </a:r>
                    </a:p>
                  </a:txBody>
                  <a:tcPr marL="127000" marR="127000" marT="38100" marB="38100" anchor="ctr">
                    <a:solidFill>
                      <a:srgbClr val="1E1C8C"/>
                    </a:solidFill>
                  </a:tcPr>
                </a:tc>
                <a:tc>
                  <a:txBody>
                    <a:bodyPr/>
                    <a:lstStyle/>
                    <a:p>
                      <a:pPr algn="l"/>
                      <a:r>
                        <a:rPr lang="fr-FR" sz="1100" b="1">
                          <a:solidFill>
                            <a:srgbClr val="FFFFFF"/>
                          </a:solidFill>
                          <a:latin typeface="Calibri" panose="020F0502020204030204" pitchFamily="34" charset="0"/>
                        </a:rPr>
                        <a:t>Contenu du rapport</a:t>
                      </a:r>
                    </a:p>
                  </a:txBody>
                  <a:tcPr marL="127000" marR="127000" marT="38100" marB="38100" anchor="ctr">
                    <a:solidFill>
                      <a:srgbClr val="1E1C8C"/>
                    </a:solidFill>
                  </a:tcPr>
                </a:tc>
                <a:extLst>
                  <a:ext uri="{0D108BD9-81ED-4DB2-BD59-A6C34878D82A}">
                    <a16:rowId xmlns:a16="http://schemas.microsoft.com/office/drawing/2014/main" val="2589022197"/>
                  </a:ext>
                </a:extLst>
              </a:tr>
              <a:tr h="558800">
                <a:tc>
                  <a:txBody>
                    <a:bodyPr/>
                    <a:lstStyle/>
                    <a:p>
                      <a:pPr algn="l"/>
                      <a:r>
                        <a:rPr lang="fr-FR" sz="1100" b="1">
                          <a:solidFill>
                            <a:srgbClr val="12162B"/>
                          </a:solidFill>
                          <a:latin typeface="Calibri" panose="020F0502020204030204" pitchFamily="34" charset="0"/>
                        </a:rPr>
                        <a:t>Accueil</a:t>
                      </a:r>
                    </a:p>
                  </a:txBody>
                  <a:tcPr marL="127000" marR="127000" marT="38100" marB="38100" anchor="ctr">
                    <a:solidFill>
                      <a:srgbClr val="FFFFFF"/>
                    </a:solidFill>
                  </a:tcPr>
                </a:tc>
                <a:tc>
                  <a:txBody>
                    <a:bodyPr/>
                    <a:lstStyle/>
                    <a:p>
                      <a:pPr algn="l"/>
                      <a:r>
                        <a:rPr lang="fr-FR" sz="1100" b="0">
                          <a:solidFill>
                            <a:srgbClr val="12162B"/>
                          </a:solidFill>
                          <a:latin typeface="Calibri" panose="020F0502020204030204" pitchFamily="34" charset="0"/>
                        </a:rPr>
                        <a:t>Rapport complet : parc par type, attestations, signatures, pertes, emprunts, personnes</a:t>
                      </a:r>
                    </a:p>
                  </a:txBody>
                  <a:tcPr marL="127000" marR="127000" marT="38100" marB="38100" anchor="ctr">
                    <a:solidFill>
                      <a:srgbClr val="FFFFFF"/>
                    </a:solidFill>
                  </a:tcPr>
                </a:tc>
                <a:extLst>
                  <a:ext uri="{0D108BD9-81ED-4DB2-BD59-A6C34878D82A}">
                    <a16:rowId xmlns:a16="http://schemas.microsoft.com/office/drawing/2014/main" val="1103749348"/>
                  </a:ext>
                </a:extLst>
              </a:tr>
              <a:tr h="558800">
                <a:tc>
                  <a:txBody>
                    <a:bodyPr/>
                    <a:lstStyle/>
                    <a:p>
                      <a:pPr algn="l"/>
                      <a:r>
                        <a:rPr lang="fr-FR" sz="1100" b="1">
                          <a:solidFill>
                            <a:srgbClr val="12162B"/>
                          </a:solidFill>
                          <a:latin typeface="Calibri" panose="020F0502020204030204" pitchFamily="34" charset="0"/>
                        </a:rPr>
                        <a:t>Emprunter</a:t>
                      </a:r>
                    </a:p>
                  </a:txBody>
                  <a:tcPr marL="127000" marR="127000" marT="38100" marB="38100" anchor="ctr">
                    <a:solidFill>
                      <a:srgbClr val="F0F2FA"/>
                    </a:solidFill>
                  </a:tcPr>
                </a:tc>
                <a:tc>
                  <a:txBody>
                    <a:bodyPr/>
                    <a:lstStyle/>
                    <a:p>
                      <a:pPr algn="l"/>
                      <a:r>
                        <a:rPr lang="fr-FR" sz="1100" b="0">
                          <a:solidFill>
                            <a:srgbClr val="12162B"/>
                          </a:solidFill>
                          <a:latin typeface="Calibri" panose="020F0502020204030204" pitchFamily="34" charset="0"/>
                        </a:rPr>
                        <a:t>Emprunts de la période avec retour prévu et état ; matériel à remettre</a:t>
                      </a:r>
                    </a:p>
                  </a:txBody>
                  <a:tcPr marL="127000" marR="127000" marT="38100" marB="38100" anchor="ctr">
                    <a:solidFill>
                      <a:srgbClr val="F0F2FA"/>
                    </a:solidFill>
                  </a:tcPr>
                </a:tc>
                <a:extLst>
                  <a:ext uri="{0D108BD9-81ED-4DB2-BD59-A6C34878D82A}">
                    <a16:rowId xmlns:a16="http://schemas.microsoft.com/office/drawing/2014/main" val="3940974002"/>
                  </a:ext>
                </a:extLst>
              </a:tr>
              <a:tr h="558800">
                <a:tc>
                  <a:txBody>
                    <a:bodyPr/>
                    <a:lstStyle/>
                    <a:p>
                      <a:pPr algn="l"/>
                      <a:r>
                        <a:rPr lang="fr-FR" sz="1100" b="1">
                          <a:solidFill>
                            <a:srgbClr val="12162B"/>
                          </a:solidFill>
                          <a:latin typeface="Calibri" panose="020F0502020204030204" pitchFamily="34" charset="0"/>
                        </a:rPr>
                        <a:t>Restituer</a:t>
                      </a:r>
                    </a:p>
                  </a:txBody>
                  <a:tcPr marL="127000" marR="127000" marT="38100" marB="38100" anchor="ctr">
                    <a:solidFill>
                      <a:srgbClr val="FFFFFF"/>
                    </a:solidFill>
                  </a:tcPr>
                </a:tc>
                <a:tc>
                  <a:txBody>
                    <a:bodyPr/>
                    <a:lstStyle/>
                    <a:p>
                      <a:pPr algn="l"/>
                      <a:r>
                        <a:rPr lang="fr-FR" sz="1100" b="0">
                          <a:solidFill>
                            <a:srgbClr val="12162B"/>
                          </a:solidFill>
                          <a:latin typeface="Calibri" panose="020F0502020204030204" pitchFamily="34" charset="0"/>
                        </a:rPr>
                        <a:t>Retours en retard, retours prévus, parc par type, situation par personne</a:t>
                      </a:r>
                    </a:p>
                  </a:txBody>
                  <a:tcPr marL="127000" marR="127000" marT="38100" marB="38100" anchor="ctr">
                    <a:solidFill>
                      <a:srgbClr val="FFFFFF"/>
                    </a:solidFill>
                  </a:tcPr>
                </a:tc>
                <a:extLst>
                  <a:ext uri="{0D108BD9-81ED-4DB2-BD59-A6C34878D82A}">
                    <a16:rowId xmlns:a16="http://schemas.microsoft.com/office/drawing/2014/main" val="782758802"/>
                  </a:ext>
                </a:extLst>
              </a:tr>
              <a:tr h="558800">
                <a:tc>
                  <a:txBody>
                    <a:bodyPr/>
                    <a:lstStyle/>
                    <a:p>
                      <a:pPr algn="l"/>
                      <a:r>
                        <a:rPr lang="fr-FR" sz="1100" b="1">
                          <a:solidFill>
                            <a:srgbClr val="12162B"/>
                          </a:solidFill>
                          <a:latin typeface="Calibri" panose="020F0502020204030204" pitchFamily="34" charset="0"/>
                        </a:rPr>
                        <a:t>Attestations</a:t>
                      </a:r>
                    </a:p>
                  </a:txBody>
                  <a:tcPr marL="127000" marR="127000" marT="38100" marB="38100" anchor="ctr">
                    <a:solidFill>
                      <a:srgbClr val="F0F2FA"/>
                    </a:solidFill>
                  </a:tcPr>
                </a:tc>
                <a:tc>
                  <a:txBody>
                    <a:bodyPr/>
                    <a:lstStyle/>
                    <a:p>
                      <a:pPr algn="l"/>
                      <a:r>
                        <a:rPr lang="fr-FR" sz="1100" b="0">
                          <a:solidFill>
                            <a:srgbClr val="12162B"/>
                          </a:solidFill>
                          <a:latin typeface="Calibri" panose="020F0502020204030204" pitchFamily="34" charset="0"/>
                        </a:rPr>
                        <a:t>À traiter, envoyées et signées de la période</a:t>
                      </a:r>
                    </a:p>
                  </a:txBody>
                  <a:tcPr marL="127000" marR="127000" marT="38100" marB="38100" anchor="ctr">
                    <a:solidFill>
                      <a:srgbClr val="F0F2FA"/>
                    </a:solidFill>
                  </a:tcPr>
                </a:tc>
                <a:extLst>
                  <a:ext uri="{0D108BD9-81ED-4DB2-BD59-A6C34878D82A}">
                    <a16:rowId xmlns:a16="http://schemas.microsoft.com/office/drawing/2014/main" val="3501633192"/>
                  </a:ext>
                </a:extLst>
              </a:tr>
              <a:tr h="558800">
                <a:tc>
                  <a:txBody>
                    <a:bodyPr/>
                    <a:lstStyle/>
                    <a:p>
                      <a:pPr algn="l"/>
                      <a:r>
                        <a:rPr lang="fr-FR" sz="1100" b="1">
                          <a:solidFill>
                            <a:srgbClr val="12162B"/>
                          </a:solidFill>
                          <a:latin typeface="Calibri" panose="020F0502020204030204" pitchFamily="34" charset="0"/>
                        </a:rPr>
                        <a:t>Archives PDF</a:t>
                      </a:r>
                    </a:p>
                  </a:txBody>
                  <a:tcPr marL="127000" marR="127000" marT="38100" marB="38100" anchor="ctr">
                    <a:solidFill>
                      <a:srgbClr val="FFFFFF"/>
                    </a:solidFill>
                  </a:tcPr>
                </a:tc>
                <a:tc>
                  <a:txBody>
                    <a:bodyPr/>
                    <a:lstStyle/>
                    <a:p>
                      <a:pPr algn="l"/>
                      <a:r>
                        <a:rPr lang="fr-FR" sz="1100" b="0">
                          <a:solidFill>
                            <a:srgbClr val="12162B"/>
                          </a:solidFill>
                          <a:latin typeface="Calibri" panose="020F0502020204030204" pitchFamily="34" charset="0"/>
                        </a:rPr>
                        <a:t>PDF à archiver ; signatures avec l'état de l'archive</a:t>
                      </a:r>
                    </a:p>
                  </a:txBody>
                  <a:tcPr marL="127000" marR="127000" marT="38100" marB="38100" anchor="ctr">
                    <a:solidFill>
                      <a:srgbClr val="FFFFFF"/>
                    </a:solidFill>
                  </a:tcPr>
                </a:tc>
                <a:extLst>
                  <a:ext uri="{0D108BD9-81ED-4DB2-BD59-A6C34878D82A}">
                    <a16:rowId xmlns:a16="http://schemas.microsoft.com/office/drawing/2014/main" val="579036303"/>
                  </a:ext>
                </a:extLst>
              </a:tr>
              <a:tr h="558800">
                <a:tc>
                  <a:txBody>
                    <a:bodyPr/>
                    <a:lstStyle/>
                    <a:p>
                      <a:pPr algn="l"/>
                      <a:r>
                        <a:rPr lang="fr-FR" sz="1100" b="1">
                          <a:solidFill>
                            <a:srgbClr val="12162B"/>
                          </a:solidFill>
                          <a:latin typeface="Calibri" panose="020F0502020204030204" pitchFamily="34" charset="0"/>
                        </a:rPr>
                        <a:t>Matériel perdu</a:t>
                      </a:r>
                    </a:p>
                  </a:txBody>
                  <a:tcPr marL="127000" marR="127000" marT="38100" marB="38100" anchor="ctr">
                    <a:solidFill>
                      <a:srgbClr val="F0F2FA"/>
                    </a:solidFill>
                  </a:tcPr>
                </a:tc>
                <a:tc>
                  <a:txBody>
                    <a:bodyPr/>
                    <a:lstStyle/>
                    <a:p>
                      <a:pPr algn="l"/>
                      <a:r>
                        <a:rPr lang="fr-FR" sz="1100" b="0">
                          <a:solidFill>
                            <a:srgbClr val="12162B"/>
                          </a:solidFill>
                          <a:latin typeface="Calibri" panose="020F0502020204030204" pitchFamily="34" charset="0"/>
                        </a:rPr>
                        <a:t>Pertes par type et déclarations de la période</a:t>
                      </a:r>
                    </a:p>
                  </a:txBody>
                  <a:tcPr marL="127000" marR="127000" marT="38100" marB="38100" anchor="ctr">
                    <a:solidFill>
                      <a:srgbClr val="F0F2FA"/>
                    </a:solidFill>
                  </a:tcPr>
                </a:tc>
                <a:extLst>
                  <a:ext uri="{0D108BD9-81ED-4DB2-BD59-A6C34878D82A}">
                    <a16:rowId xmlns:a16="http://schemas.microsoft.com/office/drawing/2014/main" val="3601383876"/>
                  </a:ext>
                </a:extLst>
              </a:tr>
              <a:tr h="558800">
                <a:tc>
                  <a:txBody>
                    <a:bodyPr/>
                    <a:lstStyle/>
                    <a:p>
                      <a:pPr algn="l"/>
                      <a:r>
                        <a:rPr lang="fr-FR" sz="1100" b="1">
                          <a:solidFill>
                            <a:srgbClr val="12162B"/>
                          </a:solidFill>
                          <a:latin typeface="Calibri" panose="020F0502020204030204" pitchFamily="34" charset="0"/>
                        </a:rPr>
                        <a:t>Inventaire</a:t>
                      </a:r>
                    </a:p>
                  </a:txBody>
                  <a:tcPr marL="127000" marR="127000" marT="38100" marB="38100" anchor="ctr">
                    <a:solidFill>
                      <a:srgbClr val="FFFFFF"/>
                    </a:solidFill>
                  </a:tcPr>
                </a:tc>
                <a:tc>
                  <a:txBody>
                    <a:bodyPr/>
                    <a:lstStyle/>
                    <a:p>
                      <a:pPr algn="l"/>
                      <a:r>
                        <a:rPr lang="fr-FR" sz="1100" b="0">
                          <a:solidFill>
                            <a:srgbClr val="12162B"/>
                          </a:solidFill>
                          <a:latin typeface="Calibri" panose="020F0502020204030204" pitchFamily="34" charset="0"/>
                        </a:rPr>
                        <a:t>Stock par type, dépenses par type, entrées de stock de la période</a:t>
                      </a:r>
                    </a:p>
                  </a:txBody>
                  <a:tcPr marL="127000" marR="127000" marT="38100" marB="38100" anchor="ctr">
                    <a:solidFill>
                      <a:srgbClr val="FFFFFF"/>
                    </a:solidFill>
                  </a:tcPr>
                </a:tc>
                <a:extLst>
                  <a:ext uri="{0D108BD9-81ED-4DB2-BD59-A6C34878D82A}">
                    <a16:rowId xmlns:a16="http://schemas.microsoft.com/office/drawing/2014/main" val="487045263"/>
                  </a:ext>
                </a:extLst>
              </a:tr>
            </a:tbl>
          </a:graphicData>
        </a:graphic>
      </p:graphicFrame>
    </p:spTree>
    <p:extLst>
      <p:ext uri="{BB962C8B-B14F-4D97-AF65-F5344CB8AC3E}">
        <p14:creationId xmlns:p14="http://schemas.microsoft.com/office/powerpoint/2010/main" val="18796686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404F6-7AF7-1249-A4EF-3F1EC2646E07}"/>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Envoyer le rapport par email</a:t>
            </a:r>
          </a:p>
        </p:txBody>
      </p:sp>
      <p:sp>
        <p:nvSpPr>
          <p:cNvPr id="3" name="ZoneTexte 2">
            <a:extLst>
              <a:ext uri="{FF2B5EF4-FFF2-40B4-BE49-F238E27FC236}">
                <a16:creationId xmlns:a16="http://schemas.microsoft.com/office/drawing/2014/main" id="{6BAE2A0D-7352-3855-3731-0AB6F89CC12D}"/>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TRANSVERSAL</a:t>
            </a:r>
          </a:p>
        </p:txBody>
      </p:sp>
      <p:sp>
        <p:nvSpPr>
          <p:cNvPr id="4" name="ZoneTexte 3">
            <a:extLst>
              <a:ext uri="{FF2B5EF4-FFF2-40B4-BE49-F238E27FC236}">
                <a16:creationId xmlns:a16="http://schemas.microsoft.com/office/drawing/2014/main" id="{30B16DB0-6DEB-7381-59D5-88C05A47A01B}"/>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Destinataire saisi à la main avec suggestions : rien ne part sans clic</a:t>
            </a:r>
          </a:p>
        </p:txBody>
      </p:sp>
      <p:sp>
        <p:nvSpPr>
          <p:cNvPr id="5" name="ZoneTexte 4">
            <a:extLst>
              <a:ext uri="{FF2B5EF4-FFF2-40B4-BE49-F238E27FC236}">
                <a16:creationId xmlns:a16="http://schemas.microsoft.com/office/drawing/2014/main" id="{94F09763-68F9-F7B5-0E84-D81653FA1F0E}"/>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5B4E05AE-1032-E0C3-A2FE-8107F4D25547}"/>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F19D6666-05C9-47B4-8230-BC4F838564D8}" type="slidenum">
              <a:rPr lang="fr-FR" sz="900" smtClean="0">
                <a:solidFill>
                  <a:srgbClr val="586080"/>
                </a:solidFill>
                <a:latin typeface="Calibri" panose="020F0502020204030204" pitchFamily="34" charset="0"/>
              </a:rPr>
              <a:t>43</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32DC609B-1C34-9CB4-9A8F-AA8D5B7B8FB5}"/>
              </a:ext>
            </a:extLst>
          </p:cNvPr>
          <p:cNvSpPr/>
          <p:nvPr/>
        </p:nvSpPr>
        <p:spPr>
          <a:xfrm>
            <a:off x="609600" y="1600200"/>
            <a:ext cx="2921000" cy="4519561"/>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A79EB736-AFBA-C977-9109-D7CAA31998EB}"/>
              </a:ext>
            </a:extLst>
          </p:cNvPr>
          <p:cNvSpPr/>
          <p:nvPr/>
        </p:nvSpPr>
        <p:spPr>
          <a:xfrm>
            <a:off x="609600" y="1600200"/>
            <a:ext cx="2921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C5C2BE88-9220-7E24-104F-E958F53DD0FF}"/>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30F23D82-0C59-A284-5438-8E8376C77F90}"/>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C4A5BA70-226D-7F5B-2446-ADCBED0E8D64}"/>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07CE96BB-8415-975B-FBDD-1A7546697E8E}"/>
              </a:ext>
            </a:extLst>
          </p:cNvPr>
          <p:cNvSpPr/>
          <p:nvPr/>
        </p:nvSpPr>
        <p:spPr>
          <a:xfrm>
            <a:off x="9271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60C900CD-C222-6643-74D3-0AEEBF13787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2921000" cy="4240161"/>
          </a:xfrm>
          <a:prstGeom prst="rect">
            <a:avLst/>
          </a:prstGeom>
        </p:spPr>
      </p:pic>
      <p:sp>
        <p:nvSpPr>
          <p:cNvPr id="15" name="Rectangle : coins arrondis 14">
            <a:extLst>
              <a:ext uri="{FF2B5EF4-FFF2-40B4-BE49-F238E27FC236}">
                <a16:creationId xmlns:a16="http://schemas.microsoft.com/office/drawing/2014/main" id="{49883FAC-377B-96E0-9CEA-6749662643CF}"/>
              </a:ext>
            </a:extLst>
          </p:cNvPr>
          <p:cNvSpPr/>
          <p:nvPr/>
        </p:nvSpPr>
        <p:spPr>
          <a:xfrm>
            <a:off x="3810000" y="1600200"/>
            <a:ext cx="7772400" cy="2159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1EB59D66-529E-4A80-7595-87FA582DCEA6}"/>
              </a:ext>
            </a:extLst>
          </p:cNvPr>
          <p:cNvSpPr txBox="1"/>
          <p:nvPr/>
        </p:nvSpPr>
        <p:spPr>
          <a:xfrm>
            <a:off x="4038600" y="1752600"/>
            <a:ext cx="7315200" cy="2794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Dans la fenêtre</a:t>
            </a:r>
          </a:p>
        </p:txBody>
      </p:sp>
      <p:sp>
        <p:nvSpPr>
          <p:cNvPr id="17" name="ZoneTexte 16">
            <a:extLst>
              <a:ext uri="{FF2B5EF4-FFF2-40B4-BE49-F238E27FC236}">
                <a16:creationId xmlns:a16="http://schemas.microsoft.com/office/drawing/2014/main" id="{763CA526-421E-5CC1-9A3B-013556699E3B}"/>
              </a:ext>
            </a:extLst>
          </p:cNvPr>
          <p:cNvSpPr txBox="1"/>
          <p:nvPr/>
        </p:nvSpPr>
        <p:spPr>
          <a:xfrm>
            <a:off x="4038600" y="2133600"/>
            <a:ext cx="7315200" cy="15748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Destinataire(s) : saisie à la main, suggestions dès 2 lettres (personnes de GPIEXALT, puis annuaire Microsoft 365)</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Objet et message préremplis (titre de la page, date, format, période, expéditeur), modifiables</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Pièce jointe : rapport_gpiexalt_AAAA-MM-JJ.pdf ou .xlsx</a:t>
            </a:r>
          </a:p>
        </p:txBody>
      </p:sp>
      <p:sp>
        <p:nvSpPr>
          <p:cNvPr id="18" name="Rectangle : coins arrondis 17">
            <a:extLst>
              <a:ext uri="{FF2B5EF4-FFF2-40B4-BE49-F238E27FC236}">
                <a16:creationId xmlns:a16="http://schemas.microsoft.com/office/drawing/2014/main" id="{9CBDB45C-B0B5-40B3-9DA7-01D05A59603A}"/>
              </a:ext>
            </a:extLst>
          </p:cNvPr>
          <p:cNvSpPr/>
          <p:nvPr/>
        </p:nvSpPr>
        <p:spPr>
          <a:xfrm>
            <a:off x="3810000" y="3937000"/>
            <a:ext cx="7772400" cy="2311400"/>
          </a:xfrm>
          <a:prstGeom prst="roundRect">
            <a:avLst>
              <a:gd name="adj" fmla="val 4500"/>
            </a:avLst>
          </a:prstGeom>
          <a:solidFill>
            <a:srgbClr val="FDF0D5"/>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4D23A5E4-5070-B070-BA72-237928C7B825}"/>
              </a:ext>
            </a:extLst>
          </p:cNvPr>
          <p:cNvSpPr txBox="1"/>
          <p:nvPr/>
        </p:nvSpPr>
        <p:spPr>
          <a:xfrm>
            <a:off x="4038600" y="4089400"/>
            <a:ext cx="7315200" cy="279400"/>
          </a:xfrm>
          <a:prstGeom prst="rect">
            <a:avLst/>
          </a:prstGeom>
          <a:noFill/>
        </p:spPr>
        <p:txBody>
          <a:bodyPr vert="horz" wrap="square" lIns="0" tIns="0" rIns="0" bIns="0" rtlCol="0">
            <a:noAutofit/>
          </a:bodyPr>
          <a:lstStyle/>
          <a:p>
            <a:r>
              <a:rPr lang="fr-FR" b="1">
                <a:solidFill>
                  <a:srgbClr val="B67608"/>
                </a:solidFill>
                <a:latin typeface="Calibri" panose="020F0502020204030204" pitchFamily="34" charset="0"/>
              </a:rPr>
              <a:t>Quatre boutons, rien sans clic</a:t>
            </a:r>
          </a:p>
        </p:txBody>
      </p:sp>
      <p:sp>
        <p:nvSpPr>
          <p:cNvPr id="20" name="ZoneTexte 19">
            <a:extLst>
              <a:ext uri="{FF2B5EF4-FFF2-40B4-BE49-F238E27FC236}">
                <a16:creationId xmlns:a16="http://schemas.microsoft.com/office/drawing/2014/main" id="{2143AF0F-34DA-9A2C-2FAC-94F522CB7402}"/>
              </a:ext>
            </a:extLst>
          </p:cNvPr>
          <p:cNvSpPr txBox="1"/>
          <p:nvPr/>
        </p:nvSpPr>
        <p:spPr>
          <a:xfrm>
            <a:off x="4038600" y="4470400"/>
            <a:ext cx="7315200" cy="17272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Envoyer maintenant : part de votre boîte Outlook, copie dans les éléments envoyés</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Créer un brouillon : dossier Brouillons d'Outlook</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Télécharger le message : fichier .eml à ouvrir dans Outlook</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Annuler : retour à la fenêtre du rapport ; connecteur indisponible : Réessayer la connexion</a:t>
            </a:r>
          </a:p>
        </p:txBody>
      </p:sp>
    </p:spTree>
    <p:extLst>
      <p:ext uri="{BB962C8B-B14F-4D97-AF65-F5344CB8AC3E}">
        <p14:creationId xmlns:p14="http://schemas.microsoft.com/office/powerpoint/2010/main" val="3692589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EEA48D-C5B8-8162-0BFD-B6C7D75633E1}"/>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Cinq rôles, du collaborateur à l'administrateur</a:t>
            </a:r>
          </a:p>
        </p:txBody>
      </p:sp>
      <p:sp>
        <p:nvSpPr>
          <p:cNvPr id="3" name="ZoneTexte 2">
            <a:extLst>
              <a:ext uri="{FF2B5EF4-FFF2-40B4-BE49-F238E27FC236}">
                <a16:creationId xmlns:a16="http://schemas.microsoft.com/office/drawing/2014/main" id="{0CCDF5A0-04A8-A959-6AF5-A4DAF39BEB56}"/>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RÔLES ET ACCÈS</a:t>
            </a:r>
          </a:p>
        </p:txBody>
      </p:sp>
      <p:sp>
        <p:nvSpPr>
          <p:cNvPr id="4" name="ZoneTexte 3">
            <a:extLst>
              <a:ext uri="{FF2B5EF4-FFF2-40B4-BE49-F238E27FC236}">
                <a16:creationId xmlns:a16="http://schemas.microsoft.com/office/drawing/2014/main" id="{BD9F180E-021D-02A8-32B8-4A94AEF37A13}"/>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Le partage de la page fixe la limite ; le rôle précise ce que chacun voit et fait</a:t>
            </a:r>
          </a:p>
        </p:txBody>
      </p:sp>
      <p:sp>
        <p:nvSpPr>
          <p:cNvPr id="5" name="ZoneTexte 4">
            <a:extLst>
              <a:ext uri="{FF2B5EF4-FFF2-40B4-BE49-F238E27FC236}">
                <a16:creationId xmlns:a16="http://schemas.microsoft.com/office/drawing/2014/main" id="{23BFB2CF-95A9-A117-C850-1EDEA976C7C2}"/>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CEBEE8EF-61D3-9355-B8E2-2788CEFAE411}"/>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77D58604-19B2-49A5-BCE3-BF482E2FAB9A}" type="slidenum">
              <a:rPr lang="fr-FR" sz="900" smtClean="0">
                <a:solidFill>
                  <a:srgbClr val="586080"/>
                </a:solidFill>
                <a:latin typeface="Calibri" panose="020F0502020204030204" pitchFamily="34" charset="0"/>
              </a:rPr>
              <a:t>44</a:t>
            </a:fld>
            <a:endParaRPr lang="fr-FR" sz="900">
              <a:solidFill>
                <a:srgbClr val="586080"/>
              </a:solidFill>
              <a:latin typeface="Calibri" panose="020F0502020204030204" pitchFamily="34" charset="0"/>
            </a:endParaRPr>
          </a:p>
        </p:txBody>
      </p:sp>
      <p:graphicFrame>
        <p:nvGraphicFramePr>
          <p:cNvPr id="7" name="Tableau 6">
            <a:extLst>
              <a:ext uri="{FF2B5EF4-FFF2-40B4-BE49-F238E27FC236}">
                <a16:creationId xmlns:a16="http://schemas.microsoft.com/office/drawing/2014/main" id="{AC866D8B-2CA1-133E-D172-CCFB174F383E}"/>
              </a:ext>
            </a:extLst>
          </p:cNvPr>
          <p:cNvGraphicFramePr>
            <a:graphicFrameLocks noGrp="1"/>
          </p:cNvGraphicFramePr>
          <p:nvPr>
            <p:extLst>
              <p:ext uri="{D42A27DB-BD31-4B8C-83A1-F6EECF244321}">
                <p14:modId xmlns:p14="http://schemas.microsoft.com/office/powerpoint/2010/main" val="480819640"/>
              </p:ext>
            </p:extLst>
          </p:nvPr>
        </p:nvGraphicFramePr>
        <p:xfrm>
          <a:off x="609600" y="1600200"/>
          <a:ext cx="7874000" cy="3200400"/>
        </p:xfrm>
        <a:graphic>
          <a:graphicData uri="http://schemas.openxmlformats.org/drawingml/2006/table">
            <a:tbl>
              <a:tblPr firstRow="1" bandRow="1">
                <a:tableStyleId>{2D5ABB26-0587-4C30-8999-92F81FD0307C}</a:tableStyleId>
              </a:tblPr>
              <a:tblGrid>
                <a:gridCol w="1651000">
                  <a:extLst>
                    <a:ext uri="{9D8B030D-6E8A-4147-A177-3AD203B41FA5}">
                      <a16:colId xmlns:a16="http://schemas.microsoft.com/office/drawing/2014/main" val="3176664178"/>
                    </a:ext>
                  </a:extLst>
                </a:gridCol>
                <a:gridCol w="3683000">
                  <a:extLst>
                    <a:ext uri="{9D8B030D-6E8A-4147-A177-3AD203B41FA5}">
                      <a16:colId xmlns:a16="http://schemas.microsoft.com/office/drawing/2014/main" val="1173955686"/>
                    </a:ext>
                  </a:extLst>
                </a:gridCol>
                <a:gridCol w="1397000">
                  <a:extLst>
                    <a:ext uri="{9D8B030D-6E8A-4147-A177-3AD203B41FA5}">
                      <a16:colId xmlns:a16="http://schemas.microsoft.com/office/drawing/2014/main" val="118108128"/>
                    </a:ext>
                  </a:extLst>
                </a:gridCol>
                <a:gridCol w="1143000">
                  <a:extLst>
                    <a:ext uri="{9D8B030D-6E8A-4147-A177-3AD203B41FA5}">
                      <a16:colId xmlns:a16="http://schemas.microsoft.com/office/drawing/2014/main" val="2399990333"/>
                    </a:ext>
                  </a:extLst>
                </a:gridCol>
              </a:tblGrid>
              <a:tr h="533400">
                <a:tc>
                  <a:txBody>
                    <a:bodyPr/>
                    <a:lstStyle/>
                    <a:p>
                      <a:pPr algn="l"/>
                      <a:r>
                        <a:rPr lang="fr-FR" sz="1200" b="1">
                          <a:solidFill>
                            <a:srgbClr val="FFFFFF"/>
                          </a:solidFill>
                          <a:latin typeface="Calibri" panose="020F0502020204030204" pitchFamily="34" charset="0"/>
                        </a:rPr>
                        <a:t>Rôle</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Ce que la personne voit et fait</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Partage</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Garantie</a:t>
                      </a:r>
                    </a:p>
                  </a:txBody>
                  <a:tcPr marL="127000" marR="127000" marT="38100" marB="38100" anchor="ctr">
                    <a:solidFill>
                      <a:srgbClr val="1E1C8C"/>
                    </a:solidFill>
                  </a:tcPr>
                </a:tc>
                <a:extLst>
                  <a:ext uri="{0D108BD9-81ED-4DB2-BD59-A6C34878D82A}">
                    <a16:rowId xmlns:a16="http://schemas.microsoft.com/office/drawing/2014/main" val="3282481978"/>
                  </a:ext>
                </a:extLst>
              </a:tr>
              <a:tr h="533400">
                <a:tc>
                  <a:txBody>
                    <a:bodyPr/>
                    <a:lstStyle/>
                    <a:p>
                      <a:pPr algn="l"/>
                      <a:r>
                        <a:rPr lang="fr-FR" sz="1200" b="1">
                          <a:solidFill>
                            <a:srgbClr val="12162B"/>
                          </a:solidFill>
                          <a:latin typeface="Calibri" panose="020F0502020204030204" pitchFamily="34" charset="0"/>
                        </a:rPr>
                        <a:t>Administrateur full</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Tout, y compris Rôles et accès</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Modifier</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Plateforme</a:t>
                      </a:r>
                    </a:p>
                  </a:txBody>
                  <a:tcPr marL="127000" marR="127000" marT="38100" marB="38100" anchor="ctr">
                    <a:solidFill>
                      <a:srgbClr val="FFFFFF"/>
                    </a:solidFill>
                  </a:tcPr>
                </a:tc>
                <a:extLst>
                  <a:ext uri="{0D108BD9-81ED-4DB2-BD59-A6C34878D82A}">
                    <a16:rowId xmlns:a16="http://schemas.microsoft.com/office/drawing/2014/main" val="2819054083"/>
                  </a:ext>
                </a:extLst>
              </a:tr>
              <a:tr h="533400">
                <a:tc>
                  <a:txBody>
                    <a:bodyPr/>
                    <a:lstStyle/>
                    <a:p>
                      <a:pPr algn="l"/>
                      <a:r>
                        <a:rPr lang="fr-FR" sz="1200" b="1">
                          <a:solidFill>
                            <a:srgbClr val="12162B"/>
                          </a:solidFill>
                          <a:latin typeface="Calibri" panose="020F0502020204030204" pitchFamily="34" charset="0"/>
                        </a:rPr>
                        <a:t>Super utilisateur</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Toutes les opérations, rapports et exports (rôle par défaut)</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Interagir</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Affichage</a:t>
                      </a:r>
                    </a:p>
                  </a:txBody>
                  <a:tcPr marL="127000" marR="127000" marT="38100" marB="38100" anchor="ctr">
                    <a:solidFill>
                      <a:srgbClr val="F0F2FA"/>
                    </a:solidFill>
                  </a:tcPr>
                </a:tc>
                <a:extLst>
                  <a:ext uri="{0D108BD9-81ED-4DB2-BD59-A6C34878D82A}">
                    <a16:rowId xmlns:a16="http://schemas.microsoft.com/office/drawing/2014/main" val="3332700459"/>
                  </a:ext>
                </a:extLst>
              </a:tr>
              <a:tr h="533400">
                <a:tc>
                  <a:txBody>
                    <a:bodyPr/>
                    <a:lstStyle/>
                    <a:p>
                      <a:pPr algn="l"/>
                      <a:r>
                        <a:rPr lang="fr-FR" sz="1200" b="1">
                          <a:solidFill>
                            <a:srgbClr val="12162B"/>
                          </a:solidFill>
                          <a:latin typeface="Calibri" panose="020F0502020204030204" pitchFamily="34" charset="0"/>
                        </a:rPr>
                        <a:t>Agent IT</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Prêts, restitutions, attestations, signatures ; ni pertes ni rapports</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Interagir</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Affichage</a:t>
                      </a:r>
                    </a:p>
                  </a:txBody>
                  <a:tcPr marL="127000" marR="127000" marT="38100" marB="38100" anchor="ctr">
                    <a:solidFill>
                      <a:srgbClr val="FFFFFF"/>
                    </a:solidFill>
                  </a:tcPr>
                </a:tc>
                <a:extLst>
                  <a:ext uri="{0D108BD9-81ED-4DB2-BD59-A6C34878D82A}">
                    <a16:rowId xmlns:a16="http://schemas.microsoft.com/office/drawing/2014/main" val="3426922128"/>
                  </a:ext>
                </a:extLst>
              </a:tr>
              <a:tr h="533400">
                <a:tc>
                  <a:txBody>
                    <a:bodyPr/>
                    <a:lstStyle/>
                    <a:p>
                      <a:pPr algn="l"/>
                      <a:r>
                        <a:rPr lang="fr-FR" sz="1200" b="1">
                          <a:solidFill>
                            <a:srgbClr val="12162B"/>
                          </a:solidFill>
                          <a:latin typeface="Calibri" panose="020F0502020204030204" pitchFamily="34" charset="0"/>
                        </a:rPr>
                        <a:t>Lecteur</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Tous les écrans et les rapports, sans saisie</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Interagir</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Affichage</a:t>
                      </a:r>
                    </a:p>
                  </a:txBody>
                  <a:tcPr marL="127000" marR="127000" marT="38100" marB="38100" anchor="ctr">
                    <a:solidFill>
                      <a:srgbClr val="F0F2FA"/>
                    </a:solidFill>
                  </a:tcPr>
                </a:tc>
                <a:extLst>
                  <a:ext uri="{0D108BD9-81ED-4DB2-BD59-A6C34878D82A}">
                    <a16:rowId xmlns:a16="http://schemas.microsoft.com/office/drawing/2014/main" val="2291089855"/>
                  </a:ext>
                </a:extLst>
              </a:tr>
              <a:tr h="533400">
                <a:tc>
                  <a:txBody>
                    <a:bodyPr/>
                    <a:lstStyle/>
                    <a:p>
                      <a:pPr algn="l"/>
                      <a:r>
                        <a:rPr lang="fr-FR" sz="1200" b="1">
                          <a:solidFill>
                            <a:srgbClr val="12162B"/>
                          </a:solidFill>
                          <a:latin typeface="Calibri" panose="020F0502020204030204" pitchFamily="34" charset="0"/>
                        </a:rPr>
                        <a:t>Collaborateur</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Mon matériel et ses PDF, en consultation</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Consulter</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Plateforme</a:t>
                      </a:r>
                    </a:p>
                  </a:txBody>
                  <a:tcPr marL="127000" marR="127000" marT="38100" marB="38100" anchor="ctr">
                    <a:solidFill>
                      <a:srgbClr val="FFFFFF"/>
                    </a:solidFill>
                  </a:tcPr>
                </a:tc>
                <a:extLst>
                  <a:ext uri="{0D108BD9-81ED-4DB2-BD59-A6C34878D82A}">
                    <a16:rowId xmlns:a16="http://schemas.microsoft.com/office/drawing/2014/main" val="3190232727"/>
                  </a:ext>
                </a:extLst>
              </a:tr>
            </a:tbl>
          </a:graphicData>
        </a:graphic>
      </p:graphicFrame>
      <p:sp>
        <p:nvSpPr>
          <p:cNvPr id="8" name="Rectangle : coins arrondis 7">
            <a:extLst>
              <a:ext uri="{FF2B5EF4-FFF2-40B4-BE49-F238E27FC236}">
                <a16:creationId xmlns:a16="http://schemas.microsoft.com/office/drawing/2014/main" id="{D5148648-EBD3-6FA4-D113-588510E1FF60}"/>
              </a:ext>
            </a:extLst>
          </p:cNvPr>
          <p:cNvSpPr/>
          <p:nvPr/>
        </p:nvSpPr>
        <p:spPr>
          <a:xfrm>
            <a:off x="609600" y="5029200"/>
            <a:ext cx="7874000" cy="1219200"/>
          </a:xfrm>
          <a:prstGeom prst="roundRect">
            <a:avLst>
              <a:gd name="adj" fmla="val 6000"/>
            </a:avLst>
          </a:prstGeom>
          <a:solidFill>
            <a:srgbClr val="E4EEFA"/>
          </a:solidFill>
          <a:ln w="12700">
            <a:solidFill>
              <a:srgbClr val="2F7DD1"/>
            </a:solidFill>
          </a:ln>
        </p:spPr>
        <p:style>
          <a:lnRef idx="2">
            <a:schemeClr val="accent1">
              <a:shade val="15000"/>
            </a:schemeClr>
          </a:lnRef>
          <a:fillRef idx="1">
            <a:schemeClr val="accent1"/>
          </a:fillRef>
          <a:effectRef idx="0">
            <a:schemeClr val="accent1"/>
          </a:effectRef>
          <a:fontRef idx="minor">
            <a:schemeClr val="lt1"/>
          </a:fontRef>
        </p:style>
        <p:txBody>
          <a:bodyPr wrap="square" lIns="228600" tIns="50800" rIns="127000" bIns="50800" rtlCol="0" anchor="ctr">
            <a:noAutofit/>
          </a:bodyPr>
          <a:lstStyle/>
          <a:p>
            <a:r>
              <a:rPr lang="fr-FR" sz="1300">
                <a:solidFill>
                  <a:srgbClr val="12162B"/>
                </a:solidFill>
                <a:latin typeface="Calibri" panose="020F0502020204030204" pitchFamily="34" charset="0"/>
              </a:rPr>
              <a:t>Recherche par prénom et nom (début de mots accepté, nom complet affiché). Tous les utilisateurs : rattache chaque fiche au compte correspondant, sans toucher aux rôles attribués à la main ; un bilan liste les fiches sans compte trouvé.</a:t>
            </a:r>
          </a:p>
        </p:txBody>
      </p:sp>
      <p:sp>
        <p:nvSpPr>
          <p:cNvPr id="9" name="Rectangle : coins arrondis 8">
            <a:extLst>
              <a:ext uri="{FF2B5EF4-FFF2-40B4-BE49-F238E27FC236}">
                <a16:creationId xmlns:a16="http://schemas.microsoft.com/office/drawing/2014/main" id="{5969412B-A1C8-32AE-6885-1A4A32B5EF10}"/>
              </a:ext>
            </a:extLst>
          </p:cNvPr>
          <p:cNvSpPr/>
          <p:nvPr/>
        </p:nvSpPr>
        <p:spPr>
          <a:xfrm>
            <a:off x="8788400" y="1600200"/>
            <a:ext cx="2794000" cy="2651216"/>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6F539ABA-2B09-E2FF-9712-3C650A7919FD}"/>
              </a:ext>
            </a:extLst>
          </p:cNvPr>
          <p:cNvSpPr/>
          <p:nvPr/>
        </p:nvSpPr>
        <p:spPr>
          <a:xfrm>
            <a:off x="8788400" y="1600200"/>
            <a:ext cx="2794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C114B27F-DDD6-57EA-6FB9-183C6D7DE567}"/>
              </a:ext>
            </a:extLst>
          </p:cNvPr>
          <p:cNvSpPr/>
          <p:nvPr/>
        </p:nvSpPr>
        <p:spPr>
          <a:xfrm>
            <a:off x="89154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5084EEB6-7002-7AEF-40B6-0CC81C93D8EF}"/>
              </a:ext>
            </a:extLst>
          </p:cNvPr>
          <p:cNvSpPr/>
          <p:nvPr/>
        </p:nvSpPr>
        <p:spPr>
          <a:xfrm>
            <a:off x="90805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5C9C5595-2C84-2ED9-67D6-5242E84418EB}"/>
              </a:ext>
            </a:extLst>
          </p:cNvPr>
          <p:cNvSpPr/>
          <p:nvPr/>
        </p:nvSpPr>
        <p:spPr>
          <a:xfrm>
            <a:off x="92456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 coins arrondis 13">
            <a:extLst>
              <a:ext uri="{FF2B5EF4-FFF2-40B4-BE49-F238E27FC236}">
                <a16:creationId xmlns:a16="http://schemas.microsoft.com/office/drawing/2014/main" id="{E7AF73B4-5323-F42A-DE44-D6A16D54621A}"/>
              </a:ext>
            </a:extLst>
          </p:cNvPr>
          <p:cNvSpPr/>
          <p:nvPr/>
        </p:nvSpPr>
        <p:spPr>
          <a:xfrm>
            <a:off x="90424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6" name="Image 15">
            <a:extLst>
              <a:ext uri="{FF2B5EF4-FFF2-40B4-BE49-F238E27FC236}">
                <a16:creationId xmlns:a16="http://schemas.microsoft.com/office/drawing/2014/main" id="{7DEFD004-7D7C-7BAD-D1E1-2865CBBA150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788400" y="1879600"/>
            <a:ext cx="2794000" cy="2371817"/>
          </a:xfrm>
          <a:prstGeom prst="rect">
            <a:avLst/>
          </a:prstGeom>
        </p:spPr>
      </p:pic>
    </p:spTree>
    <p:extLst>
      <p:ext uri="{BB962C8B-B14F-4D97-AF65-F5344CB8AC3E}">
        <p14:creationId xmlns:p14="http://schemas.microsoft.com/office/powerpoint/2010/main" val="33849389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CB3CF7-6262-8596-B1A2-85015FB17AB5}"/>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Mon matériel : la vue du collaborateur</a:t>
            </a:r>
          </a:p>
        </p:txBody>
      </p:sp>
      <p:sp>
        <p:nvSpPr>
          <p:cNvPr id="3" name="ZoneTexte 2">
            <a:extLst>
              <a:ext uri="{FF2B5EF4-FFF2-40B4-BE49-F238E27FC236}">
                <a16:creationId xmlns:a16="http://schemas.microsoft.com/office/drawing/2014/main" id="{ECB79501-885B-9EFE-FF2D-C38AFF236400}"/>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RÔLES ET ACCÈS</a:t>
            </a:r>
          </a:p>
        </p:txBody>
      </p:sp>
      <p:sp>
        <p:nvSpPr>
          <p:cNvPr id="4" name="ZoneTexte 3">
            <a:extLst>
              <a:ext uri="{FF2B5EF4-FFF2-40B4-BE49-F238E27FC236}">
                <a16:creationId xmlns:a16="http://schemas.microsoft.com/office/drawing/2014/main" id="{75B7CBFF-F313-A07B-5E7E-92C0E6C948DF}"/>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Chaque collaborateur consulte son propre matériel, sans pouvoir modifier</a:t>
            </a:r>
          </a:p>
        </p:txBody>
      </p:sp>
      <p:sp>
        <p:nvSpPr>
          <p:cNvPr id="5" name="ZoneTexte 4">
            <a:extLst>
              <a:ext uri="{FF2B5EF4-FFF2-40B4-BE49-F238E27FC236}">
                <a16:creationId xmlns:a16="http://schemas.microsoft.com/office/drawing/2014/main" id="{503053A0-8B90-3FCB-046A-6D6C17E9C8E9}"/>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82BB9ECD-05DD-2420-56A4-959118ACCEDB}"/>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28A84845-B110-4F2C-9B03-73243312A06A}" type="slidenum">
              <a:rPr lang="fr-FR" sz="900" smtClean="0">
                <a:solidFill>
                  <a:srgbClr val="586080"/>
                </a:solidFill>
                <a:latin typeface="Calibri" panose="020F0502020204030204" pitchFamily="34" charset="0"/>
              </a:rPr>
              <a:t>45</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8806A2E5-08DA-9D6A-FA6B-0AFA50AA1758}"/>
              </a:ext>
            </a:extLst>
          </p:cNvPr>
          <p:cNvSpPr/>
          <p:nvPr/>
        </p:nvSpPr>
        <p:spPr>
          <a:xfrm>
            <a:off x="609600" y="1600200"/>
            <a:ext cx="3886200" cy="4568076"/>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7DAB38AC-A3C1-ACC4-417A-44F0DD2B896C}"/>
              </a:ext>
            </a:extLst>
          </p:cNvPr>
          <p:cNvSpPr/>
          <p:nvPr/>
        </p:nvSpPr>
        <p:spPr>
          <a:xfrm>
            <a:off x="609600" y="1600200"/>
            <a:ext cx="38862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6726AC79-E57E-B0DC-DED2-9CCA027C1B41}"/>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E4046E13-841B-507A-0FF7-5D854A4DD766}"/>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5CDBF721-16F8-3242-68DD-2B91FF874DAB}"/>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59C129F7-EB98-F39B-ADDC-6A277DB01132}"/>
              </a:ext>
            </a:extLst>
          </p:cNvPr>
          <p:cNvSpPr/>
          <p:nvPr/>
        </p:nvSpPr>
        <p:spPr>
          <a:xfrm>
            <a:off x="14097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97D714C8-D1F5-77E9-91B5-59F7E4674EA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3886200" cy="4288676"/>
          </a:xfrm>
          <a:prstGeom prst="rect">
            <a:avLst/>
          </a:prstGeom>
        </p:spPr>
      </p:pic>
      <p:sp>
        <p:nvSpPr>
          <p:cNvPr id="15" name="Rectangle : coins arrondis 14">
            <a:extLst>
              <a:ext uri="{FF2B5EF4-FFF2-40B4-BE49-F238E27FC236}">
                <a16:creationId xmlns:a16="http://schemas.microsoft.com/office/drawing/2014/main" id="{E0A0D94D-103D-E18D-91B2-5EEC47704092}"/>
              </a:ext>
            </a:extLst>
          </p:cNvPr>
          <p:cNvSpPr/>
          <p:nvPr/>
        </p:nvSpPr>
        <p:spPr>
          <a:xfrm>
            <a:off x="5207000" y="1600200"/>
            <a:ext cx="6375400" cy="2413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0A1C4AEE-8295-93BF-D4A1-2608BFEB1575}"/>
              </a:ext>
            </a:extLst>
          </p:cNvPr>
          <p:cNvSpPr txBox="1"/>
          <p:nvPr/>
        </p:nvSpPr>
        <p:spPr>
          <a:xfrm>
            <a:off x="5435600" y="1752600"/>
            <a:ext cx="5918200" cy="2794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Ce que voit le collaborateur</a:t>
            </a:r>
          </a:p>
        </p:txBody>
      </p:sp>
      <p:sp>
        <p:nvSpPr>
          <p:cNvPr id="17" name="ZoneTexte 16">
            <a:extLst>
              <a:ext uri="{FF2B5EF4-FFF2-40B4-BE49-F238E27FC236}">
                <a16:creationId xmlns:a16="http://schemas.microsoft.com/office/drawing/2014/main" id="{8D496941-5FDC-55C8-C7B6-07FCAE0F59F5}"/>
              </a:ext>
            </a:extLst>
          </p:cNvPr>
          <p:cNvSpPr txBox="1"/>
          <p:nvPr/>
        </p:nvSpPr>
        <p:spPr>
          <a:xfrm>
            <a:off x="5435600" y="2133600"/>
            <a:ext cx="5918200" cy="18288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Quatre indicateurs : chez moi, à signer, restitués, perdu</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Son matériel avec l'état de chaque équipement</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Ses attestations (bouton PDF pour les télécharger), ses prêts et ses pertes déclarées</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Aucune saisie ni signature</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Menu : Mon matériel, Mes prêts, Mes attestations, Matériel perdu</a:t>
            </a:r>
          </a:p>
        </p:txBody>
      </p:sp>
      <p:sp>
        <p:nvSpPr>
          <p:cNvPr id="18" name="Rectangle : coins arrondis 17">
            <a:extLst>
              <a:ext uri="{FF2B5EF4-FFF2-40B4-BE49-F238E27FC236}">
                <a16:creationId xmlns:a16="http://schemas.microsoft.com/office/drawing/2014/main" id="{95ADFF5D-1CD4-518C-664D-69794D97BA3F}"/>
              </a:ext>
            </a:extLst>
          </p:cNvPr>
          <p:cNvSpPr/>
          <p:nvPr/>
        </p:nvSpPr>
        <p:spPr>
          <a:xfrm>
            <a:off x="5207000" y="4191000"/>
            <a:ext cx="6375400" cy="2057400"/>
          </a:xfrm>
          <a:prstGeom prst="roundRect">
            <a:avLst>
              <a:gd name="adj" fmla="val 4500"/>
            </a:avLst>
          </a:prstGeom>
          <a:solidFill>
            <a:srgbClr val="FDF0D5"/>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92FC286A-55CD-4950-F447-66AAB8768332}"/>
              </a:ext>
            </a:extLst>
          </p:cNvPr>
          <p:cNvSpPr txBox="1"/>
          <p:nvPr/>
        </p:nvSpPr>
        <p:spPr>
          <a:xfrm>
            <a:off x="5435600" y="4343400"/>
            <a:ext cx="5918200" cy="279400"/>
          </a:xfrm>
          <a:prstGeom prst="rect">
            <a:avLst/>
          </a:prstGeom>
          <a:noFill/>
        </p:spPr>
        <p:txBody>
          <a:bodyPr vert="horz" wrap="square" lIns="0" tIns="0" rIns="0" bIns="0" rtlCol="0">
            <a:noAutofit/>
          </a:bodyPr>
          <a:lstStyle/>
          <a:p>
            <a:r>
              <a:rPr lang="fr-FR" b="1">
                <a:solidFill>
                  <a:srgbClr val="B67608"/>
                </a:solidFill>
                <a:latin typeface="Calibri" panose="020F0502020204030204" pitchFamily="34" charset="0"/>
              </a:rPr>
              <a:t>Protection des données</a:t>
            </a:r>
          </a:p>
        </p:txBody>
      </p:sp>
      <p:sp>
        <p:nvSpPr>
          <p:cNvPr id="20" name="ZoneTexte 19">
            <a:extLst>
              <a:ext uri="{FF2B5EF4-FFF2-40B4-BE49-F238E27FC236}">
                <a16:creationId xmlns:a16="http://schemas.microsoft.com/office/drawing/2014/main" id="{A4B16E17-AC33-E530-6263-2F4183A29939}"/>
              </a:ext>
            </a:extLst>
          </p:cNvPr>
          <p:cNvSpPr txBox="1"/>
          <p:nvPr/>
        </p:nvSpPr>
        <p:spPr>
          <a:xfrm>
            <a:off x="5435600" y="4724400"/>
            <a:ext cx="5918200" cy="1473200"/>
          </a:xfrm>
          <a:prstGeom prst="rect">
            <a:avLst/>
          </a:prstGeom>
          <a:noFill/>
        </p:spPr>
        <p:txBody>
          <a:bodyPr vert="horz" wrap="square" lIns="0" tIns="0" rIns="0" bIns="0" rtlCol="0">
            <a:noAutofit/>
          </a:bodyPr>
          <a:lstStyle/>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Résumé personnel tenu à jour à chaque action sur sa fiche (mine/compte)</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Aucune donnée des autres personnes : la base refuse les autres fiches, rien n'est affiché</a:t>
            </a:r>
          </a:p>
          <a:p>
            <a:pPr marL="203200" indent="-203200">
              <a:spcAft>
                <a:spcPts val="400"/>
              </a:spcAft>
              <a:buClr>
                <a:srgbClr val="5853FF"/>
              </a:buClr>
              <a:buFont typeface="+mj-lt"/>
              <a:buChar char="•"/>
            </a:pPr>
            <a:r>
              <a:rPr lang="fr-FR" sz="1300">
                <a:solidFill>
                  <a:srgbClr val="12162B"/>
                </a:solidFill>
                <a:latin typeface="Calibri" panose="020F0502020204030204" pitchFamily="34" charset="0"/>
              </a:rPr>
              <a:t>Rattachement automatique par le nom, ou par l'identifiant du compte</a:t>
            </a:r>
          </a:p>
        </p:txBody>
      </p:sp>
    </p:spTree>
    <p:extLst>
      <p:ext uri="{BB962C8B-B14F-4D97-AF65-F5344CB8AC3E}">
        <p14:creationId xmlns:p14="http://schemas.microsoft.com/office/powerpoint/2010/main" val="36433012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19B9B2-E3EA-C83C-9AB5-82E5587324D1}"/>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Annuaire Microsoft 365 : importer les utilisateurs</a:t>
            </a:r>
          </a:p>
        </p:txBody>
      </p:sp>
      <p:sp>
        <p:nvSpPr>
          <p:cNvPr id="3" name="ZoneTexte 2">
            <a:extLst>
              <a:ext uri="{FF2B5EF4-FFF2-40B4-BE49-F238E27FC236}">
                <a16:creationId xmlns:a16="http://schemas.microsoft.com/office/drawing/2014/main" id="{342CDA5C-51BA-B8BD-F350-0DC42E230E1E}"/>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RÔLES ET ACCÈS</a:t>
            </a:r>
          </a:p>
        </p:txBody>
      </p:sp>
      <p:sp>
        <p:nvSpPr>
          <p:cNvPr id="4" name="ZoneTexte 3">
            <a:extLst>
              <a:ext uri="{FF2B5EF4-FFF2-40B4-BE49-F238E27FC236}">
                <a16:creationId xmlns:a16="http://schemas.microsoft.com/office/drawing/2014/main" id="{2AAA6DF2-0339-260F-BA95-C16ACB29F3D2}"/>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Les vrais collaborateurs dans Emprunter et Restituer, sans rien écrire dans Entra ID</a:t>
            </a:r>
          </a:p>
        </p:txBody>
      </p:sp>
      <p:sp>
        <p:nvSpPr>
          <p:cNvPr id="5" name="ZoneTexte 4">
            <a:extLst>
              <a:ext uri="{FF2B5EF4-FFF2-40B4-BE49-F238E27FC236}">
                <a16:creationId xmlns:a16="http://schemas.microsoft.com/office/drawing/2014/main" id="{A8AA8689-925D-60FB-0558-3F410CA18C6A}"/>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A4946E94-C307-4FF2-369F-9C2A34B430FB}"/>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BE419945-C180-43E0-9532-5238A6D48F54}" type="slidenum">
              <a:rPr lang="fr-FR" sz="900" smtClean="0">
                <a:solidFill>
                  <a:srgbClr val="586080"/>
                </a:solidFill>
                <a:latin typeface="Calibri" panose="020F0502020204030204" pitchFamily="34" charset="0"/>
              </a:rPr>
              <a:t>46</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AB87127B-CA49-DE7D-F734-CE4D0D2DA805}"/>
              </a:ext>
            </a:extLst>
          </p:cNvPr>
          <p:cNvSpPr/>
          <p:nvPr/>
        </p:nvSpPr>
        <p:spPr>
          <a:xfrm>
            <a:off x="609600" y="1600200"/>
            <a:ext cx="6858000" cy="277471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9A01BE87-ABB5-DCCA-2E95-14A8BD1397B5}"/>
              </a:ext>
            </a:extLst>
          </p:cNvPr>
          <p:cNvSpPr/>
          <p:nvPr/>
        </p:nvSpPr>
        <p:spPr>
          <a:xfrm>
            <a:off x="609600" y="1600200"/>
            <a:ext cx="6858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8693AEC1-5F23-8B2A-ED10-F75407484A1B}"/>
              </a:ext>
            </a:extLst>
          </p:cNvPr>
          <p:cNvSpPr/>
          <p:nvPr/>
        </p:nvSpPr>
        <p:spPr>
          <a:xfrm>
            <a:off x="736600" y="16891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F1A71C59-9AEE-B52A-B8C7-F199E29126C9}"/>
              </a:ext>
            </a:extLst>
          </p:cNvPr>
          <p:cNvSpPr/>
          <p:nvPr/>
        </p:nvSpPr>
        <p:spPr>
          <a:xfrm>
            <a:off x="901700" y="16891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4FBBF805-002F-B584-8441-56409805CC51}"/>
              </a:ext>
            </a:extLst>
          </p:cNvPr>
          <p:cNvSpPr/>
          <p:nvPr/>
        </p:nvSpPr>
        <p:spPr>
          <a:xfrm>
            <a:off x="1066800" y="16891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1DF92A44-3913-1B0D-D020-EFD82E228BC9}"/>
              </a:ext>
            </a:extLst>
          </p:cNvPr>
          <p:cNvSpPr/>
          <p:nvPr/>
        </p:nvSpPr>
        <p:spPr>
          <a:xfrm>
            <a:off x="2895600" y="16510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004B111F-0AAD-8EA0-878F-BEC9070F9B8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79600"/>
            <a:ext cx="6858000" cy="2495311"/>
          </a:xfrm>
          <a:prstGeom prst="rect">
            <a:avLst/>
          </a:prstGeom>
        </p:spPr>
      </p:pic>
      <p:sp>
        <p:nvSpPr>
          <p:cNvPr id="15" name="Rectangle : coins arrondis 14">
            <a:extLst>
              <a:ext uri="{FF2B5EF4-FFF2-40B4-BE49-F238E27FC236}">
                <a16:creationId xmlns:a16="http://schemas.microsoft.com/office/drawing/2014/main" id="{63E71374-77C6-F341-F826-D1032A43218F}"/>
              </a:ext>
            </a:extLst>
          </p:cNvPr>
          <p:cNvSpPr/>
          <p:nvPr/>
        </p:nvSpPr>
        <p:spPr>
          <a:xfrm>
            <a:off x="609600" y="4648200"/>
            <a:ext cx="6858000" cy="1600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7AAA49D2-3651-D1F5-B97B-CD43F79CD317}"/>
              </a:ext>
            </a:extLst>
          </p:cNvPr>
          <p:cNvSpPr txBox="1"/>
          <p:nvPr/>
        </p:nvSpPr>
        <p:spPr>
          <a:xfrm>
            <a:off x="838200" y="4775200"/>
            <a:ext cx="64008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Trois façons d'importer</a:t>
            </a:r>
          </a:p>
        </p:txBody>
      </p:sp>
      <p:sp>
        <p:nvSpPr>
          <p:cNvPr id="17" name="ZoneTexte 16">
            <a:extLst>
              <a:ext uri="{FF2B5EF4-FFF2-40B4-BE49-F238E27FC236}">
                <a16:creationId xmlns:a16="http://schemas.microsoft.com/office/drawing/2014/main" id="{6A425856-74C5-3CC7-0232-25F2C7516B70}"/>
              </a:ext>
            </a:extLst>
          </p:cNvPr>
          <p:cNvSpPr txBox="1"/>
          <p:nvPr/>
        </p:nvSpPr>
        <p:spPr>
          <a:xfrm>
            <a:off x="838200" y="5105400"/>
            <a:ext cx="6400800" cy="1117600"/>
          </a:xfrm>
          <a:prstGeom prst="rect">
            <a:avLst/>
          </a:prstGeom>
          <a:noFill/>
        </p:spPr>
        <p:txBody>
          <a:bodyPr vert="horz" wrap="square" lIns="0" tIns="0" rIns="0" bIns="0" rtlCol="0">
            <a:noAutofit/>
          </a:bodyPr>
          <a:lstStyle/>
          <a:p>
            <a:pPr marL="203200" indent="-203200">
              <a:spcAft>
                <a:spcPts val="300"/>
              </a:spcAft>
              <a:buClr>
                <a:srgbClr val="5853FF"/>
              </a:buClr>
              <a:buFont typeface="+mj-lt"/>
              <a:buChar char="•"/>
            </a:pPr>
            <a:r>
              <a:rPr lang="fr-FR" sz="1300">
                <a:solidFill>
                  <a:srgbClr val="12162B"/>
                </a:solidFill>
                <a:latin typeface="Calibri" panose="020F0502020204030204" pitchFamily="34" charset="0"/>
              </a:rPr>
              <a:t>Tout l'annuaire : comptes actifs, membres, avec email</a:t>
            </a:r>
          </a:p>
          <a:p>
            <a:pPr marL="203200" indent="-203200">
              <a:spcAft>
                <a:spcPts val="300"/>
              </a:spcAft>
              <a:buClr>
                <a:srgbClr val="5853FF"/>
              </a:buClr>
              <a:buFont typeface="+mj-lt"/>
              <a:buChar char="•"/>
            </a:pPr>
            <a:r>
              <a:rPr lang="fr-FR" sz="1300">
                <a:solidFill>
                  <a:srgbClr val="12162B"/>
                </a:solidFill>
                <a:latin typeface="Calibri" panose="020F0502020204030204" pitchFamily="34" charset="0"/>
              </a:rPr>
              <a:t>Quelques personnes : recherche par nom, pour un essai</a:t>
            </a:r>
          </a:p>
          <a:p>
            <a:pPr marL="203200" indent="-203200">
              <a:spcAft>
                <a:spcPts val="300"/>
              </a:spcAft>
              <a:buClr>
                <a:srgbClr val="5853FF"/>
              </a:buClr>
              <a:buFont typeface="+mj-lt"/>
              <a:buChar char="•"/>
            </a:pPr>
            <a:r>
              <a:rPr lang="fr-FR" sz="1300">
                <a:solidFill>
                  <a:srgbClr val="12162B"/>
                </a:solidFill>
                <a:latin typeface="Calibri" panose="020F0502020204030204" pitchFamily="34" charset="0"/>
              </a:rPr>
              <a:t>Un groupe Entra ID : moins de 999 membres</a:t>
            </a:r>
          </a:p>
        </p:txBody>
      </p:sp>
      <p:sp>
        <p:nvSpPr>
          <p:cNvPr id="18" name="Rectangle : coins arrondis 17">
            <a:extLst>
              <a:ext uri="{FF2B5EF4-FFF2-40B4-BE49-F238E27FC236}">
                <a16:creationId xmlns:a16="http://schemas.microsoft.com/office/drawing/2014/main" id="{12101009-DEAA-5F2A-8604-0C31A0B6600B}"/>
              </a:ext>
            </a:extLst>
          </p:cNvPr>
          <p:cNvSpPr/>
          <p:nvPr/>
        </p:nvSpPr>
        <p:spPr>
          <a:xfrm>
            <a:off x="7772400" y="1600200"/>
            <a:ext cx="3810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1821C8D7-AAF0-6108-ACA5-87705885F001}"/>
              </a:ext>
            </a:extLst>
          </p:cNvPr>
          <p:cNvSpPr txBox="1"/>
          <p:nvPr/>
        </p:nvSpPr>
        <p:spPr>
          <a:xfrm>
            <a:off x="8001000" y="1752600"/>
            <a:ext cx="3352800" cy="2794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Après l'import</a:t>
            </a:r>
          </a:p>
        </p:txBody>
      </p:sp>
      <p:sp>
        <p:nvSpPr>
          <p:cNvPr id="20" name="ZoneTexte 19">
            <a:extLst>
              <a:ext uri="{FF2B5EF4-FFF2-40B4-BE49-F238E27FC236}">
                <a16:creationId xmlns:a16="http://schemas.microsoft.com/office/drawing/2014/main" id="{E9155624-E7A3-6E53-5F41-C3F8FC716275}"/>
              </a:ext>
            </a:extLst>
          </p:cNvPr>
          <p:cNvSpPr txBox="1"/>
          <p:nvPr/>
        </p:nvSpPr>
        <p:spPr>
          <a:xfrm>
            <a:off x="8001000" y="2133600"/>
            <a:ext cx="3378200" cy="4064000"/>
          </a:xfrm>
          <a:prstGeom prst="rect">
            <a:avLst/>
          </a:prstGeom>
          <a:noFill/>
        </p:spPr>
        <p:txBody>
          <a:bodyPr vert="horz" wrap="square" lIns="0" tIns="0" rIns="0" bIns="0" rtlCol="0">
            <a:noAutofit/>
          </a:bodyPr>
          <a:lstStyle/>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Copiés : nom, fonction, email, mobile</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Kit standard de 13 équipements par personne (dont HDMI, multiprise, clavier, chargeur Mac), sans emprunt</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Synchroniser à nouveau : arrivées ajoutées, emprunts conservés</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Un compte retiré reste listé pour restituer le matériel</a:t>
            </a:r>
          </a:p>
          <a:p>
            <a:pPr marL="203200" indent="-203200">
              <a:spcAft>
                <a:spcPts val="800"/>
              </a:spcAft>
              <a:buClr>
                <a:srgbClr val="5853FF"/>
              </a:buClr>
              <a:buFont typeface="+mj-lt"/>
              <a:buChar char="•"/>
            </a:pPr>
            <a:r>
              <a:rPr lang="fr-FR" sz="1300">
                <a:solidFill>
                  <a:srgbClr val="12162B"/>
                </a:solidFill>
                <a:latin typeface="Calibri" panose="020F0502020204030204" pitchFamily="34" charset="0"/>
              </a:rPr>
              <a:t>« Tous les utilisateurs » est trop grand (plus de 999)</a:t>
            </a:r>
          </a:p>
        </p:txBody>
      </p:sp>
    </p:spTree>
    <p:extLst>
      <p:ext uri="{BB962C8B-B14F-4D97-AF65-F5344CB8AC3E}">
        <p14:creationId xmlns:p14="http://schemas.microsoft.com/office/powerpoint/2010/main" val="18323576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2BD22B-52D2-EF20-D58E-2811F5EC6227}"/>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Confort d'utilisation</a:t>
            </a:r>
          </a:p>
        </p:txBody>
      </p:sp>
      <p:sp>
        <p:nvSpPr>
          <p:cNvPr id="3" name="ZoneTexte 2">
            <a:extLst>
              <a:ext uri="{FF2B5EF4-FFF2-40B4-BE49-F238E27FC236}">
                <a16:creationId xmlns:a16="http://schemas.microsoft.com/office/drawing/2014/main" id="{2ED4E336-7BDB-D548-B634-38BF30CD7DDF}"/>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CONFORT</a:t>
            </a:r>
          </a:p>
        </p:txBody>
      </p:sp>
      <p:sp>
        <p:nvSpPr>
          <p:cNvPr id="4" name="ZoneTexte 3">
            <a:extLst>
              <a:ext uri="{FF2B5EF4-FFF2-40B4-BE49-F238E27FC236}">
                <a16:creationId xmlns:a16="http://schemas.microsoft.com/office/drawing/2014/main" id="{27FE7BA6-8F0D-4BD4-09A7-30799AE5E453}"/>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Des détails qui font gagner du temps au quotidien</a:t>
            </a:r>
          </a:p>
        </p:txBody>
      </p:sp>
      <p:sp>
        <p:nvSpPr>
          <p:cNvPr id="5" name="ZoneTexte 4">
            <a:extLst>
              <a:ext uri="{FF2B5EF4-FFF2-40B4-BE49-F238E27FC236}">
                <a16:creationId xmlns:a16="http://schemas.microsoft.com/office/drawing/2014/main" id="{AB44D70E-EBD6-7856-0346-8824A4265D3C}"/>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F32CB6BA-0DD5-52E5-7D80-8F971889D691}"/>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D49856D7-474E-4D95-B94B-9BD14C005DD3}" type="slidenum">
              <a:rPr lang="fr-FR" sz="900" smtClean="0">
                <a:solidFill>
                  <a:srgbClr val="586080"/>
                </a:solidFill>
                <a:latin typeface="Calibri" panose="020F0502020204030204" pitchFamily="34" charset="0"/>
              </a:rPr>
              <a:t>47</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6E634616-B355-DFE1-44AC-D4DD7D16F42E}"/>
              </a:ext>
            </a:extLst>
          </p:cNvPr>
          <p:cNvSpPr/>
          <p:nvPr/>
        </p:nvSpPr>
        <p:spPr>
          <a:xfrm>
            <a:off x="609600" y="1625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0DB7E62B-570E-075E-296C-591EE7788A7C}"/>
              </a:ext>
            </a:extLst>
          </p:cNvPr>
          <p:cNvSpPr/>
          <p:nvPr/>
        </p:nvSpPr>
        <p:spPr>
          <a:xfrm>
            <a:off x="838200" y="1854200"/>
            <a:ext cx="203200" cy="2032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9" name="ZoneTexte 8">
            <a:extLst>
              <a:ext uri="{FF2B5EF4-FFF2-40B4-BE49-F238E27FC236}">
                <a16:creationId xmlns:a16="http://schemas.microsoft.com/office/drawing/2014/main" id="{8430258B-7556-D6BF-1263-6BB450A63ABB}"/>
              </a:ext>
            </a:extLst>
          </p:cNvPr>
          <p:cNvSpPr txBox="1"/>
          <p:nvPr/>
        </p:nvSpPr>
        <p:spPr>
          <a:xfrm>
            <a:off x="1168400" y="1803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Recherche et Accueil</a:t>
            </a:r>
          </a:p>
        </p:txBody>
      </p:sp>
      <p:sp>
        <p:nvSpPr>
          <p:cNvPr id="10" name="ZoneTexte 9">
            <a:extLst>
              <a:ext uri="{FF2B5EF4-FFF2-40B4-BE49-F238E27FC236}">
                <a16:creationId xmlns:a16="http://schemas.microsoft.com/office/drawing/2014/main" id="{1D7CC732-AD4F-85F8-41FB-6A6D29907BCA}"/>
              </a:ext>
            </a:extLst>
          </p:cNvPr>
          <p:cNvSpPr txBox="1"/>
          <p:nvPr/>
        </p:nvSpPr>
        <p:spPr>
          <a:xfrm>
            <a:off x="838200" y="2336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Recherche collante en haut ; bouton Accueil en évidence sur chaque page, avec Rapport et Rechercher.</a:t>
            </a:r>
          </a:p>
        </p:txBody>
      </p:sp>
      <p:sp>
        <p:nvSpPr>
          <p:cNvPr id="11" name="Rectangle : coins arrondis 10">
            <a:extLst>
              <a:ext uri="{FF2B5EF4-FFF2-40B4-BE49-F238E27FC236}">
                <a16:creationId xmlns:a16="http://schemas.microsoft.com/office/drawing/2014/main" id="{E8BF06A7-61BD-2E61-94D6-8742B75F2267}"/>
              </a:ext>
            </a:extLst>
          </p:cNvPr>
          <p:cNvSpPr/>
          <p:nvPr/>
        </p:nvSpPr>
        <p:spPr>
          <a:xfrm>
            <a:off x="4381500" y="1625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D0717268-D709-AD5E-615E-DB33129DB028}"/>
              </a:ext>
            </a:extLst>
          </p:cNvPr>
          <p:cNvSpPr/>
          <p:nvPr/>
        </p:nvSpPr>
        <p:spPr>
          <a:xfrm>
            <a:off x="4610100" y="1854200"/>
            <a:ext cx="203200" cy="203200"/>
          </a:xfrm>
          <a:prstGeom prst="ellipse">
            <a:avLst/>
          </a:prstGeom>
          <a:solidFill>
            <a:srgbClr val="7C4D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13" name="ZoneTexte 12">
            <a:extLst>
              <a:ext uri="{FF2B5EF4-FFF2-40B4-BE49-F238E27FC236}">
                <a16:creationId xmlns:a16="http://schemas.microsoft.com/office/drawing/2014/main" id="{70ABEB20-56FD-887B-5956-9214AD5E5263}"/>
              </a:ext>
            </a:extLst>
          </p:cNvPr>
          <p:cNvSpPr txBox="1"/>
          <p:nvPr/>
        </p:nvSpPr>
        <p:spPr>
          <a:xfrm>
            <a:off x="4940300" y="1803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Fiche et recherche</a:t>
            </a:r>
          </a:p>
        </p:txBody>
      </p:sp>
      <p:sp>
        <p:nvSpPr>
          <p:cNvPr id="14" name="ZoneTexte 13">
            <a:extLst>
              <a:ext uri="{FF2B5EF4-FFF2-40B4-BE49-F238E27FC236}">
                <a16:creationId xmlns:a16="http://schemas.microsoft.com/office/drawing/2014/main" id="{67174708-AA3B-10F7-FF30-4E6B4D81A1A6}"/>
              </a:ext>
            </a:extLst>
          </p:cNvPr>
          <p:cNvSpPr txBox="1"/>
          <p:nvPr/>
        </p:nvSpPr>
        <p:spPr>
          <a:xfrm>
            <a:off x="4610100" y="2336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Champ de recherche pour changer de personne, flèches précédent et suivant, Alt + flèches.</a:t>
            </a:r>
          </a:p>
        </p:txBody>
      </p:sp>
      <p:sp>
        <p:nvSpPr>
          <p:cNvPr id="15" name="Rectangle : coins arrondis 14">
            <a:extLst>
              <a:ext uri="{FF2B5EF4-FFF2-40B4-BE49-F238E27FC236}">
                <a16:creationId xmlns:a16="http://schemas.microsoft.com/office/drawing/2014/main" id="{DF555315-27AA-A297-0674-24BAE2500661}"/>
              </a:ext>
            </a:extLst>
          </p:cNvPr>
          <p:cNvSpPr/>
          <p:nvPr/>
        </p:nvSpPr>
        <p:spPr>
          <a:xfrm>
            <a:off x="8153400" y="1625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5940851C-0DEF-0752-AF9A-64A9004A854D}"/>
              </a:ext>
            </a:extLst>
          </p:cNvPr>
          <p:cNvSpPr/>
          <p:nvPr/>
        </p:nvSpPr>
        <p:spPr>
          <a:xfrm>
            <a:off x="8382000" y="1854200"/>
            <a:ext cx="203200" cy="203200"/>
          </a:xfrm>
          <a:prstGeom prst="ellipse">
            <a:avLst/>
          </a:prstGeom>
          <a:solidFill>
            <a:srgbClr val="0E8E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17" name="ZoneTexte 16">
            <a:extLst>
              <a:ext uri="{FF2B5EF4-FFF2-40B4-BE49-F238E27FC236}">
                <a16:creationId xmlns:a16="http://schemas.microsoft.com/office/drawing/2014/main" id="{4D0EE47C-0F18-40C4-D17F-0E9DD924A915}"/>
              </a:ext>
            </a:extLst>
          </p:cNvPr>
          <p:cNvSpPr txBox="1"/>
          <p:nvPr/>
        </p:nvSpPr>
        <p:spPr>
          <a:xfrm>
            <a:off x="8712200" y="1803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Dates rapides</a:t>
            </a:r>
          </a:p>
        </p:txBody>
      </p:sp>
      <p:sp>
        <p:nvSpPr>
          <p:cNvPr id="18" name="ZoneTexte 17">
            <a:extLst>
              <a:ext uri="{FF2B5EF4-FFF2-40B4-BE49-F238E27FC236}">
                <a16:creationId xmlns:a16="http://schemas.microsoft.com/office/drawing/2014/main" id="{314DB21D-9518-944C-D345-1291FF0ACB1B}"/>
              </a:ext>
            </a:extLst>
          </p:cNvPr>
          <p:cNvSpPr txBox="1"/>
          <p:nvPr/>
        </p:nvSpPr>
        <p:spPr>
          <a:xfrm>
            <a:off x="8382000" y="2336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Aujourd'hui et Hier sous les champs de date ; confirmation si du matériel coché n'est pas enregistré.</a:t>
            </a:r>
          </a:p>
        </p:txBody>
      </p:sp>
      <p:sp>
        <p:nvSpPr>
          <p:cNvPr id="19" name="Rectangle : coins arrondis 18">
            <a:extLst>
              <a:ext uri="{FF2B5EF4-FFF2-40B4-BE49-F238E27FC236}">
                <a16:creationId xmlns:a16="http://schemas.microsoft.com/office/drawing/2014/main" id="{0F7B1A15-C1CF-A54D-4220-0E10877B9856}"/>
              </a:ext>
            </a:extLst>
          </p:cNvPr>
          <p:cNvSpPr/>
          <p:nvPr/>
        </p:nvSpPr>
        <p:spPr>
          <a:xfrm>
            <a:off x="609600" y="4038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E650A33F-3AE8-91C8-D1FC-4CE3E90BC505}"/>
              </a:ext>
            </a:extLst>
          </p:cNvPr>
          <p:cNvSpPr/>
          <p:nvPr/>
        </p:nvSpPr>
        <p:spPr>
          <a:xfrm>
            <a:off x="838200" y="4267200"/>
            <a:ext cx="203200" cy="203200"/>
          </a:xfrm>
          <a:prstGeom prst="ellipse">
            <a:avLst/>
          </a:prstGeom>
          <a:solidFill>
            <a:srgbClr val="B6760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21" name="ZoneTexte 20">
            <a:extLst>
              <a:ext uri="{FF2B5EF4-FFF2-40B4-BE49-F238E27FC236}">
                <a16:creationId xmlns:a16="http://schemas.microsoft.com/office/drawing/2014/main" id="{B1170755-CFF8-5D7E-83FA-67D631D78897}"/>
              </a:ext>
            </a:extLst>
          </p:cNvPr>
          <p:cNvSpPr txBox="1"/>
          <p:nvPr/>
        </p:nvSpPr>
        <p:spPr>
          <a:xfrm>
            <a:off x="1168400" y="4216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Fenêtres soignées</a:t>
            </a:r>
          </a:p>
        </p:txBody>
      </p:sp>
      <p:sp>
        <p:nvSpPr>
          <p:cNvPr id="22" name="ZoneTexte 21">
            <a:extLst>
              <a:ext uri="{FF2B5EF4-FFF2-40B4-BE49-F238E27FC236}">
                <a16:creationId xmlns:a16="http://schemas.microsoft.com/office/drawing/2014/main" id="{17E02A79-5ABE-155C-508B-4218D7684195}"/>
              </a:ext>
            </a:extLst>
          </p:cNvPr>
          <p:cNvSpPr txBox="1"/>
          <p:nvPr/>
        </p:nvSpPr>
        <p:spPr>
          <a:xfrm>
            <a:off x="838200" y="4749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Rapport, signature, message, recherche et fiche : même relief ; listes déroulantes lisibles dans tous les thèmes.</a:t>
            </a:r>
          </a:p>
        </p:txBody>
      </p:sp>
      <p:sp>
        <p:nvSpPr>
          <p:cNvPr id="23" name="Rectangle : coins arrondis 22">
            <a:extLst>
              <a:ext uri="{FF2B5EF4-FFF2-40B4-BE49-F238E27FC236}">
                <a16:creationId xmlns:a16="http://schemas.microsoft.com/office/drawing/2014/main" id="{002F44D9-5BF0-4E13-9507-5F0959D453EC}"/>
              </a:ext>
            </a:extLst>
          </p:cNvPr>
          <p:cNvSpPr/>
          <p:nvPr/>
        </p:nvSpPr>
        <p:spPr>
          <a:xfrm>
            <a:off x="4381500" y="4038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4274F378-B9E1-5239-4FC7-7D22A7B58A63}"/>
              </a:ext>
            </a:extLst>
          </p:cNvPr>
          <p:cNvSpPr/>
          <p:nvPr/>
        </p:nvSpPr>
        <p:spPr>
          <a:xfrm>
            <a:off x="4610100" y="4267200"/>
            <a:ext cx="203200" cy="2032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25" name="ZoneTexte 24">
            <a:extLst>
              <a:ext uri="{FF2B5EF4-FFF2-40B4-BE49-F238E27FC236}">
                <a16:creationId xmlns:a16="http://schemas.microsoft.com/office/drawing/2014/main" id="{67AC636A-8ED0-568D-F5BC-6C032BF96B16}"/>
              </a:ext>
            </a:extLst>
          </p:cNvPr>
          <p:cNvSpPr txBox="1"/>
          <p:nvPr/>
        </p:nvSpPr>
        <p:spPr>
          <a:xfrm>
            <a:off x="4940300" y="4216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Densité et thèmes</a:t>
            </a:r>
          </a:p>
        </p:txBody>
      </p:sp>
      <p:sp>
        <p:nvSpPr>
          <p:cNvPr id="26" name="ZoneTexte 25">
            <a:extLst>
              <a:ext uri="{FF2B5EF4-FFF2-40B4-BE49-F238E27FC236}">
                <a16:creationId xmlns:a16="http://schemas.microsoft.com/office/drawing/2014/main" id="{07F23FD2-6DFC-7752-8CEC-278F74FAF920}"/>
              </a:ext>
            </a:extLst>
          </p:cNvPr>
          <p:cNvSpPr txBox="1"/>
          <p:nvPr/>
        </p:nvSpPr>
        <p:spPr>
          <a:xfrm>
            <a:off x="4610100" y="4749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Confortable ou compacte ; douze thèmes (dont eXalt) et sept couleurs, avec un fondu doux au changement.</a:t>
            </a:r>
          </a:p>
        </p:txBody>
      </p:sp>
      <p:sp>
        <p:nvSpPr>
          <p:cNvPr id="27" name="Rectangle : coins arrondis 26">
            <a:extLst>
              <a:ext uri="{FF2B5EF4-FFF2-40B4-BE49-F238E27FC236}">
                <a16:creationId xmlns:a16="http://schemas.microsoft.com/office/drawing/2014/main" id="{847293F4-8A6C-D9C2-DC81-4DEE74BF7606}"/>
              </a:ext>
            </a:extLst>
          </p:cNvPr>
          <p:cNvSpPr/>
          <p:nvPr/>
        </p:nvSpPr>
        <p:spPr>
          <a:xfrm>
            <a:off x="8153400" y="4038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4B88C75D-B7DD-8111-E074-FF9020D46C74}"/>
              </a:ext>
            </a:extLst>
          </p:cNvPr>
          <p:cNvSpPr/>
          <p:nvPr/>
        </p:nvSpPr>
        <p:spPr>
          <a:xfrm>
            <a:off x="8382000" y="4267200"/>
            <a:ext cx="203200" cy="203200"/>
          </a:xfrm>
          <a:prstGeom prst="ellipse">
            <a:avLst/>
          </a:prstGeom>
          <a:solidFill>
            <a:srgbClr val="5853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29" name="ZoneTexte 28">
            <a:extLst>
              <a:ext uri="{FF2B5EF4-FFF2-40B4-BE49-F238E27FC236}">
                <a16:creationId xmlns:a16="http://schemas.microsoft.com/office/drawing/2014/main" id="{D0CABB45-9FFF-93E1-6200-4A4F1A352523}"/>
              </a:ext>
            </a:extLst>
          </p:cNvPr>
          <p:cNvSpPr txBox="1"/>
          <p:nvPr/>
        </p:nvSpPr>
        <p:spPr>
          <a:xfrm>
            <a:off x="8712200" y="4216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Visite guidée</a:t>
            </a:r>
          </a:p>
        </p:txBody>
      </p:sp>
      <p:sp>
        <p:nvSpPr>
          <p:cNvPr id="30" name="ZoneTexte 29">
            <a:extLst>
              <a:ext uri="{FF2B5EF4-FFF2-40B4-BE49-F238E27FC236}">
                <a16:creationId xmlns:a16="http://schemas.microsoft.com/office/drawing/2014/main" id="{51FD6A17-4745-C265-D1F5-AF5CF310A6AA}"/>
              </a:ext>
            </a:extLst>
          </p:cNvPr>
          <p:cNvSpPr txBox="1"/>
          <p:nvPr/>
        </p:nvSpPr>
        <p:spPr>
          <a:xfrm>
            <a:off x="8382000" y="4749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Onze étapes à la première ouverture (stock compris), relançable depuis l'aide (?) ou la recherche rapide.</a:t>
            </a:r>
          </a:p>
        </p:txBody>
      </p:sp>
    </p:spTree>
    <p:extLst>
      <p:ext uri="{BB962C8B-B14F-4D97-AF65-F5344CB8AC3E}">
        <p14:creationId xmlns:p14="http://schemas.microsoft.com/office/powerpoint/2010/main" val="41704888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C2647E-19E1-989F-1BB8-B0355E2C227E}"/>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Dates, listes et fichiers</a:t>
            </a:r>
          </a:p>
        </p:txBody>
      </p:sp>
      <p:sp>
        <p:nvSpPr>
          <p:cNvPr id="3" name="ZoneTexte 2">
            <a:extLst>
              <a:ext uri="{FF2B5EF4-FFF2-40B4-BE49-F238E27FC236}">
                <a16:creationId xmlns:a16="http://schemas.microsoft.com/office/drawing/2014/main" id="{53F9BA62-525D-D966-CC8B-AFA7DC2CA51F}"/>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CONFORT</a:t>
            </a:r>
          </a:p>
        </p:txBody>
      </p:sp>
      <p:sp>
        <p:nvSpPr>
          <p:cNvPr id="4" name="ZoneTexte 3">
            <a:extLst>
              <a:ext uri="{FF2B5EF4-FFF2-40B4-BE49-F238E27FC236}">
                <a16:creationId xmlns:a16="http://schemas.microsoft.com/office/drawing/2014/main" id="{03086C57-F593-D391-29D5-CDD2CF30C163}"/>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 calendrier et des listes aux couleurs de l'application, un téléchargement expliqué</a:t>
            </a:r>
          </a:p>
        </p:txBody>
      </p:sp>
      <p:sp>
        <p:nvSpPr>
          <p:cNvPr id="5" name="ZoneTexte 4">
            <a:extLst>
              <a:ext uri="{FF2B5EF4-FFF2-40B4-BE49-F238E27FC236}">
                <a16:creationId xmlns:a16="http://schemas.microsoft.com/office/drawing/2014/main" id="{3BE4D0D8-5AFD-46E9-5A5F-50AD5A1F9B5C}"/>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D6473B78-4820-1E6D-60FD-8D343A29AD4F}"/>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55591717-D55E-4C07-8090-346B8854FFCF}" type="slidenum">
              <a:rPr lang="fr-FR" sz="900" smtClean="0">
                <a:solidFill>
                  <a:srgbClr val="586080"/>
                </a:solidFill>
                <a:latin typeface="Calibri" panose="020F0502020204030204" pitchFamily="34" charset="0"/>
              </a:rPr>
              <a:t>48</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0CBC1081-D17D-3817-F006-778C76831C03}"/>
              </a:ext>
            </a:extLst>
          </p:cNvPr>
          <p:cNvSpPr/>
          <p:nvPr/>
        </p:nvSpPr>
        <p:spPr>
          <a:xfrm>
            <a:off x="609600" y="1574800"/>
            <a:ext cx="3683000" cy="3129340"/>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4CD580E7-CEE0-A422-D602-AC2BC1CBEC78}"/>
              </a:ext>
            </a:extLst>
          </p:cNvPr>
          <p:cNvSpPr/>
          <p:nvPr/>
        </p:nvSpPr>
        <p:spPr>
          <a:xfrm>
            <a:off x="609600" y="1574800"/>
            <a:ext cx="3683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361FC2EE-6D88-3105-F12E-2638F24EBFD1}"/>
              </a:ext>
            </a:extLst>
          </p:cNvPr>
          <p:cNvSpPr/>
          <p:nvPr/>
        </p:nvSpPr>
        <p:spPr>
          <a:xfrm>
            <a:off x="736600" y="16637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225A9DBC-E75F-1F94-10BE-11504D5B926E}"/>
              </a:ext>
            </a:extLst>
          </p:cNvPr>
          <p:cNvSpPr/>
          <p:nvPr/>
        </p:nvSpPr>
        <p:spPr>
          <a:xfrm>
            <a:off x="901700" y="16637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6861BFB3-7F8E-81A0-A8BD-7A24ED3ED83E}"/>
              </a:ext>
            </a:extLst>
          </p:cNvPr>
          <p:cNvSpPr/>
          <p:nvPr/>
        </p:nvSpPr>
        <p:spPr>
          <a:xfrm>
            <a:off x="1066800" y="16637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CE35B869-EDBB-C1FD-C01F-8644220520B6}"/>
              </a:ext>
            </a:extLst>
          </p:cNvPr>
          <p:cNvSpPr/>
          <p:nvPr/>
        </p:nvSpPr>
        <p:spPr>
          <a:xfrm>
            <a:off x="1308100" y="16256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14" name="Image 13">
            <a:extLst>
              <a:ext uri="{FF2B5EF4-FFF2-40B4-BE49-F238E27FC236}">
                <a16:creationId xmlns:a16="http://schemas.microsoft.com/office/drawing/2014/main" id="{C4620862-BAF5-5094-6F59-2EE76290FE8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854200"/>
            <a:ext cx="3683000" cy="2849940"/>
          </a:xfrm>
          <a:prstGeom prst="rect">
            <a:avLst/>
          </a:prstGeom>
        </p:spPr>
      </p:pic>
      <p:sp>
        <p:nvSpPr>
          <p:cNvPr id="15" name="Rectangle : coins arrondis 14">
            <a:extLst>
              <a:ext uri="{FF2B5EF4-FFF2-40B4-BE49-F238E27FC236}">
                <a16:creationId xmlns:a16="http://schemas.microsoft.com/office/drawing/2014/main" id="{F7F868A3-C5B6-99EE-BA91-28029AA54AF9}"/>
              </a:ext>
            </a:extLst>
          </p:cNvPr>
          <p:cNvSpPr/>
          <p:nvPr/>
        </p:nvSpPr>
        <p:spPr>
          <a:xfrm>
            <a:off x="4495800" y="1574800"/>
            <a:ext cx="4318000" cy="2060575"/>
          </a:xfrm>
          <a:prstGeom prst="roundRect">
            <a:avLst>
              <a:gd name="adj" fmla="val 2000"/>
            </a:avLst>
          </a:prstGeom>
          <a:solidFill>
            <a:srgbClr val="FFFFFF"/>
          </a:solidFill>
          <a:ln w="12700">
            <a:solidFill>
              <a:srgbClr val="DADDEE"/>
            </a:solidFill>
          </a:ln>
          <a:effectLst>
            <a:outerShdw blurRad="228600" dist="63500" dir="5400000" rotWithShape="0">
              <a:srgbClr val="1E1C8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 coins arrondis 15">
            <a:extLst>
              <a:ext uri="{FF2B5EF4-FFF2-40B4-BE49-F238E27FC236}">
                <a16:creationId xmlns:a16="http://schemas.microsoft.com/office/drawing/2014/main" id="{5715A4D7-2596-E9CF-29FB-0FFE9C03A786}"/>
              </a:ext>
            </a:extLst>
          </p:cNvPr>
          <p:cNvSpPr/>
          <p:nvPr/>
        </p:nvSpPr>
        <p:spPr>
          <a:xfrm>
            <a:off x="4495800" y="1574800"/>
            <a:ext cx="4318000" cy="279400"/>
          </a:xfrm>
          <a:prstGeom prst="roundRect">
            <a:avLst>
              <a:gd name="adj" fmla="val 2000"/>
            </a:avLst>
          </a:prstGeom>
          <a:solidFill>
            <a:srgbClr val="ECEEF8"/>
          </a:solidFill>
          <a:ln w="12700">
            <a:solidFill>
              <a:srgbClr val="DADD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Ellipse 16">
            <a:extLst>
              <a:ext uri="{FF2B5EF4-FFF2-40B4-BE49-F238E27FC236}">
                <a16:creationId xmlns:a16="http://schemas.microsoft.com/office/drawing/2014/main" id="{F6DD7B54-00E2-1EA3-9BD7-ADD782DC9F20}"/>
              </a:ext>
            </a:extLst>
          </p:cNvPr>
          <p:cNvSpPr/>
          <p:nvPr/>
        </p:nvSpPr>
        <p:spPr>
          <a:xfrm>
            <a:off x="4622800" y="1663700"/>
            <a:ext cx="101600" cy="101600"/>
          </a:xfrm>
          <a:prstGeom prst="ellipse">
            <a:avLst/>
          </a:prstGeom>
          <a:solidFill>
            <a:srgbClr val="F26B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1B5CAAC8-B6C5-4B82-3004-ACF588F2BD94}"/>
              </a:ext>
            </a:extLst>
          </p:cNvPr>
          <p:cNvSpPr/>
          <p:nvPr/>
        </p:nvSpPr>
        <p:spPr>
          <a:xfrm>
            <a:off x="4787900" y="1663700"/>
            <a:ext cx="101600" cy="101600"/>
          </a:xfrm>
          <a:prstGeom prst="ellipse">
            <a:avLst/>
          </a:prstGeom>
          <a:solidFill>
            <a:srgbClr val="F5C0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4818CCF1-AE07-57E7-AC6F-D88021787F4F}"/>
              </a:ext>
            </a:extLst>
          </p:cNvPr>
          <p:cNvSpPr/>
          <p:nvPr/>
        </p:nvSpPr>
        <p:spPr>
          <a:xfrm>
            <a:off x="4953000" y="1663700"/>
            <a:ext cx="101600" cy="101600"/>
          </a:xfrm>
          <a:prstGeom prst="ellipse">
            <a:avLst/>
          </a:prstGeom>
          <a:solidFill>
            <a:srgbClr val="5BC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0FA7F201-D814-53AB-8C0F-9AFA35E50291}"/>
              </a:ext>
            </a:extLst>
          </p:cNvPr>
          <p:cNvSpPr/>
          <p:nvPr/>
        </p:nvSpPr>
        <p:spPr>
          <a:xfrm>
            <a:off x="5511800" y="1625600"/>
            <a:ext cx="2286000" cy="177800"/>
          </a:xfrm>
          <a:prstGeom prst="roundRect">
            <a:avLst>
              <a:gd name="adj" fmla="val 50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0" rIns="127000" bIns="0" rtlCol="0" anchor="ctr"/>
          <a:lstStyle/>
          <a:p>
            <a:pPr algn="ctr"/>
            <a:r>
              <a:rPr lang="fr-FR" sz="900">
                <a:solidFill>
                  <a:srgbClr val="586080"/>
                </a:solidFill>
                <a:latin typeface="Calibri" panose="020F0502020204030204" pitchFamily="34" charset="0"/>
              </a:rPr>
              <a:t>GPIEXALT</a:t>
            </a:r>
          </a:p>
        </p:txBody>
      </p:sp>
      <p:pic>
        <p:nvPicPr>
          <p:cNvPr id="22" name="Image 21">
            <a:extLst>
              <a:ext uri="{FF2B5EF4-FFF2-40B4-BE49-F238E27FC236}">
                <a16:creationId xmlns:a16="http://schemas.microsoft.com/office/drawing/2014/main" id="{D243FBA6-0010-E3E8-E5F3-B18558ACD41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495800" y="1854200"/>
            <a:ext cx="4318000" cy="1781175"/>
          </a:xfrm>
          <a:prstGeom prst="rect">
            <a:avLst/>
          </a:prstGeom>
        </p:spPr>
      </p:pic>
      <p:sp>
        <p:nvSpPr>
          <p:cNvPr id="23" name="Rectangle : coins arrondis 22">
            <a:extLst>
              <a:ext uri="{FF2B5EF4-FFF2-40B4-BE49-F238E27FC236}">
                <a16:creationId xmlns:a16="http://schemas.microsoft.com/office/drawing/2014/main" id="{34077B92-26CC-EF8B-618E-D433941FA9FB}"/>
              </a:ext>
            </a:extLst>
          </p:cNvPr>
          <p:cNvSpPr/>
          <p:nvPr/>
        </p:nvSpPr>
        <p:spPr>
          <a:xfrm>
            <a:off x="9017000" y="1574800"/>
            <a:ext cx="2565400" cy="1905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AA7B67C0-7DC1-93C8-14B2-DFC8583333EB}"/>
              </a:ext>
            </a:extLst>
          </p:cNvPr>
          <p:cNvSpPr txBox="1"/>
          <p:nvPr/>
        </p:nvSpPr>
        <p:spPr>
          <a:xfrm>
            <a:off x="9220200" y="1701800"/>
            <a:ext cx="2184400" cy="2794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Listes</a:t>
            </a:r>
          </a:p>
        </p:txBody>
      </p:sp>
      <p:sp>
        <p:nvSpPr>
          <p:cNvPr id="25" name="ZoneTexte 24">
            <a:extLst>
              <a:ext uri="{FF2B5EF4-FFF2-40B4-BE49-F238E27FC236}">
                <a16:creationId xmlns:a16="http://schemas.microsoft.com/office/drawing/2014/main" id="{DB152535-AED7-C194-5EFA-F87700ED4333}"/>
              </a:ext>
            </a:extLst>
          </p:cNvPr>
          <p:cNvSpPr txBox="1"/>
          <p:nvPr/>
        </p:nvSpPr>
        <p:spPr>
          <a:xfrm>
            <a:off x="9220200" y="2032000"/>
            <a:ext cx="2184400" cy="1397000"/>
          </a:xfrm>
          <a:prstGeom prst="rect">
            <a:avLst/>
          </a:prstGeom>
          <a:noFill/>
        </p:spPr>
        <p:txBody>
          <a:bodyPr vert="horz" wrap="square" lIns="0" tIns="0" rIns="0" bIns="0" rtlCol="0">
            <a:noAutofit/>
          </a:bodyPr>
          <a:lstStyle/>
          <a:p>
            <a:r>
              <a:rPr lang="fr-FR" sz="1200">
                <a:solidFill>
                  <a:srgbClr val="586080"/>
                </a:solidFill>
                <a:latin typeface="Calibri" panose="020F0502020204030204" pitchFamily="34" charset="0"/>
              </a:rPr>
              <a:t>Menu aux couleurs du thème, option cochée, navigation au clavier (flèches, Entrée, Échap).</a:t>
            </a:r>
          </a:p>
        </p:txBody>
      </p:sp>
      <p:sp>
        <p:nvSpPr>
          <p:cNvPr id="26" name="Rectangle : coins arrondis 25">
            <a:extLst>
              <a:ext uri="{FF2B5EF4-FFF2-40B4-BE49-F238E27FC236}">
                <a16:creationId xmlns:a16="http://schemas.microsoft.com/office/drawing/2014/main" id="{47497DD7-3469-AF81-A494-EBCBDEAECA4F}"/>
              </a:ext>
            </a:extLst>
          </p:cNvPr>
          <p:cNvSpPr/>
          <p:nvPr/>
        </p:nvSpPr>
        <p:spPr>
          <a:xfrm>
            <a:off x="609600" y="4978400"/>
            <a:ext cx="3581400" cy="1244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E73DC677-F07C-C384-C105-AE3BBB7503F4}"/>
              </a:ext>
            </a:extLst>
          </p:cNvPr>
          <p:cNvSpPr txBox="1"/>
          <p:nvPr/>
        </p:nvSpPr>
        <p:spPr>
          <a:xfrm>
            <a:off x="812800" y="5080000"/>
            <a:ext cx="3200400" cy="254000"/>
          </a:xfrm>
          <a:prstGeom prst="rect">
            <a:avLst/>
          </a:prstGeom>
          <a:noFill/>
        </p:spPr>
        <p:txBody>
          <a:bodyPr vert="horz" wrap="square" lIns="0" tIns="0" rIns="0" bIns="0" rtlCol="0">
            <a:noAutofit/>
          </a:bodyPr>
          <a:lstStyle/>
          <a:p>
            <a:r>
              <a:rPr lang="fr-FR" sz="1500" b="1">
                <a:solidFill>
                  <a:srgbClr val="1E1C8C"/>
                </a:solidFill>
                <a:latin typeface="Calibri" panose="020F0502020204030204" pitchFamily="34" charset="0"/>
              </a:rPr>
              <a:t>Calendrier</a:t>
            </a:r>
          </a:p>
        </p:txBody>
      </p:sp>
      <p:sp>
        <p:nvSpPr>
          <p:cNvPr id="28" name="ZoneTexte 27">
            <a:extLst>
              <a:ext uri="{FF2B5EF4-FFF2-40B4-BE49-F238E27FC236}">
                <a16:creationId xmlns:a16="http://schemas.microsoft.com/office/drawing/2014/main" id="{354C94F6-0E3B-E0E6-1437-1E3B524F67F6}"/>
              </a:ext>
            </a:extLst>
          </p:cNvPr>
          <p:cNvSpPr txBox="1"/>
          <p:nvPr/>
        </p:nvSpPr>
        <p:spPr>
          <a:xfrm>
            <a:off x="812800" y="5384800"/>
            <a:ext cx="3200400" cy="8128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Tous les champs de date : remise, retour prévu, signature, période, achat.</a:t>
            </a:r>
          </a:p>
        </p:txBody>
      </p:sp>
      <p:sp>
        <p:nvSpPr>
          <p:cNvPr id="29" name="Rectangle : coins arrondis 28">
            <a:extLst>
              <a:ext uri="{FF2B5EF4-FFF2-40B4-BE49-F238E27FC236}">
                <a16:creationId xmlns:a16="http://schemas.microsoft.com/office/drawing/2014/main" id="{A1A0552A-6408-B2FB-086B-BB6E6BCFC545}"/>
              </a:ext>
            </a:extLst>
          </p:cNvPr>
          <p:cNvSpPr/>
          <p:nvPr/>
        </p:nvSpPr>
        <p:spPr>
          <a:xfrm>
            <a:off x="4394200" y="4978400"/>
            <a:ext cx="3581400" cy="12446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CE02FD5A-0377-AA68-0FDE-BC13566B3604}"/>
              </a:ext>
            </a:extLst>
          </p:cNvPr>
          <p:cNvSpPr txBox="1"/>
          <p:nvPr/>
        </p:nvSpPr>
        <p:spPr>
          <a:xfrm>
            <a:off x="4597400" y="5080000"/>
            <a:ext cx="3200400" cy="254000"/>
          </a:xfrm>
          <a:prstGeom prst="rect">
            <a:avLst/>
          </a:prstGeom>
          <a:noFill/>
        </p:spPr>
        <p:txBody>
          <a:bodyPr vert="horz" wrap="square" lIns="0" tIns="0" rIns="0" bIns="0" rtlCol="0">
            <a:noAutofit/>
          </a:bodyPr>
          <a:lstStyle/>
          <a:p>
            <a:r>
              <a:rPr lang="fr-FR" sz="1500" b="1">
                <a:solidFill>
                  <a:srgbClr val="1E1C8C"/>
                </a:solidFill>
                <a:latin typeface="Calibri" panose="020F0502020204030204" pitchFamily="34" charset="0"/>
              </a:rPr>
              <a:t>Carte « Fichier prêt »</a:t>
            </a:r>
          </a:p>
        </p:txBody>
      </p:sp>
      <p:sp>
        <p:nvSpPr>
          <p:cNvPr id="31" name="ZoneTexte 30">
            <a:extLst>
              <a:ext uri="{FF2B5EF4-FFF2-40B4-BE49-F238E27FC236}">
                <a16:creationId xmlns:a16="http://schemas.microsoft.com/office/drawing/2014/main" id="{C06CB166-3007-A852-FE46-CA689181A02E}"/>
              </a:ext>
            </a:extLst>
          </p:cNvPr>
          <p:cNvSpPr txBox="1"/>
          <p:nvPr/>
        </p:nvSpPr>
        <p:spPr>
          <a:xfrm>
            <a:off x="4597400" y="5384800"/>
            <a:ext cx="3200400" cy="8128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S'affiche pendant la confirmation d'enregistrement de la plateforme.</a:t>
            </a:r>
          </a:p>
        </p:txBody>
      </p:sp>
      <p:sp>
        <p:nvSpPr>
          <p:cNvPr id="32" name="Rectangle : coins arrondis 31">
            <a:extLst>
              <a:ext uri="{FF2B5EF4-FFF2-40B4-BE49-F238E27FC236}">
                <a16:creationId xmlns:a16="http://schemas.microsoft.com/office/drawing/2014/main" id="{259D9625-F7D0-7486-2718-58FF515242BB}"/>
              </a:ext>
            </a:extLst>
          </p:cNvPr>
          <p:cNvSpPr/>
          <p:nvPr/>
        </p:nvSpPr>
        <p:spPr>
          <a:xfrm>
            <a:off x="8178800" y="4978400"/>
            <a:ext cx="3403600" cy="1244600"/>
          </a:xfrm>
          <a:prstGeom prst="roundRect">
            <a:avLst>
              <a:gd name="adj" fmla="val 4500"/>
            </a:avLst>
          </a:prstGeom>
          <a:solidFill>
            <a:srgbClr val="FDF0D5"/>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B99D695C-323E-5D8C-CD84-4148799FF962}"/>
              </a:ext>
            </a:extLst>
          </p:cNvPr>
          <p:cNvSpPr txBox="1"/>
          <p:nvPr/>
        </p:nvSpPr>
        <p:spPr>
          <a:xfrm>
            <a:off x="8382000" y="5080000"/>
            <a:ext cx="3022600" cy="254000"/>
          </a:xfrm>
          <a:prstGeom prst="rect">
            <a:avLst/>
          </a:prstGeom>
          <a:noFill/>
        </p:spPr>
        <p:txBody>
          <a:bodyPr vert="horz" wrap="square" lIns="0" tIns="0" rIns="0" bIns="0" rtlCol="0">
            <a:noAutofit/>
          </a:bodyPr>
          <a:lstStyle/>
          <a:p>
            <a:r>
              <a:rPr lang="fr-FR" sz="1500" b="1">
                <a:solidFill>
                  <a:srgbClr val="B67608"/>
                </a:solidFill>
                <a:latin typeface="Calibri" panose="020F0502020204030204" pitchFamily="34" charset="0"/>
              </a:rPr>
              <a:t>Annulé par mégarde ?</a:t>
            </a:r>
          </a:p>
        </p:txBody>
      </p:sp>
      <p:sp>
        <p:nvSpPr>
          <p:cNvPr id="34" name="ZoneTexte 33">
            <a:extLst>
              <a:ext uri="{FF2B5EF4-FFF2-40B4-BE49-F238E27FC236}">
                <a16:creationId xmlns:a16="http://schemas.microsoft.com/office/drawing/2014/main" id="{23DB322B-5DD4-1DC0-A247-437883864C5B}"/>
              </a:ext>
            </a:extLst>
          </p:cNvPr>
          <p:cNvSpPr txBox="1"/>
          <p:nvPr/>
        </p:nvSpPr>
        <p:spPr>
          <a:xfrm>
            <a:off x="8382000" y="5384800"/>
            <a:ext cx="3022600" cy="812800"/>
          </a:xfrm>
          <a:prstGeom prst="rect">
            <a:avLst/>
          </a:prstGeom>
          <a:noFill/>
        </p:spPr>
        <p:txBody>
          <a:bodyPr vert="horz" wrap="square" lIns="0" tIns="0" rIns="0" bIns="0" rtlCol="0">
            <a:noAutofit/>
          </a:bodyPr>
          <a:lstStyle/>
          <a:p>
            <a:r>
              <a:rPr lang="fr-FR" sz="1200">
                <a:solidFill>
                  <a:srgbClr val="12162B"/>
                </a:solidFill>
                <a:latin typeface="Calibri" panose="020F0502020204030204" pitchFamily="34" charset="0"/>
              </a:rPr>
              <a:t>Le bouton Enregistrer de la carte relance l'enregistrement, sans régénérer le fichier.</a:t>
            </a:r>
          </a:p>
        </p:txBody>
      </p:sp>
    </p:spTree>
    <p:extLst>
      <p:ext uri="{BB962C8B-B14F-4D97-AF65-F5344CB8AC3E}">
        <p14:creationId xmlns:p14="http://schemas.microsoft.com/office/powerpoint/2010/main" val="26059125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C58F72-9B88-8AD8-64E1-C911C21DD3C9}"/>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Tous les appareils, tous les écrans</a:t>
            </a:r>
          </a:p>
        </p:txBody>
      </p:sp>
      <p:sp>
        <p:nvSpPr>
          <p:cNvPr id="3" name="ZoneTexte 2">
            <a:extLst>
              <a:ext uri="{FF2B5EF4-FFF2-40B4-BE49-F238E27FC236}">
                <a16:creationId xmlns:a16="http://schemas.microsoft.com/office/drawing/2014/main" id="{05B127BF-1A4A-4261-5B49-68349E21518A}"/>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COMPATIBILITÉ</a:t>
            </a:r>
          </a:p>
        </p:txBody>
      </p:sp>
      <p:sp>
        <p:nvSpPr>
          <p:cNvPr id="4" name="ZoneTexte 3">
            <a:extLst>
              <a:ext uri="{FF2B5EF4-FFF2-40B4-BE49-F238E27FC236}">
                <a16:creationId xmlns:a16="http://schemas.microsoft.com/office/drawing/2014/main" id="{3072D1EE-F6DF-1193-0F3E-F5617A7B344D}"/>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Téléphone, tablette et PC : une seule application, rapide pour 1 800 collaborateurs</a:t>
            </a:r>
          </a:p>
        </p:txBody>
      </p:sp>
      <p:sp>
        <p:nvSpPr>
          <p:cNvPr id="5" name="ZoneTexte 4">
            <a:extLst>
              <a:ext uri="{FF2B5EF4-FFF2-40B4-BE49-F238E27FC236}">
                <a16:creationId xmlns:a16="http://schemas.microsoft.com/office/drawing/2014/main" id="{6AADF5E3-163F-5C62-AC3D-72E429212804}"/>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7079C58C-CCC4-4B42-521C-A3EA59CA3AFE}"/>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C9541CBC-1C93-4231-91AF-8C1A837B6A0D}" type="slidenum">
              <a:rPr lang="fr-FR" sz="900" smtClean="0">
                <a:solidFill>
                  <a:srgbClr val="586080"/>
                </a:solidFill>
                <a:latin typeface="Calibri" panose="020F0502020204030204" pitchFamily="34" charset="0"/>
              </a:rPr>
              <a:t>49</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4FC02792-3376-1277-D9FC-FEEA80765557}"/>
              </a:ext>
            </a:extLst>
          </p:cNvPr>
          <p:cNvSpPr/>
          <p:nvPr/>
        </p:nvSpPr>
        <p:spPr>
          <a:xfrm>
            <a:off x="1143000" y="1524000"/>
            <a:ext cx="2717800" cy="4876800"/>
          </a:xfrm>
          <a:prstGeom prst="roundRect">
            <a:avLst>
              <a:gd name="adj" fmla="val 12000"/>
            </a:avLst>
          </a:prstGeom>
          <a:solidFill>
            <a:srgbClr val="14183A"/>
          </a:solidFill>
          <a:ln w="19050" cap="flat" cmpd="sng" algn="ctr">
            <a:noFill/>
            <a:prstDash val="solid"/>
            <a:miter lim="800000"/>
          </a:ln>
          <a:effectLst>
            <a:outerShdw blurRad="254000" dist="76200" dir="5400000" rotWithShape="0">
              <a:srgbClr val="1E1C8C">
                <a:alpha val="30000"/>
              </a:srgbClr>
            </a:outer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FC0C659D-C01E-CB53-A944-FB52FAA863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84300" y="1676400"/>
            <a:ext cx="2235200" cy="4572000"/>
          </a:xfrm>
          <a:prstGeom prst="rect">
            <a:avLst/>
          </a:prstGeom>
        </p:spPr>
      </p:pic>
      <p:sp>
        <p:nvSpPr>
          <p:cNvPr id="10" name="Rectangle : coins arrondis 9">
            <a:extLst>
              <a:ext uri="{FF2B5EF4-FFF2-40B4-BE49-F238E27FC236}">
                <a16:creationId xmlns:a16="http://schemas.microsoft.com/office/drawing/2014/main" id="{F33F4C11-1F15-180F-E3A1-8BC793BA0104}"/>
              </a:ext>
            </a:extLst>
          </p:cNvPr>
          <p:cNvSpPr/>
          <p:nvPr/>
        </p:nvSpPr>
        <p:spPr>
          <a:xfrm>
            <a:off x="4318000" y="1600200"/>
            <a:ext cx="7264400" cy="1422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F8CF91B2-6A82-4AB9-EC56-0B007AA2744D}"/>
              </a:ext>
            </a:extLst>
          </p:cNvPr>
          <p:cNvSpPr txBox="1"/>
          <p:nvPr/>
        </p:nvSpPr>
        <p:spPr>
          <a:xfrm>
            <a:off x="4572000" y="1701800"/>
            <a:ext cx="6604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Téléphone et tablette</a:t>
            </a:r>
          </a:p>
        </p:txBody>
      </p:sp>
      <p:sp>
        <p:nvSpPr>
          <p:cNvPr id="12" name="ZoneTexte 11">
            <a:extLst>
              <a:ext uri="{FF2B5EF4-FFF2-40B4-BE49-F238E27FC236}">
                <a16:creationId xmlns:a16="http://schemas.microsoft.com/office/drawing/2014/main" id="{BC03C875-2AB3-E4F5-2095-EE0FF2838688}"/>
              </a:ext>
            </a:extLst>
          </p:cNvPr>
          <p:cNvSpPr txBox="1"/>
          <p:nvPr/>
        </p:nvSpPr>
        <p:spPr>
          <a:xfrm>
            <a:off x="4572000" y="2032000"/>
            <a:ext cx="6731000" cy="990600"/>
          </a:xfrm>
          <a:prstGeom prst="rect">
            <a:avLst/>
          </a:prstGeom>
          <a:noFill/>
        </p:spPr>
        <p:txBody>
          <a:bodyPr vert="horz" wrap="square" lIns="0" tIns="0" rIns="0" bIns="0" rtlCol="0">
            <a:noAutofit/>
          </a:bodyPr>
          <a:lstStyle/>
          <a:p>
            <a:pPr marL="203200" indent="-203200">
              <a:spcAft>
                <a:spcPts val="300"/>
              </a:spcAft>
              <a:buClr>
                <a:srgbClr val="5853FF"/>
              </a:buClr>
              <a:buFont typeface="+mj-lt"/>
              <a:buChar char="•"/>
            </a:pPr>
            <a:r>
              <a:rPr lang="fr-FR" sz="1200">
                <a:solidFill>
                  <a:srgbClr val="12162B"/>
                </a:solidFill>
                <a:latin typeface="Calibri" panose="020F0502020204030204" pitchFamily="34" charset="0"/>
              </a:rPr>
              <a:t>Barre d'onglets en bas, avec les compteurs ; boutons d'action fixés en bas des fenêtres</a:t>
            </a:r>
          </a:p>
          <a:p>
            <a:pPr marL="203200" indent="-203200">
              <a:spcAft>
                <a:spcPts val="300"/>
              </a:spcAft>
              <a:buClr>
                <a:srgbClr val="5853FF"/>
              </a:buClr>
              <a:buFont typeface="+mj-lt"/>
              <a:buChar char="•"/>
            </a:pPr>
            <a:r>
              <a:rPr lang="fr-FR" sz="1200">
                <a:solidFill>
                  <a:srgbClr val="12162B"/>
                </a:solidFill>
                <a:latin typeface="Calibri" panose="020F0502020204030204" pitchFamily="34" charset="0"/>
              </a:rPr>
              <a:t>Zones à toucher de 36 à 40 px ; champs à 16 px (pas de zoom automatique sur iPhone)</a:t>
            </a:r>
          </a:p>
          <a:p>
            <a:pPr marL="203200" indent="-203200">
              <a:spcAft>
                <a:spcPts val="300"/>
              </a:spcAft>
              <a:buClr>
                <a:srgbClr val="5853FF"/>
              </a:buClr>
              <a:buFont typeface="+mj-lt"/>
              <a:buChar char="•"/>
            </a:pPr>
            <a:r>
              <a:rPr lang="fr-FR" sz="1200">
                <a:solidFill>
                  <a:srgbClr val="12162B"/>
                </a:solidFill>
                <a:latin typeface="Calibri" panose="020F0502020204030204" pitchFamily="34" charset="0"/>
              </a:rPr>
              <a:t>Hauteur réelle de l'écran : barre d'adresse de iOS Safari et de Chrome Android</a:t>
            </a:r>
          </a:p>
        </p:txBody>
      </p:sp>
      <p:sp>
        <p:nvSpPr>
          <p:cNvPr id="13" name="Rectangle : coins arrondis 12">
            <a:extLst>
              <a:ext uri="{FF2B5EF4-FFF2-40B4-BE49-F238E27FC236}">
                <a16:creationId xmlns:a16="http://schemas.microsoft.com/office/drawing/2014/main" id="{4022CAE8-EE38-CC9F-3CD4-C68F1EE63038}"/>
              </a:ext>
            </a:extLst>
          </p:cNvPr>
          <p:cNvSpPr/>
          <p:nvPr/>
        </p:nvSpPr>
        <p:spPr>
          <a:xfrm>
            <a:off x="4318000" y="3149600"/>
            <a:ext cx="7264400" cy="13208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5DD52BFC-E5F6-D93C-1348-2D04D22E88E8}"/>
              </a:ext>
            </a:extLst>
          </p:cNvPr>
          <p:cNvSpPr txBox="1"/>
          <p:nvPr/>
        </p:nvSpPr>
        <p:spPr>
          <a:xfrm>
            <a:off x="4572000" y="3251200"/>
            <a:ext cx="6604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PC et grands écrans</a:t>
            </a:r>
          </a:p>
        </p:txBody>
      </p:sp>
      <p:sp>
        <p:nvSpPr>
          <p:cNvPr id="15" name="ZoneTexte 14">
            <a:extLst>
              <a:ext uri="{FF2B5EF4-FFF2-40B4-BE49-F238E27FC236}">
                <a16:creationId xmlns:a16="http://schemas.microsoft.com/office/drawing/2014/main" id="{2307B033-EC8A-BD53-7043-2111026F108B}"/>
              </a:ext>
            </a:extLst>
          </p:cNvPr>
          <p:cNvSpPr txBox="1"/>
          <p:nvPr/>
        </p:nvSpPr>
        <p:spPr>
          <a:xfrm>
            <a:off x="4572000" y="3581400"/>
            <a:ext cx="6731000" cy="889000"/>
          </a:xfrm>
          <a:prstGeom prst="rect">
            <a:avLst/>
          </a:prstGeom>
          <a:noFill/>
        </p:spPr>
        <p:txBody>
          <a:bodyPr vert="horz" wrap="square" lIns="0" tIns="0" rIns="0" bIns="0" rtlCol="0">
            <a:noAutofit/>
          </a:bodyPr>
          <a:lstStyle/>
          <a:p>
            <a:pPr marL="203200" indent="-203200">
              <a:spcAft>
                <a:spcPts val="300"/>
              </a:spcAft>
              <a:buClr>
                <a:srgbClr val="5853FF"/>
              </a:buClr>
              <a:buFont typeface="+mj-lt"/>
              <a:buChar char="•"/>
            </a:pPr>
            <a:r>
              <a:rPr lang="fr-FR" sz="1200">
                <a:solidFill>
                  <a:srgbClr val="12162B"/>
                </a:solidFill>
                <a:latin typeface="Calibri" panose="020F0502020204030204" pitchFamily="34" charset="0"/>
              </a:rPr>
              <a:t>Menu latéral repliable ; boutons d'en-tête qui passent à la ligne quand la place manque</a:t>
            </a:r>
          </a:p>
          <a:p>
            <a:pPr marL="203200" indent="-203200">
              <a:spcAft>
                <a:spcPts val="300"/>
              </a:spcAft>
              <a:buClr>
                <a:srgbClr val="5853FF"/>
              </a:buClr>
              <a:buFont typeface="+mj-lt"/>
              <a:buChar char="•"/>
            </a:pPr>
            <a:r>
              <a:rPr lang="fr-FR" sz="1200">
                <a:solidFill>
                  <a:srgbClr val="12162B"/>
                </a:solidFill>
                <a:latin typeface="Calibri" panose="020F0502020204030204" pitchFamily="34" charset="0"/>
              </a:rPr>
              <a:t>Raccourcis 1 à 8 et Ctrl K ; mise en page vérifiée de 320 à plus de 2 000 px</a:t>
            </a:r>
          </a:p>
        </p:txBody>
      </p:sp>
      <p:sp>
        <p:nvSpPr>
          <p:cNvPr id="16" name="Rectangle : coins arrondis 15">
            <a:extLst>
              <a:ext uri="{FF2B5EF4-FFF2-40B4-BE49-F238E27FC236}">
                <a16:creationId xmlns:a16="http://schemas.microsoft.com/office/drawing/2014/main" id="{394D18C5-D8C7-08F4-2513-66B853296575}"/>
              </a:ext>
            </a:extLst>
          </p:cNvPr>
          <p:cNvSpPr/>
          <p:nvPr/>
        </p:nvSpPr>
        <p:spPr>
          <a:xfrm>
            <a:off x="4318000" y="4597400"/>
            <a:ext cx="7264400" cy="1651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A3642D9D-38F9-6E77-F3FA-503C77C08B6A}"/>
              </a:ext>
            </a:extLst>
          </p:cNvPr>
          <p:cNvSpPr txBox="1"/>
          <p:nvPr/>
        </p:nvSpPr>
        <p:spPr>
          <a:xfrm>
            <a:off x="4572000" y="4699000"/>
            <a:ext cx="66040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Navigateurs et rapidité</a:t>
            </a:r>
          </a:p>
        </p:txBody>
      </p:sp>
      <p:sp>
        <p:nvSpPr>
          <p:cNvPr id="18" name="ZoneTexte 17">
            <a:extLst>
              <a:ext uri="{FF2B5EF4-FFF2-40B4-BE49-F238E27FC236}">
                <a16:creationId xmlns:a16="http://schemas.microsoft.com/office/drawing/2014/main" id="{CDDED68D-4C1F-4007-CC91-C03D57EF0BAC}"/>
              </a:ext>
            </a:extLst>
          </p:cNvPr>
          <p:cNvSpPr txBox="1"/>
          <p:nvPr/>
        </p:nvSpPr>
        <p:spPr>
          <a:xfrm>
            <a:off x="4572000" y="5029200"/>
            <a:ext cx="6731000" cy="1193800"/>
          </a:xfrm>
          <a:prstGeom prst="rect">
            <a:avLst/>
          </a:prstGeom>
          <a:noFill/>
        </p:spPr>
        <p:txBody>
          <a:bodyPr vert="horz" wrap="square" lIns="0" tIns="0" rIns="0" bIns="0" rtlCol="0">
            <a:noAutofit/>
          </a:bodyPr>
          <a:lstStyle/>
          <a:p>
            <a:pPr marL="203200" indent="-203200">
              <a:spcAft>
                <a:spcPts val="300"/>
              </a:spcAft>
              <a:buClr>
                <a:srgbClr val="5853FF"/>
              </a:buClr>
              <a:buFont typeface="+mj-lt"/>
              <a:buChar char="•"/>
            </a:pPr>
            <a:r>
              <a:rPr lang="fr-FR" sz="1200">
                <a:solidFill>
                  <a:srgbClr val="12162B"/>
                </a:solidFill>
                <a:latin typeface="Calibri" panose="020F0502020204030204" pitchFamily="34" charset="0"/>
              </a:rPr>
              <a:t>Chrome et Edge 111, Safari 16.4, Firefox 121 ou plus ; bandeau d'information sur un navigateur plus ancien</a:t>
            </a:r>
          </a:p>
          <a:p>
            <a:pPr marL="203200" indent="-203200">
              <a:spcAft>
                <a:spcPts val="300"/>
              </a:spcAft>
              <a:buClr>
                <a:srgbClr val="5853FF"/>
              </a:buClr>
              <a:buFont typeface="+mj-lt"/>
              <a:buChar char="•"/>
            </a:pPr>
            <a:r>
              <a:rPr lang="fr-FR" sz="1200">
                <a:solidFill>
                  <a:srgbClr val="12162B"/>
                </a:solidFill>
                <a:latin typeface="Calibri" panose="020F0502020204030204" pitchFamily="34" charset="0"/>
              </a:rPr>
              <a:t>1 800 personnes (test) : Restituer ≈ 120 ms, fiche ≈ 110 ms, Accueil ≈ 240 ms, Inventaire ≈ 220 à 270 ms</a:t>
            </a:r>
          </a:p>
          <a:p>
            <a:pPr marL="203200" indent="-203200">
              <a:spcAft>
                <a:spcPts val="300"/>
              </a:spcAft>
              <a:buClr>
                <a:srgbClr val="5853FF"/>
              </a:buClr>
              <a:buFont typeface="+mj-lt"/>
              <a:buChar char="•"/>
            </a:pPr>
            <a:r>
              <a:rPr lang="fr-FR" sz="1200">
                <a:solidFill>
                  <a:srgbClr val="12162B"/>
                </a:solidFill>
                <a:latin typeface="Calibri" panose="020F0502020204030204" pitchFamily="34" charset="0"/>
              </a:rPr>
              <a:t>Calculs mis en cache ; recherche rapide avec délai de frappe ; listes de 50 lignes</a:t>
            </a:r>
          </a:p>
        </p:txBody>
      </p:sp>
    </p:spTree>
    <p:extLst>
      <p:ext uri="{BB962C8B-B14F-4D97-AF65-F5344CB8AC3E}">
        <p14:creationId xmlns:p14="http://schemas.microsoft.com/office/powerpoint/2010/main" val="31534075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E1C8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5C703D-269B-D8A2-0FF1-4ECBDB31CFB8}"/>
              </a:ext>
            </a:extLst>
          </p:cNvPr>
          <p:cNvSpPr>
            <a:spLocks noGrp="1"/>
          </p:cNvSpPr>
          <p:nvPr>
            <p:ph type="title"/>
          </p:nvPr>
        </p:nvSpPr>
        <p:spPr>
          <a:xfrm>
            <a:off x="1219200" y="2997200"/>
            <a:ext cx="7874000" cy="889000"/>
          </a:xfrm>
        </p:spPr>
        <p:txBody>
          <a:bodyPr lIns="0" anchor="ctr">
            <a:normAutofit/>
          </a:bodyPr>
          <a:lstStyle/>
          <a:p>
            <a:r>
              <a:rPr lang="fr-FR" b="1">
                <a:solidFill>
                  <a:srgbClr val="FFFFFF"/>
                </a:solidFill>
                <a:latin typeface="Calibri" panose="020F0502020204030204" pitchFamily="34" charset="0"/>
              </a:rPr>
              <a:t>Gouvernance</a:t>
            </a:r>
          </a:p>
        </p:txBody>
      </p:sp>
      <p:sp>
        <p:nvSpPr>
          <p:cNvPr id="3" name="ZoneTexte 2">
            <a:extLst>
              <a:ext uri="{FF2B5EF4-FFF2-40B4-BE49-F238E27FC236}">
                <a16:creationId xmlns:a16="http://schemas.microsoft.com/office/drawing/2014/main" id="{6C7084C6-1572-B05F-AA42-A85C13592103}"/>
              </a:ext>
            </a:extLst>
          </p:cNvPr>
          <p:cNvSpPr txBox="1"/>
          <p:nvPr/>
        </p:nvSpPr>
        <p:spPr>
          <a:xfrm>
            <a:off x="1219200" y="1905000"/>
            <a:ext cx="3810000" cy="1016000"/>
          </a:xfrm>
          <a:prstGeom prst="rect">
            <a:avLst/>
          </a:prstGeom>
          <a:noFill/>
        </p:spPr>
        <p:txBody>
          <a:bodyPr vert="horz" wrap="square" lIns="0" tIns="0" rIns="0" bIns="0" rtlCol="0">
            <a:noAutofit/>
          </a:bodyPr>
          <a:lstStyle/>
          <a:p>
            <a:r>
              <a:rPr lang="fr-FR" sz="8000" b="1">
                <a:solidFill>
                  <a:srgbClr val="5853FF"/>
                </a:solidFill>
                <a:latin typeface="Calibri" panose="020F0502020204030204" pitchFamily="34" charset="0"/>
              </a:rPr>
              <a:t>03</a:t>
            </a:r>
          </a:p>
        </p:txBody>
      </p:sp>
      <p:sp>
        <p:nvSpPr>
          <p:cNvPr id="4" name="ZoneTexte 3">
            <a:extLst>
              <a:ext uri="{FF2B5EF4-FFF2-40B4-BE49-F238E27FC236}">
                <a16:creationId xmlns:a16="http://schemas.microsoft.com/office/drawing/2014/main" id="{F5B53A3E-52F9-F612-A5CD-C204CB234CF6}"/>
              </a:ext>
            </a:extLst>
          </p:cNvPr>
          <p:cNvSpPr txBox="1"/>
          <p:nvPr/>
        </p:nvSpPr>
        <p:spPr>
          <a:xfrm>
            <a:off x="1219200" y="4013200"/>
            <a:ext cx="7874000" cy="762000"/>
          </a:xfrm>
          <a:prstGeom prst="rect">
            <a:avLst/>
          </a:prstGeom>
          <a:noFill/>
        </p:spPr>
        <p:txBody>
          <a:bodyPr vert="horz" wrap="square" lIns="0" tIns="0" rIns="0" bIns="0" rtlCol="0">
            <a:noAutofit/>
          </a:bodyPr>
          <a:lstStyle/>
          <a:p>
            <a:r>
              <a:rPr lang="fr-FR" sz="2000">
                <a:solidFill>
                  <a:srgbClr val="AEB9E3"/>
                </a:solidFill>
                <a:latin typeface="Calibri" panose="020F0502020204030204" pitchFamily="34" charset="0"/>
              </a:rPr>
              <a:t>Rôles, responsabilités et règles de gestion</a:t>
            </a:r>
          </a:p>
        </p:txBody>
      </p:sp>
      <p:pic>
        <p:nvPicPr>
          <p:cNvPr id="6" name="Image 5">
            <a:extLst>
              <a:ext uri="{FF2B5EF4-FFF2-40B4-BE49-F238E27FC236}">
                <a16:creationId xmlns:a16="http://schemas.microsoft.com/office/drawing/2014/main" id="{8BB02BE9-9D3E-C6D8-A522-99478B6D2E7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382000" y="1651000"/>
            <a:ext cx="3302000" cy="3302000"/>
          </a:xfrm>
          <a:prstGeom prst="rect">
            <a:avLst/>
          </a:prstGeom>
        </p:spPr>
      </p:pic>
      <p:sp>
        <p:nvSpPr>
          <p:cNvPr id="7" name="ZoneTexte 6">
            <a:extLst>
              <a:ext uri="{FF2B5EF4-FFF2-40B4-BE49-F238E27FC236}">
                <a16:creationId xmlns:a16="http://schemas.microsoft.com/office/drawing/2014/main" id="{0F898171-C2A5-8C89-D622-9393BA589F30}"/>
              </a:ext>
            </a:extLst>
          </p:cNvPr>
          <p:cNvSpPr txBox="1"/>
          <p:nvPr/>
        </p:nvSpPr>
        <p:spPr>
          <a:xfrm>
            <a:off x="1219200" y="6350000"/>
            <a:ext cx="8890000" cy="177800"/>
          </a:xfrm>
          <a:prstGeom prst="rect">
            <a:avLst/>
          </a:prstGeom>
          <a:noFill/>
        </p:spPr>
        <p:txBody>
          <a:bodyPr vert="horz" wrap="square" lIns="0" tIns="0" rIns="0" bIns="0" rtlCol="0">
            <a:noAutofit/>
          </a:bodyPr>
          <a:lstStyle/>
          <a:p>
            <a:r>
              <a:rPr lang="fr-FR" sz="900">
                <a:solidFill>
                  <a:srgbClr val="7C86B8"/>
                </a:solidFill>
                <a:latin typeface="Calibri" panose="020F0502020204030204" pitchFamily="34" charset="0"/>
              </a:rPr>
              <a:t>GPIEXALT  ·  DOC-GPIEXALT-001  ·  Version 7.8</a:t>
            </a:r>
          </a:p>
        </p:txBody>
      </p:sp>
    </p:spTree>
    <p:extLst>
      <p:ext uri="{BB962C8B-B14F-4D97-AF65-F5344CB8AC3E}">
        <p14:creationId xmlns:p14="http://schemas.microsoft.com/office/powerpoint/2010/main" val="37440057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766545-E0BC-79C5-250C-2DB47DC6918E}"/>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Rôles et responsabilités</a:t>
            </a:r>
          </a:p>
        </p:txBody>
      </p:sp>
      <p:sp>
        <p:nvSpPr>
          <p:cNvPr id="3" name="ZoneTexte 2">
            <a:extLst>
              <a:ext uri="{FF2B5EF4-FFF2-40B4-BE49-F238E27FC236}">
                <a16:creationId xmlns:a16="http://schemas.microsoft.com/office/drawing/2014/main" id="{F9C6C54A-27C2-A620-CB0D-ADF72DFE43A3}"/>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GOUVERNANCE</a:t>
            </a:r>
          </a:p>
        </p:txBody>
      </p:sp>
      <p:sp>
        <p:nvSpPr>
          <p:cNvPr id="4" name="ZoneTexte 3">
            <a:extLst>
              <a:ext uri="{FF2B5EF4-FFF2-40B4-BE49-F238E27FC236}">
                <a16:creationId xmlns:a16="http://schemas.microsoft.com/office/drawing/2014/main" id="{A6AB8BFF-9195-20AE-7F8B-A69BE82FE663}"/>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Matrice proposée, à valider par la DSI</a:t>
            </a:r>
          </a:p>
        </p:txBody>
      </p:sp>
      <p:sp>
        <p:nvSpPr>
          <p:cNvPr id="5" name="ZoneTexte 4">
            <a:extLst>
              <a:ext uri="{FF2B5EF4-FFF2-40B4-BE49-F238E27FC236}">
                <a16:creationId xmlns:a16="http://schemas.microsoft.com/office/drawing/2014/main" id="{5D3713A5-0D22-4B6F-85D8-5ED080749A37}"/>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4D8F9540-73BC-7C00-3B88-5E87AC7AA52D}"/>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06BEAB66-D59D-460E-B0A7-6B86720C3B1D}" type="slidenum">
              <a:rPr lang="fr-FR" sz="900" smtClean="0">
                <a:solidFill>
                  <a:srgbClr val="586080"/>
                </a:solidFill>
                <a:latin typeface="Calibri" panose="020F0502020204030204" pitchFamily="34" charset="0"/>
              </a:rPr>
              <a:t>51</a:t>
            </a:fld>
            <a:endParaRPr lang="fr-FR" sz="900">
              <a:solidFill>
                <a:srgbClr val="586080"/>
              </a:solidFill>
              <a:latin typeface="Calibri" panose="020F0502020204030204" pitchFamily="34" charset="0"/>
            </a:endParaRPr>
          </a:p>
        </p:txBody>
      </p:sp>
      <p:graphicFrame>
        <p:nvGraphicFramePr>
          <p:cNvPr id="7" name="Tableau 6">
            <a:extLst>
              <a:ext uri="{FF2B5EF4-FFF2-40B4-BE49-F238E27FC236}">
                <a16:creationId xmlns:a16="http://schemas.microsoft.com/office/drawing/2014/main" id="{E33BF9B9-087E-81E4-10AE-3F830A778B87}"/>
              </a:ext>
            </a:extLst>
          </p:cNvPr>
          <p:cNvGraphicFramePr>
            <a:graphicFrameLocks noGrp="1"/>
          </p:cNvGraphicFramePr>
          <p:nvPr>
            <p:extLst>
              <p:ext uri="{D42A27DB-BD31-4B8C-83A1-F6EECF244321}">
                <p14:modId xmlns:p14="http://schemas.microsoft.com/office/powerpoint/2010/main" val="1400104040"/>
              </p:ext>
            </p:extLst>
          </p:nvPr>
        </p:nvGraphicFramePr>
        <p:xfrm>
          <a:off x="609600" y="1600200"/>
          <a:ext cx="10972800" cy="393700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63793326"/>
                    </a:ext>
                  </a:extLst>
                </a:gridCol>
                <a:gridCol w="1422400">
                  <a:extLst>
                    <a:ext uri="{9D8B030D-6E8A-4147-A177-3AD203B41FA5}">
                      <a16:colId xmlns:a16="http://schemas.microsoft.com/office/drawing/2014/main" val="491258896"/>
                    </a:ext>
                  </a:extLst>
                </a:gridCol>
                <a:gridCol w="1422400">
                  <a:extLst>
                    <a:ext uri="{9D8B030D-6E8A-4147-A177-3AD203B41FA5}">
                      <a16:colId xmlns:a16="http://schemas.microsoft.com/office/drawing/2014/main" val="3683280302"/>
                    </a:ext>
                  </a:extLst>
                </a:gridCol>
                <a:gridCol w="1447800">
                  <a:extLst>
                    <a:ext uri="{9D8B030D-6E8A-4147-A177-3AD203B41FA5}">
                      <a16:colId xmlns:a16="http://schemas.microsoft.com/office/drawing/2014/main" val="1947760290"/>
                    </a:ext>
                  </a:extLst>
                </a:gridCol>
                <a:gridCol w="1422400">
                  <a:extLst>
                    <a:ext uri="{9D8B030D-6E8A-4147-A177-3AD203B41FA5}">
                      <a16:colId xmlns:a16="http://schemas.microsoft.com/office/drawing/2014/main" val="1877404591"/>
                    </a:ext>
                  </a:extLst>
                </a:gridCol>
              </a:tblGrid>
              <a:tr h="393700">
                <a:tc>
                  <a:txBody>
                    <a:bodyPr/>
                    <a:lstStyle/>
                    <a:p>
                      <a:pPr algn="l"/>
                      <a:r>
                        <a:rPr lang="fr-FR" sz="1300" b="1">
                          <a:solidFill>
                            <a:srgbClr val="FFFFFF"/>
                          </a:solidFill>
                          <a:latin typeface="Calibri" panose="020F0502020204030204" pitchFamily="34" charset="0"/>
                        </a:rPr>
                        <a:t>Activité</a:t>
                      </a:r>
                    </a:p>
                  </a:txBody>
                  <a:tcPr marL="127000" marR="127000" marT="38100" marB="38100" anchor="ctr">
                    <a:solidFill>
                      <a:srgbClr val="1E1C8C"/>
                    </a:solidFill>
                  </a:tcPr>
                </a:tc>
                <a:tc>
                  <a:txBody>
                    <a:bodyPr/>
                    <a:lstStyle/>
                    <a:p>
                      <a:pPr algn="ctr"/>
                      <a:r>
                        <a:rPr lang="fr-FR" sz="1300" b="1">
                          <a:solidFill>
                            <a:srgbClr val="FFFFFF"/>
                          </a:solidFill>
                          <a:latin typeface="Calibri" panose="020F0502020204030204" pitchFamily="34" charset="0"/>
                        </a:rPr>
                        <a:t>Agent IT</a:t>
                      </a:r>
                    </a:p>
                  </a:txBody>
                  <a:tcPr marL="127000" marR="127000" marT="38100" marB="38100" anchor="ctr">
                    <a:solidFill>
                      <a:srgbClr val="1E1C8C"/>
                    </a:solidFill>
                  </a:tcPr>
                </a:tc>
                <a:tc>
                  <a:txBody>
                    <a:bodyPr/>
                    <a:lstStyle/>
                    <a:p>
                      <a:pPr algn="ctr"/>
                      <a:r>
                        <a:rPr lang="fr-FR" sz="1300" b="1">
                          <a:solidFill>
                            <a:srgbClr val="FFFFFF"/>
                          </a:solidFill>
                          <a:latin typeface="Calibri" panose="020F0502020204030204" pitchFamily="34" charset="0"/>
                        </a:rPr>
                        <a:t>DSI</a:t>
                      </a:r>
                    </a:p>
                  </a:txBody>
                  <a:tcPr marL="127000" marR="127000" marT="38100" marB="38100" anchor="ctr">
                    <a:solidFill>
                      <a:srgbClr val="1E1C8C"/>
                    </a:solidFill>
                  </a:tcPr>
                </a:tc>
                <a:tc>
                  <a:txBody>
                    <a:bodyPr/>
                    <a:lstStyle/>
                    <a:p>
                      <a:pPr algn="ctr"/>
                      <a:r>
                        <a:rPr lang="fr-FR" sz="1300" b="1">
                          <a:solidFill>
                            <a:srgbClr val="FFFFFF"/>
                          </a:solidFill>
                          <a:latin typeface="Calibri" panose="020F0502020204030204" pitchFamily="34" charset="0"/>
                        </a:rPr>
                        <a:t>Admin. appli</a:t>
                      </a:r>
                    </a:p>
                  </a:txBody>
                  <a:tcPr marL="127000" marR="127000" marT="38100" marB="38100" anchor="ctr">
                    <a:solidFill>
                      <a:srgbClr val="1E1C8C"/>
                    </a:solidFill>
                  </a:tcPr>
                </a:tc>
                <a:tc>
                  <a:txBody>
                    <a:bodyPr/>
                    <a:lstStyle/>
                    <a:p>
                      <a:pPr algn="ctr"/>
                      <a:r>
                        <a:rPr lang="fr-FR" sz="1300" b="1">
                          <a:solidFill>
                            <a:srgbClr val="FFFFFF"/>
                          </a:solidFill>
                          <a:latin typeface="Calibri" panose="020F0502020204030204" pitchFamily="34" charset="0"/>
                        </a:rPr>
                        <a:t>Collaborateur</a:t>
                      </a:r>
                    </a:p>
                  </a:txBody>
                  <a:tcPr marL="127000" marR="127000" marT="38100" marB="38100" anchor="ctr">
                    <a:solidFill>
                      <a:srgbClr val="1E1C8C"/>
                    </a:solidFill>
                  </a:tcPr>
                </a:tc>
                <a:extLst>
                  <a:ext uri="{0D108BD9-81ED-4DB2-BD59-A6C34878D82A}">
                    <a16:rowId xmlns:a16="http://schemas.microsoft.com/office/drawing/2014/main" val="2372749307"/>
                  </a:ext>
                </a:extLst>
              </a:tr>
              <a:tr h="393700">
                <a:tc>
                  <a:txBody>
                    <a:bodyPr/>
                    <a:lstStyle/>
                    <a:p>
                      <a:pPr algn="l"/>
                      <a:r>
                        <a:rPr lang="fr-FR" sz="1300" b="1">
                          <a:solidFill>
                            <a:srgbClr val="12162B"/>
                          </a:solidFill>
                          <a:latin typeface="Calibri" panose="020F0502020204030204" pitchFamily="34" charset="0"/>
                        </a:rPr>
                        <a:t>Enregistrer un prêt</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R</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I</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C</a:t>
                      </a:r>
                    </a:p>
                  </a:txBody>
                  <a:tcPr marL="127000" marR="127000" marT="38100" marB="38100" anchor="ctr">
                    <a:solidFill>
                      <a:srgbClr val="FFFFFF"/>
                    </a:solidFill>
                  </a:tcPr>
                </a:tc>
                <a:extLst>
                  <a:ext uri="{0D108BD9-81ED-4DB2-BD59-A6C34878D82A}">
                    <a16:rowId xmlns:a16="http://schemas.microsoft.com/office/drawing/2014/main" val="170173002"/>
                  </a:ext>
                </a:extLst>
              </a:tr>
              <a:tr h="393700">
                <a:tc>
                  <a:txBody>
                    <a:bodyPr/>
                    <a:lstStyle/>
                    <a:p>
                      <a:pPr algn="l"/>
                      <a:r>
                        <a:rPr lang="fr-FR" sz="1300" b="1">
                          <a:solidFill>
                            <a:srgbClr val="12162B"/>
                          </a:solidFill>
                          <a:latin typeface="Calibri" panose="020F0502020204030204" pitchFamily="34" charset="0"/>
                        </a:rPr>
                        <a:t>Enregistrer une restitution et envoyer l'attestation</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R</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I</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I</a:t>
                      </a:r>
                    </a:p>
                  </a:txBody>
                  <a:tcPr marL="127000" marR="127000" marT="38100" marB="38100" anchor="ctr">
                    <a:solidFill>
                      <a:srgbClr val="F0F2FA"/>
                    </a:solidFill>
                  </a:tcPr>
                </a:tc>
                <a:extLst>
                  <a:ext uri="{0D108BD9-81ED-4DB2-BD59-A6C34878D82A}">
                    <a16:rowId xmlns:a16="http://schemas.microsoft.com/office/drawing/2014/main" val="2856893465"/>
                  </a:ext>
                </a:extLst>
              </a:tr>
              <a:tr h="393700">
                <a:tc>
                  <a:txBody>
                    <a:bodyPr/>
                    <a:lstStyle/>
                    <a:p>
                      <a:pPr algn="l"/>
                      <a:r>
                        <a:rPr lang="fr-FR" sz="1300" b="1">
                          <a:solidFill>
                            <a:srgbClr val="12162B"/>
                          </a:solidFill>
                          <a:latin typeface="Calibri" panose="020F0502020204030204" pitchFamily="34" charset="0"/>
                        </a:rPr>
                        <a:t>Relancer une attestation non signée</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R</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I</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I</a:t>
                      </a:r>
                    </a:p>
                  </a:txBody>
                  <a:tcPr marL="127000" marR="127000" marT="38100" marB="38100" anchor="ctr">
                    <a:solidFill>
                      <a:srgbClr val="FFFFFF"/>
                    </a:solidFill>
                  </a:tcPr>
                </a:tc>
                <a:extLst>
                  <a:ext uri="{0D108BD9-81ED-4DB2-BD59-A6C34878D82A}">
                    <a16:rowId xmlns:a16="http://schemas.microsoft.com/office/drawing/2014/main" val="1628761845"/>
                  </a:ext>
                </a:extLst>
              </a:tr>
              <a:tr h="393700">
                <a:tc>
                  <a:txBody>
                    <a:bodyPr/>
                    <a:lstStyle/>
                    <a:p>
                      <a:pPr algn="l"/>
                      <a:r>
                        <a:rPr lang="fr-FR" sz="1300" b="1">
                          <a:solidFill>
                            <a:srgbClr val="12162B"/>
                          </a:solidFill>
                          <a:latin typeface="Calibri" panose="020F0502020204030204" pitchFamily="34" charset="0"/>
                        </a:rPr>
                        <a:t>Marquer comme signée et archiver</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R</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A</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C</a:t>
                      </a:r>
                    </a:p>
                  </a:txBody>
                  <a:tcPr marL="127000" marR="127000" marT="38100" marB="38100" anchor="ctr">
                    <a:solidFill>
                      <a:srgbClr val="F0F2FA"/>
                    </a:solidFill>
                  </a:tcPr>
                </a:tc>
                <a:extLst>
                  <a:ext uri="{0D108BD9-81ED-4DB2-BD59-A6C34878D82A}">
                    <a16:rowId xmlns:a16="http://schemas.microsoft.com/office/drawing/2014/main" val="3848829923"/>
                  </a:ext>
                </a:extLst>
              </a:tr>
              <a:tr h="393700">
                <a:tc>
                  <a:txBody>
                    <a:bodyPr/>
                    <a:lstStyle/>
                    <a:p>
                      <a:pPr algn="l"/>
                      <a:r>
                        <a:rPr lang="fr-FR" sz="1300" b="1">
                          <a:solidFill>
                            <a:srgbClr val="12162B"/>
                          </a:solidFill>
                          <a:latin typeface="Calibri" panose="020F0502020204030204" pitchFamily="34" charset="0"/>
                        </a:rPr>
                        <a:t>Déclarer un matériel perdu, volé ou abîmé</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R</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A</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C</a:t>
                      </a:r>
                    </a:p>
                  </a:txBody>
                  <a:tcPr marL="127000" marR="127000" marT="38100" marB="38100" anchor="ctr">
                    <a:solidFill>
                      <a:srgbClr val="FFFFFF"/>
                    </a:solidFill>
                  </a:tcPr>
                </a:tc>
                <a:extLst>
                  <a:ext uri="{0D108BD9-81ED-4DB2-BD59-A6C34878D82A}">
                    <a16:rowId xmlns:a16="http://schemas.microsoft.com/office/drawing/2014/main" val="1620761186"/>
                  </a:ext>
                </a:extLst>
              </a:tr>
              <a:tr h="393700">
                <a:tc>
                  <a:txBody>
                    <a:bodyPr/>
                    <a:lstStyle/>
                    <a:p>
                      <a:pPr algn="l"/>
                      <a:r>
                        <a:rPr lang="fr-FR" sz="1300" b="1">
                          <a:solidFill>
                            <a:srgbClr val="12162B"/>
                          </a:solidFill>
                          <a:latin typeface="Calibri" panose="020F0502020204030204" pitchFamily="34" charset="0"/>
                        </a:rPr>
                        <a:t>Fournir un PDF signé (audit, litige)</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R</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A</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0F2FA"/>
                    </a:solidFill>
                  </a:tcPr>
                </a:tc>
                <a:extLst>
                  <a:ext uri="{0D108BD9-81ED-4DB2-BD59-A6C34878D82A}">
                    <a16:rowId xmlns:a16="http://schemas.microsoft.com/office/drawing/2014/main" val="1812486254"/>
                  </a:ext>
                </a:extLst>
              </a:tr>
              <a:tr h="393700">
                <a:tc>
                  <a:txBody>
                    <a:bodyPr/>
                    <a:lstStyle/>
                    <a:p>
                      <a:pPr algn="l"/>
                      <a:r>
                        <a:rPr lang="fr-FR" sz="1300" b="1">
                          <a:solidFill>
                            <a:srgbClr val="12162B"/>
                          </a:solidFill>
                          <a:latin typeface="Calibri" panose="020F0502020204030204" pitchFamily="34" charset="0"/>
                        </a:rPr>
                        <a:t>Publier une nouvelle version de l'application</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C</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A</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R</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FFFFF"/>
                    </a:solidFill>
                  </a:tcPr>
                </a:tc>
                <a:extLst>
                  <a:ext uri="{0D108BD9-81ED-4DB2-BD59-A6C34878D82A}">
                    <a16:rowId xmlns:a16="http://schemas.microsoft.com/office/drawing/2014/main" val="2075299109"/>
                  </a:ext>
                </a:extLst>
              </a:tr>
              <a:tr h="393700">
                <a:tc>
                  <a:txBody>
                    <a:bodyPr/>
                    <a:lstStyle/>
                    <a:p>
                      <a:pPr algn="l"/>
                      <a:r>
                        <a:rPr lang="fr-FR" sz="1300" b="1">
                          <a:solidFill>
                            <a:srgbClr val="12162B"/>
                          </a:solidFill>
                          <a:latin typeface="Calibri" panose="020F0502020204030204" pitchFamily="34" charset="0"/>
                        </a:rPr>
                        <a:t>Gérer les accès (partage, connecteurs)</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A</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R</a:t>
                      </a:r>
                    </a:p>
                  </a:txBody>
                  <a:tcPr marL="127000" marR="127000" marT="38100" marB="38100" anchor="ctr">
                    <a:solidFill>
                      <a:srgbClr val="F0F2FA"/>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0F2FA"/>
                    </a:solidFill>
                  </a:tcPr>
                </a:tc>
                <a:extLst>
                  <a:ext uri="{0D108BD9-81ED-4DB2-BD59-A6C34878D82A}">
                    <a16:rowId xmlns:a16="http://schemas.microsoft.com/office/drawing/2014/main" val="1745395196"/>
                  </a:ext>
                </a:extLst>
              </a:tr>
              <a:tr h="393700">
                <a:tc>
                  <a:txBody>
                    <a:bodyPr/>
                    <a:lstStyle/>
                    <a:p>
                      <a:pPr algn="l"/>
                      <a:r>
                        <a:rPr lang="fr-FR" sz="1300" b="1">
                          <a:solidFill>
                            <a:srgbClr val="12162B"/>
                          </a:solidFill>
                          <a:latin typeface="Calibri" panose="020F0502020204030204" pitchFamily="34" charset="0"/>
                        </a:rPr>
                        <a:t>Tenir la documentation à jour</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C</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A</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R</a:t>
                      </a:r>
                    </a:p>
                  </a:txBody>
                  <a:tcPr marL="127000" marR="127000" marT="38100" marB="38100" anchor="ctr">
                    <a:solidFill>
                      <a:srgbClr val="FFFFFF"/>
                    </a:solidFill>
                  </a:tcPr>
                </a:tc>
                <a:tc>
                  <a:txBody>
                    <a:bodyPr/>
                    <a:lstStyle/>
                    <a:p>
                      <a:pPr algn="ctr"/>
                      <a:r>
                        <a:rPr lang="fr-FR" sz="1300" b="0">
                          <a:solidFill>
                            <a:srgbClr val="12162B"/>
                          </a:solidFill>
                          <a:latin typeface="Calibri" panose="020F0502020204030204" pitchFamily="34" charset="0"/>
                        </a:rPr>
                        <a:t>–</a:t>
                      </a:r>
                    </a:p>
                  </a:txBody>
                  <a:tcPr marL="127000" marR="127000" marT="38100" marB="38100" anchor="ctr">
                    <a:solidFill>
                      <a:srgbClr val="FFFFFF"/>
                    </a:solidFill>
                  </a:tcPr>
                </a:tc>
                <a:extLst>
                  <a:ext uri="{0D108BD9-81ED-4DB2-BD59-A6C34878D82A}">
                    <a16:rowId xmlns:a16="http://schemas.microsoft.com/office/drawing/2014/main" val="2551951170"/>
                  </a:ext>
                </a:extLst>
              </a:tr>
            </a:tbl>
          </a:graphicData>
        </a:graphic>
      </p:graphicFrame>
      <p:sp>
        <p:nvSpPr>
          <p:cNvPr id="8" name="ZoneTexte 7">
            <a:extLst>
              <a:ext uri="{FF2B5EF4-FFF2-40B4-BE49-F238E27FC236}">
                <a16:creationId xmlns:a16="http://schemas.microsoft.com/office/drawing/2014/main" id="{06B39EFE-6037-7694-CB7B-F5E44E217809}"/>
              </a:ext>
            </a:extLst>
          </p:cNvPr>
          <p:cNvSpPr txBox="1"/>
          <p:nvPr/>
        </p:nvSpPr>
        <p:spPr>
          <a:xfrm>
            <a:off x="609600" y="5689600"/>
            <a:ext cx="10972800" cy="508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R = réalise  ·  A = approuve  ·  C = consulté  ·  I = informé.   Cinq rôles dans l'application ; le partage de la page reste la limite réelle.</a:t>
            </a:r>
          </a:p>
        </p:txBody>
      </p:sp>
    </p:spTree>
    <p:extLst>
      <p:ext uri="{BB962C8B-B14F-4D97-AF65-F5344CB8AC3E}">
        <p14:creationId xmlns:p14="http://schemas.microsoft.com/office/powerpoint/2010/main" val="18621442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ADF499-6A6D-B2DF-C57B-894DB3AE0A38}"/>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Règles de gestion appliquées</a:t>
            </a:r>
          </a:p>
        </p:txBody>
      </p:sp>
      <p:sp>
        <p:nvSpPr>
          <p:cNvPr id="3" name="ZoneTexte 2">
            <a:extLst>
              <a:ext uri="{FF2B5EF4-FFF2-40B4-BE49-F238E27FC236}">
                <a16:creationId xmlns:a16="http://schemas.microsoft.com/office/drawing/2014/main" id="{308E538B-E860-A8FC-45D5-470E728625AB}"/>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GOUVERNANCE</a:t>
            </a:r>
          </a:p>
        </p:txBody>
      </p:sp>
      <p:sp>
        <p:nvSpPr>
          <p:cNvPr id="4" name="ZoneTexte 3">
            <a:extLst>
              <a:ext uri="{FF2B5EF4-FFF2-40B4-BE49-F238E27FC236}">
                <a16:creationId xmlns:a16="http://schemas.microsoft.com/office/drawing/2014/main" id="{74D692EE-16FB-8E53-5412-4260CA733F2A}"/>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Quarante-six règles dans le dossier PDF ; les six essentielles ici</a:t>
            </a:r>
          </a:p>
        </p:txBody>
      </p:sp>
      <p:sp>
        <p:nvSpPr>
          <p:cNvPr id="5" name="ZoneTexte 4">
            <a:extLst>
              <a:ext uri="{FF2B5EF4-FFF2-40B4-BE49-F238E27FC236}">
                <a16:creationId xmlns:a16="http://schemas.microsoft.com/office/drawing/2014/main" id="{4EC57DAA-1497-C915-14C4-56979076A4CA}"/>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3E6077E0-42D7-9E1A-F5C8-3B218FF6C7E2}"/>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EB91115B-B68C-4CD3-BB6B-A881AE091624}" type="slidenum">
              <a:rPr lang="fr-FR" sz="900" smtClean="0">
                <a:solidFill>
                  <a:srgbClr val="586080"/>
                </a:solidFill>
                <a:latin typeface="Calibri" panose="020F0502020204030204" pitchFamily="34" charset="0"/>
              </a:rPr>
              <a:t>52</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743ABCCA-EF86-2CB1-2CC5-AE84E2CB8B43}"/>
              </a:ext>
            </a:extLst>
          </p:cNvPr>
          <p:cNvSpPr/>
          <p:nvPr/>
        </p:nvSpPr>
        <p:spPr>
          <a:xfrm>
            <a:off x="609600" y="1625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7CE77226-91A7-513E-156E-36BC67BABF86}"/>
              </a:ext>
            </a:extLst>
          </p:cNvPr>
          <p:cNvSpPr/>
          <p:nvPr/>
        </p:nvSpPr>
        <p:spPr>
          <a:xfrm>
            <a:off x="838200" y="1854200"/>
            <a:ext cx="203200" cy="2032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9" name="ZoneTexte 8">
            <a:extLst>
              <a:ext uri="{FF2B5EF4-FFF2-40B4-BE49-F238E27FC236}">
                <a16:creationId xmlns:a16="http://schemas.microsoft.com/office/drawing/2014/main" id="{B6CCDB19-2736-A6E9-2244-1A2A7E8E9D8B}"/>
              </a:ext>
            </a:extLst>
          </p:cNvPr>
          <p:cNvSpPr txBox="1"/>
          <p:nvPr/>
        </p:nvSpPr>
        <p:spPr>
          <a:xfrm>
            <a:off x="1168400" y="1803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RG-01 · Disponibilité</a:t>
            </a:r>
          </a:p>
        </p:txBody>
      </p:sp>
      <p:sp>
        <p:nvSpPr>
          <p:cNvPr id="10" name="ZoneTexte 9">
            <a:extLst>
              <a:ext uri="{FF2B5EF4-FFF2-40B4-BE49-F238E27FC236}">
                <a16:creationId xmlns:a16="http://schemas.microsoft.com/office/drawing/2014/main" id="{D9D935F5-2AFD-9AFE-B8A4-FAFE2110059A}"/>
              </a:ext>
            </a:extLst>
          </p:cNvPr>
          <p:cNvSpPr txBox="1"/>
          <p:nvPr/>
        </p:nvSpPr>
        <p:spPr>
          <a:xfrm>
            <a:off x="838200" y="2336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Un équipement ne peut être emprunté que s'il est disponible : jamais emprunté, ou redevenu libre.</a:t>
            </a:r>
          </a:p>
        </p:txBody>
      </p:sp>
      <p:sp>
        <p:nvSpPr>
          <p:cNvPr id="11" name="Rectangle : coins arrondis 10">
            <a:extLst>
              <a:ext uri="{FF2B5EF4-FFF2-40B4-BE49-F238E27FC236}">
                <a16:creationId xmlns:a16="http://schemas.microsoft.com/office/drawing/2014/main" id="{3B8F80C3-E734-F9FB-B526-1FFD851EEAAF}"/>
              </a:ext>
            </a:extLst>
          </p:cNvPr>
          <p:cNvSpPr/>
          <p:nvPr/>
        </p:nvSpPr>
        <p:spPr>
          <a:xfrm>
            <a:off x="4381500" y="1625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C34F0EE5-AD12-2A51-EDD0-4838C3068065}"/>
              </a:ext>
            </a:extLst>
          </p:cNvPr>
          <p:cNvSpPr/>
          <p:nvPr/>
        </p:nvSpPr>
        <p:spPr>
          <a:xfrm>
            <a:off x="4610100" y="1854200"/>
            <a:ext cx="203200" cy="2032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13" name="ZoneTexte 12">
            <a:extLst>
              <a:ext uri="{FF2B5EF4-FFF2-40B4-BE49-F238E27FC236}">
                <a16:creationId xmlns:a16="http://schemas.microsoft.com/office/drawing/2014/main" id="{584F36D6-1C1B-F313-BC0A-8D10118D30B8}"/>
              </a:ext>
            </a:extLst>
          </p:cNvPr>
          <p:cNvSpPr txBox="1"/>
          <p:nvPr/>
        </p:nvSpPr>
        <p:spPr>
          <a:xfrm>
            <a:off x="4940300" y="1803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RG-03 · Signature</a:t>
            </a:r>
          </a:p>
        </p:txBody>
      </p:sp>
      <p:sp>
        <p:nvSpPr>
          <p:cNvPr id="14" name="ZoneTexte 13">
            <a:extLst>
              <a:ext uri="{FF2B5EF4-FFF2-40B4-BE49-F238E27FC236}">
                <a16:creationId xmlns:a16="http://schemas.microsoft.com/office/drawing/2014/main" id="{310F2A64-339E-7F8F-B345-043AA0D86A6B}"/>
              </a:ext>
            </a:extLst>
          </p:cNvPr>
          <p:cNvSpPr txBox="1"/>
          <p:nvPr/>
        </p:nvSpPr>
        <p:spPr>
          <a:xfrm>
            <a:off x="4610100" y="2336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Une attestation ne passe à « Signée » que par l'action « Marquer comme signée ».</a:t>
            </a:r>
          </a:p>
        </p:txBody>
      </p:sp>
      <p:sp>
        <p:nvSpPr>
          <p:cNvPr id="15" name="Rectangle : coins arrondis 14">
            <a:extLst>
              <a:ext uri="{FF2B5EF4-FFF2-40B4-BE49-F238E27FC236}">
                <a16:creationId xmlns:a16="http://schemas.microsoft.com/office/drawing/2014/main" id="{2D9A00FC-F2D8-16C6-AD54-FB318B3BC97B}"/>
              </a:ext>
            </a:extLst>
          </p:cNvPr>
          <p:cNvSpPr/>
          <p:nvPr/>
        </p:nvSpPr>
        <p:spPr>
          <a:xfrm>
            <a:off x="8153400" y="1625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FD7D28C8-5F83-5910-DEC6-7BF16C93CF1D}"/>
              </a:ext>
            </a:extLst>
          </p:cNvPr>
          <p:cNvSpPr/>
          <p:nvPr/>
        </p:nvSpPr>
        <p:spPr>
          <a:xfrm>
            <a:off x="8382000" y="1854200"/>
            <a:ext cx="203200" cy="203200"/>
          </a:xfrm>
          <a:prstGeom prst="ellipse">
            <a:avLst/>
          </a:prstGeom>
          <a:solidFill>
            <a:srgbClr val="0E8E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17" name="ZoneTexte 16">
            <a:extLst>
              <a:ext uri="{FF2B5EF4-FFF2-40B4-BE49-F238E27FC236}">
                <a16:creationId xmlns:a16="http://schemas.microsoft.com/office/drawing/2014/main" id="{1EB9B17E-C191-43C1-FAFD-B9AF23612A6C}"/>
              </a:ext>
            </a:extLst>
          </p:cNvPr>
          <p:cNvSpPr txBox="1"/>
          <p:nvPr/>
        </p:nvSpPr>
        <p:spPr>
          <a:xfrm>
            <a:off x="8712200" y="1803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RG-34 et 35 · Stock</a:t>
            </a:r>
          </a:p>
        </p:txBody>
      </p:sp>
      <p:sp>
        <p:nvSpPr>
          <p:cNvPr id="18" name="ZoneTexte 17">
            <a:extLst>
              <a:ext uri="{FF2B5EF4-FFF2-40B4-BE49-F238E27FC236}">
                <a16:creationId xmlns:a16="http://schemas.microsoft.com/office/drawing/2014/main" id="{6B36B858-B9E6-A07A-DF8C-7882A618F457}"/>
              </a:ext>
            </a:extLst>
          </p:cNvPr>
          <p:cNvSpPr txBox="1"/>
          <p:nvPr/>
        </p:nvSpPr>
        <p:spPr>
          <a:xfrm>
            <a:off x="8382000" y="2336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Stock = acheté − chez les personnes − en attente − perdu, jamais négatif. Sans stock, un matériel ne peut plus être prêté.</a:t>
            </a:r>
          </a:p>
        </p:txBody>
      </p:sp>
      <p:sp>
        <p:nvSpPr>
          <p:cNvPr id="19" name="Rectangle : coins arrondis 18">
            <a:extLst>
              <a:ext uri="{FF2B5EF4-FFF2-40B4-BE49-F238E27FC236}">
                <a16:creationId xmlns:a16="http://schemas.microsoft.com/office/drawing/2014/main" id="{A67B5E2B-5C43-516D-0E5A-0E1ED69641EE}"/>
              </a:ext>
            </a:extLst>
          </p:cNvPr>
          <p:cNvSpPr/>
          <p:nvPr/>
        </p:nvSpPr>
        <p:spPr>
          <a:xfrm>
            <a:off x="609600" y="4038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59DE7034-84F7-8E78-747F-4A11EC498CCC}"/>
              </a:ext>
            </a:extLst>
          </p:cNvPr>
          <p:cNvSpPr/>
          <p:nvPr/>
        </p:nvSpPr>
        <p:spPr>
          <a:xfrm>
            <a:off x="838200" y="4267200"/>
            <a:ext cx="203200" cy="203200"/>
          </a:xfrm>
          <a:prstGeom prst="ellipse">
            <a:avLst/>
          </a:prstGeom>
          <a:solidFill>
            <a:srgbClr val="7C4D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21" name="ZoneTexte 20">
            <a:extLst>
              <a:ext uri="{FF2B5EF4-FFF2-40B4-BE49-F238E27FC236}">
                <a16:creationId xmlns:a16="http://schemas.microsoft.com/office/drawing/2014/main" id="{0A500B98-CD3F-2C37-D55B-CDBC8106A361}"/>
              </a:ext>
            </a:extLst>
          </p:cNvPr>
          <p:cNvSpPr txBox="1"/>
          <p:nvPr/>
        </p:nvSpPr>
        <p:spPr>
          <a:xfrm>
            <a:off x="1168400" y="4216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RG-17 et 18 · Rôles</a:t>
            </a:r>
          </a:p>
        </p:txBody>
      </p:sp>
      <p:sp>
        <p:nvSpPr>
          <p:cNvPr id="22" name="ZoneTexte 21">
            <a:extLst>
              <a:ext uri="{FF2B5EF4-FFF2-40B4-BE49-F238E27FC236}">
                <a16:creationId xmlns:a16="http://schemas.microsoft.com/office/drawing/2014/main" id="{18CC5CA7-F6A2-4B03-AAF5-4DBBFD211307}"/>
              </a:ext>
            </a:extLst>
          </p:cNvPr>
          <p:cNvSpPr txBox="1"/>
          <p:nvPr/>
        </p:nvSpPr>
        <p:spPr>
          <a:xfrm>
            <a:off x="838200" y="4749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Cinq rôles ; un collaborateur ne voit que son matériel et ses documents, en consultation seule.</a:t>
            </a:r>
          </a:p>
        </p:txBody>
      </p:sp>
      <p:sp>
        <p:nvSpPr>
          <p:cNvPr id="23" name="Rectangle : coins arrondis 22">
            <a:extLst>
              <a:ext uri="{FF2B5EF4-FFF2-40B4-BE49-F238E27FC236}">
                <a16:creationId xmlns:a16="http://schemas.microsoft.com/office/drawing/2014/main" id="{5DEF16C7-9A9E-D197-9DDE-08E551C69B9A}"/>
              </a:ext>
            </a:extLst>
          </p:cNvPr>
          <p:cNvSpPr/>
          <p:nvPr/>
        </p:nvSpPr>
        <p:spPr>
          <a:xfrm>
            <a:off x="4381500" y="4038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D468CDEC-A005-8BE1-E144-C0214B49E85C}"/>
              </a:ext>
            </a:extLst>
          </p:cNvPr>
          <p:cNvSpPr/>
          <p:nvPr/>
        </p:nvSpPr>
        <p:spPr>
          <a:xfrm>
            <a:off x="4610100" y="4267200"/>
            <a:ext cx="203200" cy="203200"/>
          </a:xfrm>
          <a:prstGeom prst="ellipse">
            <a:avLst/>
          </a:prstGeom>
          <a:solidFill>
            <a:srgbClr val="B6760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25" name="ZoneTexte 24">
            <a:extLst>
              <a:ext uri="{FF2B5EF4-FFF2-40B4-BE49-F238E27FC236}">
                <a16:creationId xmlns:a16="http://schemas.microsoft.com/office/drawing/2014/main" id="{13534B17-9ABB-F647-DD78-3DC186D1CCC9}"/>
              </a:ext>
            </a:extLst>
          </p:cNvPr>
          <p:cNvSpPr txBox="1"/>
          <p:nvPr/>
        </p:nvSpPr>
        <p:spPr>
          <a:xfrm>
            <a:off x="4940300" y="4216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RG-06, 25 et 26 · Retards</a:t>
            </a:r>
          </a:p>
        </p:txBody>
      </p:sp>
      <p:sp>
        <p:nvSpPr>
          <p:cNvPr id="26" name="ZoneTexte 25">
            <a:extLst>
              <a:ext uri="{FF2B5EF4-FFF2-40B4-BE49-F238E27FC236}">
                <a16:creationId xmlns:a16="http://schemas.microsoft.com/office/drawing/2014/main" id="{5655ABAD-E990-8F2A-FE7F-EF02FAE2FE4E}"/>
              </a:ext>
            </a:extLst>
          </p:cNvPr>
          <p:cNvSpPr txBox="1"/>
          <p:nvPr/>
        </p:nvSpPr>
        <p:spPr>
          <a:xfrm>
            <a:off x="4610100" y="4749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À relancer dès 3 jours ; retour prévu dépassé : alerte (fenêtre, carte, pastilles, filtre).</a:t>
            </a:r>
          </a:p>
        </p:txBody>
      </p:sp>
      <p:sp>
        <p:nvSpPr>
          <p:cNvPr id="27" name="Rectangle : coins arrondis 26">
            <a:extLst>
              <a:ext uri="{FF2B5EF4-FFF2-40B4-BE49-F238E27FC236}">
                <a16:creationId xmlns:a16="http://schemas.microsoft.com/office/drawing/2014/main" id="{38980BA9-37A7-5E53-5BBA-92CFDD5F6661}"/>
              </a:ext>
            </a:extLst>
          </p:cNvPr>
          <p:cNvSpPr/>
          <p:nvPr/>
        </p:nvSpPr>
        <p:spPr>
          <a:xfrm>
            <a:off x="8153400" y="4038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836D057C-637D-0B9F-116B-D7352632886C}"/>
              </a:ext>
            </a:extLst>
          </p:cNvPr>
          <p:cNvSpPr/>
          <p:nvPr/>
        </p:nvSpPr>
        <p:spPr>
          <a:xfrm>
            <a:off x="8382000" y="4267200"/>
            <a:ext cx="203200" cy="203200"/>
          </a:xfrm>
          <a:prstGeom prst="ellipse">
            <a:avLst/>
          </a:prstGeom>
          <a:solidFill>
            <a:srgbClr val="C4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29" name="ZoneTexte 28">
            <a:extLst>
              <a:ext uri="{FF2B5EF4-FFF2-40B4-BE49-F238E27FC236}">
                <a16:creationId xmlns:a16="http://schemas.microsoft.com/office/drawing/2014/main" id="{BB686DCF-17E6-C36D-BA92-19B3923D900A}"/>
              </a:ext>
            </a:extLst>
          </p:cNvPr>
          <p:cNvSpPr txBox="1"/>
          <p:nvPr/>
        </p:nvSpPr>
        <p:spPr>
          <a:xfrm>
            <a:off x="8712200" y="4216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RG-08 et 13 · Annulation</a:t>
            </a:r>
          </a:p>
        </p:txBody>
      </p:sp>
      <p:sp>
        <p:nvSpPr>
          <p:cNvPr id="30" name="ZoneTexte 29">
            <a:extLst>
              <a:ext uri="{FF2B5EF4-FFF2-40B4-BE49-F238E27FC236}">
                <a16:creationId xmlns:a16="http://schemas.microsoft.com/office/drawing/2014/main" id="{84CAA070-A34F-70B5-D28C-0121C9D0FE9C}"/>
              </a:ext>
            </a:extLst>
          </p:cNvPr>
          <p:cNvSpPr txBox="1"/>
          <p:nvPr/>
        </p:nvSpPr>
        <p:spPr>
          <a:xfrm>
            <a:off x="8382000" y="4749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Perte irréversible ; un emprunt ou une signature s'annule par le bouton Annuler (10 secondes).</a:t>
            </a:r>
          </a:p>
        </p:txBody>
      </p:sp>
    </p:spTree>
    <p:extLst>
      <p:ext uri="{BB962C8B-B14F-4D97-AF65-F5344CB8AC3E}">
        <p14:creationId xmlns:p14="http://schemas.microsoft.com/office/powerpoint/2010/main" val="18869850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E1C8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E2D60C-7345-9433-E9EF-87C962DCEFC6}"/>
              </a:ext>
            </a:extLst>
          </p:cNvPr>
          <p:cNvSpPr>
            <a:spLocks noGrp="1"/>
          </p:cNvSpPr>
          <p:nvPr>
            <p:ph type="title"/>
          </p:nvPr>
        </p:nvSpPr>
        <p:spPr>
          <a:xfrm>
            <a:off x="1219200" y="2997200"/>
            <a:ext cx="7874000" cy="889000"/>
          </a:xfrm>
        </p:spPr>
        <p:txBody>
          <a:bodyPr lIns="0" anchor="ctr">
            <a:normAutofit/>
          </a:bodyPr>
          <a:lstStyle/>
          <a:p>
            <a:r>
              <a:rPr lang="fr-FR" b="1">
                <a:solidFill>
                  <a:srgbClr val="FFFFFF"/>
                </a:solidFill>
                <a:latin typeface="Calibri" panose="020F0502020204030204" pitchFamily="34" charset="0"/>
              </a:rPr>
              <a:t>Architecture et sécurité</a:t>
            </a:r>
          </a:p>
        </p:txBody>
      </p:sp>
      <p:sp>
        <p:nvSpPr>
          <p:cNvPr id="3" name="ZoneTexte 2">
            <a:extLst>
              <a:ext uri="{FF2B5EF4-FFF2-40B4-BE49-F238E27FC236}">
                <a16:creationId xmlns:a16="http://schemas.microsoft.com/office/drawing/2014/main" id="{3C433C9E-D596-412E-58E2-DE8CC9D87885}"/>
              </a:ext>
            </a:extLst>
          </p:cNvPr>
          <p:cNvSpPr txBox="1"/>
          <p:nvPr/>
        </p:nvSpPr>
        <p:spPr>
          <a:xfrm>
            <a:off x="1219200" y="1905000"/>
            <a:ext cx="3810000" cy="1016000"/>
          </a:xfrm>
          <a:prstGeom prst="rect">
            <a:avLst/>
          </a:prstGeom>
          <a:noFill/>
        </p:spPr>
        <p:txBody>
          <a:bodyPr vert="horz" wrap="square" lIns="0" tIns="0" rIns="0" bIns="0" rtlCol="0">
            <a:noAutofit/>
          </a:bodyPr>
          <a:lstStyle/>
          <a:p>
            <a:r>
              <a:rPr lang="fr-FR" sz="8000" b="1">
                <a:solidFill>
                  <a:srgbClr val="5853FF"/>
                </a:solidFill>
                <a:latin typeface="Calibri" panose="020F0502020204030204" pitchFamily="34" charset="0"/>
              </a:rPr>
              <a:t>04</a:t>
            </a:r>
          </a:p>
        </p:txBody>
      </p:sp>
      <p:sp>
        <p:nvSpPr>
          <p:cNvPr id="4" name="ZoneTexte 3">
            <a:extLst>
              <a:ext uri="{FF2B5EF4-FFF2-40B4-BE49-F238E27FC236}">
                <a16:creationId xmlns:a16="http://schemas.microsoft.com/office/drawing/2014/main" id="{C32962CC-A37F-B636-2806-AF2A8EA9FA00}"/>
              </a:ext>
            </a:extLst>
          </p:cNvPr>
          <p:cNvSpPr txBox="1"/>
          <p:nvPr/>
        </p:nvSpPr>
        <p:spPr>
          <a:xfrm>
            <a:off x="1219200" y="4013200"/>
            <a:ext cx="7874000" cy="762000"/>
          </a:xfrm>
          <a:prstGeom prst="rect">
            <a:avLst/>
          </a:prstGeom>
          <a:noFill/>
        </p:spPr>
        <p:txBody>
          <a:bodyPr vert="horz" wrap="square" lIns="0" tIns="0" rIns="0" bIns="0" rtlCol="0">
            <a:noAutofit/>
          </a:bodyPr>
          <a:lstStyle/>
          <a:p>
            <a:r>
              <a:rPr lang="fr-FR" sz="2000">
                <a:solidFill>
                  <a:srgbClr val="AEB9E3"/>
                </a:solidFill>
                <a:latin typeface="Calibri" panose="020F0502020204030204" pitchFamily="34" charset="0"/>
              </a:rPr>
              <a:t>Composants, accès, traçabilité et données personnelles</a:t>
            </a:r>
          </a:p>
        </p:txBody>
      </p:sp>
      <p:pic>
        <p:nvPicPr>
          <p:cNvPr id="6" name="Image 5">
            <a:extLst>
              <a:ext uri="{FF2B5EF4-FFF2-40B4-BE49-F238E27FC236}">
                <a16:creationId xmlns:a16="http://schemas.microsoft.com/office/drawing/2014/main" id="{0EFCBFB8-B439-E30E-9A4D-C924DDA5A9C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382000" y="1651000"/>
            <a:ext cx="3302000" cy="3302000"/>
          </a:xfrm>
          <a:prstGeom prst="rect">
            <a:avLst/>
          </a:prstGeom>
        </p:spPr>
      </p:pic>
      <p:sp>
        <p:nvSpPr>
          <p:cNvPr id="7" name="ZoneTexte 6">
            <a:extLst>
              <a:ext uri="{FF2B5EF4-FFF2-40B4-BE49-F238E27FC236}">
                <a16:creationId xmlns:a16="http://schemas.microsoft.com/office/drawing/2014/main" id="{1063E8B4-BA0D-CB75-4230-742A71755EA4}"/>
              </a:ext>
            </a:extLst>
          </p:cNvPr>
          <p:cNvSpPr txBox="1"/>
          <p:nvPr/>
        </p:nvSpPr>
        <p:spPr>
          <a:xfrm>
            <a:off x="1219200" y="6350000"/>
            <a:ext cx="8890000" cy="177800"/>
          </a:xfrm>
          <a:prstGeom prst="rect">
            <a:avLst/>
          </a:prstGeom>
          <a:noFill/>
        </p:spPr>
        <p:txBody>
          <a:bodyPr vert="horz" wrap="square" lIns="0" tIns="0" rIns="0" bIns="0" rtlCol="0">
            <a:noAutofit/>
          </a:bodyPr>
          <a:lstStyle/>
          <a:p>
            <a:r>
              <a:rPr lang="fr-FR" sz="900">
                <a:solidFill>
                  <a:srgbClr val="7C86B8"/>
                </a:solidFill>
                <a:latin typeface="Calibri" panose="020F0502020204030204" pitchFamily="34" charset="0"/>
              </a:rPr>
              <a:t>GPIEXALT  ·  DOC-GPIEXALT-001  ·  Version 7.8</a:t>
            </a:r>
          </a:p>
        </p:txBody>
      </p:sp>
    </p:spTree>
    <p:extLst>
      <p:ext uri="{BB962C8B-B14F-4D97-AF65-F5344CB8AC3E}">
        <p14:creationId xmlns:p14="http://schemas.microsoft.com/office/powerpoint/2010/main" val="11679685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79ACE9-4625-6BDD-D9C1-A6BFACF77C69}"/>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Architecture et dépendances</a:t>
            </a:r>
          </a:p>
        </p:txBody>
      </p:sp>
      <p:sp>
        <p:nvSpPr>
          <p:cNvPr id="3" name="ZoneTexte 2">
            <a:extLst>
              <a:ext uri="{FF2B5EF4-FFF2-40B4-BE49-F238E27FC236}">
                <a16:creationId xmlns:a16="http://schemas.microsoft.com/office/drawing/2014/main" id="{ECD74CF8-5EAE-2D69-EDE7-5B284CD8EA36}"/>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ARCHITECTURE ET SÉCURITÉ</a:t>
            </a:r>
          </a:p>
        </p:txBody>
      </p:sp>
      <p:sp>
        <p:nvSpPr>
          <p:cNvPr id="4" name="ZoneTexte 3">
            <a:extLst>
              <a:ext uri="{FF2B5EF4-FFF2-40B4-BE49-F238E27FC236}">
                <a16:creationId xmlns:a16="http://schemas.microsoft.com/office/drawing/2014/main" id="{169825F4-F869-9356-3C39-B1448AE1401B}"/>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Une page web, une base, un connecteur</a:t>
            </a:r>
          </a:p>
        </p:txBody>
      </p:sp>
      <p:sp>
        <p:nvSpPr>
          <p:cNvPr id="5" name="ZoneTexte 4">
            <a:extLst>
              <a:ext uri="{FF2B5EF4-FFF2-40B4-BE49-F238E27FC236}">
                <a16:creationId xmlns:a16="http://schemas.microsoft.com/office/drawing/2014/main" id="{0AE9AA58-586F-9161-EC80-D8AF42714488}"/>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F73AE9F3-EEFF-ACB6-C450-09FA71C7A1CE}"/>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563EF13E-6077-4B16-B07B-EDF0D0756ED3}" type="slidenum">
              <a:rPr lang="fr-FR" sz="900" smtClean="0">
                <a:solidFill>
                  <a:srgbClr val="586080"/>
                </a:solidFill>
                <a:latin typeface="Calibri" panose="020F0502020204030204" pitchFamily="34" charset="0"/>
              </a:rPr>
              <a:t>54</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4AE1C2B7-7AE0-6282-FBA6-24492E5458F6}"/>
              </a:ext>
            </a:extLst>
          </p:cNvPr>
          <p:cNvSpPr/>
          <p:nvPr/>
        </p:nvSpPr>
        <p:spPr>
          <a:xfrm>
            <a:off x="609600" y="2159000"/>
            <a:ext cx="2540000" cy="2159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85DE10BD-CBF2-B715-6117-550A5B402B21}"/>
              </a:ext>
            </a:extLst>
          </p:cNvPr>
          <p:cNvSpPr txBox="1"/>
          <p:nvPr/>
        </p:nvSpPr>
        <p:spPr>
          <a:xfrm>
            <a:off x="838200" y="2336800"/>
            <a:ext cx="2108200" cy="3048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Navigateur</a:t>
            </a:r>
          </a:p>
        </p:txBody>
      </p:sp>
      <p:sp>
        <p:nvSpPr>
          <p:cNvPr id="9" name="ZoneTexte 8">
            <a:extLst>
              <a:ext uri="{FF2B5EF4-FFF2-40B4-BE49-F238E27FC236}">
                <a16:creationId xmlns:a16="http://schemas.microsoft.com/office/drawing/2014/main" id="{547F050A-677B-1712-4CD5-6DCCCA774802}"/>
              </a:ext>
            </a:extLst>
          </p:cNvPr>
          <p:cNvSpPr txBox="1"/>
          <p:nvPr/>
        </p:nvSpPr>
        <p:spPr>
          <a:xfrm>
            <a:off x="838200" y="2717800"/>
            <a:ext cx="2133600" cy="1524000"/>
          </a:xfrm>
          <a:prstGeom prst="rect">
            <a:avLst/>
          </a:prstGeom>
          <a:noFill/>
        </p:spPr>
        <p:txBody>
          <a:bodyPr vert="horz" wrap="square" lIns="0" tIns="0" rIns="0" bIns="0" rtlCol="0">
            <a:noAutofit/>
          </a:bodyPr>
          <a:lstStyle/>
          <a:p>
            <a:r>
              <a:rPr lang="fr-FR" sz="1300">
                <a:solidFill>
                  <a:srgbClr val="586080"/>
                </a:solidFill>
                <a:latin typeface="Calibri" panose="020F0502020204030204" pitchFamily="34" charset="0"/>
              </a:rPr>
              <a:t>PC, tablette, téléphone</a:t>
            </a:r>
          </a:p>
          <a:p>
            <a:r>
              <a:rPr lang="fr-FR" sz="1300">
                <a:solidFill>
                  <a:srgbClr val="586080"/>
                </a:solidFill>
                <a:latin typeface="Calibri" panose="020F0502020204030204" pitchFamily="34" charset="0"/>
              </a:rPr>
              <a:t>Page unique HTML / JavaScript</a:t>
            </a:r>
          </a:p>
          <a:p>
            <a:r>
              <a:rPr lang="fr-FR" sz="1300">
                <a:solidFill>
                  <a:srgbClr val="586080"/>
                </a:solidFill>
                <a:latin typeface="Calibri" panose="020F0502020204030204" pitchFamily="34" charset="0"/>
              </a:rPr>
              <a:t>PDF (jsPDF), rapports (ExcelJS)</a:t>
            </a:r>
          </a:p>
        </p:txBody>
      </p:sp>
      <p:sp>
        <p:nvSpPr>
          <p:cNvPr id="10" name="Rectangle : coins arrondis 9">
            <a:extLst>
              <a:ext uri="{FF2B5EF4-FFF2-40B4-BE49-F238E27FC236}">
                <a16:creationId xmlns:a16="http://schemas.microsoft.com/office/drawing/2014/main" id="{5DE6BD10-6403-563A-AAB2-1E30B9B3E1B2}"/>
              </a:ext>
            </a:extLst>
          </p:cNvPr>
          <p:cNvSpPr/>
          <p:nvPr/>
        </p:nvSpPr>
        <p:spPr>
          <a:xfrm>
            <a:off x="4318000" y="1600200"/>
            <a:ext cx="3429000" cy="1422400"/>
          </a:xfrm>
          <a:prstGeom prst="roundRect">
            <a:avLst>
              <a:gd name="adj" fmla="val 6000"/>
            </a:avLst>
          </a:prstGeom>
          <a:solidFill>
            <a:srgbClr val="1E1C8C"/>
          </a:solidFill>
          <a:ln w="19050" cap="flat" cmpd="sng" algn="ctr">
            <a:noFill/>
            <a:prstDash val="solid"/>
            <a:miter lim="800000"/>
          </a:ln>
          <a:effectLst>
            <a:outerShdw blurRad="177800" dist="50800" dir="5400000" rotWithShape="0">
              <a:srgbClr val="1E1C8C">
                <a:alpha val="16000"/>
              </a:srgbClr>
            </a:outer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5A80CF6A-599F-AB27-6BD9-C203D5FBDD74}"/>
              </a:ext>
            </a:extLst>
          </p:cNvPr>
          <p:cNvSpPr txBox="1"/>
          <p:nvPr/>
        </p:nvSpPr>
        <p:spPr>
          <a:xfrm>
            <a:off x="4546600" y="1752600"/>
            <a:ext cx="2971800" cy="304800"/>
          </a:xfrm>
          <a:prstGeom prst="rect">
            <a:avLst/>
          </a:prstGeom>
          <a:noFill/>
        </p:spPr>
        <p:txBody>
          <a:bodyPr vert="horz" wrap="square" lIns="0" tIns="0" rIns="0" bIns="0" rtlCol="0">
            <a:noAutofit/>
          </a:bodyPr>
          <a:lstStyle/>
          <a:p>
            <a:r>
              <a:rPr lang="fr-FR" sz="1700" b="1">
                <a:solidFill>
                  <a:srgbClr val="FFFFFF"/>
                </a:solidFill>
                <a:latin typeface="Calibri" panose="020F0502020204030204" pitchFamily="34" charset="0"/>
              </a:rPr>
              <a:t>Base de l'application</a:t>
            </a:r>
          </a:p>
        </p:txBody>
      </p:sp>
      <p:sp>
        <p:nvSpPr>
          <p:cNvPr id="12" name="ZoneTexte 11">
            <a:extLst>
              <a:ext uri="{FF2B5EF4-FFF2-40B4-BE49-F238E27FC236}">
                <a16:creationId xmlns:a16="http://schemas.microsoft.com/office/drawing/2014/main" id="{A653AE6B-46EF-A9A8-7F7B-691E7B73B900}"/>
              </a:ext>
            </a:extLst>
          </p:cNvPr>
          <p:cNvSpPr txBox="1"/>
          <p:nvPr/>
        </p:nvSpPr>
        <p:spPr>
          <a:xfrm>
            <a:off x="4546600" y="2108200"/>
            <a:ext cx="2997200" cy="863600"/>
          </a:xfrm>
          <a:prstGeom prst="rect">
            <a:avLst/>
          </a:prstGeom>
          <a:noFill/>
        </p:spPr>
        <p:txBody>
          <a:bodyPr vert="horz" wrap="square" lIns="0" tIns="0" rIns="0" bIns="0" rtlCol="0">
            <a:noAutofit/>
          </a:bodyPr>
          <a:lstStyle/>
          <a:p>
            <a:r>
              <a:rPr lang="fr-FR" sz="1300">
                <a:solidFill>
                  <a:srgbClr val="CADCFC"/>
                </a:solidFill>
                <a:latin typeface="Calibri" panose="020F0502020204030204" pitchFamily="34" charset="0"/>
              </a:rPr>
              <a:t>people : prêts, attestations, pertes, commentaires</a:t>
            </a:r>
          </a:p>
          <a:p>
            <a:r>
              <a:rPr lang="fr-FR" sz="1300">
                <a:solidFill>
                  <a:srgbClr val="CADCFC"/>
                </a:solidFill>
                <a:latin typeface="Calibri" panose="020F0502020204030204" pitchFamily="34" charset="0"/>
              </a:rPr>
              <a:t>documents : PDF signés</a:t>
            </a:r>
          </a:p>
          <a:p>
            <a:r>
              <a:rPr lang="fr-FR" sz="1300">
                <a:solidFill>
                  <a:srgbClr val="CADCFC"/>
                </a:solidFill>
                <a:latin typeface="Calibri" panose="020F0502020204030204" pitchFamily="34" charset="0"/>
              </a:rPr>
              <a:t>directory, roles, links, mine, inventory</a:t>
            </a:r>
          </a:p>
        </p:txBody>
      </p:sp>
      <p:sp>
        <p:nvSpPr>
          <p:cNvPr id="13" name="Rectangle : coins arrondis 12">
            <a:extLst>
              <a:ext uri="{FF2B5EF4-FFF2-40B4-BE49-F238E27FC236}">
                <a16:creationId xmlns:a16="http://schemas.microsoft.com/office/drawing/2014/main" id="{8FA0BD3F-CAA3-F2A2-3073-8335D404BFC7}"/>
              </a:ext>
            </a:extLst>
          </p:cNvPr>
          <p:cNvSpPr/>
          <p:nvPr/>
        </p:nvSpPr>
        <p:spPr>
          <a:xfrm>
            <a:off x="4318000" y="3200400"/>
            <a:ext cx="3429000" cy="1066800"/>
          </a:xfrm>
          <a:prstGeom prst="roundRect">
            <a:avLst>
              <a:gd name="adj" fmla="val 6000"/>
            </a:avLst>
          </a:prstGeom>
          <a:solidFill>
            <a:srgbClr val="E4EEFA"/>
          </a:solidFill>
          <a:ln w="12700">
            <a:solidFill>
              <a:srgbClr val="2F7DD1"/>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noAutofit/>
          </a:bodyPr>
          <a:lstStyle/>
          <a:p>
            <a:pPr algn="ctr"/>
            <a:r>
              <a:rPr lang="fr-FR" sz="1500" b="1">
                <a:solidFill>
                  <a:srgbClr val="12162B"/>
                </a:solidFill>
                <a:latin typeface="Calibri" panose="020F0502020204030204" pitchFamily="34" charset="0"/>
              </a:rPr>
              <a:t>Connecteur Microsoft 365</a:t>
            </a:r>
          </a:p>
          <a:p>
            <a:pPr algn="ctr"/>
            <a:r>
              <a:rPr lang="fr-FR" sz="1500" b="1">
                <a:solidFill>
                  <a:srgbClr val="12162B"/>
                </a:solidFill>
                <a:latin typeface="Calibri" panose="020F0502020204030204" pitchFamily="34" charset="0"/>
              </a:rPr>
              <a:t>Brouillon Outlook + pièce jointe</a:t>
            </a:r>
          </a:p>
        </p:txBody>
      </p:sp>
      <p:sp>
        <p:nvSpPr>
          <p:cNvPr id="14" name="Rectangle : coins arrondis 13">
            <a:extLst>
              <a:ext uri="{FF2B5EF4-FFF2-40B4-BE49-F238E27FC236}">
                <a16:creationId xmlns:a16="http://schemas.microsoft.com/office/drawing/2014/main" id="{4A70C579-90B9-D7DC-1AF8-AC52D160F1B8}"/>
              </a:ext>
            </a:extLst>
          </p:cNvPr>
          <p:cNvSpPr/>
          <p:nvPr/>
        </p:nvSpPr>
        <p:spPr>
          <a:xfrm>
            <a:off x="4318000" y="4445000"/>
            <a:ext cx="3429000" cy="1066800"/>
          </a:xfrm>
          <a:prstGeom prst="roundRect">
            <a:avLst>
              <a:gd name="adj" fmla="val 6000"/>
            </a:avLst>
          </a:prstGeom>
          <a:solidFill>
            <a:srgbClr val="FDF0D5"/>
          </a:solidFill>
          <a:ln w="12700">
            <a:solidFill>
              <a:srgbClr val="B67608"/>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tIns="50800" rIns="127000" bIns="50800" rtlCol="0" anchor="ctr">
            <a:noAutofit/>
          </a:bodyPr>
          <a:lstStyle/>
          <a:p>
            <a:pPr algn="ctr"/>
            <a:r>
              <a:rPr lang="fr-FR" sz="1400" b="1">
                <a:solidFill>
                  <a:srgbClr val="12162B"/>
                </a:solidFill>
                <a:latin typeface="Calibri" panose="020F0502020204030204" pitchFamily="34" charset="0"/>
              </a:rPr>
              <a:t>cdnjs · jsDelivr · Google Fonts</a:t>
            </a:r>
          </a:p>
          <a:p>
            <a:pPr algn="ctr"/>
            <a:r>
              <a:rPr lang="fr-FR" sz="1400" b="1">
                <a:solidFill>
                  <a:srgbClr val="12162B"/>
                </a:solidFill>
                <a:latin typeface="Calibri" panose="020F0502020204030204" pitchFamily="34" charset="0"/>
              </a:rPr>
              <a:t>jsPDF, pdf.js, QR, ExcelJS, Poppins</a:t>
            </a:r>
          </a:p>
        </p:txBody>
      </p:sp>
      <p:sp>
        <p:nvSpPr>
          <p:cNvPr id="15" name="Rectangle : coins arrondis 14">
            <a:extLst>
              <a:ext uri="{FF2B5EF4-FFF2-40B4-BE49-F238E27FC236}">
                <a16:creationId xmlns:a16="http://schemas.microsoft.com/office/drawing/2014/main" id="{E59DB457-E897-07A8-5A98-A5ACC721647E}"/>
              </a:ext>
            </a:extLst>
          </p:cNvPr>
          <p:cNvSpPr/>
          <p:nvPr/>
        </p:nvSpPr>
        <p:spPr>
          <a:xfrm>
            <a:off x="8890000" y="2159000"/>
            <a:ext cx="2692400" cy="2159000"/>
          </a:xfrm>
          <a:prstGeom prst="roundRect">
            <a:avLst>
              <a:gd name="adj" fmla="val 4500"/>
            </a:avLst>
          </a:prstGeom>
          <a:solidFill>
            <a:srgbClr val="E3F5EC"/>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D93AD826-D6EA-B48C-6ADD-851468688153}"/>
              </a:ext>
            </a:extLst>
          </p:cNvPr>
          <p:cNvSpPr txBox="1"/>
          <p:nvPr/>
        </p:nvSpPr>
        <p:spPr>
          <a:xfrm>
            <a:off x="9093200" y="2336800"/>
            <a:ext cx="2311400" cy="5588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Applications de l'appareil</a:t>
            </a:r>
          </a:p>
        </p:txBody>
      </p:sp>
      <p:sp>
        <p:nvSpPr>
          <p:cNvPr id="17" name="ZoneTexte 16">
            <a:extLst>
              <a:ext uri="{FF2B5EF4-FFF2-40B4-BE49-F238E27FC236}">
                <a16:creationId xmlns:a16="http://schemas.microsoft.com/office/drawing/2014/main" id="{71BBBC74-8DB7-14D3-76CB-53FB1523D3DB}"/>
              </a:ext>
            </a:extLst>
          </p:cNvPr>
          <p:cNvSpPr txBox="1"/>
          <p:nvPr/>
        </p:nvSpPr>
        <p:spPr>
          <a:xfrm>
            <a:off x="9093200" y="2997200"/>
            <a:ext cx="2311400" cy="1143000"/>
          </a:xfrm>
          <a:prstGeom prst="rect">
            <a:avLst/>
          </a:prstGeom>
          <a:noFill/>
        </p:spPr>
        <p:txBody>
          <a:bodyPr vert="horz" wrap="square" lIns="0" tIns="0" rIns="0" bIns="0" rtlCol="0">
            <a:noAutofit/>
          </a:bodyPr>
          <a:lstStyle/>
          <a:p>
            <a:r>
              <a:rPr lang="fr-FR" sz="1400">
                <a:solidFill>
                  <a:srgbClr val="586080"/>
                </a:solidFill>
                <a:latin typeface="Calibri" panose="020F0502020204030204" pitchFamily="34" charset="0"/>
              </a:rPr>
              <a:t>Messagerie (mailto)</a:t>
            </a:r>
          </a:p>
          <a:p>
            <a:r>
              <a:rPr lang="fr-FR" sz="1400">
                <a:solidFill>
                  <a:srgbClr val="586080"/>
                </a:solidFill>
                <a:latin typeface="Calibri" panose="020F0502020204030204" pitchFamily="34" charset="0"/>
              </a:rPr>
              <a:t>SMS (sms:)</a:t>
            </a:r>
          </a:p>
        </p:txBody>
      </p:sp>
      <p:cxnSp>
        <p:nvCxnSpPr>
          <p:cNvPr id="18" name="Connecteur droit 17">
            <a:extLst>
              <a:ext uri="{FF2B5EF4-FFF2-40B4-BE49-F238E27FC236}">
                <a16:creationId xmlns:a16="http://schemas.microsoft.com/office/drawing/2014/main" id="{0FE589D8-89FF-DE20-A4A9-ADFE1243B65D}"/>
              </a:ext>
            </a:extLst>
          </p:cNvPr>
          <p:cNvCxnSpPr/>
          <p:nvPr/>
        </p:nvCxnSpPr>
        <p:spPr>
          <a:xfrm flipV="1">
            <a:off x="3200400" y="2260600"/>
            <a:ext cx="1066800" cy="406400"/>
          </a:xfrm>
          <a:prstGeom prst="line">
            <a:avLst/>
          </a:prstGeom>
          <a:ln w="25400">
            <a:solidFill>
              <a:srgbClr val="58608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eur droit 18">
            <a:extLst>
              <a:ext uri="{FF2B5EF4-FFF2-40B4-BE49-F238E27FC236}">
                <a16:creationId xmlns:a16="http://schemas.microsoft.com/office/drawing/2014/main" id="{2551370B-3F27-D0CC-C509-00185148AC3D}"/>
              </a:ext>
            </a:extLst>
          </p:cNvPr>
          <p:cNvCxnSpPr/>
          <p:nvPr/>
        </p:nvCxnSpPr>
        <p:spPr>
          <a:xfrm>
            <a:off x="3200400" y="3327400"/>
            <a:ext cx="1066800" cy="381000"/>
          </a:xfrm>
          <a:prstGeom prst="line">
            <a:avLst/>
          </a:prstGeom>
          <a:ln w="25400">
            <a:solidFill>
              <a:srgbClr val="58608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eur droit 19">
            <a:extLst>
              <a:ext uri="{FF2B5EF4-FFF2-40B4-BE49-F238E27FC236}">
                <a16:creationId xmlns:a16="http://schemas.microsoft.com/office/drawing/2014/main" id="{592263A9-447B-BEEA-706C-B41D06C17ADD}"/>
              </a:ext>
            </a:extLst>
          </p:cNvPr>
          <p:cNvCxnSpPr/>
          <p:nvPr/>
        </p:nvCxnSpPr>
        <p:spPr>
          <a:xfrm>
            <a:off x="3200400" y="4064000"/>
            <a:ext cx="1066800" cy="889000"/>
          </a:xfrm>
          <a:prstGeom prst="line">
            <a:avLst/>
          </a:prstGeom>
          <a:ln w="25400">
            <a:solidFill>
              <a:srgbClr val="58608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eur droit 20">
            <a:extLst>
              <a:ext uri="{FF2B5EF4-FFF2-40B4-BE49-F238E27FC236}">
                <a16:creationId xmlns:a16="http://schemas.microsoft.com/office/drawing/2014/main" id="{159FE439-BD0D-B0CC-A911-DF73EC8614B4}"/>
              </a:ext>
            </a:extLst>
          </p:cNvPr>
          <p:cNvCxnSpPr/>
          <p:nvPr/>
        </p:nvCxnSpPr>
        <p:spPr>
          <a:xfrm>
            <a:off x="3200400" y="3111500"/>
            <a:ext cx="5638800" cy="0"/>
          </a:xfrm>
          <a:prstGeom prst="line">
            <a:avLst/>
          </a:prstGeom>
          <a:ln w="25400">
            <a:solidFill>
              <a:srgbClr val="58608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2" name="ZoneTexte 21">
            <a:extLst>
              <a:ext uri="{FF2B5EF4-FFF2-40B4-BE49-F238E27FC236}">
                <a16:creationId xmlns:a16="http://schemas.microsoft.com/office/drawing/2014/main" id="{B5EBBC8C-06AD-1D15-BAE4-95FE431252DF}"/>
              </a:ext>
            </a:extLst>
          </p:cNvPr>
          <p:cNvSpPr txBox="1"/>
          <p:nvPr/>
        </p:nvSpPr>
        <p:spPr>
          <a:xfrm>
            <a:off x="609600" y="5715000"/>
            <a:ext cx="10972800" cy="508000"/>
          </a:xfrm>
          <a:prstGeom prst="rect">
            <a:avLst/>
          </a:prstGeom>
          <a:noFill/>
        </p:spPr>
        <p:txBody>
          <a:bodyPr vert="horz" wrap="square" lIns="0" tIns="0" rIns="0" bIns="0" rtlCol="0">
            <a:noAutofit/>
          </a:bodyPr>
          <a:lstStyle/>
          <a:p>
            <a:r>
              <a:rPr lang="fr-FR" sz="1400">
                <a:solidFill>
                  <a:srgbClr val="586080"/>
                </a:solidFill>
                <a:latin typeface="Calibri" panose="020F0502020204030204" pitchFamily="34" charset="0"/>
              </a:rPr>
              <a:t>Chaque modification crée une version numérotée à la même adresse ; la base conserve les données d'une version à l'autre.</a:t>
            </a:r>
          </a:p>
        </p:txBody>
      </p:sp>
    </p:spTree>
    <p:extLst>
      <p:ext uri="{BB962C8B-B14F-4D97-AF65-F5344CB8AC3E}">
        <p14:creationId xmlns:p14="http://schemas.microsoft.com/office/powerpoint/2010/main" val="40776862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1AF9EA-F1CE-5658-ECE0-6D17C3232033}"/>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Accès, traçabilité et données personnelles</a:t>
            </a:r>
          </a:p>
        </p:txBody>
      </p:sp>
      <p:sp>
        <p:nvSpPr>
          <p:cNvPr id="3" name="ZoneTexte 2">
            <a:extLst>
              <a:ext uri="{FF2B5EF4-FFF2-40B4-BE49-F238E27FC236}">
                <a16:creationId xmlns:a16="http://schemas.microsoft.com/office/drawing/2014/main" id="{D98AC10F-6FDD-4F94-678E-C65FE5B87B8D}"/>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ARCHITECTURE ET SÉCURITÉ</a:t>
            </a:r>
          </a:p>
        </p:txBody>
      </p:sp>
      <p:sp>
        <p:nvSpPr>
          <p:cNvPr id="4" name="ZoneTexte 3">
            <a:extLst>
              <a:ext uri="{FF2B5EF4-FFF2-40B4-BE49-F238E27FC236}">
                <a16:creationId xmlns:a16="http://schemas.microsoft.com/office/drawing/2014/main" id="{495921FF-9D04-5153-B8FF-AB09B67178FB}"/>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Les points à valider relèvent du DPO et du RSSI</a:t>
            </a:r>
          </a:p>
        </p:txBody>
      </p:sp>
      <p:sp>
        <p:nvSpPr>
          <p:cNvPr id="5" name="ZoneTexte 4">
            <a:extLst>
              <a:ext uri="{FF2B5EF4-FFF2-40B4-BE49-F238E27FC236}">
                <a16:creationId xmlns:a16="http://schemas.microsoft.com/office/drawing/2014/main" id="{F6262E4D-F24D-D23A-931D-A4B98CC7E100}"/>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FD2156C4-5101-9F7A-2C40-70194C7DEEA9}"/>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B929CB93-5842-4A7D-8BBA-68971CBC3FD5}" type="slidenum">
              <a:rPr lang="fr-FR" sz="900" smtClean="0">
                <a:solidFill>
                  <a:srgbClr val="586080"/>
                </a:solidFill>
                <a:latin typeface="Calibri" panose="020F0502020204030204" pitchFamily="34" charset="0"/>
              </a:rPr>
              <a:t>55</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2403C0E5-C8DE-5ADA-7795-5C062400AC12}"/>
              </a:ext>
            </a:extLst>
          </p:cNvPr>
          <p:cNvSpPr/>
          <p:nvPr/>
        </p:nvSpPr>
        <p:spPr>
          <a:xfrm>
            <a:off x="609600" y="1600200"/>
            <a:ext cx="5334000" cy="46482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DB41F1CB-0391-9DE7-E6FA-071A77EA5072}"/>
              </a:ext>
            </a:extLst>
          </p:cNvPr>
          <p:cNvSpPr txBox="1"/>
          <p:nvPr/>
        </p:nvSpPr>
        <p:spPr>
          <a:xfrm>
            <a:off x="889000" y="1778000"/>
            <a:ext cx="4826000" cy="330200"/>
          </a:xfrm>
          <a:prstGeom prst="rect">
            <a:avLst/>
          </a:prstGeom>
          <a:noFill/>
        </p:spPr>
        <p:txBody>
          <a:bodyPr vert="horz" wrap="square" lIns="0" tIns="0" rIns="0" bIns="0" rtlCol="0">
            <a:noAutofit/>
          </a:bodyPr>
          <a:lstStyle/>
          <a:p>
            <a:r>
              <a:rPr lang="fr-FR" sz="2000" b="1">
                <a:solidFill>
                  <a:srgbClr val="1E1C8C"/>
                </a:solidFill>
                <a:latin typeface="Calibri" panose="020F0502020204030204" pitchFamily="34" charset="0"/>
              </a:rPr>
              <a:t>Accès et traçabilité</a:t>
            </a:r>
          </a:p>
        </p:txBody>
      </p:sp>
      <p:sp>
        <p:nvSpPr>
          <p:cNvPr id="9" name="ZoneTexte 8">
            <a:extLst>
              <a:ext uri="{FF2B5EF4-FFF2-40B4-BE49-F238E27FC236}">
                <a16:creationId xmlns:a16="http://schemas.microsoft.com/office/drawing/2014/main" id="{7E60CAAE-4924-EBFE-1FBD-0DA868B4AEE4}"/>
              </a:ext>
            </a:extLst>
          </p:cNvPr>
          <p:cNvSpPr txBox="1"/>
          <p:nvPr/>
        </p:nvSpPr>
        <p:spPr>
          <a:xfrm>
            <a:off x="889000" y="2235200"/>
            <a:ext cx="4800600" cy="3937000"/>
          </a:xfrm>
          <a:prstGeom prst="rect">
            <a:avLst/>
          </a:prstGeom>
          <a:noFill/>
        </p:spPr>
        <p:txBody>
          <a:bodyPr vert="horz" wrap="square" lIns="0" tIns="0" rIns="0" bIns="0" rtlCol="0">
            <a:noAutofit/>
          </a:bodyPr>
          <a:lstStyle/>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Accès réservé aux personnes avec lesquelles l'application est partagée</a:t>
            </a:r>
          </a:p>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Cinq rôles ; un collaborateur ne voit que son matériel et ses PDF (Mon matériel)</a:t>
            </a:r>
          </a:p>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Chaque événement garde son auteur et sa date</a:t>
            </a:r>
          </a:p>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PDF signés conservés tels que produits</a:t>
            </a:r>
          </a:p>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Connecteur Microsoft 365 : consentement de chaque utilisateur, jetons jamais visibles de la page</a:t>
            </a:r>
          </a:p>
        </p:txBody>
      </p:sp>
      <p:sp>
        <p:nvSpPr>
          <p:cNvPr id="10" name="Rectangle : coins arrondis 9">
            <a:extLst>
              <a:ext uri="{FF2B5EF4-FFF2-40B4-BE49-F238E27FC236}">
                <a16:creationId xmlns:a16="http://schemas.microsoft.com/office/drawing/2014/main" id="{F16899CE-ADF3-415B-0FC5-066AC42C551D}"/>
              </a:ext>
            </a:extLst>
          </p:cNvPr>
          <p:cNvSpPr/>
          <p:nvPr/>
        </p:nvSpPr>
        <p:spPr>
          <a:xfrm>
            <a:off x="6248400" y="1600200"/>
            <a:ext cx="5334000" cy="4648200"/>
          </a:xfrm>
          <a:prstGeom prst="roundRect">
            <a:avLst>
              <a:gd name="adj" fmla="val 4500"/>
            </a:avLst>
          </a:prstGeom>
          <a:solidFill>
            <a:srgbClr val="FDF0D5"/>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7957D7C3-79CA-2478-08AD-8A4B3D269ACE}"/>
              </a:ext>
            </a:extLst>
          </p:cNvPr>
          <p:cNvSpPr txBox="1"/>
          <p:nvPr/>
        </p:nvSpPr>
        <p:spPr>
          <a:xfrm>
            <a:off x="6527800" y="1778000"/>
            <a:ext cx="4826000" cy="330200"/>
          </a:xfrm>
          <a:prstGeom prst="rect">
            <a:avLst/>
          </a:prstGeom>
          <a:noFill/>
        </p:spPr>
        <p:txBody>
          <a:bodyPr vert="horz" wrap="square" lIns="0" tIns="0" rIns="0" bIns="0" rtlCol="0">
            <a:noAutofit/>
          </a:bodyPr>
          <a:lstStyle/>
          <a:p>
            <a:r>
              <a:rPr lang="fr-FR" sz="2000" b="1">
                <a:solidFill>
                  <a:srgbClr val="B67608"/>
                </a:solidFill>
                <a:latin typeface="Calibri" panose="020F0502020204030204" pitchFamily="34" charset="0"/>
              </a:rPr>
              <a:t>Données personnelles</a:t>
            </a:r>
          </a:p>
        </p:txBody>
      </p:sp>
      <p:sp>
        <p:nvSpPr>
          <p:cNvPr id="12" name="ZoneTexte 11">
            <a:extLst>
              <a:ext uri="{FF2B5EF4-FFF2-40B4-BE49-F238E27FC236}">
                <a16:creationId xmlns:a16="http://schemas.microsoft.com/office/drawing/2014/main" id="{666FF4C6-A8BD-3934-DA6F-8371285B0FC0}"/>
              </a:ext>
            </a:extLst>
          </p:cNvPr>
          <p:cNvSpPr txBox="1"/>
          <p:nvPr/>
        </p:nvSpPr>
        <p:spPr>
          <a:xfrm>
            <a:off x="6527800" y="2235200"/>
            <a:ext cx="4800600" cy="3937000"/>
          </a:xfrm>
          <a:prstGeom prst="rect">
            <a:avLst/>
          </a:prstGeom>
          <a:noFill/>
        </p:spPr>
        <p:txBody>
          <a:bodyPr vert="horz" wrap="square" lIns="0" tIns="0" rIns="0" bIns="0" rtlCol="0">
            <a:noAutofit/>
          </a:bodyPr>
          <a:lstStyle/>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Données : nom, fonction, email, mobile (annuaire Entra ID), adresse saisie à la main, matériel, dates, signatures déclarées, commentaires</a:t>
            </a:r>
          </a:p>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Finalité : gestion du parc, preuve de restitution, suivi des pertes</a:t>
            </a:r>
          </a:p>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Base légale : à renseigner par le DPO</a:t>
            </a:r>
          </a:p>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Durée de conservation : à définir (aucune purge automatique)</a:t>
            </a:r>
          </a:p>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Hébergement : plateforme Claude, localisation à confirmer</a:t>
            </a:r>
          </a:p>
          <a:p>
            <a:pPr marL="203200" indent="-203200">
              <a:spcAft>
                <a:spcPts val="900"/>
              </a:spcAft>
              <a:buClr>
                <a:srgbClr val="5853FF"/>
              </a:buClr>
              <a:buFont typeface="+mj-lt"/>
              <a:buChar char="•"/>
            </a:pPr>
            <a:r>
              <a:rPr lang="fr-FR" sz="1500">
                <a:solidFill>
                  <a:srgbClr val="12162B"/>
                </a:solidFill>
                <a:latin typeface="Calibri" panose="020F0502020204030204" pitchFamily="34" charset="0"/>
              </a:rPr>
              <a:t>Aucune donnée sensible au sens du RGPD</a:t>
            </a:r>
          </a:p>
        </p:txBody>
      </p:sp>
    </p:spTree>
    <p:extLst>
      <p:ext uri="{BB962C8B-B14F-4D97-AF65-F5344CB8AC3E}">
        <p14:creationId xmlns:p14="http://schemas.microsoft.com/office/powerpoint/2010/main" val="28174981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E1C8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315062-CA2B-448F-8E89-53B3BCAC5519}"/>
              </a:ext>
            </a:extLst>
          </p:cNvPr>
          <p:cNvSpPr>
            <a:spLocks noGrp="1"/>
          </p:cNvSpPr>
          <p:nvPr>
            <p:ph type="title"/>
          </p:nvPr>
        </p:nvSpPr>
        <p:spPr>
          <a:xfrm>
            <a:off x="1219200" y="2997200"/>
            <a:ext cx="7874000" cy="889000"/>
          </a:xfrm>
        </p:spPr>
        <p:txBody>
          <a:bodyPr lIns="0" anchor="ctr">
            <a:normAutofit/>
          </a:bodyPr>
          <a:lstStyle/>
          <a:p>
            <a:r>
              <a:rPr lang="fr-FR" b="1">
                <a:solidFill>
                  <a:srgbClr val="FFFFFF"/>
                </a:solidFill>
                <a:latin typeface="Calibri" panose="020F0502020204030204" pitchFamily="34" charset="0"/>
              </a:rPr>
              <a:t>Sauvegarde</a:t>
            </a:r>
          </a:p>
        </p:txBody>
      </p:sp>
      <p:sp>
        <p:nvSpPr>
          <p:cNvPr id="3" name="ZoneTexte 2">
            <a:extLst>
              <a:ext uri="{FF2B5EF4-FFF2-40B4-BE49-F238E27FC236}">
                <a16:creationId xmlns:a16="http://schemas.microsoft.com/office/drawing/2014/main" id="{D1D59EE9-1096-DC43-62D6-83A9C7694C3C}"/>
              </a:ext>
            </a:extLst>
          </p:cNvPr>
          <p:cNvSpPr txBox="1"/>
          <p:nvPr/>
        </p:nvSpPr>
        <p:spPr>
          <a:xfrm>
            <a:off x="1219200" y="1905000"/>
            <a:ext cx="3810000" cy="1016000"/>
          </a:xfrm>
          <a:prstGeom prst="rect">
            <a:avLst/>
          </a:prstGeom>
          <a:noFill/>
        </p:spPr>
        <p:txBody>
          <a:bodyPr vert="horz" wrap="square" lIns="0" tIns="0" rIns="0" bIns="0" rtlCol="0">
            <a:noAutofit/>
          </a:bodyPr>
          <a:lstStyle/>
          <a:p>
            <a:r>
              <a:rPr lang="fr-FR" sz="8000" b="1">
                <a:solidFill>
                  <a:srgbClr val="5853FF"/>
                </a:solidFill>
                <a:latin typeface="Calibri" panose="020F0502020204030204" pitchFamily="34" charset="0"/>
              </a:rPr>
              <a:t>05</a:t>
            </a:r>
          </a:p>
        </p:txBody>
      </p:sp>
      <p:sp>
        <p:nvSpPr>
          <p:cNvPr id="4" name="ZoneTexte 3">
            <a:extLst>
              <a:ext uri="{FF2B5EF4-FFF2-40B4-BE49-F238E27FC236}">
                <a16:creationId xmlns:a16="http://schemas.microsoft.com/office/drawing/2014/main" id="{E46A9B6A-9887-F872-37A2-B483FA736331}"/>
              </a:ext>
            </a:extLst>
          </p:cNvPr>
          <p:cNvSpPr txBox="1"/>
          <p:nvPr/>
        </p:nvSpPr>
        <p:spPr>
          <a:xfrm>
            <a:off x="1219200" y="4013200"/>
            <a:ext cx="7874000" cy="762000"/>
          </a:xfrm>
          <a:prstGeom prst="rect">
            <a:avLst/>
          </a:prstGeom>
          <a:noFill/>
        </p:spPr>
        <p:txBody>
          <a:bodyPr vert="horz" wrap="square" lIns="0" tIns="0" rIns="0" bIns="0" rtlCol="0">
            <a:noAutofit/>
          </a:bodyPr>
          <a:lstStyle/>
          <a:p>
            <a:r>
              <a:rPr lang="fr-FR" sz="2000">
                <a:solidFill>
                  <a:srgbClr val="AEB9E3"/>
                </a:solidFill>
                <a:latin typeface="Calibri" panose="020F0502020204030204" pitchFamily="34" charset="0"/>
              </a:rPr>
              <a:t>Où sont les données, comment elles sont protégées</a:t>
            </a:r>
          </a:p>
        </p:txBody>
      </p:sp>
      <p:pic>
        <p:nvPicPr>
          <p:cNvPr id="6" name="Image 5">
            <a:extLst>
              <a:ext uri="{FF2B5EF4-FFF2-40B4-BE49-F238E27FC236}">
                <a16:creationId xmlns:a16="http://schemas.microsoft.com/office/drawing/2014/main" id="{C9655750-37CC-023C-9EA8-A004D6E7777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382000" y="1651000"/>
            <a:ext cx="3302000" cy="3302000"/>
          </a:xfrm>
          <a:prstGeom prst="rect">
            <a:avLst/>
          </a:prstGeom>
        </p:spPr>
      </p:pic>
      <p:sp>
        <p:nvSpPr>
          <p:cNvPr id="7" name="ZoneTexte 6">
            <a:extLst>
              <a:ext uri="{FF2B5EF4-FFF2-40B4-BE49-F238E27FC236}">
                <a16:creationId xmlns:a16="http://schemas.microsoft.com/office/drawing/2014/main" id="{0E33474B-D018-2987-F4AA-3493DBED0CB6}"/>
              </a:ext>
            </a:extLst>
          </p:cNvPr>
          <p:cNvSpPr txBox="1"/>
          <p:nvPr/>
        </p:nvSpPr>
        <p:spPr>
          <a:xfrm>
            <a:off x="1219200" y="6350000"/>
            <a:ext cx="8890000" cy="177800"/>
          </a:xfrm>
          <a:prstGeom prst="rect">
            <a:avLst/>
          </a:prstGeom>
          <a:noFill/>
        </p:spPr>
        <p:txBody>
          <a:bodyPr vert="horz" wrap="square" lIns="0" tIns="0" rIns="0" bIns="0" rtlCol="0">
            <a:noAutofit/>
          </a:bodyPr>
          <a:lstStyle/>
          <a:p>
            <a:r>
              <a:rPr lang="fr-FR" sz="900">
                <a:solidFill>
                  <a:srgbClr val="7C86B8"/>
                </a:solidFill>
                <a:latin typeface="Calibri" panose="020F0502020204030204" pitchFamily="34" charset="0"/>
              </a:rPr>
              <a:t>GPIEXALT  ·  DOC-GPIEXALT-001  ·  Version 7.8</a:t>
            </a:r>
          </a:p>
        </p:txBody>
      </p:sp>
    </p:spTree>
    <p:extLst>
      <p:ext uri="{BB962C8B-B14F-4D97-AF65-F5344CB8AC3E}">
        <p14:creationId xmlns:p14="http://schemas.microsoft.com/office/powerpoint/2010/main" val="8044209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A79E81-4ABE-DBEB-40CF-F47E205F831F}"/>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Où sont enregistrées les données</a:t>
            </a:r>
          </a:p>
        </p:txBody>
      </p:sp>
      <p:sp>
        <p:nvSpPr>
          <p:cNvPr id="3" name="ZoneTexte 2">
            <a:extLst>
              <a:ext uri="{FF2B5EF4-FFF2-40B4-BE49-F238E27FC236}">
                <a16:creationId xmlns:a16="http://schemas.microsoft.com/office/drawing/2014/main" id="{AE4B75F2-58EC-217B-5066-C935C13CF0F0}"/>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SAUVEGARDE</a:t>
            </a:r>
          </a:p>
        </p:txBody>
      </p:sp>
      <p:sp>
        <p:nvSpPr>
          <p:cNvPr id="4" name="ZoneTexte 3">
            <a:extLst>
              <a:ext uri="{FF2B5EF4-FFF2-40B4-BE49-F238E27FC236}">
                <a16:creationId xmlns:a16="http://schemas.microsoft.com/office/drawing/2014/main" id="{F17267CC-C7BF-68F6-3FC3-FF574B1CBCD0}"/>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Dans la base de l'application, jamais sur le poste</a:t>
            </a:r>
          </a:p>
        </p:txBody>
      </p:sp>
      <p:sp>
        <p:nvSpPr>
          <p:cNvPr id="5" name="ZoneTexte 4">
            <a:extLst>
              <a:ext uri="{FF2B5EF4-FFF2-40B4-BE49-F238E27FC236}">
                <a16:creationId xmlns:a16="http://schemas.microsoft.com/office/drawing/2014/main" id="{2A89E776-C263-69C2-BDA2-5A5E722AB4EA}"/>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0892E855-F860-F53A-7A18-F52056B4F99F}"/>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A44FAA62-D87D-4E1C-B717-930BD0B56232}" type="slidenum">
              <a:rPr lang="fr-FR" sz="900" smtClean="0">
                <a:solidFill>
                  <a:srgbClr val="586080"/>
                </a:solidFill>
                <a:latin typeface="Calibri" panose="020F0502020204030204" pitchFamily="34" charset="0"/>
              </a:rPr>
              <a:t>57</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07F032DB-CD7E-EE4D-1CAB-FD575FD8C7F1}"/>
              </a:ext>
            </a:extLst>
          </p:cNvPr>
          <p:cNvSpPr/>
          <p:nvPr/>
        </p:nvSpPr>
        <p:spPr>
          <a:xfrm>
            <a:off x="609600" y="1905000"/>
            <a:ext cx="2540000" cy="1651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8E35DF20-E431-A686-F292-9E41B22655CC}"/>
              </a:ext>
            </a:extLst>
          </p:cNvPr>
          <p:cNvSpPr txBox="1"/>
          <p:nvPr/>
        </p:nvSpPr>
        <p:spPr>
          <a:xfrm>
            <a:off x="838200" y="2082800"/>
            <a:ext cx="2108200" cy="304800"/>
          </a:xfrm>
          <a:prstGeom prst="rect">
            <a:avLst/>
          </a:prstGeom>
          <a:noFill/>
        </p:spPr>
        <p:txBody>
          <a:bodyPr vert="horz" wrap="square" lIns="0" tIns="0" rIns="0" bIns="0" rtlCol="0">
            <a:noAutofit/>
          </a:bodyPr>
          <a:lstStyle/>
          <a:p>
            <a:r>
              <a:rPr lang="fr-FR" b="1">
                <a:solidFill>
                  <a:srgbClr val="1E1C8C"/>
                </a:solidFill>
                <a:latin typeface="Calibri" panose="020F0502020204030204" pitchFamily="34" charset="0"/>
              </a:rPr>
              <a:t>Application</a:t>
            </a:r>
          </a:p>
        </p:txBody>
      </p:sp>
      <p:sp>
        <p:nvSpPr>
          <p:cNvPr id="9" name="ZoneTexte 8">
            <a:extLst>
              <a:ext uri="{FF2B5EF4-FFF2-40B4-BE49-F238E27FC236}">
                <a16:creationId xmlns:a16="http://schemas.microsoft.com/office/drawing/2014/main" id="{FB1C4071-7EF6-FCCB-1E18-1714206B4ECB}"/>
              </a:ext>
            </a:extLst>
          </p:cNvPr>
          <p:cNvSpPr txBox="1"/>
          <p:nvPr/>
        </p:nvSpPr>
        <p:spPr>
          <a:xfrm>
            <a:off x="838200" y="2463800"/>
            <a:ext cx="2108200" cy="1016000"/>
          </a:xfrm>
          <a:prstGeom prst="rect">
            <a:avLst/>
          </a:prstGeom>
          <a:noFill/>
        </p:spPr>
        <p:txBody>
          <a:bodyPr vert="horz" wrap="square" lIns="0" tIns="0" rIns="0" bIns="0" rtlCol="0">
            <a:noAutofit/>
          </a:bodyPr>
          <a:lstStyle/>
          <a:p>
            <a:r>
              <a:rPr lang="fr-FR" sz="1400">
                <a:solidFill>
                  <a:srgbClr val="586080"/>
                </a:solidFill>
                <a:latin typeface="Calibri" panose="020F0502020204030204" pitchFamily="34" charset="0"/>
              </a:rPr>
              <a:t>Navigateur : PC, tablette ou téléphone</a:t>
            </a:r>
          </a:p>
        </p:txBody>
      </p:sp>
      <p:cxnSp>
        <p:nvCxnSpPr>
          <p:cNvPr id="10" name="Connecteur droit 9">
            <a:extLst>
              <a:ext uri="{FF2B5EF4-FFF2-40B4-BE49-F238E27FC236}">
                <a16:creationId xmlns:a16="http://schemas.microsoft.com/office/drawing/2014/main" id="{5BF78B46-E3F4-BDA4-9FBC-A2EE3ABE079D}"/>
              </a:ext>
            </a:extLst>
          </p:cNvPr>
          <p:cNvCxnSpPr/>
          <p:nvPr/>
        </p:nvCxnSpPr>
        <p:spPr>
          <a:xfrm>
            <a:off x="3225800" y="2730500"/>
            <a:ext cx="914400" cy="0"/>
          </a:xfrm>
          <a:prstGeom prst="line">
            <a:avLst/>
          </a:prstGeom>
          <a:ln w="25400">
            <a:solidFill>
              <a:srgbClr val="5853FF"/>
            </a:solidFill>
            <a:tailEnd type="triangle"/>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AC1EE569-4288-AA6C-8778-2B471E6D175B}"/>
              </a:ext>
            </a:extLst>
          </p:cNvPr>
          <p:cNvSpPr txBox="1"/>
          <p:nvPr/>
        </p:nvSpPr>
        <p:spPr>
          <a:xfrm>
            <a:off x="3175000" y="2286000"/>
            <a:ext cx="1016000" cy="355600"/>
          </a:xfrm>
          <a:prstGeom prst="rect">
            <a:avLst/>
          </a:prstGeom>
          <a:noFill/>
        </p:spPr>
        <p:txBody>
          <a:bodyPr vert="horz" wrap="square" lIns="0" tIns="0" rIns="0" bIns="0" rtlCol="0">
            <a:noAutofit/>
          </a:bodyPr>
          <a:lstStyle/>
          <a:p>
            <a:pPr algn="ctr"/>
            <a:r>
              <a:rPr lang="fr-FR" sz="1100">
                <a:solidFill>
                  <a:srgbClr val="586080"/>
                </a:solidFill>
                <a:latin typeface="Calibri" panose="020F0502020204030204" pitchFamily="34" charset="0"/>
              </a:rPr>
              <a:t>à chaque action</a:t>
            </a:r>
          </a:p>
        </p:txBody>
      </p:sp>
      <p:sp>
        <p:nvSpPr>
          <p:cNvPr id="12" name="Rectangle : coins arrondis 11">
            <a:extLst>
              <a:ext uri="{FF2B5EF4-FFF2-40B4-BE49-F238E27FC236}">
                <a16:creationId xmlns:a16="http://schemas.microsoft.com/office/drawing/2014/main" id="{EFED51AD-C6AE-DFD7-4656-B4FF95C41EF1}"/>
              </a:ext>
            </a:extLst>
          </p:cNvPr>
          <p:cNvSpPr/>
          <p:nvPr/>
        </p:nvSpPr>
        <p:spPr>
          <a:xfrm>
            <a:off x="4216400" y="1600200"/>
            <a:ext cx="7366000" cy="2921000"/>
          </a:xfrm>
          <a:prstGeom prst="roundRect">
            <a:avLst>
              <a:gd name="adj" fmla="val 6000"/>
            </a:avLst>
          </a:prstGeom>
          <a:solidFill>
            <a:srgbClr val="1E1C8C"/>
          </a:solidFill>
          <a:ln w="19050" cap="flat" cmpd="sng" algn="ctr">
            <a:noFill/>
            <a:prstDash val="solid"/>
            <a:miter lim="800000"/>
          </a:ln>
          <a:effectLst>
            <a:outerShdw blurRad="177800" dist="50800" dir="5400000" rotWithShape="0">
              <a:srgbClr val="1E1C8C">
                <a:alpha val="16000"/>
              </a:srgbClr>
            </a:outer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98B0E451-6C72-9FE1-3451-A7BF9A0D401B}"/>
              </a:ext>
            </a:extLst>
          </p:cNvPr>
          <p:cNvSpPr txBox="1"/>
          <p:nvPr/>
        </p:nvSpPr>
        <p:spPr>
          <a:xfrm>
            <a:off x="4495800" y="1778000"/>
            <a:ext cx="6858000" cy="330200"/>
          </a:xfrm>
          <a:prstGeom prst="rect">
            <a:avLst/>
          </a:prstGeom>
          <a:noFill/>
        </p:spPr>
        <p:txBody>
          <a:bodyPr vert="horz" wrap="square" lIns="0" tIns="0" rIns="0" bIns="0" rtlCol="0">
            <a:noAutofit/>
          </a:bodyPr>
          <a:lstStyle/>
          <a:p>
            <a:r>
              <a:rPr lang="fr-FR" b="1">
                <a:solidFill>
                  <a:srgbClr val="FFFFFF"/>
                </a:solidFill>
                <a:latin typeface="Calibri" panose="020F0502020204030204" pitchFamily="34" charset="0"/>
              </a:rPr>
              <a:t>Base de l'application (hébergée par Claude)</a:t>
            </a:r>
          </a:p>
        </p:txBody>
      </p:sp>
      <p:sp>
        <p:nvSpPr>
          <p:cNvPr id="14" name="Rectangle : coins arrondis 13">
            <a:extLst>
              <a:ext uri="{FF2B5EF4-FFF2-40B4-BE49-F238E27FC236}">
                <a16:creationId xmlns:a16="http://schemas.microsoft.com/office/drawing/2014/main" id="{F0263260-60B3-CC03-B247-5F521B44AC11}"/>
              </a:ext>
            </a:extLst>
          </p:cNvPr>
          <p:cNvSpPr/>
          <p:nvPr/>
        </p:nvSpPr>
        <p:spPr>
          <a:xfrm>
            <a:off x="4495800" y="2235200"/>
            <a:ext cx="3327400" cy="2082800"/>
          </a:xfrm>
          <a:prstGeom prst="roundRect">
            <a:avLst>
              <a:gd name="adj" fmla="val 6000"/>
            </a:avLst>
          </a:prstGeom>
          <a:solidFill>
            <a:srgbClr val="2F2F9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F801F063-A511-5139-3295-1F6F9B1722A1}"/>
              </a:ext>
            </a:extLst>
          </p:cNvPr>
          <p:cNvSpPr txBox="1"/>
          <p:nvPr/>
        </p:nvSpPr>
        <p:spPr>
          <a:xfrm>
            <a:off x="4699000" y="2387600"/>
            <a:ext cx="2921000" cy="304800"/>
          </a:xfrm>
          <a:prstGeom prst="rect">
            <a:avLst/>
          </a:prstGeom>
          <a:noFill/>
        </p:spPr>
        <p:txBody>
          <a:bodyPr vert="horz" wrap="square" lIns="0" tIns="0" rIns="0" bIns="0" rtlCol="0">
            <a:noAutofit/>
          </a:bodyPr>
          <a:lstStyle/>
          <a:p>
            <a:r>
              <a:rPr lang="fr-FR" sz="1900" b="1">
                <a:solidFill>
                  <a:srgbClr val="B9B6FF"/>
                </a:solidFill>
                <a:latin typeface="Calibri" panose="020F0502020204030204" pitchFamily="34" charset="0"/>
              </a:rPr>
              <a:t>people</a:t>
            </a:r>
          </a:p>
        </p:txBody>
      </p:sp>
      <p:sp>
        <p:nvSpPr>
          <p:cNvPr id="16" name="ZoneTexte 15">
            <a:extLst>
              <a:ext uri="{FF2B5EF4-FFF2-40B4-BE49-F238E27FC236}">
                <a16:creationId xmlns:a16="http://schemas.microsoft.com/office/drawing/2014/main" id="{FA1ED7C1-69FB-66DF-F2AC-2DE8E06F481A}"/>
              </a:ext>
            </a:extLst>
          </p:cNvPr>
          <p:cNvSpPr txBox="1"/>
          <p:nvPr/>
        </p:nvSpPr>
        <p:spPr>
          <a:xfrm>
            <a:off x="4699000" y="2768600"/>
            <a:ext cx="2921000" cy="1498600"/>
          </a:xfrm>
          <a:prstGeom prst="rect">
            <a:avLst/>
          </a:prstGeom>
          <a:noFill/>
        </p:spPr>
        <p:txBody>
          <a:bodyPr vert="horz" wrap="square" lIns="0" tIns="0" rIns="0" bIns="0" rtlCol="0">
            <a:noAutofit/>
          </a:bodyPr>
          <a:lstStyle/>
          <a:p>
            <a:r>
              <a:rPr lang="fr-FR" sz="1400">
                <a:solidFill>
                  <a:srgbClr val="FFFFFF"/>
                </a:solidFill>
                <a:latin typeface="Calibri" panose="020F0502020204030204" pitchFamily="34" charset="0"/>
              </a:rPr>
              <a:t>Un document par personne touchée : prêts, attestations (envois, signatures, relances), pertes, commentaires.</a:t>
            </a:r>
          </a:p>
        </p:txBody>
      </p:sp>
      <p:sp>
        <p:nvSpPr>
          <p:cNvPr id="17" name="Rectangle : coins arrondis 16">
            <a:extLst>
              <a:ext uri="{FF2B5EF4-FFF2-40B4-BE49-F238E27FC236}">
                <a16:creationId xmlns:a16="http://schemas.microsoft.com/office/drawing/2014/main" id="{B1954B3B-618F-8CF3-CAFC-4F359F878347}"/>
              </a:ext>
            </a:extLst>
          </p:cNvPr>
          <p:cNvSpPr/>
          <p:nvPr/>
        </p:nvSpPr>
        <p:spPr>
          <a:xfrm>
            <a:off x="8026400" y="2235200"/>
            <a:ext cx="3327400" cy="2082800"/>
          </a:xfrm>
          <a:prstGeom prst="roundRect">
            <a:avLst>
              <a:gd name="adj" fmla="val 6000"/>
            </a:avLst>
          </a:prstGeom>
          <a:solidFill>
            <a:srgbClr val="2F2F9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F20B0986-8CE0-8E10-9724-296117E9B248}"/>
              </a:ext>
            </a:extLst>
          </p:cNvPr>
          <p:cNvSpPr txBox="1"/>
          <p:nvPr/>
        </p:nvSpPr>
        <p:spPr>
          <a:xfrm>
            <a:off x="8229600" y="2387600"/>
            <a:ext cx="2921000" cy="304800"/>
          </a:xfrm>
          <a:prstGeom prst="rect">
            <a:avLst/>
          </a:prstGeom>
          <a:noFill/>
        </p:spPr>
        <p:txBody>
          <a:bodyPr vert="horz" wrap="square" lIns="0" tIns="0" rIns="0" bIns="0" rtlCol="0">
            <a:noAutofit/>
          </a:bodyPr>
          <a:lstStyle/>
          <a:p>
            <a:r>
              <a:rPr lang="fr-FR" sz="1900" b="1">
                <a:solidFill>
                  <a:srgbClr val="B9B6FF"/>
                </a:solidFill>
                <a:latin typeface="Calibri" panose="020F0502020204030204" pitchFamily="34" charset="0"/>
              </a:rPr>
              <a:t>documents</a:t>
            </a:r>
          </a:p>
        </p:txBody>
      </p:sp>
      <p:sp>
        <p:nvSpPr>
          <p:cNvPr id="19" name="ZoneTexte 18">
            <a:extLst>
              <a:ext uri="{FF2B5EF4-FFF2-40B4-BE49-F238E27FC236}">
                <a16:creationId xmlns:a16="http://schemas.microsoft.com/office/drawing/2014/main" id="{5EAF325A-2283-3BF7-AC4C-F7CB312CD6BA}"/>
              </a:ext>
            </a:extLst>
          </p:cNvPr>
          <p:cNvSpPr txBox="1"/>
          <p:nvPr/>
        </p:nvSpPr>
        <p:spPr>
          <a:xfrm>
            <a:off x="8229600" y="2768600"/>
            <a:ext cx="2921000" cy="1498600"/>
          </a:xfrm>
          <a:prstGeom prst="rect">
            <a:avLst/>
          </a:prstGeom>
          <a:noFill/>
        </p:spPr>
        <p:txBody>
          <a:bodyPr vert="horz" wrap="square" lIns="0" tIns="0" rIns="0" bIns="0" rtlCol="0">
            <a:noAutofit/>
          </a:bodyPr>
          <a:lstStyle/>
          <a:p>
            <a:r>
              <a:rPr lang="fr-FR" sz="1400">
                <a:solidFill>
                  <a:srgbClr val="FFFFFF"/>
                </a:solidFill>
                <a:latin typeface="Calibri" panose="020F0502020204030204" pitchFamily="34" charset="0"/>
              </a:rPr>
              <a:t>Un document par attestation signée : le PDF signé, son nom, la date et l'auteur. Environ 18 Ko chacun.</a:t>
            </a:r>
          </a:p>
        </p:txBody>
      </p:sp>
      <p:sp>
        <p:nvSpPr>
          <p:cNvPr id="20" name="Rectangle : coins arrondis 19">
            <a:extLst>
              <a:ext uri="{FF2B5EF4-FFF2-40B4-BE49-F238E27FC236}">
                <a16:creationId xmlns:a16="http://schemas.microsoft.com/office/drawing/2014/main" id="{5D7DA749-EA79-2282-690E-161D0AA3A5DE}"/>
              </a:ext>
            </a:extLst>
          </p:cNvPr>
          <p:cNvSpPr/>
          <p:nvPr/>
        </p:nvSpPr>
        <p:spPr>
          <a:xfrm>
            <a:off x="609600" y="4800600"/>
            <a:ext cx="10972800" cy="1422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A95EBA5C-794B-4056-D860-3F8E38EE1006}"/>
              </a:ext>
            </a:extLst>
          </p:cNvPr>
          <p:cNvSpPr txBox="1"/>
          <p:nvPr/>
        </p:nvSpPr>
        <p:spPr>
          <a:xfrm>
            <a:off x="863600" y="4978400"/>
            <a:ext cx="10490200" cy="1219200"/>
          </a:xfrm>
          <a:prstGeom prst="rect">
            <a:avLst/>
          </a:prstGeom>
          <a:noFill/>
        </p:spPr>
        <p:txBody>
          <a:bodyPr vert="horz" wrap="square" lIns="0" tIns="0" rIns="0" bIns="0" rtlCol="0">
            <a:noAutofit/>
          </a:bodyPr>
          <a:lstStyle/>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Rien n'est stocké sur le poste ni dans OneDrive : toutes les personnes ayant accès voient les mêmes données</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Une personne n'apparaît dans la base qu'à sa première action ; l'ouverture de l'application n'écrit rien</a:t>
            </a:r>
          </a:p>
          <a:p>
            <a:pPr marL="203200" indent="-203200">
              <a:spcAft>
                <a:spcPts val="500"/>
              </a:spcAft>
              <a:buClr>
                <a:srgbClr val="5853FF"/>
              </a:buClr>
              <a:buFont typeface="+mj-lt"/>
              <a:buChar char="•"/>
            </a:pPr>
            <a:r>
              <a:rPr lang="fr-FR" sz="1400">
                <a:solidFill>
                  <a:srgbClr val="12162B"/>
                </a:solidFill>
                <a:latin typeface="Calibri" panose="020F0502020204030204" pitchFamily="34" charset="0"/>
              </a:rPr>
              <a:t>Limite de la base : 256 Ko par document ; collections directory (annuaire), roles, links, mine et inventory (entrées de stock)</a:t>
            </a:r>
          </a:p>
        </p:txBody>
      </p:sp>
    </p:spTree>
    <p:extLst>
      <p:ext uri="{BB962C8B-B14F-4D97-AF65-F5344CB8AC3E}">
        <p14:creationId xmlns:p14="http://schemas.microsoft.com/office/powerpoint/2010/main" val="3725929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8D4D2D-845E-5FE0-FB9D-E67A4BA5F0F6}"/>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Comment c'est enregistré et protégé</a:t>
            </a:r>
          </a:p>
        </p:txBody>
      </p:sp>
      <p:sp>
        <p:nvSpPr>
          <p:cNvPr id="3" name="ZoneTexte 2">
            <a:extLst>
              <a:ext uri="{FF2B5EF4-FFF2-40B4-BE49-F238E27FC236}">
                <a16:creationId xmlns:a16="http://schemas.microsoft.com/office/drawing/2014/main" id="{73A650E2-98B7-F237-8033-EFE8B46F9D24}"/>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SAUVEGARDE</a:t>
            </a:r>
          </a:p>
        </p:txBody>
      </p:sp>
      <p:sp>
        <p:nvSpPr>
          <p:cNvPr id="4" name="ZoneTexte 3">
            <a:extLst>
              <a:ext uri="{FF2B5EF4-FFF2-40B4-BE49-F238E27FC236}">
                <a16:creationId xmlns:a16="http://schemas.microsoft.com/office/drawing/2014/main" id="{7BC607B1-D05F-6D37-C93A-7DD69B5FDB2A}"/>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Relire, appliquer, enregistrer : pas d'écrasement entre collègues</a:t>
            </a:r>
          </a:p>
        </p:txBody>
      </p:sp>
      <p:sp>
        <p:nvSpPr>
          <p:cNvPr id="5" name="ZoneTexte 4">
            <a:extLst>
              <a:ext uri="{FF2B5EF4-FFF2-40B4-BE49-F238E27FC236}">
                <a16:creationId xmlns:a16="http://schemas.microsoft.com/office/drawing/2014/main" id="{A1FF57AF-5406-1A26-5F49-11CC0D8C74F9}"/>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D682B616-3602-B309-62C3-5BB3CEFB1F9B}"/>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FA082D6F-55D8-4C80-BECB-5D63842139CC}" type="slidenum">
              <a:rPr lang="fr-FR" sz="900" smtClean="0">
                <a:solidFill>
                  <a:srgbClr val="586080"/>
                </a:solidFill>
                <a:latin typeface="Calibri" panose="020F0502020204030204" pitchFamily="34" charset="0"/>
              </a:rPr>
              <a:t>58</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6687C6FD-FD1A-81A3-4747-77920BB73B4F}"/>
              </a:ext>
            </a:extLst>
          </p:cNvPr>
          <p:cNvSpPr/>
          <p:nvPr/>
        </p:nvSpPr>
        <p:spPr>
          <a:xfrm>
            <a:off x="609600" y="1600200"/>
            <a:ext cx="3429000" cy="1651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1A86895D-2F8B-CA1E-D849-EBEFDE96E100}"/>
              </a:ext>
            </a:extLst>
          </p:cNvPr>
          <p:cNvSpPr/>
          <p:nvPr/>
        </p:nvSpPr>
        <p:spPr>
          <a:xfrm>
            <a:off x="838200" y="1803400"/>
            <a:ext cx="457200" cy="4572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600" b="1">
                <a:solidFill>
                  <a:srgbClr val="FFFFFF"/>
                </a:solidFill>
                <a:latin typeface="Calibri" panose="020F0502020204030204" pitchFamily="34" charset="0"/>
              </a:rPr>
              <a:t>1</a:t>
            </a:r>
          </a:p>
        </p:txBody>
      </p:sp>
      <p:sp>
        <p:nvSpPr>
          <p:cNvPr id="9" name="ZoneTexte 8">
            <a:extLst>
              <a:ext uri="{FF2B5EF4-FFF2-40B4-BE49-F238E27FC236}">
                <a16:creationId xmlns:a16="http://schemas.microsoft.com/office/drawing/2014/main" id="{731AA78C-A0E9-74F1-3711-EB8E8A658D55}"/>
              </a:ext>
            </a:extLst>
          </p:cNvPr>
          <p:cNvSpPr txBox="1"/>
          <p:nvPr/>
        </p:nvSpPr>
        <p:spPr>
          <a:xfrm>
            <a:off x="1447800" y="1879600"/>
            <a:ext cx="2413000" cy="330200"/>
          </a:xfrm>
          <a:prstGeom prst="rect">
            <a:avLst/>
          </a:prstGeom>
          <a:noFill/>
        </p:spPr>
        <p:txBody>
          <a:bodyPr vert="horz" wrap="square" lIns="0" tIns="0" rIns="0" bIns="0" rtlCol="0">
            <a:noAutofit/>
          </a:bodyPr>
          <a:lstStyle/>
          <a:p>
            <a:r>
              <a:rPr lang="fr-FR" sz="2000" b="1">
                <a:solidFill>
                  <a:srgbClr val="1E1C8C"/>
                </a:solidFill>
                <a:latin typeface="Calibri" panose="020F0502020204030204" pitchFamily="34" charset="0"/>
              </a:rPr>
              <a:t>Relire</a:t>
            </a:r>
          </a:p>
        </p:txBody>
      </p:sp>
      <p:sp>
        <p:nvSpPr>
          <p:cNvPr id="10" name="ZoneTexte 9">
            <a:extLst>
              <a:ext uri="{FF2B5EF4-FFF2-40B4-BE49-F238E27FC236}">
                <a16:creationId xmlns:a16="http://schemas.microsoft.com/office/drawing/2014/main" id="{5D9264D8-9664-1206-2F03-9F5B86748F49}"/>
              </a:ext>
            </a:extLst>
          </p:cNvPr>
          <p:cNvSpPr txBox="1"/>
          <p:nvPr/>
        </p:nvSpPr>
        <p:spPr>
          <a:xfrm>
            <a:off x="838200" y="2413000"/>
            <a:ext cx="2997200" cy="7874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La dernière version de la personne est lue dans la base</a:t>
            </a:r>
          </a:p>
        </p:txBody>
      </p:sp>
      <p:cxnSp>
        <p:nvCxnSpPr>
          <p:cNvPr id="11" name="Connecteur droit 10">
            <a:extLst>
              <a:ext uri="{FF2B5EF4-FFF2-40B4-BE49-F238E27FC236}">
                <a16:creationId xmlns:a16="http://schemas.microsoft.com/office/drawing/2014/main" id="{C0FF9BF6-A7E0-C92A-E343-A1EE6F9D6047}"/>
              </a:ext>
            </a:extLst>
          </p:cNvPr>
          <p:cNvCxnSpPr/>
          <p:nvPr/>
        </p:nvCxnSpPr>
        <p:spPr>
          <a:xfrm>
            <a:off x="4089400" y="2425700"/>
            <a:ext cx="241300" cy="0"/>
          </a:xfrm>
          <a:prstGeom prst="line">
            <a:avLst/>
          </a:prstGeom>
          <a:ln w="25400">
            <a:solidFill>
              <a:srgbClr val="58608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 coins arrondis 11">
            <a:extLst>
              <a:ext uri="{FF2B5EF4-FFF2-40B4-BE49-F238E27FC236}">
                <a16:creationId xmlns:a16="http://schemas.microsoft.com/office/drawing/2014/main" id="{C2130142-272E-3F6C-D300-E76E0CE110A7}"/>
              </a:ext>
            </a:extLst>
          </p:cNvPr>
          <p:cNvSpPr/>
          <p:nvPr/>
        </p:nvSpPr>
        <p:spPr>
          <a:xfrm>
            <a:off x="4381500" y="1600200"/>
            <a:ext cx="3429000" cy="1651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Ellipse 12">
            <a:extLst>
              <a:ext uri="{FF2B5EF4-FFF2-40B4-BE49-F238E27FC236}">
                <a16:creationId xmlns:a16="http://schemas.microsoft.com/office/drawing/2014/main" id="{7460776E-1361-720D-15D9-A2181EA70798}"/>
              </a:ext>
            </a:extLst>
          </p:cNvPr>
          <p:cNvSpPr/>
          <p:nvPr/>
        </p:nvSpPr>
        <p:spPr>
          <a:xfrm>
            <a:off x="4610100" y="1803400"/>
            <a:ext cx="457200" cy="4572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600" b="1">
                <a:solidFill>
                  <a:srgbClr val="FFFFFF"/>
                </a:solidFill>
                <a:latin typeface="Calibri" panose="020F0502020204030204" pitchFamily="34" charset="0"/>
              </a:rPr>
              <a:t>2</a:t>
            </a:r>
          </a:p>
        </p:txBody>
      </p:sp>
      <p:sp>
        <p:nvSpPr>
          <p:cNvPr id="14" name="ZoneTexte 13">
            <a:extLst>
              <a:ext uri="{FF2B5EF4-FFF2-40B4-BE49-F238E27FC236}">
                <a16:creationId xmlns:a16="http://schemas.microsoft.com/office/drawing/2014/main" id="{14CBFCFF-F712-3EB9-20B9-11752227FAFA}"/>
              </a:ext>
            </a:extLst>
          </p:cNvPr>
          <p:cNvSpPr txBox="1"/>
          <p:nvPr/>
        </p:nvSpPr>
        <p:spPr>
          <a:xfrm>
            <a:off x="5219700" y="1879600"/>
            <a:ext cx="2413000" cy="330200"/>
          </a:xfrm>
          <a:prstGeom prst="rect">
            <a:avLst/>
          </a:prstGeom>
          <a:noFill/>
        </p:spPr>
        <p:txBody>
          <a:bodyPr vert="horz" wrap="square" lIns="0" tIns="0" rIns="0" bIns="0" rtlCol="0">
            <a:noAutofit/>
          </a:bodyPr>
          <a:lstStyle/>
          <a:p>
            <a:r>
              <a:rPr lang="fr-FR" sz="2000" b="1">
                <a:solidFill>
                  <a:srgbClr val="1E1C8C"/>
                </a:solidFill>
                <a:latin typeface="Calibri" panose="020F0502020204030204" pitchFamily="34" charset="0"/>
              </a:rPr>
              <a:t>Appliquer</a:t>
            </a:r>
          </a:p>
        </p:txBody>
      </p:sp>
      <p:sp>
        <p:nvSpPr>
          <p:cNvPr id="15" name="ZoneTexte 14">
            <a:extLst>
              <a:ext uri="{FF2B5EF4-FFF2-40B4-BE49-F238E27FC236}">
                <a16:creationId xmlns:a16="http://schemas.microsoft.com/office/drawing/2014/main" id="{116D369A-4F90-21F7-555D-BA6071986CAD}"/>
              </a:ext>
            </a:extLst>
          </p:cNvPr>
          <p:cNvSpPr txBox="1"/>
          <p:nvPr/>
        </p:nvSpPr>
        <p:spPr>
          <a:xfrm>
            <a:off x="4610100" y="2413000"/>
            <a:ext cx="2997200" cy="7874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Votre modification est ajoutée par-dessus</a:t>
            </a:r>
          </a:p>
        </p:txBody>
      </p:sp>
      <p:cxnSp>
        <p:nvCxnSpPr>
          <p:cNvPr id="16" name="Connecteur droit 15">
            <a:extLst>
              <a:ext uri="{FF2B5EF4-FFF2-40B4-BE49-F238E27FC236}">
                <a16:creationId xmlns:a16="http://schemas.microsoft.com/office/drawing/2014/main" id="{5FE59FA4-72E3-664A-5D7C-BD493C6DA612}"/>
              </a:ext>
            </a:extLst>
          </p:cNvPr>
          <p:cNvCxnSpPr/>
          <p:nvPr/>
        </p:nvCxnSpPr>
        <p:spPr>
          <a:xfrm>
            <a:off x="7861300" y="2425700"/>
            <a:ext cx="241300" cy="0"/>
          </a:xfrm>
          <a:prstGeom prst="line">
            <a:avLst/>
          </a:prstGeom>
          <a:ln w="25400">
            <a:solidFill>
              <a:srgbClr val="58608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 coins arrondis 16">
            <a:extLst>
              <a:ext uri="{FF2B5EF4-FFF2-40B4-BE49-F238E27FC236}">
                <a16:creationId xmlns:a16="http://schemas.microsoft.com/office/drawing/2014/main" id="{83FDEA0B-7361-B650-E60B-891380680D1B}"/>
              </a:ext>
            </a:extLst>
          </p:cNvPr>
          <p:cNvSpPr/>
          <p:nvPr/>
        </p:nvSpPr>
        <p:spPr>
          <a:xfrm>
            <a:off x="8153400" y="1600200"/>
            <a:ext cx="3429000" cy="16510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993AFA9D-9584-2C64-178A-C74BE539DEF5}"/>
              </a:ext>
            </a:extLst>
          </p:cNvPr>
          <p:cNvSpPr/>
          <p:nvPr/>
        </p:nvSpPr>
        <p:spPr>
          <a:xfrm>
            <a:off x="8382000" y="1803400"/>
            <a:ext cx="457200" cy="4572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600" b="1">
                <a:solidFill>
                  <a:srgbClr val="FFFFFF"/>
                </a:solidFill>
                <a:latin typeface="Calibri" panose="020F0502020204030204" pitchFamily="34" charset="0"/>
              </a:rPr>
              <a:t>3</a:t>
            </a:r>
          </a:p>
        </p:txBody>
      </p:sp>
      <p:sp>
        <p:nvSpPr>
          <p:cNvPr id="19" name="ZoneTexte 18">
            <a:extLst>
              <a:ext uri="{FF2B5EF4-FFF2-40B4-BE49-F238E27FC236}">
                <a16:creationId xmlns:a16="http://schemas.microsoft.com/office/drawing/2014/main" id="{75C3FCE0-3B48-E865-C38F-160282F29639}"/>
              </a:ext>
            </a:extLst>
          </p:cNvPr>
          <p:cNvSpPr txBox="1"/>
          <p:nvPr/>
        </p:nvSpPr>
        <p:spPr>
          <a:xfrm>
            <a:off x="8991600" y="1879600"/>
            <a:ext cx="2413000" cy="330200"/>
          </a:xfrm>
          <a:prstGeom prst="rect">
            <a:avLst/>
          </a:prstGeom>
          <a:noFill/>
        </p:spPr>
        <p:txBody>
          <a:bodyPr vert="horz" wrap="square" lIns="0" tIns="0" rIns="0" bIns="0" rtlCol="0">
            <a:noAutofit/>
          </a:bodyPr>
          <a:lstStyle/>
          <a:p>
            <a:r>
              <a:rPr lang="fr-FR" sz="2000" b="1">
                <a:solidFill>
                  <a:srgbClr val="1E1C8C"/>
                </a:solidFill>
                <a:latin typeface="Calibri" panose="020F0502020204030204" pitchFamily="34" charset="0"/>
              </a:rPr>
              <a:t>Enregistrer</a:t>
            </a:r>
          </a:p>
        </p:txBody>
      </p:sp>
      <p:sp>
        <p:nvSpPr>
          <p:cNvPr id="20" name="ZoneTexte 19">
            <a:extLst>
              <a:ext uri="{FF2B5EF4-FFF2-40B4-BE49-F238E27FC236}">
                <a16:creationId xmlns:a16="http://schemas.microsoft.com/office/drawing/2014/main" id="{95557CBC-6173-2E5F-9BBE-2FBC23392D99}"/>
              </a:ext>
            </a:extLst>
          </p:cNvPr>
          <p:cNvSpPr txBox="1"/>
          <p:nvPr/>
        </p:nvSpPr>
        <p:spPr>
          <a:xfrm>
            <a:off x="8382000" y="2413000"/>
            <a:ext cx="2997200" cy="7874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Le résultat est sauvegardé ; la pastille affiche « Synchronisé »</a:t>
            </a:r>
          </a:p>
        </p:txBody>
      </p:sp>
      <p:sp>
        <p:nvSpPr>
          <p:cNvPr id="21" name="Rectangle : coins arrondis 20">
            <a:extLst>
              <a:ext uri="{FF2B5EF4-FFF2-40B4-BE49-F238E27FC236}">
                <a16:creationId xmlns:a16="http://schemas.microsoft.com/office/drawing/2014/main" id="{FBB54634-F798-8F15-C15F-C1ECA89CD625}"/>
              </a:ext>
            </a:extLst>
          </p:cNvPr>
          <p:cNvSpPr/>
          <p:nvPr/>
        </p:nvSpPr>
        <p:spPr>
          <a:xfrm>
            <a:off x="609600" y="3505200"/>
            <a:ext cx="5334000" cy="2717800"/>
          </a:xfrm>
          <a:prstGeom prst="roundRect">
            <a:avLst>
              <a:gd name="adj" fmla="val 4500"/>
            </a:avLst>
          </a:prstGeom>
          <a:solidFill>
            <a:srgbClr val="FDF0D5"/>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A7FDB7DD-7B5F-5CEF-FFF1-355ABB0B0DC7}"/>
              </a:ext>
            </a:extLst>
          </p:cNvPr>
          <p:cNvSpPr txBox="1"/>
          <p:nvPr/>
        </p:nvSpPr>
        <p:spPr>
          <a:xfrm>
            <a:off x="863600" y="3683000"/>
            <a:ext cx="4826000" cy="304800"/>
          </a:xfrm>
          <a:prstGeom prst="rect">
            <a:avLst/>
          </a:prstGeom>
          <a:noFill/>
        </p:spPr>
        <p:txBody>
          <a:bodyPr vert="horz" wrap="square" lIns="0" tIns="0" rIns="0" bIns="0" rtlCol="0">
            <a:noAutofit/>
          </a:bodyPr>
          <a:lstStyle/>
          <a:p>
            <a:r>
              <a:rPr lang="fr-FR" b="1">
                <a:solidFill>
                  <a:srgbClr val="B67608"/>
                </a:solidFill>
                <a:latin typeface="Calibri" panose="020F0502020204030204" pitchFamily="34" charset="0"/>
              </a:rPr>
              <a:t>Si l'enregistrement échoue</a:t>
            </a:r>
          </a:p>
        </p:txBody>
      </p:sp>
      <p:sp>
        <p:nvSpPr>
          <p:cNvPr id="23" name="ZoneTexte 22">
            <a:extLst>
              <a:ext uri="{FF2B5EF4-FFF2-40B4-BE49-F238E27FC236}">
                <a16:creationId xmlns:a16="http://schemas.microsoft.com/office/drawing/2014/main" id="{53219D4F-0634-4C96-7C0F-F1C5653FB194}"/>
              </a:ext>
            </a:extLst>
          </p:cNvPr>
          <p:cNvSpPr txBox="1"/>
          <p:nvPr/>
        </p:nvSpPr>
        <p:spPr>
          <a:xfrm>
            <a:off x="863600" y="4114800"/>
            <a:ext cx="4851400" cy="20320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Au-delà de 6 secondes, l'action est abandonnée pour ne pas bloquer l'écran</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La pastille passe à « Mode local »</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L'action n'est pas conservée : recharger la page et recommencer</a:t>
            </a:r>
          </a:p>
        </p:txBody>
      </p:sp>
      <p:sp>
        <p:nvSpPr>
          <p:cNvPr id="24" name="Rectangle : coins arrondis 23">
            <a:extLst>
              <a:ext uri="{FF2B5EF4-FFF2-40B4-BE49-F238E27FC236}">
                <a16:creationId xmlns:a16="http://schemas.microsoft.com/office/drawing/2014/main" id="{A2A9D6D5-FFB0-01D0-3EF4-A583C89D2745}"/>
              </a:ext>
            </a:extLst>
          </p:cNvPr>
          <p:cNvSpPr/>
          <p:nvPr/>
        </p:nvSpPr>
        <p:spPr>
          <a:xfrm>
            <a:off x="6248400" y="3505200"/>
            <a:ext cx="5334000" cy="2717800"/>
          </a:xfrm>
          <a:prstGeom prst="roundRect">
            <a:avLst>
              <a:gd name="adj" fmla="val 4500"/>
            </a:avLst>
          </a:prstGeom>
          <a:solidFill>
            <a:srgbClr val="E4EEFA"/>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EE5F36E5-03F0-08BC-32AA-71B52C0706BA}"/>
              </a:ext>
            </a:extLst>
          </p:cNvPr>
          <p:cNvSpPr txBox="1"/>
          <p:nvPr/>
        </p:nvSpPr>
        <p:spPr>
          <a:xfrm>
            <a:off x="6502400" y="3683000"/>
            <a:ext cx="4826000" cy="304800"/>
          </a:xfrm>
          <a:prstGeom prst="rect">
            <a:avLst/>
          </a:prstGeom>
          <a:noFill/>
        </p:spPr>
        <p:txBody>
          <a:bodyPr vert="horz" wrap="square" lIns="0" tIns="0" rIns="0" bIns="0" rtlCol="0">
            <a:noAutofit/>
          </a:bodyPr>
          <a:lstStyle/>
          <a:p>
            <a:r>
              <a:rPr lang="fr-FR" b="1">
                <a:solidFill>
                  <a:srgbClr val="2F7DD1"/>
                </a:solidFill>
                <a:latin typeface="Calibri" panose="020F0502020204030204" pitchFamily="34" charset="0"/>
              </a:rPr>
              <a:t>Copies de secours</a:t>
            </a:r>
          </a:p>
        </p:txBody>
      </p:sp>
      <p:sp>
        <p:nvSpPr>
          <p:cNvPr id="26" name="ZoneTexte 25">
            <a:extLst>
              <a:ext uri="{FF2B5EF4-FFF2-40B4-BE49-F238E27FC236}">
                <a16:creationId xmlns:a16="http://schemas.microsoft.com/office/drawing/2014/main" id="{927BE9A3-986D-0F72-DA94-1BF20878B82C}"/>
              </a:ext>
            </a:extLst>
          </p:cNvPr>
          <p:cNvSpPr txBox="1"/>
          <p:nvPr/>
        </p:nvSpPr>
        <p:spPr>
          <a:xfrm>
            <a:off x="6502400" y="4114800"/>
            <a:ext cx="4851400" cy="20320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Exports CSV : attestations, matériel perdu</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PDF signés téléchargeables un par un</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Pas de sauvegarde automatique hors de l'application : export complet à prévoir</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Fichier gpiexalt.html ouvert en local : aucune sauvegarde</a:t>
            </a:r>
          </a:p>
        </p:txBody>
      </p:sp>
    </p:spTree>
    <p:extLst>
      <p:ext uri="{BB962C8B-B14F-4D97-AF65-F5344CB8AC3E}">
        <p14:creationId xmlns:p14="http://schemas.microsoft.com/office/powerpoint/2010/main" val="36343709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E1C8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07DD44-F5DA-3421-E918-1A0C1F10D419}"/>
              </a:ext>
            </a:extLst>
          </p:cNvPr>
          <p:cNvSpPr>
            <a:spLocks noGrp="1"/>
          </p:cNvSpPr>
          <p:nvPr>
            <p:ph type="title"/>
          </p:nvPr>
        </p:nvSpPr>
        <p:spPr>
          <a:xfrm>
            <a:off x="1219200" y="2997200"/>
            <a:ext cx="7874000" cy="889000"/>
          </a:xfrm>
        </p:spPr>
        <p:txBody>
          <a:bodyPr lIns="0" anchor="ctr">
            <a:normAutofit/>
          </a:bodyPr>
          <a:lstStyle/>
          <a:p>
            <a:r>
              <a:rPr lang="fr-FR" b="1">
                <a:solidFill>
                  <a:srgbClr val="FFFFFF"/>
                </a:solidFill>
                <a:latin typeface="Calibri" panose="020F0502020204030204" pitchFamily="34" charset="0"/>
              </a:rPr>
              <a:t>Qualité</a:t>
            </a:r>
          </a:p>
        </p:txBody>
      </p:sp>
      <p:sp>
        <p:nvSpPr>
          <p:cNvPr id="3" name="ZoneTexte 2">
            <a:extLst>
              <a:ext uri="{FF2B5EF4-FFF2-40B4-BE49-F238E27FC236}">
                <a16:creationId xmlns:a16="http://schemas.microsoft.com/office/drawing/2014/main" id="{BDC70174-DE45-E6DF-2B5C-D11AB91239D1}"/>
              </a:ext>
            </a:extLst>
          </p:cNvPr>
          <p:cNvSpPr txBox="1"/>
          <p:nvPr/>
        </p:nvSpPr>
        <p:spPr>
          <a:xfrm>
            <a:off x="1219200" y="1905000"/>
            <a:ext cx="3810000" cy="1016000"/>
          </a:xfrm>
          <a:prstGeom prst="rect">
            <a:avLst/>
          </a:prstGeom>
          <a:noFill/>
        </p:spPr>
        <p:txBody>
          <a:bodyPr vert="horz" wrap="square" lIns="0" tIns="0" rIns="0" bIns="0" rtlCol="0">
            <a:noAutofit/>
          </a:bodyPr>
          <a:lstStyle/>
          <a:p>
            <a:r>
              <a:rPr lang="fr-FR" sz="8000" b="1">
                <a:solidFill>
                  <a:srgbClr val="5853FF"/>
                </a:solidFill>
                <a:latin typeface="Calibri" panose="020F0502020204030204" pitchFamily="34" charset="0"/>
              </a:rPr>
              <a:t>06</a:t>
            </a:r>
          </a:p>
        </p:txBody>
      </p:sp>
      <p:sp>
        <p:nvSpPr>
          <p:cNvPr id="4" name="ZoneTexte 3">
            <a:extLst>
              <a:ext uri="{FF2B5EF4-FFF2-40B4-BE49-F238E27FC236}">
                <a16:creationId xmlns:a16="http://schemas.microsoft.com/office/drawing/2014/main" id="{0F4B82EB-F39D-E639-D459-6331C089C2EB}"/>
              </a:ext>
            </a:extLst>
          </p:cNvPr>
          <p:cNvSpPr txBox="1"/>
          <p:nvPr/>
        </p:nvSpPr>
        <p:spPr>
          <a:xfrm>
            <a:off x="1219200" y="4013200"/>
            <a:ext cx="7874000" cy="762000"/>
          </a:xfrm>
          <a:prstGeom prst="rect">
            <a:avLst/>
          </a:prstGeom>
          <a:noFill/>
        </p:spPr>
        <p:txBody>
          <a:bodyPr vert="horz" wrap="square" lIns="0" tIns="0" rIns="0" bIns="0" rtlCol="0">
            <a:noAutofit/>
          </a:bodyPr>
          <a:lstStyle/>
          <a:p>
            <a:r>
              <a:rPr lang="fr-FR" sz="2000">
                <a:solidFill>
                  <a:srgbClr val="AEB9E3"/>
                </a:solidFill>
                <a:latin typeface="Calibri" panose="020F0502020204030204" pitchFamily="34" charset="0"/>
              </a:rPr>
              <a:t>Plan de recette et registre des risques</a:t>
            </a:r>
          </a:p>
        </p:txBody>
      </p:sp>
      <p:pic>
        <p:nvPicPr>
          <p:cNvPr id="6" name="Image 5">
            <a:extLst>
              <a:ext uri="{FF2B5EF4-FFF2-40B4-BE49-F238E27FC236}">
                <a16:creationId xmlns:a16="http://schemas.microsoft.com/office/drawing/2014/main" id="{39D4FBD6-207D-661A-C128-52387991D6E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382000" y="1651000"/>
            <a:ext cx="3302000" cy="3302000"/>
          </a:xfrm>
          <a:prstGeom prst="rect">
            <a:avLst/>
          </a:prstGeom>
        </p:spPr>
      </p:pic>
      <p:sp>
        <p:nvSpPr>
          <p:cNvPr id="7" name="ZoneTexte 6">
            <a:extLst>
              <a:ext uri="{FF2B5EF4-FFF2-40B4-BE49-F238E27FC236}">
                <a16:creationId xmlns:a16="http://schemas.microsoft.com/office/drawing/2014/main" id="{07CE3EE4-9F88-752F-82E4-27656F22A80A}"/>
              </a:ext>
            </a:extLst>
          </p:cNvPr>
          <p:cNvSpPr txBox="1"/>
          <p:nvPr/>
        </p:nvSpPr>
        <p:spPr>
          <a:xfrm>
            <a:off x="1219200" y="6350000"/>
            <a:ext cx="8890000" cy="177800"/>
          </a:xfrm>
          <a:prstGeom prst="rect">
            <a:avLst/>
          </a:prstGeom>
          <a:noFill/>
        </p:spPr>
        <p:txBody>
          <a:bodyPr vert="horz" wrap="square" lIns="0" tIns="0" rIns="0" bIns="0" rtlCol="0">
            <a:noAutofit/>
          </a:bodyPr>
          <a:lstStyle/>
          <a:p>
            <a:r>
              <a:rPr lang="fr-FR" sz="900">
                <a:solidFill>
                  <a:srgbClr val="7C86B8"/>
                </a:solidFill>
                <a:latin typeface="Calibri" panose="020F0502020204030204" pitchFamily="34" charset="0"/>
              </a:rPr>
              <a:t>GPIEXALT  ·  DOC-GPIEXALT-001  ·  Version 7.8</a:t>
            </a:r>
          </a:p>
        </p:txBody>
      </p:sp>
    </p:spTree>
    <p:extLst>
      <p:ext uri="{BB962C8B-B14F-4D97-AF65-F5344CB8AC3E}">
        <p14:creationId xmlns:p14="http://schemas.microsoft.com/office/powerpoint/2010/main" val="12669961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796D2B-F0E6-009A-19F9-DAF9A2A191CF}"/>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Plan de recette : état au 30/10/2026</a:t>
            </a:r>
          </a:p>
        </p:txBody>
      </p:sp>
      <p:sp>
        <p:nvSpPr>
          <p:cNvPr id="3" name="ZoneTexte 2">
            <a:extLst>
              <a:ext uri="{FF2B5EF4-FFF2-40B4-BE49-F238E27FC236}">
                <a16:creationId xmlns:a16="http://schemas.microsoft.com/office/drawing/2014/main" id="{FD9152EA-CB2A-64D3-089E-4C8C7FD9C3DE}"/>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QUALITÉ</a:t>
            </a:r>
          </a:p>
        </p:txBody>
      </p:sp>
      <p:sp>
        <p:nvSpPr>
          <p:cNvPr id="4" name="ZoneTexte 3">
            <a:extLst>
              <a:ext uri="{FF2B5EF4-FFF2-40B4-BE49-F238E27FC236}">
                <a16:creationId xmlns:a16="http://schemas.microsoft.com/office/drawing/2014/main" id="{BD3634EB-59AC-936F-AD99-95ACA19238F1}"/>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75 cas : 62 réalisés ou simulés en local ; CR-70 à CR-75 à valider en production</a:t>
            </a:r>
          </a:p>
        </p:txBody>
      </p:sp>
      <p:sp>
        <p:nvSpPr>
          <p:cNvPr id="5" name="ZoneTexte 4">
            <a:extLst>
              <a:ext uri="{FF2B5EF4-FFF2-40B4-BE49-F238E27FC236}">
                <a16:creationId xmlns:a16="http://schemas.microsoft.com/office/drawing/2014/main" id="{69ACAB5A-98BB-6727-0711-7957DE0AA2FB}"/>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74571B47-4726-206F-D811-C9280450DDC0}"/>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1855C031-E7ED-4F15-B3E5-D34F77BD4D7A}" type="slidenum">
              <a:rPr lang="fr-FR" sz="900" smtClean="0">
                <a:solidFill>
                  <a:srgbClr val="586080"/>
                </a:solidFill>
                <a:latin typeface="Calibri" panose="020F0502020204030204" pitchFamily="34" charset="0"/>
              </a:rPr>
              <a:t>60</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546C1FCD-2596-BEAD-ADD6-FE74BEED51B9}"/>
              </a:ext>
            </a:extLst>
          </p:cNvPr>
          <p:cNvSpPr/>
          <p:nvPr/>
        </p:nvSpPr>
        <p:spPr>
          <a:xfrm>
            <a:off x="609600" y="1549400"/>
            <a:ext cx="3429000" cy="1041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CE8E2808-BA25-3557-0E18-A583F41FD98B}"/>
              </a:ext>
            </a:extLst>
          </p:cNvPr>
          <p:cNvSpPr txBox="1"/>
          <p:nvPr/>
        </p:nvSpPr>
        <p:spPr>
          <a:xfrm>
            <a:off x="889000" y="1625600"/>
            <a:ext cx="1270000" cy="889000"/>
          </a:xfrm>
          <a:prstGeom prst="rect">
            <a:avLst/>
          </a:prstGeom>
          <a:noFill/>
        </p:spPr>
        <p:txBody>
          <a:bodyPr vert="horz" wrap="square" lIns="0" tIns="0" rIns="0" bIns="0" rtlCol="0">
            <a:noAutofit/>
          </a:bodyPr>
          <a:lstStyle/>
          <a:p>
            <a:r>
              <a:rPr lang="fr-FR" sz="4800" b="1">
                <a:solidFill>
                  <a:srgbClr val="1B9E6B"/>
                </a:solidFill>
                <a:latin typeface="Calibri" panose="020F0502020204030204" pitchFamily="34" charset="0"/>
              </a:rPr>
              <a:t>57</a:t>
            </a:r>
          </a:p>
        </p:txBody>
      </p:sp>
      <p:sp>
        <p:nvSpPr>
          <p:cNvPr id="9" name="ZoneTexte 8">
            <a:extLst>
              <a:ext uri="{FF2B5EF4-FFF2-40B4-BE49-F238E27FC236}">
                <a16:creationId xmlns:a16="http://schemas.microsoft.com/office/drawing/2014/main" id="{CC98B767-EC66-A423-B479-1CBC73E6DCEB}"/>
              </a:ext>
            </a:extLst>
          </p:cNvPr>
          <p:cNvSpPr txBox="1"/>
          <p:nvPr/>
        </p:nvSpPr>
        <p:spPr>
          <a:xfrm>
            <a:off x="2032000" y="1854200"/>
            <a:ext cx="1905000" cy="660400"/>
          </a:xfrm>
          <a:prstGeom prst="rect">
            <a:avLst/>
          </a:prstGeom>
          <a:noFill/>
        </p:spPr>
        <p:txBody>
          <a:bodyPr vert="horz" wrap="square" lIns="0" tIns="0" rIns="0" bIns="0" rtlCol="0">
            <a:noAutofit/>
          </a:bodyPr>
          <a:lstStyle/>
          <a:p>
            <a:r>
              <a:rPr lang="fr-FR" sz="1500">
                <a:solidFill>
                  <a:srgbClr val="12162B"/>
                </a:solidFill>
                <a:latin typeface="Calibri" panose="020F0502020204030204" pitchFamily="34" charset="0"/>
              </a:rPr>
              <a:t>cas réalisés ou simulés</a:t>
            </a:r>
          </a:p>
        </p:txBody>
      </p:sp>
      <p:sp>
        <p:nvSpPr>
          <p:cNvPr id="10" name="Rectangle : coins arrondis 9">
            <a:extLst>
              <a:ext uri="{FF2B5EF4-FFF2-40B4-BE49-F238E27FC236}">
                <a16:creationId xmlns:a16="http://schemas.microsoft.com/office/drawing/2014/main" id="{D321E6E6-03ED-CA3F-37E8-A2E266115CF4}"/>
              </a:ext>
            </a:extLst>
          </p:cNvPr>
          <p:cNvSpPr/>
          <p:nvPr/>
        </p:nvSpPr>
        <p:spPr>
          <a:xfrm>
            <a:off x="4381500" y="1549400"/>
            <a:ext cx="3429000" cy="1041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76DE51A5-7318-A761-20E0-15C117914D35}"/>
              </a:ext>
            </a:extLst>
          </p:cNvPr>
          <p:cNvSpPr txBox="1"/>
          <p:nvPr/>
        </p:nvSpPr>
        <p:spPr>
          <a:xfrm>
            <a:off x="4660900" y="1625600"/>
            <a:ext cx="1270000" cy="889000"/>
          </a:xfrm>
          <a:prstGeom prst="rect">
            <a:avLst/>
          </a:prstGeom>
          <a:noFill/>
        </p:spPr>
        <p:txBody>
          <a:bodyPr vert="horz" wrap="square" lIns="0" tIns="0" rIns="0" bIns="0" rtlCol="0">
            <a:noAutofit/>
          </a:bodyPr>
          <a:lstStyle/>
          <a:p>
            <a:r>
              <a:rPr lang="fr-FR" sz="4800" b="1">
                <a:solidFill>
                  <a:srgbClr val="B67608"/>
                </a:solidFill>
                <a:latin typeface="Calibri" panose="020F0502020204030204" pitchFamily="34" charset="0"/>
              </a:rPr>
              <a:t>9</a:t>
            </a:r>
          </a:p>
        </p:txBody>
      </p:sp>
      <p:sp>
        <p:nvSpPr>
          <p:cNvPr id="12" name="ZoneTexte 11">
            <a:extLst>
              <a:ext uri="{FF2B5EF4-FFF2-40B4-BE49-F238E27FC236}">
                <a16:creationId xmlns:a16="http://schemas.microsoft.com/office/drawing/2014/main" id="{13A84D2A-48C2-5D22-5207-300A6500F491}"/>
              </a:ext>
            </a:extLst>
          </p:cNvPr>
          <p:cNvSpPr txBox="1"/>
          <p:nvPr/>
        </p:nvSpPr>
        <p:spPr>
          <a:xfrm>
            <a:off x="5803900" y="1854200"/>
            <a:ext cx="1905000" cy="660400"/>
          </a:xfrm>
          <a:prstGeom prst="rect">
            <a:avLst/>
          </a:prstGeom>
          <a:noFill/>
        </p:spPr>
        <p:txBody>
          <a:bodyPr vert="horz" wrap="square" lIns="0" tIns="0" rIns="0" bIns="0" rtlCol="0">
            <a:noAutofit/>
          </a:bodyPr>
          <a:lstStyle/>
          <a:p>
            <a:r>
              <a:rPr lang="fr-FR" sz="1500">
                <a:solidFill>
                  <a:srgbClr val="12162B"/>
                </a:solidFill>
                <a:latin typeface="Calibri" panose="020F0502020204030204" pitchFamily="34" charset="0"/>
              </a:rPr>
              <a:t>cas à réaliser en local</a:t>
            </a:r>
          </a:p>
        </p:txBody>
      </p:sp>
      <p:sp>
        <p:nvSpPr>
          <p:cNvPr id="13" name="Rectangle : coins arrondis 12">
            <a:extLst>
              <a:ext uri="{FF2B5EF4-FFF2-40B4-BE49-F238E27FC236}">
                <a16:creationId xmlns:a16="http://schemas.microsoft.com/office/drawing/2014/main" id="{F9851D81-4220-4557-DCD2-A6AEC40A94D5}"/>
              </a:ext>
            </a:extLst>
          </p:cNvPr>
          <p:cNvSpPr/>
          <p:nvPr/>
        </p:nvSpPr>
        <p:spPr>
          <a:xfrm>
            <a:off x="8153400" y="1549400"/>
            <a:ext cx="3429000" cy="1041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4F387D61-F7A3-5357-C1FF-7D0E89AA0C4C}"/>
              </a:ext>
            </a:extLst>
          </p:cNvPr>
          <p:cNvSpPr txBox="1"/>
          <p:nvPr/>
        </p:nvSpPr>
        <p:spPr>
          <a:xfrm>
            <a:off x="8432800" y="1625600"/>
            <a:ext cx="1270000" cy="889000"/>
          </a:xfrm>
          <a:prstGeom prst="rect">
            <a:avLst/>
          </a:prstGeom>
          <a:noFill/>
        </p:spPr>
        <p:txBody>
          <a:bodyPr vert="horz" wrap="square" lIns="0" tIns="0" rIns="0" bIns="0" rtlCol="0">
            <a:noAutofit/>
          </a:bodyPr>
          <a:lstStyle/>
          <a:p>
            <a:r>
              <a:rPr lang="fr-FR" sz="4800" b="1">
                <a:solidFill>
                  <a:srgbClr val="C43D3D"/>
                </a:solidFill>
                <a:latin typeface="Calibri" panose="020F0502020204030204" pitchFamily="34" charset="0"/>
              </a:rPr>
              <a:t>13</a:t>
            </a:r>
          </a:p>
        </p:txBody>
      </p:sp>
      <p:sp>
        <p:nvSpPr>
          <p:cNvPr id="15" name="ZoneTexte 14">
            <a:extLst>
              <a:ext uri="{FF2B5EF4-FFF2-40B4-BE49-F238E27FC236}">
                <a16:creationId xmlns:a16="http://schemas.microsoft.com/office/drawing/2014/main" id="{D12E335F-C725-A073-4E0A-05C94C788EB2}"/>
              </a:ext>
            </a:extLst>
          </p:cNvPr>
          <p:cNvSpPr txBox="1"/>
          <p:nvPr/>
        </p:nvSpPr>
        <p:spPr>
          <a:xfrm>
            <a:off x="9575800" y="1854200"/>
            <a:ext cx="1905000" cy="660400"/>
          </a:xfrm>
          <a:prstGeom prst="rect">
            <a:avLst/>
          </a:prstGeom>
          <a:noFill/>
        </p:spPr>
        <p:txBody>
          <a:bodyPr vert="horz" wrap="square" lIns="0" tIns="0" rIns="0" bIns="0" rtlCol="0">
            <a:noAutofit/>
          </a:bodyPr>
          <a:lstStyle/>
          <a:p>
            <a:r>
              <a:rPr lang="fr-FR" sz="1500">
                <a:solidFill>
                  <a:srgbClr val="12162B"/>
                </a:solidFill>
                <a:latin typeface="Calibri" panose="020F0502020204030204" pitchFamily="34" charset="0"/>
              </a:rPr>
              <a:t>cas prioritaires en production</a:t>
            </a:r>
          </a:p>
        </p:txBody>
      </p:sp>
      <p:sp>
        <p:nvSpPr>
          <p:cNvPr id="16" name="ZoneTexte 15">
            <a:extLst>
              <a:ext uri="{FF2B5EF4-FFF2-40B4-BE49-F238E27FC236}">
                <a16:creationId xmlns:a16="http://schemas.microsoft.com/office/drawing/2014/main" id="{7576ED5F-728C-F733-AD1D-FE420D6FC7FB}"/>
              </a:ext>
            </a:extLst>
          </p:cNvPr>
          <p:cNvSpPr txBox="1"/>
          <p:nvPr/>
        </p:nvSpPr>
        <p:spPr>
          <a:xfrm>
            <a:off x="609600" y="2692400"/>
            <a:ext cx="10972800" cy="279400"/>
          </a:xfrm>
          <a:prstGeom prst="rect">
            <a:avLst/>
          </a:prstGeom>
          <a:noFill/>
        </p:spPr>
        <p:txBody>
          <a:bodyPr vert="horz" wrap="square" lIns="0" tIns="0" rIns="0" bIns="0" rtlCol="0">
            <a:noAutofit/>
          </a:bodyPr>
          <a:lstStyle/>
          <a:p>
            <a:r>
              <a:rPr lang="fr-FR" sz="1700" b="1">
                <a:solidFill>
                  <a:srgbClr val="1E1C8C"/>
                </a:solidFill>
                <a:latin typeface="Calibri" panose="020F0502020204030204" pitchFamily="34" charset="0"/>
              </a:rPr>
              <a:t>Cas prioritaires en production</a:t>
            </a:r>
          </a:p>
        </p:txBody>
      </p:sp>
      <p:graphicFrame>
        <p:nvGraphicFramePr>
          <p:cNvPr id="17" name="Tableau 16">
            <a:extLst>
              <a:ext uri="{FF2B5EF4-FFF2-40B4-BE49-F238E27FC236}">
                <a16:creationId xmlns:a16="http://schemas.microsoft.com/office/drawing/2014/main" id="{5286516E-9222-EAD3-0718-E0FEC6B9DCA8}"/>
              </a:ext>
            </a:extLst>
          </p:cNvPr>
          <p:cNvGraphicFramePr>
            <a:graphicFrameLocks noGrp="1"/>
          </p:cNvGraphicFramePr>
          <p:nvPr>
            <p:extLst>
              <p:ext uri="{D42A27DB-BD31-4B8C-83A1-F6EECF244321}">
                <p14:modId xmlns:p14="http://schemas.microsoft.com/office/powerpoint/2010/main" val="968313663"/>
              </p:ext>
            </p:extLst>
          </p:nvPr>
        </p:nvGraphicFramePr>
        <p:xfrm>
          <a:off x="609600" y="3022600"/>
          <a:ext cx="10972800" cy="3022600"/>
        </p:xfrm>
        <a:graphic>
          <a:graphicData uri="http://schemas.openxmlformats.org/drawingml/2006/table">
            <a:tbl>
              <a:tblPr firstRow="1" bandRow="1">
                <a:tableStyleId>{2D5ABB26-0587-4C30-8999-92F81FD0307C}</a:tableStyleId>
              </a:tblPr>
              <a:tblGrid>
                <a:gridCol w="889000">
                  <a:extLst>
                    <a:ext uri="{9D8B030D-6E8A-4147-A177-3AD203B41FA5}">
                      <a16:colId xmlns:a16="http://schemas.microsoft.com/office/drawing/2014/main" val="1218471955"/>
                    </a:ext>
                  </a:extLst>
                </a:gridCol>
                <a:gridCol w="1587500">
                  <a:extLst>
                    <a:ext uri="{9D8B030D-6E8A-4147-A177-3AD203B41FA5}">
                      <a16:colId xmlns:a16="http://schemas.microsoft.com/office/drawing/2014/main" val="228468879"/>
                    </a:ext>
                  </a:extLst>
                </a:gridCol>
                <a:gridCol w="5067300">
                  <a:extLst>
                    <a:ext uri="{9D8B030D-6E8A-4147-A177-3AD203B41FA5}">
                      <a16:colId xmlns:a16="http://schemas.microsoft.com/office/drawing/2014/main" val="3457665470"/>
                    </a:ext>
                  </a:extLst>
                </a:gridCol>
                <a:gridCol w="3429000">
                  <a:extLst>
                    <a:ext uri="{9D8B030D-6E8A-4147-A177-3AD203B41FA5}">
                      <a16:colId xmlns:a16="http://schemas.microsoft.com/office/drawing/2014/main" val="3076657158"/>
                    </a:ext>
                  </a:extLst>
                </a:gridCol>
              </a:tblGrid>
              <a:tr h="215900">
                <a:tc>
                  <a:txBody>
                    <a:bodyPr/>
                    <a:lstStyle/>
                    <a:p>
                      <a:pPr algn="l"/>
                      <a:r>
                        <a:rPr lang="fr-FR" sz="900" b="1">
                          <a:solidFill>
                            <a:srgbClr val="FFFFFF"/>
                          </a:solidFill>
                          <a:latin typeface="Calibri" panose="020F0502020204030204" pitchFamily="34" charset="0"/>
                        </a:rPr>
                        <a:t>Réf.</a:t>
                      </a:r>
                    </a:p>
                  </a:txBody>
                  <a:tcPr marL="127000" marR="127000" marT="38100" marB="38100" anchor="ctr">
                    <a:solidFill>
                      <a:srgbClr val="1E1C8C"/>
                    </a:solidFill>
                  </a:tcPr>
                </a:tc>
                <a:tc>
                  <a:txBody>
                    <a:bodyPr/>
                    <a:lstStyle/>
                    <a:p>
                      <a:pPr algn="l"/>
                      <a:r>
                        <a:rPr lang="fr-FR" sz="900" b="1">
                          <a:solidFill>
                            <a:srgbClr val="FFFFFF"/>
                          </a:solidFill>
                          <a:latin typeface="Calibri" panose="020F0502020204030204" pitchFamily="34" charset="0"/>
                        </a:rPr>
                        <a:t>Fonction</a:t>
                      </a:r>
                    </a:p>
                  </a:txBody>
                  <a:tcPr marL="127000" marR="127000" marT="38100" marB="38100" anchor="ctr">
                    <a:solidFill>
                      <a:srgbClr val="1E1C8C"/>
                    </a:solidFill>
                  </a:tcPr>
                </a:tc>
                <a:tc>
                  <a:txBody>
                    <a:bodyPr/>
                    <a:lstStyle/>
                    <a:p>
                      <a:pPr algn="l"/>
                      <a:r>
                        <a:rPr lang="fr-FR" sz="900" b="1">
                          <a:solidFill>
                            <a:srgbClr val="FFFFFF"/>
                          </a:solidFill>
                          <a:latin typeface="Calibri" panose="020F0502020204030204" pitchFamily="34" charset="0"/>
                        </a:rPr>
                        <a:t>Scénario</a:t>
                      </a:r>
                    </a:p>
                  </a:txBody>
                  <a:tcPr marL="127000" marR="127000" marT="38100" marB="38100" anchor="ctr">
                    <a:solidFill>
                      <a:srgbClr val="1E1C8C"/>
                    </a:solidFill>
                  </a:tcPr>
                </a:tc>
                <a:tc>
                  <a:txBody>
                    <a:bodyPr/>
                    <a:lstStyle/>
                    <a:p>
                      <a:pPr algn="l"/>
                      <a:r>
                        <a:rPr lang="fr-FR" sz="900" b="1">
                          <a:solidFill>
                            <a:srgbClr val="FFFFFF"/>
                          </a:solidFill>
                          <a:latin typeface="Calibri" panose="020F0502020204030204" pitchFamily="34" charset="0"/>
                        </a:rPr>
                        <a:t>Résultat attendu</a:t>
                      </a:r>
                    </a:p>
                  </a:txBody>
                  <a:tcPr marL="127000" marR="127000" marT="38100" marB="38100" anchor="ctr">
                    <a:solidFill>
                      <a:srgbClr val="1E1C8C"/>
                    </a:solidFill>
                  </a:tcPr>
                </a:tc>
                <a:extLst>
                  <a:ext uri="{0D108BD9-81ED-4DB2-BD59-A6C34878D82A}">
                    <a16:rowId xmlns:a16="http://schemas.microsoft.com/office/drawing/2014/main" val="2685801557"/>
                  </a:ext>
                </a:extLst>
              </a:tr>
              <a:tr h="215900">
                <a:tc>
                  <a:txBody>
                    <a:bodyPr/>
                    <a:lstStyle/>
                    <a:p>
                      <a:pPr algn="l"/>
                      <a:r>
                        <a:rPr lang="fr-FR" sz="900" b="1">
                          <a:solidFill>
                            <a:srgbClr val="12162B"/>
                          </a:solidFill>
                          <a:latin typeface="Calibri" panose="020F0502020204030204" pitchFamily="34" charset="0"/>
                        </a:rPr>
                        <a:t>CR-12</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Outlook</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 Par email » avec le connecteur Microsoft 365 autorisé</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Brouillon, PDF joint, bon destinataire</a:t>
                      </a:r>
                    </a:p>
                  </a:txBody>
                  <a:tcPr marL="127000" marR="127000" marT="38100" marB="38100" anchor="ctr">
                    <a:solidFill>
                      <a:srgbClr val="FFFFFF"/>
                    </a:solidFill>
                  </a:tcPr>
                </a:tc>
                <a:extLst>
                  <a:ext uri="{0D108BD9-81ED-4DB2-BD59-A6C34878D82A}">
                    <a16:rowId xmlns:a16="http://schemas.microsoft.com/office/drawing/2014/main" val="465175551"/>
                  </a:ext>
                </a:extLst>
              </a:tr>
              <a:tr h="215900">
                <a:tc>
                  <a:txBody>
                    <a:bodyPr/>
                    <a:lstStyle/>
                    <a:p>
                      <a:pPr algn="l"/>
                      <a:r>
                        <a:rPr lang="fr-FR" sz="900" b="1">
                          <a:solidFill>
                            <a:srgbClr val="12162B"/>
                          </a:solidFill>
                          <a:latin typeface="Calibri" panose="020F0502020204030204" pitchFamily="34" charset="0"/>
                        </a:rPr>
                        <a:t>CR-14</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Sauvegarde</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Enregistrer une action puis recharger la page</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Données conservées, « Synchronisé »</a:t>
                      </a:r>
                    </a:p>
                  </a:txBody>
                  <a:tcPr marL="127000" marR="127000" marT="38100" marB="38100" anchor="ctr">
                    <a:solidFill>
                      <a:srgbClr val="F0F2FA"/>
                    </a:solidFill>
                  </a:tcPr>
                </a:tc>
                <a:extLst>
                  <a:ext uri="{0D108BD9-81ED-4DB2-BD59-A6C34878D82A}">
                    <a16:rowId xmlns:a16="http://schemas.microsoft.com/office/drawing/2014/main" val="4274786615"/>
                  </a:ext>
                </a:extLst>
              </a:tr>
              <a:tr h="215900">
                <a:tc>
                  <a:txBody>
                    <a:bodyPr/>
                    <a:lstStyle/>
                    <a:p>
                      <a:pPr algn="l"/>
                      <a:r>
                        <a:rPr lang="fr-FR" sz="900" b="1">
                          <a:solidFill>
                            <a:srgbClr val="12162B"/>
                          </a:solidFill>
                          <a:latin typeface="Calibri" panose="020F0502020204030204" pitchFamily="34" charset="0"/>
                        </a:rPr>
                        <a:t>CR-18</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Accès</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Ouvrir le lien avec un compte non autorisé</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Accès refusé</a:t>
                      </a:r>
                    </a:p>
                  </a:txBody>
                  <a:tcPr marL="127000" marR="127000" marT="38100" marB="38100" anchor="ctr">
                    <a:solidFill>
                      <a:srgbClr val="FFFFFF"/>
                    </a:solidFill>
                  </a:tcPr>
                </a:tc>
                <a:extLst>
                  <a:ext uri="{0D108BD9-81ED-4DB2-BD59-A6C34878D82A}">
                    <a16:rowId xmlns:a16="http://schemas.microsoft.com/office/drawing/2014/main" val="3632213745"/>
                  </a:ext>
                </a:extLst>
              </a:tr>
              <a:tr h="215900">
                <a:tc>
                  <a:txBody>
                    <a:bodyPr/>
                    <a:lstStyle/>
                    <a:p>
                      <a:pPr algn="l"/>
                      <a:r>
                        <a:rPr lang="fr-FR" sz="900" b="1">
                          <a:solidFill>
                            <a:srgbClr val="12162B"/>
                          </a:solidFill>
                          <a:latin typeface="Calibri" panose="020F0502020204030204" pitchFamily="34" charset="0"/>
                        </a:rPr>
                        <a:t>CR-28</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Rôles</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Attribuer le rôle Collaborateur, puis « Tous les utilisateurs »</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Fiches rattachées, bilan des absents</a:t>
                      </a:r>
                    </a:p>
                  </a:txBody>
                  <a:tcPr marL="127000" marR="127000" marT="38100" marB="38100" anchor="ctr">
                    <a:solidFill>
                      <a:srgbClr val="F0F2FA"/>
                    </a:solidFill>
                  </a:tcPr>
                </a:tc>
                <a:extLst>
                  <a:ext uri="{0D108BD9-81ED-4DB2-BD59-A6C34878D82A}">
                    <a16:rowId xmlns:a16="http://schemas.microsoft.com/office/drawing/2014/main" val="1983564505"/>
                  </a:ext>
                </a:extLst>
              </a:tr>
              <a:tr h="215900">
                <a:tc>
                  <a:txBody>
                    <a:bodyPr/>
                    <a:lstStyle/>
                    <a:p>
                      <a:pPr algn="l"/>
                      <a:r>
                        <a:rPr lang="fr-FR" sz="900" b="1">
                          <a:solidFill>
                            <a:srgbClr val="12162B"/>
                          </a:solidFill>
                          <a:latin typeface="Calibri" panose="020F0502020204030204" pitchFamily="34" charset="0"/>
                        </a:rPr>
                        <a:t>CR-29</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Collaborateur</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Ouvrir avec un compte « Peut consulter » rattaché</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Seule la vue Mon matériel ; autres fiches refusées</a:t>
                      </a:r>
                    </a:p>
                  </a:txBody>
                  <a:tcPr marL="127000" marR="127000" marT="38100" marB="38100" anchor="ctr">
                    <a:solidFill>
                      <a:srgbClr val="FFFFFF"/>
                    </a:solidFill>
                  </a:tcPr>
                </a:tc>
                <a:extLst>
                  <a:ext uri="{0D108BD9-81ED-4DB2-BD59-A6C34878D82A}">
                    <a16:rowId xmlns:a16="http://schemas.microsoft.com/office/drawing/2014/main" val="690351265"/>
                  </a:ext>
                </a:extLst>
              </a:tr>
              <a:tr h="215900">
                <a:tc>
                  <a:txBody>
                    <a:bodyPr/>
                    <a:lstStyle/>
                    <a:p>
                      <a:pPr algn="l"/>
                      <a:r>
                        <a:rPr lang="fr-FR" sz="900" b="1">
                          <a:solidFill>
                            <a:srgbClr val="12162B"/>
                          </a:solidFill>
                          <a:latin typeface="Calibri" panose="020F0502020204030204" pitchFamily="34" charset="0"/>
                        </a:rPr>
                        <a:t>CR-33</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Annuaire</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Importer 3 personnes choisies, ouvrir Emprunter</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Seules ces 3 personnes sont proposées</a:t>
                      </a:r>
                    </a:p>
                  </a:txBody>
                  <a:tcPr marL="127000" marR="127000" marT="38100" marB="38100" anchor="ctr">
                    <a:solidFill>
                      <a:srgbClr val="F0F2FA"/>
                    </a:solidFill>
                  </a:tcPr>
                </a:tc>
                <a:extLst>
                  <a:ext uri="{0D108BD9-81ED-4DB2-BD59-A6C34878D82A}">
                    <a16:rowId xmlns:a16="http://schemas.microsoft.com/office/drawing/2014/main" val="1181001031"/>
                  </a:ext>
                </a:extLst>
              </a:tr>
              <a:tr h="215900">
                <a:tc>
                  <a:txBody>
                    <a:bodyPr/>
                    <a:lstStyle/>
                    <a:p>
                      <a:pPr algn="l"/>
                      <a:r>
                        <a:rPr lang="fr-FR" sz="900" b="1">
                          <a:solidFill>
                            <a:srgbClr val="12162B"/>
                          </a:solidFill>
                          <a:latin typeface="Calibri" panose="020F0502020204030204" pitchFamily="34" charset="0"/>
                        </a:rPr>
                        <a:t>CR-34</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Annuaire</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Importer tout l'annuaire (plus de 999 comptes)</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Tous les comptes actifs membres avec email</a:t>
                      </a:r>
                    </a:p>
                  </a:txBody>
                  <a:tcPr marL="127000" marR="127000" marT="38100" marB="38100" anchor="ctr">
                    <a:solidFill>
                      <a:srgbClr val="FFFFFF"/>
                    </a:solidFill>
                  </a:tcPr>
                </a:tc>
                <a:extLst>
                  <a:ext uri="{0D108BD9-81ED-4DB2-BD59-A6C34878D82A}">
                    <a16:rowId xmlns:a16="http://schemas.microsoft.com/office/drawing/2014/main" val="1396396589"/>
                  </a:ext>
                </a:extLst>
              </a:tr>
              <a:tr h="215900">
                <a:tc>
                  <a:txBody>
                    <a:bodyPr/>
                    <a:lstStyle/>
                    <a:p>
                      <a:pPr algn="l"/>
                      <a:r>
                        <a:rPr lang="fr-FR" sz="900" b="1">
                          <a:solidFill>
                            <a:srgbClr val="12162B"/>
                          </a:solidFill>
                          <a:latin typeface="Calibri" panose="020F0502020204030204" pitchFamily="34" charset="0"/>
                        </a:rPr>
                        <a:t>CR-37</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Message signé</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Valider la signature, puis Envoyer maintenant</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Message reçu avec le PDF signé joint</a:t>
                      </a:r>
                    </a:p>
                  </a:txBody>
                  <a:tcPr marL="127000" marR="127000" marT="38100" marB="38100" anchor="ctr">
                    <a:solidFill>
                      <a:srgbClr val="F0F2FA"/>
                    </a:solidFill>
                  </a:tcPr>
                </a:tc>
                <a:extLst>
                  <a:ext uri="{0D108BD9-81ED-4DB2-BD59-A6C34878D82A}">
                    <a16:rowId xmlns:a16="http://schemas.microsoft.com/office/drawing/2014/main" val="1753021274"/>
                  </a:ext>
                </a:extLst>
              </a:tr>
              <a:tr h="215900">
                <a:tc>
                  <a:txBody>
                    <a:bodyPr/>
                    <a:lstStyle/>
                    <a:p>
                      <a:pPr algn="l"/>
                      <a:r>
                        <a:rPr lang="fr-FR" sz="900" b="1">
                          <a:solidFill>
                            <a:srgbClr val="12162B"/>
                          </a:solidFill>
                          <a:latin typeface="Calibri" panose="020F0502020204030204" pitchFamily="34" charset="0"/>
                        </a:rPr>
                        <a:t>CR-47</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Rapport par email</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Saisir un destinataire, puis Envoyer maintenant</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Message reçu avec le rapport joint</a:t>
                      </a:r>
                    </a:p>
                  </a:txBody>
                  <a:tcPr marL="127000" marR="127000" marT="38100" marB="38100" anchor="ctr">
                    <a:solidFill>
                      <a:srgbClr val="FFFFFF"/>
                    </a:solidFill>
                  </a:tcPr>
                </a:tc>
                <a:extLst>
                  <a:ext uri="{0D108BD9-81ED-4DB2-BD59-A6C34878D82A}">
                    <a16:rowId xmlns:a16="http://schemas.microsoft.com/office/drawing/2014/main" val="2191967874"/>
                  </a:ext>
                </a:extLst>
              </a:tr>
              <a:tr h="215900">
                <a:tc>
                  <a:txBody>
                    <a:bodyPr/>
                    <a:lstStyle/>
                    <a:p>
                      <a:pPr algn="l"/>
                      <a:r>
                        <a:rPr lang="fr-FR" sz="900" b="1">
                          <a:solidFill>
                            <a:srgbClr val="12162B"/>
                          </a:solidFill>
                          <a:latin typeface="Calibri" panose="020F0502020204030204" pitchFamily="34" charset="0"/>
                        </a:rPr>
                        <a:t>CR-48</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Destinataire</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Restituer « Par email » avec une adresse saisie à la main</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Brouillon adressé à cette adresse</a:t>
                      </a:r>
                    </a:p>
                  </a:txBody>
                  <a:tcPr marL="127000" marR="127000" marT="38100" marB="38100" anchor="ctr">
                    <a:solidFill>
                      <a:srgbClr val="F0F2FA"/>
                    </a:solidFill>
                  </a:tcPr>
                </a:tc>
                <a:extLst>
                  <a:ext uri="{0D108BD9-81ED-4DB2-BD59-A6C34878D82A}">
                    <a16:rowId xmlns:a16="http://schemas.microsoft.com/office/drawing/2014/main" val="859958621"/>
                  </a:ext>
                </a:extLst>
              </a:tr>
              <a:tr h="215900">
                <a:tc>
                  <a:txBody>
                    <a:bodyPr/>
                    <a:lstStyle/>
                    <a:p>
                      <a:pPr algn="l"/>
                      <a:r>
                        <a:rPr lang="fr-FR" sz="900" b="1">
                          <a:solidFill>
                            <a:srgbClr val="12162B"/>
                          </a:solidFill>
                          <a:latin typeface="Calibri" panose="020F0502020204030204" pitchFamily="34" charset="0"/>
                        </a:rPr>
                        <a:t>CR-51</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Rôles</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Chercher « prénom nom » dans Rôles et accès</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Nom complet affiché, personne trouvée</a:t>
                      </a:r>
                    </a:p>
                  </a:txBody>
                  <a:tcPr marL="127000" marR="127000" marT="38100" marB="38100" anchor="ctr">
                    <a:solidFill>
                      <a:srgbClr val="FFFFFF"/>
                    </a:solidFill>
                  </a:tcPr>
                </a:tc>
                <a:extLst>
                  <a:ext uri="{0D108BD9-81ED-4DB2-BD59-A6C34878D82A}">
                    <a16:rowId xmlns:a16="http://schemas.microsoft.com/office/drawing/2014/main" val="1354758349"/>
                  </a:ext>
                </a:extLst>
              </a:tr>
              <a:tr h="215900">
                <a:tc>
                  <a:txBody>
                    <a:bodyPr/>
                    <a:lstStyle/>
                    <a:p>
                      <a:pPr algn="l"/>
                      <a:r>
                        <a:rPr lang="fr-FR" sz="900" b="1">
                          <a:solidFill>
                            <a:srgbClr val="12162B"/>
                          </a:solidFill>
                          <a:latin typeface="Calibri" panose="020F0502020204030204" pitchFamily="34" charset="0"/>
                        </a:rPr>
                        <a:t>CR-53</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Mon matériel</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Compte collaborateur : bouton PDF d'une attestation</a:t>
                      </a:r>
                    </a:p>
                  </a:txBody>
                  <a:tcPr marL="127000" marR="127000" marT="38100" marB="38100" anchor="ctr">
                    <a:solidFill>
                      <a:srgbClr val="F0F2FA"/>
                    </a:solidFill>
                  </a:tcPr>
                </a:tc>
                <a:tc>
                  <a:txBody>
                    <a:bodyPr/>
                    <a:lstStyle/>
                    <a:p>
                      <a:pPr algn="l"/>
                      <a:r>
                        <a:rPr lang="fr-FR" sz="900" b="0">
                          <a:solidFill>
                            <a:srgbClr val="12162B"/>
                          </a:solidFill>
                          <a:latin typeface="Calibri" panose="020F0502020204030204" pitchFamily="34" charset="0"/>
                        </a:rPr>
                        <a:t>PDF téléchargé ; rien des autres personnes</a:t>
                      </a:r>
                    </a:p>
                  </a:txBody>
                  <a:tcPr marL="127000" marR="127000" marT="38100" marB="38100" anchor="ctr">
                    <a:solidFill>
                      <a:srgbClr val="F0F2FA"/>
                    </a:solidFill>
                  </a:tcPr>
                </a:tc>
                <a:extLst>
                  <a:ext uri="{0D108BD9-81ED-4DB2-BD59-A6C34878D82A}">
                    <a16:rowId xmlns:a16="http://schemas.microsoft.com/office/drawing/2014/main" val="2704454433"/>
                  </a:ext>
                </a:extLst>
              </a:tr>
              <a:tr h="215900">
                <a:tc>
                  <a:txBody>
                    <a:bodyPr/>
                    <a:lstStyle/>
                    <a:p>
                      <a:pPr algn="l"/>
                      <a:r>
                        <a:rPr lang="fr-FR" sz="900" b="1">
                          <a:solidFill>
                            <a:srgbClr val="12162B"/>
                          </a:solidFill>
                          <a:latin typeface="Calibri" panose="020F0502020204030204" pitchFamily="34" charset="0"/>
                        </a:rPr>
                        <a:t>CR-54</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Message prêt à envoyer</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Aperçu, Copier le texte, Envoyer maintenant, Réessayer</a:t>
                      </a:r>
                    </a:p>
                  </a:txBody>
                  <a:tcPr marL="127000" marR="127000" marT="38100" marB="38100" anchor="ctr">
                    <a:solidFill>
                      <a:srgbClr val="FFFFFF"/>
                    </a:solidFill>
                  </a:tcPr>
                </a:tc>
                <a:tc>
                  <a:txBody>
                    <a:bodyPr/>
                    <a:lstStyle/>
                    <a:p>
                      <a:pPr algn="l"/>
                      <a:r>
                        <a:rPr lang="fr-FR" sz="900" b="0">
                          <a:solidFill>
                            <a:srgbClr val="12162B"/>
                          </a:solidFill>
                          <a:latin typeface="Calibri" panose="020F0502020204030204" pitchFamily="34" charset="0"/>
                        </a:rPr>
                        <a:t>Raison claire ; envoi réel après reconnexion</a:t>
                      </a:r>
                    </a:p>
                  </a:txBody>
                  <a:tcPr marL="127000" marR="127000" marT="38100" marB="38100" anchor="ctr">
                    <a:solidFill>
                      <a:srgbClr val="FFFFFF"/>
                    </a:solidFill>
                  </a:tcPr>
                </a:tc>
                <a:extLst>
                  <a:ext uri="{0D108BD9-81ED-4DB2-BD59-A6C34878D82A}">
                    <a16:rowId xmlns:a16="http://schemas.microsoft.com/office/drawing/2014/main" val="1910826569"/>
                  </a:ext>
                </a:extLst>
              </a:tr>
            </a:tbl>
          </a:graphicData>
        </a:graphic>
      </p:graphicFrame>
      <p:sp>
        <p:nvSpPr>
          <p:cNvPr id="18" name="ZoneTexte 17">
            <a:extLst>
              <a:ext uri="{FF2B5EF4-FFF2-40B4-BE49-F238E27FC236}">
                <a16:creationId xmlns:a16="http://schemas.microsoft.com/office/drawing/2014/main" id="{C7754A8C-1EC8-4BAD-00B0-D908F2065881}"/>
              </a:ext>
            </a:extLst>
          </p:cNvPr>
          <p:cNvSpPr txBox="1"/>
          <p:nvPr/>
        </p:nvSpPr>
        <p:spPr>
          <a:xfrm>
            <a:off x="609600" y="6172200"/>
            <a:ext cx="10972800" cy="304800"/>
          </a:xfrm>
          <a:prstGeom prst="rect">
            <a:avLst/>
          </a:prstGeom>
          <a:noFill/>
        </p:spPr>
        <p:txBody>
          <a:bodyPr vert="horz" wrap="square" lIns="0" tIns="0" rIns="0" bIns="0" rtlCol="0">
            <a:noAutofit/>
          </a:bodyPr>
          <a:lstStyle/>
          <a:p>
            <a:r>
              <a:rPr lang="fr-FR" sz="1200">
                <a:solidFill>
                  <a:srgbClr val="586080"/>
                </a:solidFill>
                <a:latin typeface="Calibri" panose="020F0502020204030204" pitchFamily="34" charset="0"/>
              </a:rPr>
              <a:t>Les 66 cas couvrent toutes les fonctions, dont l'Inventaire : détail au chapitre 10 du dossier PDF.</a:t>
            </a:r>
          </a:p>
        </p:txBody>
      </p:sp>
    </p:spTree>
    <p:extLst>
      <p:ext uri="{BB962C8B-B14F-4D97-AF65-F5344CB8AC3E}">
        <p14:creationId xmlns:p14="http://schemas.microsoft.com/office/powerpoint/2010/main" val="38079919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747ECD-9CA5-4948-A28E-FF30B2EBDD06}"/>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Principaux risques</a:t>
            </a:r>
          </a:p>
        </p:txBody>
      </p:sp>
      <p:sp>
        <p:nvSpPr>
          <p:cNvPr id="3" name="ZoneTexte 2">
            <a:extLst>
              <a:ext uri="{FF2B5EF4-FFF2-40B4-BE49-F238E27FC236}">
                <a16:creationId xmlns:a16="http://schemas.microsoft.com/office/drawing/2014/main" id="{5713B284-BB88-2B12-BD20-DAD3EE56C600}"/>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QUALITÉ</a:t>
            </a:r>
          </a:p>
        </p:txBody>
      </p:sp>
      <p:sp>
        <p:nvSpPr>
          <p:cNvPr id="4" name="ZoneTexte 3">
            <a:extLst>
              <a:ext uri="{FF2B5EF4-FFF2-40B4-BE49-F238E27FC236}">
                <a16:creationId xmlns:a16="http://schemas.microsoft.com/office/drawing/2014/main" id="{6296E57F-95B4-52A4-2441-487B85875271}"/>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Trente risques suivis ; le plus élevé : parc réel non connecté</a:t>
            </a:r>
          </a:p>
        </p:txBody>
      </p:sp>
      <p:sp>
        <p:nvSpPr>
          <p:cNvPr id="5" name="ZoneTexte 4">
            <a:extLst>
              <a:ext uri="{FF2B5EF4-FFF2-40B4-BE49-F238E27FC236}">
                <a16:creationId xmlns:a16="http://schemas.microsoft.com/office/drawing/2014/main" id="{9F5532CD-2B36-8D6B-2E59-1B461EE9D54B}"/>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A7D4EE6B-3B71-F9DC-9DF6-634C7DC3FB80}"/>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87E4FE06-DD71-4084-8A2B-4104E7C97E85}" type="slidenum">
              <a:rPr lang="fr-FR" sz="900" smtClean="0">
                <a:solidFill>
                  <a:srgbClr val="586080"/>
                </a:solidFill>
                <a:latin typeface="Calibri" panose="020F0502020204030204" pitchFamily="34" charset="0"/>
              </a:rPr>
              <a:t>61</a:t>
            </a:fld>
            <a:endParaRPr lang="fr-FR" sz="900">
              <a:solidFill>
                <a:srgbClr val="586080"/>
              </a:solidFill>
              <a:latin typeface="Calibri" panose="020F0502020204030204" pitchFamily="34" charset="0"/>
            </a:endParaRPr>
          </a:p>
        </p:txBody>
      </p:sp>
      <p:graphicFrame>
        <p:nvGraphicFramePr>
          <p:cNvPr id="7" name="Tableau 6">
            <a:extLst>
              <a:ext uri="{FF2B5EF4-FFF2-40B4-BE49-F238E27FC236}">
                <a16:creationId xmlns:a16="http://schemas.microsoft.com/office/drawing/2014/main" id="{10EB87AF-32E9-2DAA-F1FE-448C4A39CD40}"/>
              </a:ext>
            </a:extLst>
          </p:cNvPr>
          <p:cNvGraphicFramePr>
            <a:graphicFrameLocks noGrp="1"/>
          </p:cNvGraphicFramePr>
          <p:nvPr>
            <p:extLst>
              <p:ext uri="{D42A27DB-BD31-4B8C-83A1-F6EECF244321}">
                <p14:modId xmlns:p14="http://schemas.microsoft.com/office/powerpoint/2010/main" val="1589050192"/>
              </p:ext>
            </p:extLst>
          </p:nvPr>
        </p:nvGraphicFramePr>
        <p:xfrm>
          <a:off x="609600" y="1549400"/>
          <a:ext cx="10972800" cy="4572000"/>
        </p:xfrm>
        <a:graphic>
          <a:graphicData uri="http://schemas.openxmlformats.org/drawingml/2006/table">
            <a:tbl>
              <a:tblPr firstRow="1" bandRow="1">
                <a:tableStyleId>{2D5ABB26-0587-4C30-8999-92F81FD0307C}</a:tableStyleId>
              </a:tblPr>
              <a:tblGrid>
                <a:gridCol w="889000">
                  <a:extLst>
                    <a:ext uri="{9D8B030D-6E8A-4147-A177-3AD203B41FA5}">
                      <a16:colId xmlns:a16="http://schemas.microsoft.com/office/drawing/2014/main" val="3811532354"/>
                    </a:ext>
                  </a:extLst>
                </a:gridCol>
                <a:gridCol w="4191000">
                  <a:extLst>
                    <a:ext uri="{9D8B030D-6E8A-4147-A177-3AD203B41FA5}">
                      <a16:colId xmlns:a16="http://schemas.microsoft.com/office/drawing/2014/main" val="497758263"/>
                    </a:ext>
                  </a:extLst>
                </a:gridCol>
                <a:gridCol w="1193800">
                  <a:extLst>
                    <a:ext uri="{9D8B030D-6E8A-4147-A177-3AD203B41FA5}">
                      <a16:colId xmlns:a16="http://schemas.microsoft.com/office/drawing/2014/main" val="3215196526"/>
                    </a:ext>
                  </a:extLst>
                </a:gridCol>
                <a:gridCol w="4699000">
                  <a:extLst>
                    <a:ext uri="{9D8B030D-6E8A-4147-A177-3AD203B41FA5}">
                      <a16:colId xmlns:a16="http://schemas.microsoft.com/office/drawing/2014/main" val="2655852830"/>
                    </a:ext>
                  </a:extLst>
                </a:gridCol>
              </a:tblGrid>
              <a:tr h="508000">
                <a:tc>
                  <a:txBody>
                    <a:bodyPr/>
                    <a:lstStyle/>
                    <a:p>
                      <a:pPr algn="l"/>
                      <a:r>
                        <a:rPr lang="fr-FR" sz="1200" b="1">
                          <a:solidFill>
                            <a:srgbClr val="FFFFFF"/>
                          </a:solidFill>
                          <a:latin typeface="Calibri" panose="020F0502020204030204" pitchFamily="34" charset="0"/>
                        </a:rPr>
                        <a:t>Réf.</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Risque</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Niveau</a:t>
                      </a:r>
                    </a:p>
                  </a:txBody>
                  <a:tcPr marL="127000" marR="127000" marT="38100" marB="38100" anchor="ctr">
                    <a:solidFill>
                      <a:srgbClr val="1E1C8C"/>
                    </a:solidFill>
                  </a:tcPr>
                </a:tc>
                <a:tc>
                  <a:txBody>
                    <a:bodyPr/>
                    <a:lstStyle/>
                    <a:p>
                      <a:pPr algn="l"/>
                      <a:r>
                        <a:rPr lang="fr-FR" sz="1200" b="1">
                          <a:solidFill>
                            <a:srgbClr val="FFFFFF"/>
                          </a:solidFill>
                          <a:latin typeface="Calibri" panose="020F0502020204030204" pitchFamily="34" charset="0"/>
                        </a:rPr>
                        <a:t>Mesure / état</a:t>
                      </a:r>
                    </a:p>
                  </a:txBody>
                  <a:tcPr marL="127000" marR="127000" marT="38100" marB="38100" anchor="ctr">
                    <a:solidFill>
                      <a:srgbClr val="1E1C8C"/>
                    </a:solidFill>
                  </a:tcPr>
                </a:tc>
                <a:extLst>
                  <a:ext uri="{0D108BD9-81ED-4DB2-BD59-A6C34878D82A}">
                    <a16:rowId xmlns:a16="http://schemas.microsoft.com/office/drawing/2014/main" val="1233178273"/>
                  </a:ext>
                </a:extLst>
              </a:tr>
              <a:tr h="508000">
                <a:tc>
                  <a:txBody>
                    <a:bodyPr/>
                    <a:lstStyle/>
                    <a:p>
                      <a:pPr algn="l"/>
                      <a:r>
                        <a:rPr lang="fr-FR" sz="1200" b="1">
                          <a:solidFill>
                            <a:srgbClr val="12162B"/>
                          </a:solidFill>
                          <a:latin typeface="Calibri" panose="020F0502020204030204" pitchFamily="34" charset="0"/>
                        </a:rPr>
                        <a:t>R-06</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Parc réel non connecté : kit standard de 13 équipements par personne</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Élevé</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Choisir la source du parc (Intune, SharePoint, Excel) avant 1 500 collaborateurs</a:t>
                      </a:r>
                    </a:p>
                  </a:txBody>
                  <a:tcPr marL="127000" marR="127000" marT="38100" marB="38100" anchor="ctr">
                    <a:solidFill>
                      <a:srgbClr val="FFFFFF"/>
                    </a:solidFill>
                  </a:tcPr>
                </a:tc>
                <a:extLst>
                  <a:ext uri="{0D108BD9-81ED-4DB2-BD59-A6C34878D82A}">
                    <a16:rowId xmlns:a16="http://schemas.microsoft.com/office/drawing/2014/main" val="1004471002"/>
                  </a:ext>
                </a:extLst>
              </a:tr>
              <a:tr h="508000">
                <a:tc>
                  <a:txBody>
                    <a:bodyPr/>
                    <a:lstStyle/>
                    <a:p>
                      <a:pPr algn="l"/>
                      <a:r>
                        <a:rPr lang="fr-FR" sz="1200" b="1">
                          <a:solidFill>
                            <a:srgbClr val="12162B"/>
                          </a:solidFill>
                          <a:latin typeface="Calibri" panose="020F0502020204030204" pitchFamily="34" charset="0"/>
                        </a:rPr>
                        <a:t>R-01</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Données non conservées si la base est injoignable</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Moyen</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Pastille « Mode local », export CSV régulier</a:t>
                      </a:r>
                    </a:p>
                  </a:txBody>
                  <a:tcPr marL="127000" marR="127000" marT="38100" marB="38100" anchor="ctr">
                    <a:solidFill>
                      <a:srgbClr val="F0F2FA"/>
                    </a:solidFill>
                  </a:tcPr>
                </a:tc>
                <a:extLst>
                  <a:ext uri="{0D108BD9-81ED-4DB2-BD59-A6C34878D82A}">
                    <a16:rowId xmlns:a16="http://schemas.microsoft.com/office/drawing/2014/main" val="1025371242"/>
                  </a:ext>
                </a:extLst>
              </a:tr>
              <a:tr h="508000">
                <a:tc>
                  <a:txBody>
                    <a:bodyPr/>
                    <a:lstStyle/>
                    <a:p>
                      <a:pPr algn="l"/>
                      <a:r>
                        <a:rPr lang="fr-FR" sz="1200" b="1">
                          <a:solidFill>
                            <a:srgbClr val="12162B"/>
                          </a:solidFill>
                          <a:latin typeface="Calibri" panose="020F0502020204030204" pitchFamily="34" charset="0"/>
                        </a:rPr>
                        <a:t>R-02</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Signature enregistrée par erreur</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Faible</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Confirmation de la date ; Annuler pendant 10 s ; sinon administrateur</a:t>
                      </a:r>
                    </a:p>
                  </a:txBody>
                  <a:tcPr marL="127000" marR="127000" marT="38100" marB="38100" anchor="ctr">
                    <a:solidFill>
                      <a:srgbClr val="FFFFFF"/>
                    </a:solidFill>
                  </a:tcPr>
                </a:tc>
                <a:extLst>
                  <a:ext uri="{0D108BD9-81ED-4DB2-BD59-A6C34878D82A}">
                    <a16:rowId xmlns:a16="http://schemas.microsoft.com/office/drawing/2014/main" val="1497495417"/>
                  </a:ext>
                </a:extLst>
              </a:tr>
              <a:tr h="508000">
                <a:tc>
                  <a:txBody>
                    <a:bodyPr/>
                    <a:lstStyle/>
                    <a:p>
                      <a:pPr algn="l"/>
                      <a:r>
                        <a:rPr lang="fr-FR" sz="1200" b="1">
                          <a:solidFill>
                            <a:srgbClr val="12162B"/>
                          </a:solidFill>
                          <a:latin typeface="Calibri" panose="020F0502020204030204" pitchFamily="34" charset="0"/>
                        </a:rPr>
                        <a:t>R-04</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Rôles Agent IT et Lecteur appliqués à l'affichage seulement</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Moyen</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Seul « Peut consulter » interdit l'écriture ; rôles réels via Entra ID</a:t>
                      </a:r>
                    </a:p>
                  </a:txBody>
                  <a:tcPr marL="127000" marR="127000" marT="38100" marB="38100" anchor="ctr">
                    <a:solidFill>
                      <a:srgbClr val="F0F2FA"/>
                    </a:solidFill>
                  </a:tcPr>
                </a:tc>
                <a:extLst>
                  <a:ext uri="{0D108BD9-81ED-4DB2-BD59-A6C34878D82A}">
                    <a16:rowId xmlns:a16="http://schemas.microsoft.com/office/drawing/2014/main" val="1111858630"/>
                  </a:ext>
                </a:extLst>
              </a:tr>
              <a:tr h="508000">
                <a:tc>
                  <a:txBody>
                    <a:bodyPr/>
                    <a:lstStyle/>
                    <a:p>
                      <a:pPr algn="l"/>
                      <a:r>
                        <a:rPr lang="fr-FR" sz="1200" b="1">
                          <a:solidFill>
                            <a:srgbClr val="12162B"/>
                          </a:solidFill>
                          <a:latin typeface="Calibri" panose="020F0502020204030204" pitchFamily="34" charset="0"/>
                        </a:rPr>
                        <a:t>R-15</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Annuaire importé : données personnelles lisibles par tous les utilisateurs de la page</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Moyen</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Validation du DPO ; essais sur sélection ou groupe ; lecture réservée aux admins à ajouter</a:t>
                      </a:r>
                    </a:p>
                  </a:txBody>
                  <a:tcPr marL="127000" marR="127000" marT="38100" marB="38100" anchor="ctr">
                    <a:solidFill>
                      <a:srgbClr val="FFFFFF"/>
                    </a:solidFill>
                  </a:tcPr>
                </a:tc>
                <a:extLst>
                  <a:ext uri="{0D108BD9-81ED-4DB2-BD59-A6C34878D82A}">
                    <a16:rowId xmlns:a16="http://schemas.microsoft.com/office/drawing/2014/main" val="3747163202"/>
                  </a:ext>
                </a:extLst>
              </a:tr>
              <a:tr h="508000">
                <a:tc>
                  <a:txBody>
                    <a:bodyPr/>
                    <a:lstStyle/>
                    <a:p>
                      <a:pPr algn="l"/>
                      <a:r>
                        <a:rPr lang="fr-FR" sz="1200" b="1">
                          <a:solidFill>
                            <a:srgbClr val="12162B"/>
                          </a:solidFill>
                          <a:latin typeface="Calibri" panose="020F0502020204030204" pitchFamily="34" charset="0"/>
                        </a:rPr>
                        <a:t>R-19</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Alertes de retard visibles seulement à l'ouverture (pas de notification)</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Moyen</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Fenêtre, carte et pastilles rouges ; tâche planifiée à étudier</a:t>
                      </a:r>
                    </a:p>
                  </a:txBody>
                  <a:tcPr marL="127000" marR="127000" marT="38100" marB="38100" anchor="ctr">
                    <a:solidFill>
                      <a:srgbClr val="F0F2FA"/>
                    </a:solidFill>
                  </a:tcPr>
                </a:tc>
                <a:extLst>
                  <a:ext uri="{0D108BD9-81ED-4DB2-BD59-A6C34878D82A}">
                    <a16:rowId xmlns:a16="http://schemas.microsoft.com/office/drawing/2014/main" val="2673827266"/>
                  </a:ext>
                </a:extLst>
              </a:tr>
              <a:tr h="508000">
                <a:tc>
                  <a:txBody>
                    <a:bodyPr/>
                    <a:lstStyle/>
                    <a:p>
                      <a:pPr algn="l"/>
                      <a:r>
                        <a:rPr lang="fr-FR" sz="1200" b="1">
                          <a:solidFill>
                            <a:srgbClr val="12162B"/>
                          </a:solidFill>
                          <a:latin typeface="Calibri" panose="020F0502020204030204" pitchFamily="34" charset="0"/>
                        </a:rPr>
                        <a:t>R-09</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Pas de durée de conservation ni de purge</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Moyen</a:t>
                      </a:r>
                    </a:p>
                  </a:txBody>
                  <a:tcPr marL="127000" marR="127000" marT="38100" marB="38100" anchor="ctr">
                    <a:solidFill>
                      <a:srgbClr val="FFFFFF"/>
                    </a:solidFill>
                  </a:tcPr>
                </a:tc>
                <a:tc>
                  <a:txBody>
                    <a:bodyPr/>
                    <a:lstStyle/>
                    <a:p>
                      <a:pPr algn="l"/>
                      <a:r>
                        <a:rPr lang="fr-FR" sz="1200" b="0">
                          <a:solidFill>
                            <a:srgbClr val="12162B"/>
                          </a:solidFill>
                          <a:latin typeface="Calibri" panose="020F0502020204030204" pitchFamily="34" charset="0"/>
                        </a:rPr>
                        <a:t>Durée à définir avec le DPO ; purge à développer</a:t>
                      </a:r>
                    </a:p>
                  </a:txBody>
                  <a:tcPr marL="127000" marR="127000" marT="38100" marB="38100" anchor="ctr">
                    <a:solidFill>
                      <a:srgbClr val="FFFFFF"/>
                    </a:solidFill>
                  </a:tcPr>
                </a:tc>
                <a:extLst>
                  <a:ext uri="{0D108BD9-81ED-4DB2-BD59-A6C34878D82A}">
                    <a16:rowId xmlns:a16="http://schemas.microsoft.com/office/drawing/2014/main" val="3319514360"/>
                  </a:ext>
                </a:extLst>
              </a:tr>
              <a:tr h="508000">
                <a:tc>
                  <a:txBody>
                    <a:bodyPr/>
                    <a:lstStyle/>
                    <a:p>
                      <a:pPr algn="l"/>
                      <a:r>
                        <a:rPr lang="fr-FR" sz="1200" b="1">
                          <a:solidFill>
                            <a:srgbClr val="12162B"/>
                          </a:solidFill>
                          <a:latin typeface="Calibri" panose="020F0502020204030204" pitchFamily="34" charset="0"/>
                        </a:rPr>
                        <a:t>R-10</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Pas de sauvegarde externe automatique</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Moyen</a:t>
                      </a:r>
                    </a:p>
                  </a:txBody>
                  <a:tcPr marL="127000" marR="127000" marT="38100" marB="38100" anchor="ctr">
                    <a:solidFill>
                      <a:srgbClr val="F0F2FA"/>
                    </a:solidFill>
                  </a:tcPr>
                </a:tc>
                <a:tc>
                  <a:txBody>
                    <a:bodyPr/>
                    <a:lstStyle/>
                    <a:p>
                      <a:pPr algn="l"/>
                      <a:r>
                        <a:rPr lang="fr-FR" sz="1200" b="0">
                          <a:solidFill>
                            <a:srgbClr val="12162B"/>
                          </a:solidFill>
                          <a:latin typeface="Calibri" panose="020F0502020204030204" pitchFamily="34" charset="0"/>
                        </a:rPr>
                        <a:t>Export complet périodique à mettre en place</a:t>
                      </a:r>
                    </a:p>
                  </a:txBody>
                  <a:tcPr marL="127000" marR="127000" marT="38100" marB="38100" anchor="ctr">
                    <a:solidFill>
                      <a:srgbClr val="F0F2FA"/>
                    </a:solidFill>
                  </a:tcPr>
                </a:tc>
                <a:extLst>
                  <a:ext uri="{0D108BD9-81ED-4DB2-BD59-A6C34878D82A}">
                    <a16:rowId xmlns:a16="http://schemas.microsoft.com/office/drawing/2014/main" val="2398317440"/>
                  </a:ext>
                </a:extLst>
              </a:tr>
            </a:tbl>
          </a:graphicData>
        </a:graphic>
      </p:graphicFrame>
    </p:spTree>
    <p:extLst>
      <p:ext uri="{BB962C8B-B14F-4D97-AF65-F5344CB8AC3E}">
        <p14:creationId xmlns:p14="http://schemas.microsoft.com/office/powerpoint/2010/main" val="10054761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E1C8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A09679-E30D-38DA-8446-D20AEE65F7FF}"/>
              </a:ext>
            </a:extLst>
          </p:cNvPr>
          <p:cNvSpPr>
            <a:spLocks noGrp="1"/>
          </p:cNvSpPr>
          <p:nvPr>
            <p:ph type="title"/>
          </p:nvPr>
        </p:nvSpPr>
        <p:spPr>
          <a:xfrm>
            <a:off x="1219200" y="2997200"/>
            <a:ext cx="7874000" cy="889000"/>
          </a:xfrm>
        </p:spPr>
        <p:txBody>
          <a:bodyPr lIns="0" anchor="ctr">
            <a:normAutofit/>
          </a:bodyPr>
          <a:lstStyle/>
          <a:p>
            <a:r>
              <a:rPr lang="fr-FR" b="1">
                <a:solidFill>
                  <a:srgbClr val="FFFFFF"/>
                </a:solidFill>
                <a:latin typeface="Calibri" panose="020F0502020204030204" pitchFamily="34" charset="0"/>
              </a:rPr>
              <a:t>Exploitation</a:t>
            </a:r>
          </a:p>
        </p:txBody>
      </p:sp>
      <p:sp>
        <p:nvSpPr>
          <p:cNvPr id="3" name="ZoneTexte 2">
            <a:extLst>
              <a:ext uri="{FF2B5EF4-FFF2-40B4-BE49-F238E27FC236}">
                <a16:creationId xmlns:a16="http://schemas.microsoft.com/office/drawing/2014/main" id="{896941D6-90E7-3D1F-0194-056FAF75A777}"/>
              </a:ext>
            </a:extLst>
          </p:cNvPr>
          <p:cNvSpPr txBox="1"/>
          <p:nvPr/>
        </p:nvSpPr>
        <p:spPr>
          <a:xfrm>
            <a:off x="1219200" y="1905000"/>
            <a:ext cx="3810000" cy="1016000"/>
          </a:xfrm>
          <a:prstGeom prst="rect">
            <a:avLst/>
          </a:prstGeom>
          <a:noFill/>
        </p:spPr>
        <p:txBody>
          <a:bodyPr vert="horz" wrap="square" lIns="0" tIns="0" rIns="0" bIns="0" rtlCol="0">
            <a:noAutofit/>
          </a:bodyPr>
          <a:lstStyle/>
          <a:p>
            <a:r>
              <a:rPr lang="fr-FR" sz="8000" b="1">
                <a:solidFill>
                  <a:srgbClr val="5853FF"/>
                </a:solidFill>
                <a:latin typeface="Calibri" panose="020F0502020204030204" pitchFamily="34" charset="0"/>
              </a:rPr>
              <a:t>07</a:t>
            </a:r>
          </a:p>
        </p:txBody>
      </p:sp>
      <p:sp>
        <p:nvSpPr>
          <p:cNvPr id="4" name="ZoneTexte 3">
            <a:extLst>
              <a:ext uri="{FF2B5EF4-FFF2-40B4-BE49-F238E27FC236}">
                <a16:creationId xmlns:a16="http://schemas.microsoft.com/office/drawing/2014/main" id="{46C3E8F8-FCCB-5267-7B08-8F91E438CBCF}"/>
              </a:ext>
            </a:extLst>
          </p:cNvPr>
          <p:cNvSpPr txBox="1"/>
          <p:nvPr/>
        </p:nvSpPr>
        <p:spPr>
          <a:xfrm>
            <a:off x="1219200" y="4013200"/>
            <a:ext cx="7874000" cy="762000"/>
          </a:xfrm>
          <a:prstGeom prst="rect">
            <a:avLst/>
          </a:prstGeom>
          <a:noFill/>
        </p:spPr>
        <p:txBody>
          <a:bodyPr vert="horz" wrap="square" lIns="0" tIns="0" rIns="0" bIns="0" rtlCol="0">
            <a:noAutofit/>
          </a:bodyPr>
          <a:lstStyle/>
          <a:p>
            <a:r>
              <a:rPr lang="fr-FR" sz="2000">
                <a:solidFill>
                  <a:srgbClr val="AEB9E3"/>
                </a:solidFill>
                <a:latin typeface="Calibri" panose="020F0502020204030204" pitchFamily="34" charset="0"/>
              </a:rPr>
              <a:t>Mises à jour, limites connues et actions attendues</a:t>
            </a:r>
          </a:p>
        </p:txBody>
      </p:sp>
      <p:pic>
        <p:nvPicPr>
          <p:cNvPr id="6" name="Image 5">
            <a:extLst>
              <a:ext uri="{FF2B5EF4-FFF2-40B4-BE49-F238E27FC236}">
                <a16:creationId xmlns:a16="http://schemas.microsoft.com/office/drawing/2014/main" id="{284A13D6-E388-7646-0D27-5858D75E8CF7}"/>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8382000" y="1651000"/>
            <a:ext cx="3302000" cy="3302000"/>
          </a:xfrm>
          <a:prstGeom prst="rect">
            <a:avLst/>
          </a:prstGeom>
        </p:spPr>
      </p:pic>
      <p:sp>
        <p:nvSpPr>
          <p:cNvPr id="7" name="ZoneTexte 6">
            <a:extLst>
              <a:ext uri="{FF2B5EF4-FFF2-40B4-BE49-F238E27FC236}">
                <a16:creationId xmlns:a16="http://schemas.microsoft.com/office/drawing/2014/main" id="{FDA82664-EDAC-2E86-8B20-5DAB45D12FE5}"/>
              </a:ext>
            </a:extLst>
          </p:cNvPr>
          <p:cNvSpPr txBox="1"/>
          <p:nvPr/>
        </p:nvSpPr>
        <p:spPr>
          <a:xfrm>
            <a:off x="1219200" y="6350000"/>
            <a:ext cx="8890000" cy="177800"/>
          </a:xfrm>
          <a:prstGeom prst="rect">
            <a:avLst/>
          </a:prstGeom>
          <a:noFill/>
        </p:spPr>
        <p:txBody>
          <a:bodyPr vert="horz" wrap="square" lIns="0" tIns="0" rIns="0" bIns="0" rtlCol="0">
            <a:noAutofit/>
          </a:bodyPr>
          <a:lstStyle/>
          <a:p>
            <a:r>
              <a:rPr lang="fr-FR" sz="900">
                <a:solidFill>
                  <a:srgbClr val="7C86B8"/>
                </a:solidFill>
                <a:latin typeface="Calibri" panose="020F0502020204030204" pitchFamily="34" charset="0"/>
              </a:rPr>
              <a:t>GPIEXALT  ·  DOC-GPIEXALT-001  ·  Version 7.8</a:t>
            </a:r>
          </a:p>
        </p:txBody>
      </p:sp>
    </p:spTree>
    <p:extLst>
      <p:ext uri="{BB962C8B-B14F-4D97-AF65-F5344CB8AC3E}">
        <p14:creationId xmlns:p14="http://schemas.microsoft.com/office/powerpoint/2010/main" val="4008068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9A46AA-8564-F119-3476-A353E550A8E3}"/>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Mises à jour de l'application et de la documentation</a:t>
            </a:r>
          </a:p>
        </p:txBody>
      </p:sp>
      <p:sp>
        <p:nvSpPr>
          <p:cNvPr id="3" name="ZoneTexte 2">
            <a:extLst>
              <a:ext uri="{FF2B5EF4-FFF2-40B4-BE49-F238E27FC236}">
                <a16:creationId xmlns:a16="http://schemas.microsoft.com/office/drawing/2014/main" id="{6C2FB4BB-DF05-E82A-A8A4-04F54DC89A80}"/>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EXPLOITATION</a:t>
            </a:r>
          </a:p>
        </p:txBody>
      </p:sp>
      <p:sp>
        <p:nvSpPr>
          <p:cNvPr id="4" name="ZoneTexte 3">
            <a:extLst>
              <a:ext uri="{FF2B5EF4-FFF2-40B4-BE49-F238E27FC236}">
                <a16:creationId xmlns:a16="http://schemas.microsoft.com/office/drawing/2014/main" id="{BB0762EF-68A3-AD85-C062-F501210AF82A}"/>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Les données sont conservées ; la documentation se met à jour sur demande</a:t>
            </a:r>
          </a:p>
        </p:txBody>
      </p:sp>
      <p:sp>
        <p:nvSpPr>
          <p:cNvPr id="5" name="ZoneTexte 4">
            <a:extLst>
              <a:ext uri="{FF2B5EF4-FFF2-40B4-BE49-F238E27FC236}">
                <a16:creationId xmlns:a16="http://schemas.microsoft.com/office/drawing/2014/main" id="{CB5E5400-3DEE-C852-8C77-4E8CE7349A97}"/>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01A9235B-2203-8D9F-59D9-E9D86077885E}"/>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D0CA355D-8A84-4F6F-8F8D-499415C3A47B}" type="slidenum">
              <a:rPr lang="fr-FR" sz="900" smtClean="0">
                <a:solidFill>
                  <a:srgbClr val="586080"/>
                </a:solidFill>
                <a:latin typeface="Calibri" panose="020F0502020204030204" pitchFamily="34" charset="0"/>
              </a:rPr>
              <a:t>63</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8D65868E-E5B8-6C47-A86C-31B256B55227}"/>
              </a:ext>
            </a:extLst>
          </p:cNvPr>
          <p:cNvSpPr/>
          <p:nvPr/>
        </p:nvSpPr>
        <p:spPr>
          <a:xfrm>
            <a:off x="609600" y="1600200"/>
            <a:ext cx="5334000" cy="3327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0F11372F-E81E-C32C-6B2A-B47E602B6A44}"/>
              </a:ext>
            </a:extLst>
          </p:cNvPr>
          <p:cNvSpPr txBox="1"/>
          <p:nvPr/>
        </p:nvSpPr>
        <p:spPr>
          <a:xfrm>
            <a:off x="863600" y="1778000"/>
            <a:ext cx="4826000" cy="330200"/>
          </a:xfrm>
          <a:prstGeom prst="rect">
            <a:avLst/>
          </a:prstGeom>
          <a:noFill/>
        </p:spPr>
        <p:txBody>
          <a:bodyPr vert="horz" wrap="square" lIns="0" tIns="0" rIns="0" bIns="0" rtlCol="0">
            <a:noAutofit/>
          </a:bodyPr>
          <a:lstStyle/>
          <a:p>
            <a:r>
              <a:rPr lang="fr-FR" sz="2000" b="1">
                <a:solidFill>
                  <a:srgbClr val="1E1C8C"/>
                </a:solidFill>
                <a:latin typeface="Calibri" panose="020F0502020204030204" pitchFamily="34" charset="0"/>
              </a:rPr>
              <a:t>L'application</a:t>
            </a:r>
          </a:p>
        </p:txBody>
      </p:sp>
      <p:sp>
        <p:nvSpPr>
          <p:cNvPr id="9" name="ZoneTexte 8">
            <a:extLst>
              <a:ext uri="{FF2B5EF4-FFF2-40B4-BE49-F238E27FC236}">
                <a16:creationId xmlns:a16="http://schemas.microsoft.com/office/drawing/2014/main" id="{33DD9C26-03E9-8331-ABE2-C77A83643840}"/>
              </a:ext>
            </a:extLst>
          </p:cNvPr>
          <p:cNvSpPr txBox="1"/>
          <p:nvPr/>
        </p:nvSpPr>
        <p:spPr>
          <a:xfrm>
            <a:off x="863600" y="2235200"/>
            <a:ext cx="4851400" cy="26162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Chaque modification crée une nouvelle version, à la même adresse</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Les données sont conservées d'une version à l'autre</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Historique des versions : retour en arrière possible</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Dans le code : annuaire de démonstration (avant import), catalogue, textes, relance (3 jours), SMS de test</a:t>
            </a:r>
          </a:p>
        </p:txBody>
      </p:sp>
      <p:sp>
        <p:nvSpPr>
          <p:cNvPr id="10" name="Rectangle : coins arrondis 9">
            <a:extLst>
              <a:ext uri="{FF2B5EF4-FFF2-40B4-BE49-F238E27FC236}">
                <a16:creationId xmlns:a16="http://schemas.microsoft.com/office/drawing/2014/main" id="{8C7A749B-2468-1C71-8A32-F81952E81F8E}"/>
              </a:ext>
            </a:extLst>
          </p:cNvPr>
          <p:cNvSpPr/>
          <p:nvPr/>
        </p:nvSpPr>
        <p:spPr>
          <a:xfrm>
            <a:off x="6248400" y="1600200"/>
            <a:ext cx="5334000" cy="3327400"/>
          </a:xfrm>
          <a:prstGeom prst="roundRect">
            <a:avLst>
              <a:gd name="adj" fmla="val 4500"/>
            </a:avLst>
          </a:prstGeom>
          <a:solidFill>
            <a:srgbClr val="E4EEFA"/>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1E598A77-DD32-ECD8-8F9C-FBA72211BA47}"/>
              </a:ext>
            </a:extLst>
          </p:cNvPr>
          <p:cNvSpPr txBox="1"/>
          <p:nvPr/>
        </p:nvSpPr>
        <p:spPr>
          <a:xfrm>
            <a:off x="6502400" y="1778000"/>
            <a:ext cx="4826000" cy="330200"/>
          </a:xfrm>
          <a:prstGeom prst="rect">
            <a:avLst/>
          </a:prstGeom>
          <a:noFill/>
        </p:spPr>
        <p:txBody>
          <a:bodyPr vert="horz" wrap="square" lIns="0" tIns="0" rIns="0" bIns="0" rtlCol="0">
            <a:noAutofit/>
          </a:bodyPr>
          <a:lstStyle/>
          <a:p>
            <a:r>
              <a:rPr lang="fr-FR" sz="2000" b="1">
                <a:solidFill>
                  <a:srgbClr val="2F7DD1"/>
                </a:solidFill>
                <a:latin typeface="Calibri" panose="020F0502020204030204" pitchFamily="34" charset="0"/>
              </a:rPr>
              <a:t>La documentation</a:t>
            </a:r>
          </a:p>
        </p:txBody>
      </p:sp>
      <p:sp>
        <p:nvSpPr>
          <p:cNvPr id="12" name="ZoneTexte 11">
            <a:extLst>
              <a:ext uri="{FF2B5EF4-FFF2-40B4-BE49-F238E27FC236}">
                <a16:creationId xmlns:a16="http://schemas.microsoft.com/office/drawing/2014/main" id="{8A2B2E92-65FD-CB7E-A180-034771416B76}"/>
              </a:ext>
            </a:extLst>
          </p:cNvPr>
          <p:cNvSpPr txBox="1"/>
          <p:nvPr/>
        </p:nvSpPr>
        <p:spPr>
          <a:xfrm>
            <a:off x="6502400" y="2235200"/>
            <a:ext cx="4851400" cy="2616200"/>
          </a:xfrm>
          <a:prstGeom prst="rect">
            <a:avLst/>
          </a:prstGeom>
          <a:noFill/>
        </p:spPr>
        <p:txBody>
          <a:bodyPr vert="horz" wrap="square" lIns="0" tIns="0" rIns="0" bIns="0" rtlCol="0">
            <a:noAutofit/>
          </a:bodyPr>
          <a:lstStyle/>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Elle ne se met pas à jour automatiquement</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Après une évolution : « mets à jour la documentation »</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Les sections concernées sont ajustées, la version du document est incrémentée</a:t>
            </a:r>
          </a:p>
          <a:p>
            <a:pPr marL="203200" indent="-203200">
              <a:spcAft>
                <a:spcPts val="600"/>
              </a:spcAft>
              <a:buClr>
                <a:srgbClr val="5853FF"/>
              </a:buClr>
              <a:buFont typeface="+mj-lt"/>
              <a:buChar char="•"/>
            </a:pPr>
            <a:r>
              <a:rPr lang="fr-FR" sz="1400">
                <a:solidFill>
                  <a:srgbClr val="12162B"/>
                </a:solidFill>
                <a:latin typeface="Calibri" panose="020F0502020204030204" pitchFamily="34" charset="0"/>
              </a:rPr>
              <a:t>PDF et PowerPoint sont régénérés</a:t>
            </a:r>
          </a:p>
        </p:txBody>
      </p:sp>
      <p:sp>
        <p:nvSpPr>
          <p:cNvPr id="13" name="Rectangle : coins arrondis 12">
            <a:extLst>
              <a:ext uri="{FF2B5EF4-FFF2-40B4-BE49-F238E27FC236}">
                <a16:creationId xmlns:a16="http://schemas.microsoft.com/office/drawing/2014/main" id="{7509CC72-B6D0-5071-7DD7-FD62D462B53C}"/>
              </a:ext>
            </a:extLst>
          </p:cNvPr>
          <p:cNvSpPr/>
          <p:nvPr/>
        </p:nvSpPr>
        <p:spPr>
          <a:xfrm>
            <a:off x="609600" y="5181600"/>
            <a:ext cx="10972800" cy="1016000"/>
          </a:xfrm>
          <a:prstGeom prst="roundRect">
            <a:avLst>
              <a:gd name="adj" fmla="val 6000"/>
            </a:avLst>
          </a:prstGeom>
          <a:solidFill>
            <a:srgbClr val="1E1C8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50800" rIns="127000" bIns="50800" rtlCol="0" anchor="ctr"/>
          <a:lstStyle/>
          <a:p>
            <a:r>
              <a:rPr lang="fr-FR" sz="1000">
                <a:solidFill>
                  <a:srgbClr val="FFFFFF"/>
                </a:solidFill>
                <a:latin typeface="Calibri" panose="020F0502020204030204" pitchFamily="34" charset="0"/>
              </a:rPr>
              <a:t>Journal : Doc 1.0 (05/10/2026) première édition  ·  Doc 2.0 / App 81 (05/10/2026) édition entreprise  ·  Doc 3.0 / App 106 (06/10/2026) accueil, période, QR, signature, thèmes  ·  Doc 4.0 / App 128 (07/10/2026) rôles, rapports, recherche  ·  Doc 5.0 / App 147 (08/10/2026) annuaire Entra ID, envoi signé  ·  Doc 6.0 / App 161 (09/10/2026) GPIEXALT, retards, rapport par email  ·  Doc 7.0 / App 167 (12/10/2026) rapport par page  ·  Doc 7.1 / App 180 (12/10/2026) finition premium, Mon matériel PDF, retrait du scanner  ·  Doc 7.2 / App 192 (12/10/2026) rapport par personne, catalogue complété  ·  Doc 7.3 / App 206 (13/10/2026) parcours Par email, menu collaborateur, habillage  ·  Doc 7.4 / App 242 (14/10/2026) Inventaire, prix et dépenses, stock, calendrier, rapport de l'Inventaire  ·  Doc 7.5 / App 299 (16/10/2026) Nouvel emprunt, quantités, machines, achats, factures  ·  Doc 7.6 / App 409 (27/10/2026) relance Teams, recherche globale, anneaux de l'Inventaire, familles Chargeur et Écran  ·  Doc 7.7 / App 417 (28/10/2026) import de facture, À commander  ·  Doc 7.8 / App 452 (30/10/2026) prolonger un prêt, relances Teams par paliers, Guide et démonstrations, prix HT et TVA, compatibilité et 1 800 personnes</a:t>
            </a:r>
          </a:p>
        </p:txBody>
      </p:sp>
    </p:spTree>
    <p:extLst>
      <p:ext uri="{BB962C8B-B14F-4D97-AF65-F5344CB8AC3E}">
        <p14:creationId xmlns:p14="http://schemas.microsoft.com/office/powerpoint/2010/main" val="3905191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4F5FEE-7C79-40C1-EAF0-96992C431C6F}"/>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Limites connues et évolutions prévues</a:t>
            </a:r>
          </a:p>
        </p:txBody>
      </p:sp>
      <p:sp>
        <p:nvSpPr>
          <p:cNvPr id="3" name="ZoneTexte 2">
            <a:extLst>
              <a:ext uri="{FF2B5EF4-FFF2-40B4-BE49-F238E27FC236}">
                <a16:creationId xmlns:a16="http://schemas.microsoft.com/office/drawing/2014/main" id="{663F983F-376B-C31A-AEC1-83865C539958}"/>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EXPLOITATION</a:t>
            </a:r>
          </a:p>
        </p:txBody>
      </p:sp>
      <p:sp>
        <p:nvSpPr>
          <p:cNvPr id="4" name="ZoneTexte 3">
            <a:extLst>
              <a:ext uri="{FF2B5EF4-FFF2-40B4-BE49-F238E27FC236}">
                <a16:creationId xmlns:a16="http://schemas.microsoft.com/office/drawing/2014/main" id="{F20A564D-1DAF-FC3A-5EB2-D6A2541772A2}"/>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Ce qui n'est pas encore là, et ce qui est prévu</a:t>
            </a:r>
          </a:p>
        </p:txBody>
      </p:sp>
      <p:sp>
        <p:nvSpPr>
          <p:cNvPr id="5" name="ZoneTexte 4">
            <a:extLst>
              <a:ext uri="{FF2B5EF4-FFF2-40B4-BE49-F238E27FC236}">
                <a16:creationId xmlns:a16="http://schemas.microsoft.com/office/drawing/2014/main" id="{BCF615E3-E0CD-C69C-3532-259A5945979A}"/>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9FCA2E9F-0033-A59B-BFED-91B033CECA46}"/>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ED212E67-4439-4D56-A9A6-E195685B10D7}" type="slidenum">
              <a:rPr lang="fr-FR" sz="900" smtClean="0">
                <a:solidFill>
                  <a:srgbClr val="586080"/>
                </a:solidFill>
                <a:latin typeface="Calibri" panose="020F0502020204030204" pitchFamily="34" charset="0"/>
              </a:rPr>
              <a:t>64</a:t>
            </a:fld>
            <a:endParaRPr lang="fr-FR" sz="900">
              <a:solidFill>
                <a:srgbClr val="586080"/>
              </a:solidFill>
              <a:latin typeface="Calibri" panose="020F0502020204030204" pitchFamily="34" charset="0"/>
            </a:endParaRPr>
          </a:p>
        </p:txBody>
      </p:sp>
      <p:sp>
        <p:nvSpPr>
          <p:cNvPr id="7" name="Rectangle : coins arrondis 6">
            <a:extLst>
              <a:ext uri="{FF2B5EF4-FFF2-40B4-BE49-F238E27FC236}">
                <a16:creationId xmlns:a16="http://schemas.microsoft.com/office/drawing/2014/main" id="{2007608C-8FDA-4DEB-BE8A-BADF440671C0}"/>
              </a:ext>
            </a:extLst>
          </p:cNvPr>
          <p:cNvSpPr/>
          <p:nvPr/>
        </p:nvSpPr>
        <p:spPr>
          <a:xfrm>
            <a:off x="609600" y="1625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A15323BD-7C97-51EB-6B6F-DC2875D3FA80}"/>
              </a:ext>
            </a:extLst>
          </p:cNvPr>
          <p:cNvSpPr/>
          <p:nvPr/>
        </p:nvSpPr>
        <p:spPr>
          <a:xfrm>
            <a:off x="838200" y="1854200"/>
            <a:ext cx="203200" cy="203200"/>
          </a:xfrm>
          <a:prstGeom prst="ellipse">
            <a:avLst/>
          </a:prstGeom>
          <a:solidFill>
            <a:srgbClr val="2F7DD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9" name="ZoneTexte 8">
            <a:extLst>
              <a:ext uri="{FF2B5EF4-FFF2-40B4-BE49-F238E27FC236}">
                <a16:creationId xmlns:a16="http://schemas.microsoft.com/office/drawing/2014/main" id="{F65A318E-A11B-32CF-6EE7-1EF95E86A058}"/>
              </a:ext>
            </a:extLst>
          </p:cNvPr>
          <p:cNvSpPr txBox="1"/>
          <p:nvPr/>
        </p:nvSpPr>
        <p:spPr>
          <a:xfrm>
            <a:off x="1168400" y="1803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Annuaire et parc</a:t>
            </a:r>
          </a:p>
        </p:txBody>
      </p:sp>
      <p:sp>
        <p:nvSpPr>
          <p:cNvPr id="10" name="ZoneTexte 9">
            <a:extLst>
              <a:ext uri="{FF2B5EF4-FFF2-40B4-BE49-F238E27FC236}">
                <a16:creationId xmlns:a16="http://schemas.microsoft.com/office/drawing/2014/main" id="{7241053B-27C7-9589-6029-45A950862FA5}"/>
              </a:ext>
            </a:extLst>
          </p:cNvPr>
          <p:cNvSpPr txBox="1"/>
          <p:nvPr/>
        </p:nvSpPr>
        <p:spPr>
          <a:xfrm>
            <a:off x="838200" y="2336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Annuaire : importé depuis Entra ID. Parc : kit standard de 13 équipements, source réelle à choisir.</a:t>
            </a:r>
          </a:p>
        </p:txBody>
      </p:sp>
      <p:sp>
        <p:nvSpPr>
          <p:cNvPr id="11" name="Rectangle : coins arrondis 10">
            <a:extLst>
              <a:ext uri="{FF2B5EF4-FFF2-40B4-BE49-F238E27FC236}">
                <a16:creationId xmlns:a16="http://schemas.microsoft.com/office/drawing/2014/main" id="{2053F71F-0A44-B3CD-557D-511A0BA2D671}"/>
              </a:ext>
            </a:extLst>
          </p:cNvPr>
          <p:cNvSpPr/>
          <p:nvPr/>
        </p:nvSpPr>
        <p:spPr>
          <a:xfrm>
            <a:off x="4381500" y="1625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a:extLst>
              <a:ext uri="{FF2B5EF4-FFF2-40B4-BE49-F238E27FC236}">
                <a16:creationId xmlns:a16="http://schemas.microsoft.com/office/drawing/2014/main" id="{16BDEC42-84B0-97D4-1502-59D94E7F4AA4}"/>
              </a:ext>
            </a:extLst>
          </p:cNvPr>
          <p:cNvSpPr/>
          <p:nvPr/>
        </p:nvSpPr>
        <p:spPr>
          <a:xfrm>
            <a:off x="4610100" y="1854200"/>
            <a:ext cx="203200" cy="203200"/>
          </a:xfrm>
          <a:prstGeom prst="ellipse">
            <a:avLst/>
          </a:prstGeom>
          <a:solidFill>
            <a:srgbClr val="7C4D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13" name="ZoneTexte 12">
            <a:extLst>
              <a:ext uri="{FF2B5EF4-FFF2-40B4-BE49-F238E27FC236}">
                <a16:creationId xmlns:a16="http://schemas.microsoft.com/office/drawing/2014/main" id="{3C85045D-894C-61DA-6FF7-25A5809944C3}"/>
              </a:ext>
            </a:extLst>
          </p:cNvPr>
          <p:cNvSpPr txBox="1"/>
          <p:nvPr/>
        </p:nvSpPr>
        <p:spPr>
          <a:xfrm>
            <a:off x="4940300" y="1803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Envoi</a:t>
            </a:r>
          </a:p>
        </p:txBody>
      </p:sp>
      <p:sp>
        <p:nvSpPr>
          <p:cNvPr id="14" name="ZoneTexte 13">
            <a:extLst>
              <a:ext uri="{FF2B5EF4-FFF2-40B4-BE49-F238E27FC236}">
                <a16:creationId xmlns:a16="http://schemas.microsoft.com/office/drawing/2014/main" id="{869ECF38-33EA-34BB-15BD-02F70676C668}"/>
              </a:ext>
            </a:extLst>
          </p:cNvPr>
          <p:cNvSpPr txBox="1"/>
          <p:nvPr/>
        </p:nvSpPr>
        <p:spPr>
          <a:xfrm>
            <a:off x="4610100" y="2336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Attestation signée : envoi après confirmation, ou brouillon. Aucun envoi sans clic.</a:t>
            </a:r>
          </a:p>
        </p:txBody>
      </p:sp>
      <p:sp>
        <p:nvSpPr>
          <p:cNvPr id="15" name="Rectangle : coins arrondis 14">
            <a:extLst>
              <a:ext uri="{FF2B5EF4-FFF2-40B4-BE49-F238E27FC236}">
                <a16:creationId xmlns:a16="http://schemas.microsoft.com/office/drawing/2014/main" id="{36DF4D76-61A4-55FA-538A-3CAD959EE029}"/>
              </a:ext>
            </a:extLst>
          </p:cNvPr>
          <p:cNvSpPr/>
          <p:nvPr/>
        </p:nvSpPr>
        <p:spPr>
          <a:xfrm>
            <a:off x="8153400" y="1625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Ellipse 15">
            <a:extLst>
              <a:ext uri="{FF2B5EF4-FFF2-40B4-BE49-F238E27FC236}">
                <a16:creationId xmlns:a16="http://schemas.microsoft.com/office/drawing/2014/main" id="{49A840D8-E0E3-0989-F70F-4D6C50DC8060}"/>
              </a:ext>
            </a:extLst>
          </p:cNvPr>
          <p:cNvSpPr/>
          <p:nvPr/>
        </p:nvSpPr>
        <p:spPr>
          <a:xfrm>
            <a:off x="8382000" y="1854200"/>
            <a:ext cx="203200" cy="203200"/>
          </a:xfrm>
          <a:prstGeom prst="ellipse">
            <a:avLst/>
          </a:prstGeom>
          <a:solidFill>
            <a:srgbClr val="B6760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17" name="ZoneTexte 16">
            <a:extLst>
              <a:ext uri="{FF2B5EF4-FFF2-40B4-BE49-F238E27FC236}">
                <a16:creationId xmlns:a16="http://schemas.microsoft.com/office/drawing/2014/main" id="{E85C3FB2-7CBC-553C-6E53-5349240E0DD1}"/>
              </a:ext>
            </a:extLst>
          </p:cNvPr>
          <p:cNvSpPr txBox="1"/>
          <p:nvPr/>
        </p:nvSpPr>
        <p:spPr>
          <a:xfrm>
            <a:off x="8712200" y="1803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SMS</a:t>
            </a:r>
          </a:p>
        </p:txBody>
      </p:sp>
      <p:sp>
        <p:nvSpPr>
          <p:cNvPr id="18" name="ZoneTexte 17">
            <a:extLst>
              <a:ext uri="{FF2B5EF4-FFF2-40B4-BE49-F238E27FC236}">
                <a16:creationId xmlns:a16="http://schemas.microsoft.com/office/drawing/2014/main" id="{08285884-B608-CCF2-C9A4-C4EE7ED473B4}"/>
              </a:ext>
            </a:extLst>
          </p:cNvPr>
          <p:cNvSpPr txBox="1"/>
          <p:nvPr/>
        </p:nvSpPr>
        <p:spPr>
          <a:xfrm>
            <a:off x="8382000" y="2336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Numéro de test, via l'application de messages de l'appareil.</a:t>
            </a:r>
          </a:p>
        </p:txBody>
      </p:sp>
      <p:sp>
        <p:nvSpPr>
          <p:cNvPr id="19" name="Rectangle : coins arrondis 18">
            <a:extLst>
              <a:ext uri="{FF2B5EF4-FFF2-40B4-BE49-F238E27FC236}">
                <a16:creationId xmlns:a16="http://schemas.microsoft.com/office/drawing/2014/main" id="{79A777B0-0BB7-DDD1-CF27-0A945BAD213D}"/>
              </a:ext>
            </a:extLst>
          </p:cNvPr>
          <p:cNvSpPr/>
          <p:nvPr/>
        </p:nvSpPr>
        <p:spPr>
          <a:xfrm>
            <a:off x="609600" y="4038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C6016748-C35F-26A7-1E69-EF579C9B5C41}"/>
              </a:ext>
            </a:extLst>
          </p:cNvPr>
          <p:cNvSpPr/>
          <p:nvPr/>
        </p:nvSpPr>
        <p:spPr>
          <a:xfrm>
            <a:off x="838200" y="4267200"/>
            <a:ext cx="203200" cy="203200"/>
          </a:xfrm>
          <a:prstGeom prst="ellipse">
            <a:avLst/>
          </a:prstGeom>
          <a:solidFill>
            <a:srgbClr val="C43D3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21" name="ZoneTexte 20">
            <a:extLst>
              <a:ext uri="{FF2B5EF4-FFF2-40B4-BE49-F238E27FC236}">
                <a16:creationId xmlns:a16="http://schemas.microsoft.com/office/drawing/2014/main" id="{38B33C9C-8F1C-531A-A560-B059FF1E17B7}"/>
              </a:ext>
            </a:extLst>
          </p:cNvPr>
          <p:cNvSpPr txBox="1"/>
          <p:nvPr/>
        </p:nvSpPr>
        <p:spPr>
          <a:xfrm>
            <a:off x="1168400" y="4216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Droits et rôles</a:t>
            </a:r>
          </a:p>
        </p:txBody>
      </p:sp>
      <p:sp>
        <p:nvSpPr>
          <p:cNvPr id="22" name="ZoneTexte 21">
            <a:extLst>
              <a:ext uri="{FF2B5EF4-FFF2-40B4-BE49-F238E27FC236}">
                <a16:creationId xmlns:a16="http://schemas.microsoft.com/office/drawing/2014/main" id="{F8B8DAEA-7FBA-A275-812C-0F832AE32BFE}"/>
              </a:ext>
            </a:extLst>
          </p:cNvPr>
          <p:cNvSpPr txBox="1"/>
          <p:nvPr/>
        </p:nvSpPr>
        <p:spPr>
          <a:xfrm>
            <a:off x="838200" y="4749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Agent IT et Lecteur : affichage seulement. Droits réels via Entra ID à prévoir.</a:t>
            </a:r>
          </a:p>
        </p:txBody>
      </p:sp>
      <p:sp>
        <p:nvSpPr>
          <p:cNvPr id="23" name="Rectangle : coins arrondis 22">
            <a:extLst>
              <a:ext uri="{FF2B5EF4-FFF2-40B4-BE49-F238E27FC236}">
                <a16:creationId xmlns:a16="http://schemas.microsoft.com/office/drawing/2014/main" id="{3B6A49C9-6ECD-1C9C-6833-05B72D104F20}"/>
              </a:ext>
            </a:extLst>
          </p:cNvPr>
          <p:cNvSpPr/>
          <p:nvPr/>
        </p:nvSpPr>
        <p:spPr>
          <a:xfrm>
            <a:off x="4381500" y="4038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3B90A011-17BC-D8B8-9DD6-FCA19D71FA85}"/>
              </a:ext>
            </a:extLst>
          </p:cNvPr>
          <p:cNvSpPr/>
          <p:nvPr/>
        </p:nvSpPr>
        <p:spPr>
          <a:xfrm>
            <a:off x="4610100" y="4267200"/>
            <a:ext cx="203200" cy="203200"/>
          </a:xfrm>
          <a:prstGeom prst="ellipse">
            <a:avLst/>
          </a:prstGeom>
          <a:solidFill>
            <a:srgbClr val="0E8E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25" name="ZoneTexte 24">
            <a:extLst>
              <a:ext uri="{FF2B5EF4-FFF2-40B4-BE49-F238E27FC236}">
                <a16:creationId xmlns:a16="http://schemas.microsoft.com/office/drawing/2014/main" id="{0AD7F9CF-C0CF-9569-CB6E-A496A6CA2AD7}"/>
              </a:ext>
            </a:extLst>
          </p:cNvPr>
          <p:cNvSpPr txBox="1"/>
          <p:nvPr/>
        </p:nvSpPr>
        <p:spPr>
          <a:xfrm>
            <a:off x="4940300" y="4216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Départs et retards</a:t>
            </a:r>
          </a:p>
        </p:txBody>
      </p:sp>
      <p:sp>
        <p:nvSpPr>
          <p:cNvPr id="26" name="ZoneTexte 25">
            <a:extLst>
              <a:ext uri="{FF2B5EF4-FFF2-40B4-BE49-F238E27FC236}">
                <a16:creationId xmlns:a16="http://schemas.microsoft.com/office/drawing/2014/main" id="{DF376AAE-7AEB-B773-BE6C-0BB10ACBC0B8}"/>
              </a:ext>
            </a:extLst>
          </p:cNvPr>
          <p:cNvSpPr txBox="1"/>
          <p:nvPr/>
        </p:nvSpPr>
        <p:spPr>
          <a:xfrm>
            <a:off x="4610100" y="4749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Date de départ par collaborateur : non réalisé. Alertes de retard visibles à l'ouverture seulement.</a:t>
            </a:r>
          </a:p>
        </p:txBody>
      </p:sp>
      <p:sp>
        <p:nvSpPr>
          <p:cNvPr id="27" name="Rectangle : coins arrondis 26">
            <a:extLst>
              <a:ext uri="{FF2B5EF4-FFF2-40B4-BE49-F238E27FC236}">
                <a16:creationId xmlns:a16="http://schemas.microsoft.com/office/drawing/2014/main" id="{6E536C80-886A-8410-B131-439A165B7DAF}"/>
              </a:ext>
            </a:extLst>
          </p:cNvPr>
          <p:cNvSpPr/>
          <p:nvPr/>
        </p:nvSpPr>
        <p:spPr>
          <a:xfrm>
            <a:off x="8153400" y="4038600"/>
            <a:ext cx="3429000" cy="2184400"/>
          </a:xfrm>
          <a:prstGeom prst="roundRect">
            <a:avLst>
              <a:gd name="adj" fmla="val 4500"/>
            </a:avLst>
          </a:prstGeom>
          <a:solidFill>
            <a:srgbClr val="FFFFFF"/>
          </a:solidFill>
          <a:ln w="12700">
            <a:solidFill>
              <a:srgbClr val="DADDEE"/>
            </a:solidFill>
          </a:ln>
          <a:effectLst>
            <a:outerShdw blurRad="177800" dist="50800" dir="5400000" rotWithShape="0">
              <a:srgbClr val="1E1C8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Ellipse 27">
            <a:extLst>
              <a:ext uri="{FF2B5EF4-FFF2-40B4-BE49-F238E27FC236}">
                <a16:creationId xmlns:a16="http://schemas.microsoft.com/office/drawing/2014/main" id="{B19F3C65-C929-2B9C-B55D-63FB69F22631}"/>
              </a:ext>
            </a:extLst>
          </p:cNvPr>
          <p:cNvSpPr/>
          <p:nvPr/>
        </p:nvSpPr>
        <p:spPr>
          <a:xfrm>
            <a:off x="8382000" y="4267200"/>
            <a:ext cx="203200" cy="203200"/>
          </a:xfrm>
          <a:prstGeom prst="ellipse">
            <a:avLst/>
          </a:prstGeom>
          <a:solidFill>
            <a:srgbClr val="1B9E6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800" b="1">
              <a:solidFill>
                <a:srgbClr val="FFFFFF"/>
              </a:solidFill>
              <a:latin typeface="Calibri" panose="020F0502020204030204" pitchFamily="34" charset="0"/>
            </a:endParaRPr>
          </a:p>
        </p:txBody>
      </p:sp>
      <p:sp>
        <p:nvSpPr>
          <p:cNvPr id="29" name="ZoneTexte 28">
            <a:extLst>
              <a:ext uri="{FF2B5EF4-FFF2-40B4-BE49-F238E27FC236}">
                <a16:creationId xmlns:a16="http://schemas.microsoft.com/office/drawing/2014/main" id="{44FB9CE6-96E9-6632-059A-702D13F1616C}"/>
              </a:ext>
            </a:extLst>
          </p:cNvPr>
          <p:cNvSpPr txBox="1"/>
          <p:nvPr/>
        </p:nvSpPr>
        <p:spPr>
          <a:xfrm>
            <a:off x="8712200" y="4216400"/>
            <a:ext cx="2717800" cy="330200"/>
          </a:xfrm>
          <a:prstGeom prst="rect">
            <a:avLst/>
          </a:prstGeom>
          <a:noFill/>
        </p:spPr>
        <p:txBody>
          <a:bodyPr vert="horz" wrap="square" lIns="0" tIns="0" rIns="0" bIns="0" rtlCol="0">
            <a:noAutofit/>
          </a:bodyPr>
          <a:lstStyle/>
          <a:p>
            <a:r>
              <a:rPr lang="fr-FR" sz="1600" b="1">
                <a:solidFill>
                  <a:srgbClr val="1E1C8C"/>
                </a:solidFill>
                <a:latin typeface="Calibri" panose="020F0502020204030204" pitchFamily="34" charset="0"/>
              </a:rPr>
              <a:t>Sauvegarde externe</a:t>
            </a:r>
          </a:p>
        </p:txBody>
      </p:sp>
      <p:sp>
        <p:nvSpPr>
          <p:cNvPr id="30" name="ZoneTexte 29">
            <a:extLst>
              <a:ext uri="{FF2B5EF4-FFF2-40B4-BE49-F238E27FC236}">
                <a16:creationId xmlns:a16="http://schemas.microsoft.com/office/drawing/2014/main" id="{8E044E93-B3E2-31FE-72AA-02C8191CA3ED}"/>
              </a:ext>
            </a:extLst>
          </p:cNvPr>
          <p:cNvSpPr txBox="1"/>
          <p:nvPr/>
        </p:nvSpPr>
        <p:spPr>
          <a:xfrm>
            <a:off x="8382000" y="4749800"/>
            <a:ext cx="2997200" cy="1371600"/>
          </a:xfrm>
          <a:prstGeom prst="rect">
            <a:avLst/>
          </a:prstGeom>
          <a:noFill/>
        </p:spPr>
        <p:txBody>
          <a:bodyPr vert="horz" wrap="square" lIns="0" tIns="0" rIns="0" bIns="0" rtlCol="0">
            <a:noAutofit/>
          </a:bodyPr>
          <a:lstStyle/>
          <a:p>
            <a:r>
              <a:rPr lang="fr-FR" sz="1400">
                <a:solidFill>
                  <a:srgbClr val="12162B"/>
                </a:solidFill>
                <a:latin typeface="Calibri" panose="020F0502020204030204" pitchFamily="34" charset="0"/>
              </a:rPr>
              <a:t>Export complet régulier à prévoir avant la mise en production.</a:t>
            </a:r>
          </a:p>
        </p:txBody>
      </p:sp>
    </p:spTree>
    <p:extLst>
      <p:ext uri="{BB962C8B-B14F-4D97-AF65-F5344CB8AC3E}">
        <p14:creationId xmlns:p14="http://schemas.microsoft.com/office/powerpoint/2010/main" val="23737804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2CBA15-1209-D2E2-ECC9-DDB847115132}"/>
              </a:ext>
            </a:extLst>
          </p:cNvPr>
          <p:cNvSpPr>
            <a:spLocks noGrp="1"/>
          </p:cNvSpPr>
          <p:nvPr>
            <p:ph type="title"/>
          </p:nvPr>
        </p:nvSpPr>
        <p:spPr>
          <a:xfrm>
            <a:off x="609600" y="508000"/>
            <a:ext cx="10972800" cy="558800"/>
          </a:xfrm>
        </p:spPr>
        <p:txBody>
          <a:bodyPr lIns="0" anchor="ctr">
            <a:normAutofit/>
          </a:bodyPr>
          <a:lstStyle/>
          <a:p>
            <a:r>
              <a:rPr lang="fr-FR" sz="3000" b="1">
                <a:solidFill>
                  <a:srgbClr val="1E1C8C"/>
                </a:solidFill>
                <a:latin typeface="Calibri" panose="020F0502020204030204" pitchFamily="34" charset="0"/>
              </a:rPr>
              <a:t>Décisions et actions attendues</a:t>
            </a:r>
          </a:p>
        </p:txBody>
      </p:sp>
      <p:sp>
        <p:nvSpPr>
          <p:cNvPr id="3" name="ZoneTexte 2">
            <a:extLst>
              <a:ext uri="{FF2B5EF4-FFF2-40B4-BE49-F238E27FC236}">
                <a16:creationId xmlns:a16="http://schemas.microsoft.com/office/drawing/2014/main" id="{40EC4BEC-DDFA-90CA-45D1-E59143AB2105}"/>
              </a:ext>
            </a:extLst>
          </p:cNvPr>
          <p:cNvSpPr txBox="1"/>
          <p:nvPr/>
        </p:nvSpPr>
        <p:spPr>
          <a:xfrm>
            <a:off x="609600" y="304800"/>
            <a:ext cx="7620000" cy="203200"/>
          </a:xfrm>
          <a:prstGeom prst="rect">
            <a:avLst/>
          </a:prstGeom>
          <a:noFill/>
        </p:spPr>
        <p:txBody>
          <a:bodyPr vert="horz" wrap="square" lIns="0" tIns="0" rIns="0" bIns="0" rtlCol="0">
            <a:noAutofit/>
          </a:bodyPr>
          <a:lstStyle/>
          <a:p>
            <a:r>
              <a:rPr lang="fr-FR" sz="1100" b="1" spc="150">
                <a:solidFill>
                  <a:srgbClr val="5853FF"/>
                </a:solidFill>
                <a:latin typeface="Calibri" panose="020F0502020204030204" pitchFamily="34" charset="0"/>
              </a:rPr>
              <a:t>PROCHAINES ÉTAPES</a:t>
            </a:r>
          </a:p>
        </p:txBody>
      </p:sp>
      <p:sp>
        <p:nvSpPr>
          <p:cNvPr id="4" name="ZoneTexte 3">
            <a:extLst>
              <a:ext uri="{FF2B5EF4-FFF2-40B4-BE49-F238E27FC236}">
                <a16:creationId xmlns:a16="http://schemas.microsoft.com/office/drawing/2014/main" id="{9AF32E31-92FF-B4F1-0319-ADB7C8959799}"/>
              </a:ext>
            </a:extLst>
          </p:cNvPr>
          <p:cNvSpPr txBox="1"/>
          <p:nvPr/>
        </p:nvSpPr>
        <p:spPr>
          <a:xfrm>
            <a:off x="609600" y="1117600"/>
            <a:ext cx="10972800" cy="279400"/>
          </a:xfrm>
          <a:prstGeom prst="rect">
            <a:avLst/>
          </a:prstGeom>
          <a:noFill/>
        </p:spPr>
        <p:txBody>
          <a:bodyPr vert="horz" wrap="square" lIns="0" tIns="0" rIns="0" bIns="0" rtlCol="0">
            <a:noAutofit/>
          </a:bodyPr>
          <a:lstStyle/>
          <a:p>
            <a:r>
              <a:rPr lang="fr-FR" sz="1500">
                <a:solidFill>
                  <a:srgbClr val="586080"/>
                </a:solidFill>
                <a:latin typeface="Calibri" panose="020F0502020204030204" pitchFamily="34" charset="0"/>
              </a:rPr>
              <a:t>Six actions pour passer à une mise en production encadrée</a:t>
            </a:r>
          </a:p>
        </p:txBody>
      </p:sp>
      <p:sp>
        <p:nvSpPr>
          <p:cNvPr id="5" name="ZoneTexte 4">
            <a:extLst>
              <a:ext uri="{FF2B5EF4-FFF2-40B4-BE49-F238E27FC236}">
                <a16:creationId xmlns:a16="http://schemas.microsoft.com/office/drawing/2014/main" id="{6C2F7223-8EC1-CDC8-44EF-897DB8A37CDC}"/>
              </a:ext>
            </a:extLst>
          </p:cNvPr>
          <p:cNvSpPr txBox="1"/>
          <p:nvPr/>
        </p:nvSpPr>
        <p:spPr>
          <a:xfrm>
            <a:off x="609600" y="6502400"/>
            <a:ext cx="8890000" cy="177800"/>
          </a:xfrm>
          <a:prstGeom prst="rect">
            <a:avLst/>
          </a:prstGeom>
          <a:noFill/>
        </p:spPr>
        <p:txBody>
          <a:bodyPr vert="horz" wrap="square" lIns="0" tIns="0" rIns="0" bIns="0" rtlCol="0">
            <a:noAutofit/>
          </a:bodyPr>
          <a:lstStyle/>
          <a:p>
            <a:r>
              <a:rPr lang="fr-FR" sz="900">
                <a:solidFill>
                  <a:srgbClr val="586080"/>
                </a:solidFill>
                <a:latin typeface="Calibri" panose="020F0502020204030204" pitchFamily="34" charset="0"/>
              </a:rPr>
              <a:t>GPIEXALT  ·  DOC-GPIEXALT-001  ·  Version 7.8  ·  30/10/2026  ·  Classification : Interne</a:t>
            </a:r>
          </a:p>
        </p:txBody>
      </p:sp>
      <p:sp>
        <p:nvSpPr>
          <p:cNvPr id="6" name="ZoneTexte 5">
            <a:extLst>
              <a:ext uri="{FF2B5EF4-FFF2-40B4-BE49-F238E27FC236}">
                <a16:creationId xmlns:a16="http://schemas.microsoft.com/office/drawing/2014/main" id="{58F592F1-0FC0-0F60-DB62-0F5FB8603BDF}"/>
              </a:ext>
            </a:extLst>
          </p:cNvPr>
          <p:cNvSpPr txBox="1"/>
          <p:nvPr/>
        </p:nvSpPr>
        <p:spPr>
          <a:xfrm>
            <a:off x="10312400" y="6502400"/>
            <a:ext cx="1270000" cy="177800"/>
          </a:xfrm>
          <a:prstGeom prst="rect">
            <a:avLst/>
          </a:prstGeom>
          <a:noFill/>
        </p:spPr>
        <p:txBody>
          <a:bodyPr vert="horz" wrap="square" lIns="0" tIns="0" rIns="0" bIns="0" rtlCol="0">
            <a:noAutofit/>
          </a:bodyPr>
          <a:lstStyle/>
          <a:p>
            <a:pPr algn="r"/>
            <a:fld id="{D35A161F-7B7B-40B3-9710-1DC793B3BD71}" type="slidenum">
              <a:rPr lang="fr-FR" sz="900" smtClean="0">
                <a:solidFill>
                  <a:srgbClr val="586080"/>
                </a:solidFill>
                <a:latin typeface="Calibri" panose="020F0502020204030204" pitchFamily="34" charset="0"/>
              </a:rPr>
              <a:t>65</a:t>
            </a:fld>
            <a:endParaRPr lang="fr-FR" sz="900">
              <a:solidFill>
                <a:srgbClr val="586080"/>
              </a:solidFill>
              <a:latin typeface="Calibri" panose="020F0502020204030204" pitchFamily="34" charset="0"/>
            </a:endParaRPr>
          </a:p>
        </p:txBody>
      </p:sp>
      <p:graphicFrame>
        <p:nvGraphicFramePr>
          <p:cNvPr id="7" name="Tableau 6">
            <a:extLst>
              <a:ext uri="{FF2B5EF4-FFF2-40B4-BE49-F238E27FC236}">
                <a16:creationId xmlns:a16="http://schemas.microsoft.com/office/drawing/2014/main" id="{7759FE27-EE12-D291-AD50-A1DACC3920CE}"/>
              </a:ext>
            </a:extLst>
          </p:cNvPr>
          <p:cNvGraphicFramePr>
            <a:graphicFrameLocks noGrp="1"/>
          </p:cNvGraphicFramePr>
          <p:nvPr>
            <p:extLst>
              <p:ext uri="{D42A27DB-BD31-4B8C-83A1-F6EECF244321}">
                <p14:modId xmlns:p14="http://schemas.microsoft.com/office/powerpoint/2010/main" val="3330270748"/>
              </p:ext>
            </p:extLst>
          </p:nvPr>
        </p:nvGraphicFramePr>
        <p:xfrm>
          <a:off x="609600" y="1600200"/>
          <a:ext cx="10972800" cy="4089400"/>
        </p:xfrm>
        <a:graphic>
          <a:graphicData uri="http://schemas.openxmlformats.org/drawingml/2006/table">
            <a:tbl>
              <a:tblPr firstRow="1" bandRow="1">
                <a:tableStyleId>{2D5ABB26-0587-4C30-8999-92F81FD0307C}</a:tableStyleId>
              </a:tblPr>
              <a:tblGrid>
                <a:gridCol w="584200">
                  <a:extLst>
                    <a:ext uri="{9D8B030D-6E8A-4147-A177-3AD203B41FA5}">
                      <a16:colId xmlns:a16="http://schemas.microsoft.com/office/drawing/2014/main" val="1287559888"/>
                    </a:ext>
                  </a:extLst>
                </a:gridCol>
                <a:gridCol w="5969000">
                  <a:extLst>
                    <a:ext uri="{9D8B030D-6E8A-4147-A177-3AD203B41FA5}">
                      <a16:colId xmlns:a16="http://schemas.microsoft.com/office/drawing/2014/main" val="2630476098"/>
                    </a:ext>
                  </a:extLst>
                </a:gridCol>
                <a:gridCol w="2540000">
                  <a:extLst>
                    <a:ext uri="{9D8B030D-6E8A-4147-A177-3AD203B41FA5}">
                      <a16:colId xmlns:a16="http://schemas.microsoft.com/office/drawing/2014/main" val="2704737049"/>
                    </a:ext>
                  </a:extLst>
                </a:gridCol>
                <a:gridCol w="1879600">
                  <a:extLst>
                    <a:ext uri="{9D8B030D-6E8A-4147-A177-3AD203B41FA5}">
                      <a16:colId xmlns:a16="http://schemas.microsoft.com/office/drawing/2014/main" val="402855575"/>
                    </a:ext>
                  </a:extLst>
                </a:gridCol>
              </a:tblGrid>
              <a:tr h="584200">
                <a:tc>
                  <a:txBody>
                    <a:bodyPr/>
                    <a:lstStyle/>
                    <a:p>
                      <a:pPr algn="l"/>
                      <a:r>
                        <a:rPr lang="fr-FR" sz="1400" b="1">
                          <a:solidFill>
                            <a:srgbClr val="FFFFFF"/>
                          </a:solidFill>
                          <a:latin typeface="Calibri" panose="020F0502020204030204" pitchFamily="34" charset="0"/>
                        </a:rPr>
                        <a:t>N°</a:t>
                      </a:r>
                    </a:p>
                  </a:txBody>
                  <a:tcPr marL="127000" marR="127000" marT="38100" marB="38100" anchor="ctr">
                    <a:solidFill>
                      <a:srgbClr val="1E1C8C"/>
                    </a:solidFill>
                  </a:tcPr>
                </a:tc>
                <a:tc>
                  <a:txBody>
                    <a:bodyPr/>
                    <a:lstStyle/>
                    <a:p>
                      <a:pPr algn="l"/>
                      <a:r>
                        <a:rPr lang="fr-FR" sz="1400" b="1">
                          <a:solidFill>
                            <a:srgbClr val="FFFFFF"/>
                          </a:solidFill>
                          <a:latin typeface="Calibri" panose="020F0502020204030204" pitchFamily="34" charset="0"/>
                        </a:rPr>
                        <a:t>Action</a:t>
                      </a:r>
                    </a:p>
                  </a:txBody>
                  <a:tcPr marL="127000" marR="127000" marT="38100" marB="38100" anchor="ctr">
                    <a:solidFill>
                      <a:srgbClr val="1E1C8C"/>
                    </a:solidFill>
                  </a:tcPr>
                </a:tc>
                <a:tc>
                  <a:txBody>
                    <a:bodyPr/>
                    <a:lstStyle/>
                    <a:p>
                      <a:pPr algn="l"/>
                      <a:r>
                        <a:rPr lang="fr-FR" sz="1400" b="1">
                          <a:solidFill>
                            <a:srgbClr val="FFFFFF"/>
                          </a:solidFill>
                          <a:latin typeface="Calibri" panose="020F0502020204030204" pitchFamily="34" charset="0"/>
                        </a:rPr>
                        <a:t>Responsable proposé</a:t>
                      </a:r>
                    </a:p>
                  </a:txBody>
                  <a:tcPr marL="127000" marR="127000" marT="38100" marB="38100" anchor="ctr">
                    <a:solidFill>
                      <a:srgbClr val="1E1C8C"/>
                    </a:solidFill>
                  </a:tcPr>
                </a:tc>
                <a:tc>
                  <a:txBody>
                    <a:bodyPr/>
                    <a:lstStyle/>
                    <a:p>
                      <a:pPr algn="l"/>
                      <a:r>
                        <a:rPr lang="fr-FR" sz="1400" b="1">
                          <a:solidFill>
                            <a:srgbClr val="FFFFFF"/>
                          </a:solidFill>
                          <a:latin typeface="Calibri" panose="020F0502020204030204" pitchFamily="34" charset="0"/>
                        </a:rPr>
                        <a:t>Échéance</a:t>
                      </a:r>
                    </a:p>
                  </a:txBody>
                  <a:tcPr marL="127000" marR="127000" marT="38100" marB="38100" anchor="ctr">
                    <a:solidFill>
                      <a:srgbClr val="1E1C8C"/>
                    </a:solidFill>
                  </a:tcPr>
                </a:tc>
                <a:extLst>
                  <a:ext uri="{0D108BD9-81ED-4DB2-BD59-A6C34878D82A}">
                    <a16:rowId xmlns:a16="http://schemas.microsoft.com/office/drawing/2014/main" val="1953729132"/>
                  </a:ext>
                </a:extLst>
              </a:tr>
              <a:tr h="584200">
                <a:tc>
                  <a:txBody>
                    <a:bodyPr/>
                    <a:lstStyle/>
                    <a:p>
                      <a:pPr algn="l"/>
                      <a:r>
                        <a:rPr lang="fr-FR" sz="1400" b="1">
                          <a:solidFill>
                            <a:srgbClr val="12162B"/>
                          </a:solidFill>
                          <a:latin typeface="Calibri" panose="020F0502020204030204" pitchFamily="34" charset="0"/>
                        </a:rPr>
                        <a:t>1</a:t>
                      </a:r>
                    </a:p>
                  </a:txBody>
                  <a:tcPr marL="127000" marR="127000" marT="38100" marB="38100" anchor="ctr">
                    <a:solidFill>
                      <a:srgbClr val="FFFFFF"/>
                    </a:solidFill>
                  </a:tcPr>
                </a:tc>
                <a:tc>
                  <a:txBody>
                    <a:bodyPr/>
                    <a:lstStyle/>
                    <a:p>
                      <a:pPr algn="l"/>
                      <a:r>
                        <a:rPr lang="fr-FR" sz="1400" b="0">
                          <a:solidFill>
                            <a:srgbClr val="12162B"/>
                          </a:solidFill>
                          <a:latin typeface="Calibri" panose="020F0502020204030204" pitchFamily="34" charset="0"/>
                        </a:rPr>
                        <a:t>Désigner le vérificateur et l'approbateur du dossier</a:t>
                      </a:r>
                    </a:p>
                  </a:txBody>
                  <a:tcPr marL="127000" marR="127000" marT="38100" marB="38100" anchor="ctr">
                    <a:solidFill>
                      <a:srgbClr val="FFFFFF"/>
                    </a:solidFill>
                  </a:tcPr>
                </a:tc>
                <a:tc>
                  <a:txBody>
                    <a:bodyPr/>
                    <a:lstStyle/>
                    <a:p>
                      <a:pPr algn="l"/>
                      <a:r>
                        <a:rPr lang="fr-FR" sz="1400" b="0">
                          <a:solidFill>
                            <a:srgbClr val="12162B"/>
                          </a:solidFill>
                          <a:latin typeface="Calibri" panose="020F0502020204030204" pitchFamily="34" charset="0"/>
                        </a:rPr>
                        <a:t>DSI</a:t>
                      </a:r>
                    </a:p>
                  </a:txBody>
                  <a:tcPr marL="127000" marR="127000" marT="38100" marB="38100" anchor="ctr">
                    <a:solidFill>
                      <a:srgbClr val="FFFFFF"/>
                    </a:solidFill>
                  </a:tcPr>
                </a:tc>
                <a:tc>
                  <a:txBody>
                    <a:bodyPr/>
                    <a:lstStyle/>
                    <a:p>
                      <a:pPr algn="l"/>
                      <a:r>
                        <a:rPr lang="fr-FR" sz="1400" b="0">
                          <a:solidFill>
                            <a:srgbClr val="12162B"/>
                          </a:solidFill>
                          <a:latin typeface="Calibri" panose="020F0502020204030204" pitchFamily="34" charset="0"/>
                        </a:rPr>
                        <a:t>À définir</a:t>
                      </a:r>
                    </a:p>
                  </a:txBody>
                  <a:tcPr marL="127000" marR="127000" marT="38100" marB="38100" anchor="ctr">
                    <a:solidFill>
                      <a:srgbClr val="FFFFFF"/>
                    </a:solidFill>
                  </a:tcPr>
                </a:tc>
                <a:extLst>
                  <a:ext uri="{0D108BD9-81ED-4DB2-BD59-A6C34878D82A}">
                    <a16:rowId xmlns:a16="http://schemas.microsoft.com/office/drawing/2014/main" val="3450796340"/>
                  </a:ext>
                </a:extLst>
              </a:tr>
              <a:tr h="584200">
                <a:tc>
                  <a:txBody>
                    <a:bodyPr/>
                    <a:lstStyle/>
                    <a:p>
                      <a:pPr algn="l"/>
                      <a:r>
                        <a:rPr lang="fr-FR" sz="1400" b="1">
                          <a:solidFill>
                            <a:srgbClr val="12162B"/>
                          </a:solidFill>
                          <a:latin typeface="Calibri" panose="020F0502020204030204" pitchFamily="34" charset="0"/>
                        </a:rPr>
                        <a:t>2</a:t>
                      </a:r>
                    </a:p>
                  </a:txBody>
                  <a:tcPr marL="127000" marR="127000" marT="38100" marB="38100" anchor="ctr">
                    <a:solidFill>
                      <a:srgbClr val="F0F2FA"/>
                    </a:solidFill>
                  </a:tcPr>
                </a:tc>
                <a:tc>
                  <a:txBody>
                    <a:bodyPr/>
                    <a:lstStyle/>
                    <a:p>
                      <a:pPr algn="l"/>
                      <a:r>
                        <a:rPr lang="fr-FR" sz="1400" b="0">
                          <a:solidFill>
                            <a:srgbClr val="12162B"/>
                          </a:solidFill>
                          <a:latin typeface="Calibri" panose="020F0502020204030204" pitchFamily="34" charset="0"/>
                        </a:rPr>
                        <a:t>Renseigner les contacts de support (niveaux 1 à 3)</a:t>
                      </a:r>
                    </a:p>
                  </a:txBody>
                  <a:tcPr marL="127000" marR="127000" marT="38100" marB="38100" anchor="ctr">
                    <a:solidFill>
                      <a:srgbClr val="F0F2FA"/>
                    </a:solidFill>
                  </a:tcPr>
                </a:tc>
                <a:tc>
                  <a:txBody>
                    <a:bodyPr/>
                    <a:lstStyle/>
                    <a:p>
                      <a:pPr algn="l"/>
                      <a:r>
                        <a:rPr lang="fr-FR" sz="1400" b="0">
                          <a:solidFill>
                            <a:srgbClr val="12162B"/>
                          </a:solidFill>
                          <a:latin typeface="Calibri" panose="020F0502020204030204" pitchFamily="34" charset="0"/>
                        </a:rPr>
                        <a:t>DSI</a:t>
                      </a:r>
                    </a:p>
                  </a:txBody>
                  <a:tcPr marL="127000" marR="127000" marT="38100" marB="38100" anchor="ctr">
                    <a:solidFill>
                      <a:srgbClr val="F0F2FA"/>
                    </a:solidFill>
                  </a:tcPr>
                </a:tc>
                <a:tc>
                  <a:txBody>
                    <a:bodyPr/>
                    <a:lstStyle/>
                    <a:p>
                      <a:pPr algn="l"/>
                      <a:r>
                        <a:rPr lang="fr-FR" sz="1400" b="0">
                          <a:solidFill>
                            <a:srgbClr val="12162B"/>
                          </a:solidFill>
                          <a:latin typeface="Calibri" panose="020F0502020204030204" pitchFamily="34" charset="0"/>
                        </a:rPr>
                        <a:t>À définir</a:t>
                      </a:r>
                    </a:p>
                  </a:txBody>
                  <a:tcPr marL="127000" marR="127000" marT="38100" marB="38100" anchor="ctr">
                    <a:solidFill>
                      <a:srgbClr val="F0F2FA"/>
                    </a:solidFill>
                  </a:tcPr>
                </a:tc>
                <a:extLst>
                  <a:ext uri="{0D108BD9-81ED-4DB2-BD59-A6C34878D82A}">
                    <a16:rowId xmlns:a16="http://schemas.microsoft.com/office/drawing/2014/main" val="150055149"/>
                  </a:ext>
                </a:extLst>
              </a:tr>
              <a:tr h="584200">
                <a:tc>
                  <a:txBody>
                    <a:bodyPr/>
                    <a:lstStyle/>
                    <a:p>
                      <a:pPr algn="l"/>
                      <a:r>
                        <a:rPr lang="fr-FR" sz="1400" b="1">
                          <a:solidFill>
                            <a:srgbClr val="12162B"/>
                          </a:solidFill>
                          <a:latin typeface="Calibri" panose="020F0502020204030204" pitchFamily="34" charset="0"/>
                        </a:rPr>
                        <a:t>3</a:t>
                      </a:r>
                    </a:p>
                  </a:txBody>
                  <a:tcPr marL="127000" marR="127000" marT="38100" marB="38100" anchor="ctr">
                    <a:solidFill>
                      <a:srgbClr val="FFFFFF"/>
                    </a:solidFill>
                  </a:tcPr>
                </a:tc>
                <a:tc>
                  <a:txBody>
                    <a:bodyPr/>
                    <a:lstStyle/>
                    <a:p>
                      <a:pPr algn="l"/>
                      <a:r>
                        <a:rPr lang="fr-FR" sz="1400" b="0">
                          <a:solidFill>
                            <a:srgbClr val="12162B"/>
                          </a:solidFill>
                          <a:latin typeface="Calibri" panose="020F0502020204030204" pitchFamily="34" charset="0"/>
                        </a:rPr>
                        <a:t>Fixer la durée de conservation et la base légale</a:t>
                      </a:r>
                    </a:p>
                  </a:txBody>
                  <a:tcPr marL="127000" marR="127000" marT="38100" marB="38100" anchor="ctr">
                    <a:solidFill>
                      <a:srgbClr val="FFFFFF"/>
                    </a:solidFill>
                  </a:tcPr>
                </a:tc>
                <a:tc>
                  <a:txBody>
                    <a:bodyPr/>
                    <a:lstStyle/>
                    <a:p>
                      <a:pPr algn="l"/>
                      <a:r>
                        <a:rPr lang="fr-FR" sz="1400" b="0">
                          <a:solidFill>
                            <a:srgbClr val="12162B"/>
                          </a:solidFill>
                          <a:latin typeface="Calibri" panose="020F0502020204030204" pitchFamily="34" charset="0"/>
                        </a:rPr>
                        <a:t>DPO</a:t>
                      </a:r>
                    </a:p>
                  </a:txBody>
                  <a:tcPr marL="127000" marR="127000" marT="38100" marB="38100" anchor="ctr">
                    <a:solidFill>
                      <a:srgbClr val="FFFFFF"/>
                    </a:solidFill>
                  </a:tcPr>
                </a:tc>
                <a:tc>
                  <a:txBody>
                    <a:bodyPr/>
                    <a:lstStyle/>
                    <a:p>
                      <a:pPr algn="l"/>
                      <a:r>
                        <a:rPr lang="fr-FR" sz="1400" b="0">
                          <a:solidFill>
                            <a:srgbClr val="12162B"/>
                          </a:solidFill>
                          <a:latin typeface="Calibri" panose="020F0502020204030204" pitchFamily="34" charset="0"/>
                        </a:rPr>
                        <a:t>À définir</a:t>
                      </a:r>
                    </a:p>
                  </a:txBody>
                  <a:tcPr marL="127000" marR="127000" marT="38100" marB="38100" anchor="ctr">
                    <a:solidFill>
                      <a:srgbClr val="FFFFFF"/>
                    </a:solidFill>
                  </a:tcPr>
                </a:tc>
                <a:extLst>
                  <a:ext uri="{0D108BD9-81ED-4DB2-BD59-A6C34878D82A}">
                    <a16:rowId xmlns:a16="http://schemas.microsoft.com/office/drawing/2014/main" val="1453965722"/>
                  </a:ext>
                </a:extLst>
              </a:tr>
              <a:tr h="584200">
                <a:tc>
                  <a:txBody>
                    <a:bodyPr/>
                    <a:lstStyle/>
                    <a:p>
                      <a:pPr algn="l"/>
                      <a:r>
                        <a:rPr lang="fr-FR" sz="1400" b="1">
                          <a:solidFill>
                            <a:srgbClr val="12162B"/>
                          </a:solidFill>
                          <a:latin typeface="Calibri" panose="020F0502020204030204" pitchFamily="34" charset="0"/>
                        </a:rPr>
                        <a:t>4</a:t>
                      </a:r>
                    </a:p>
                  </a:txBody>
                  <a:tcPr marL="127000" marR="127000" marT="38100" marB="38100" anchor="ctr">
                    <a:solidFill>
                      <a:srgbClr val="F0F2FA"/>
                    </a:solidFill>
                  </a:tcPr>
                </a:tc>
                <a:tc>
                  <a:txBody>
                    <a:bodyPr/>
                    <a:lstStyle/>
                    <a:p>
                      <a:pPr algn="l"/>
                      <a:r>
                        <a:rPr lang="fr-FR" sz="1400" b="0">
                          <a:solidFill>
                            <a:srgbClr val="12162B"/>
                          </a:solidFill>
                          <a:latin typeface="Calibri" panose="020F0502020204030204" pitchFamily="34" charset="0"/>
                        </a:rPr>
                        <a:t>Valider l'hébergement et le chargement des bibliothèques (jsPDF, ExcelJS…)</a:t>
                      </a:r>
                    </a:p>
                  </a:txBody>
                  <a:tcPr marL="127000" marR="127000" marT="38100" marB="38100" anchor="ctr">
                    <a:solidFill>
                      <a:srgbClr val="F0F2FA"/>
                    </a:solidFill>
                  </a:tcPr>
                </a:tc>
                <a:tc>
                  <a:txBody>
                    <a:bodyPr/>
                    <a:lstStyle/>
                    <a:p>
                      <a:pPr algn="l"/>
                      <a:r>
                        <a:rPr lang="fr-FR" sz="1400" b="0">
                          <a:solidFill>
                            <a:srgbClr val="12162B"/>
                          </a:solidFill>
                          <a:latin typeface="Calibri" panose="020F0502020204030204" pitchFamily="34" charset="0"/>
                        </a:rPr>
                        <a:t>RSSI</a:t>
                      </a:r>
                    </a:p>
                  </a:txBody>
                  <a:tcPr marL="127000" marR="127000" marT="38100" marB="38100" anchor="ctr">
                    <a:solidFill>
                      <a:srgbClr val="F0F2FA"/>
                    </a:solidFill>
                  </a:tcPr>
                </a:tc>
                <a:tc>
                  <a:txBody>
                    <a:bodyPr/>
                    <a:lstStyle/>
                    <a:p>
                      <a:pPr algn="l"/>
                      <a:r>
                        <a:rPr lang="fr-FR" sz="1400" b="0">
                          <a:solidFill>
                            <a:srgbClr val="12162B"/>
                          </a:solidFill>
                          <a:latin typeface="Calibri" panose="020F0502020204030204" pitchFamily="34" charset="0"/>
                        </a:rPr>
                        <a:t>À définir</a:t>
                      </a:r>
                    </a:p>
                  </a:txBody>
                  <a:tcPr marL="127000" marR="127000" marT="38100" marB="38100" anchor="ctr">
                    <a:solidFill>
                      <a:srgbClr val="F0F2FA"/>
                    </a:solidFill>
                  </a:tcPr>
                </a:tc>
                <a:extLst>
                  <a:ext uri="{0D108BD9-81ED-4DB2-BD59-A6C34878D82A}">
                    <a16:rowId xmlns:a16="http://schemas.microsoft.com/office/drawing/2014/main" val="506818609"/>
                  </a:ext>
                </a:extLst>
              </a:tr>
              <a:tr h="584200">
                <a:tc>
                  <a:txBody>
                    <a:bodyPr/>
                    <a:lstStyle/>
                    <a:p>
                      <a:pPr algn="l"/>
                      <a:r>
                        <a:rPr lang="fr-FR" sz="1400" b="1">
                          <a:solidFill>
                            <a:srgbClr val="12162B"/>
                          </a:solidFill>
                          <a:latin typeface="Calibri" panose="020F0502020204030204" pitchFamily="34" charset="0"/>
                        </a:rPr>
                        <a:t>5</a:t>
                      </a:r>
                    </a:p>
                  </a:txBody>
                  <a:tcPr marL="127000" marR="127000" marT="38100" marB="38100" anchor="ctr">
                    <a:solidFill>
                      <a:srgbClr val="FFFFFF"/>
                    </a:solidFill>
                  </a:tcPr>
                </a:tc>
                <a:tc>
                  <a:txBody>
                    <a:bodyPr/>
                    <a:lstStyle/>
                    <a:p>
                      <a:pPr algn="l"/>
                      <a:r>
                        <a:rPr lang="fr-FR" sz="1400" b="0">
                          <a:solidFill>
                            <a:srgbClr val="12162B"/>
                          </a:solidFill>
                          <a:latin typeface="Calibri" panose="020F0502020204030204" pitchFamily="34" charset="0"/>
                        </a:rPr>
                        <a:t>Réaliser l'essai réel du brouillon et des envois Outlook (CR-12, CR-37, CR-47, CR-48) et les cas prioritaires</a:t>
                      </a:r>
                    </a:p>
                  </a:txBody>
                  <a:tcPr marL="127000" marR="127000" marT="38100" marB="38100" anchor="ctr">
                    <a:solidFill>
                      <a:srgbClr val="FFFFFF"/>
                    </a:solidFill>
                  </a:tcPr>
                </a:tc>
                <a:tc>
                  <a:txBody>
                    <a:bodyPr/>
                    <a:lstStyle/>
                    <a:p>
                      <a:pPr algn="l"/>
                      <a:r>
                        <a:rPr lang="fr-FR" sz="1400" b="0">
                          <a:solidFill>
                            <a:srgbClr val="12162B"/>
                          </a:solidFill>
                          <a:latin typeface="Calibri" panose="020F0502020204030204" pitchFamily="34" charset="0"/>
                        </a:rPr>
                        <a:t>Administrateur de l'application</a:t>
                      </a:r>
                    </a:p>
                  </a:txBody>
                  <a:tcPr marL="127000" marR="127000" marT="38100" marB="38100" anchor="ctr">
                    <a:solidFill>
                      <a:srgbClr val="FFFFFF"/>
                    </a:solidFill>
                  </a:tcPr>
                </a:tc>
                <a:tc>
                  <a:txBody>
                    <a:bodyPr/>
                    <a:lstStyle/>
                    <a:p>
                      <a:pPr algn="l"/>
                      <a:r>
                        <a:rPr lang="fr-FR" sz="1400" b="0">
                          <a:solidFill>
                            <a:srgbClr val="12162B"/>
                          </a:solidFill>
                          <a:latin typeface="Calibri" panose="020F0502020204030204" pitchFamily="34" charset="0"/>
                        </a:rPr>
                        <a:t>À définir</a:t>
                      </a:r>
                    </a:p>
                  </a:txBody>
                  <a:tcPr marL="127000" marR="127000" marT="38100" marB="38100" anchor="ctr">
                    <a:solidFill>
                      <a:srgbClr val="FFFFFF"/>
                    </a:solidFill>
                  </a:tcPr>
                </a:tc>
                <a:extLst>
                  <a:ext uri="{0D108BD9-81ED-4DB2-BD59-A6C34878D82A}">
                    <a16:rowId xmlns:a16="http://schemas.microsoft.com/office/drawing/2014/main" val="906445053"/>
                  </a:ext>
                </a:extLst>
              </a:tr>
              <a:tr h="584200">
                <a:tc>
                  <a:txBody>
                    <a:bodyPr/>
                    <a:lstStyle/>
                    <a:p>
                      <a:pPr algn="l"/>
                      <a:r>
                        <a:rPr lang="fr-FR" sz="1400" b="1">
                          <a:solidFill>
                            <a:srgbClr val="12162B"/>
                          </a:solidFill>
                          <a:latin typeface="Calibri" panose="020F0502020204030204" pitchFamily="34" charset="0"/>
                        </a:rPr>
                        <a:t>6</a:t>
                      </a:r>
                    </a:p>
                  </a:txBody>
                  <a:tcPr marL="127000" marR="127000" marT="38100" marB="38100" anchor="ctr">
                    <a:solidFill>
                      <a:srgbClr val="F0F2FA"/>
                    </a:solidFill>
                  </a:tcPr>
                </a:tc>
                <a:tc>
                  <a:txBody>
                    <a:bodyPr/>
                    <a:lstStyle/>
                    <a:p>
                      <a:pPr algn="l"/>
                      <a:r>
                        <a:rPr lang="fr-FR" sz="1400" b="0">
                          <a:solidFill>
                            <a:srgbClr val="12162B"/>
                          </a:solidFill>
                          <a:latin typeface="Calibri" panose="020F0502020204030204" pitchFamily="34" charset="0"/>
                        </a:rPr>
                        <a:t>Choisir la source du parc (Intune, SharePoint, Excel), valider l'annuaire avec le DPO</a:t>
                      </a:r>
                    </a:p>
                  </a:txBody>
                  <a:tcPr marL="127000" marR="127000" marT="38100" marB="38100" anchor="ctr">
                    <a:solidFill>
                      <a:srgbClr val="F0F2FA"/>
                    </a:solidFill>
                  </a:tcPr>
                </a:tc>
                <a:tc>
                  <a:txBody>
                    <a:bodyPr/>
                    <a:lstStyle/>
                    <a:p>
                      <a:pPr algn="l"/>
                      <a:r>
                        <a:rPr lang="fr-FR" sz="1400" b="0">
                          <a:solidFill>
                            <a:srgbClr val="12162B"/>
                          </a:solidFill>
                          <a:latin typeface="Calibri" panose="020F0502020204030204" pitchFamily="34" charset="0"/>
                        </a:rPr>
                        <a:t>DSI</a:t>
                      </a:r>
                    </a:p>
                  </a:txBody>
                  <a:tcPr marL="127000" marR="127000" marT="38100" marB="38100" anchor="ctr">
                    <a:solidFill>
                      <a:srgbClr val="F0F2FA"/>
                    </a:solidFill>
                  </a:tcPr>
                </a:tc>
                <a:tc>
                  <a:txBody>
                    <a:bodyPr/>
                    <a:lstStyle/>
                    <a:p>
                      <a:pPr algn="l"/>
                      <a:r>
                        <a:rPr lang="fr-FR" sz="1400" b="0">
                          <a:solidFill>
                            <a:srgbClr val="12162B"/>
                          </a:solidFill>
                          <a:latin typeface="Calibri" panose="020F0502020204030204" pitchFamily="34" charset="0"/>
                        </a:rPr>
                        <a:t>À définir</a:t>
                      </a:r>
                    </a:p>
                  </a:txBody>
                  <a:tcPr marL="127000" marR="127000" marT="38100" marB="38100" anchor="ctr">
                    <a:solidFill>
                      <a:srgbClr val="F0F2FA"/>
                    </a:solidFill>
                  </a:tcPr>
                </a:tc>
                <a:extLst>
                  <a:ext uri="{0D108BD9-81ED-4DB2-BD59-A6C34878D82A}">
                    <a16:rowId xmlns:a16="http://schemas.microsoft.com/office/drawing/2014/main" val="766545008"/>
                  </a:ext>
                </a:extLst>
              </a:tr>
            </a:tbl>
          </a:graphicData>
        </a:graphic>
      </p:graphicFrame>
      <p:sp>
        <p:nvSpPr>
          <p:cNvPr id="8" name="Rectangle : coins arrondis 7">
            <a:extLst>
              <a:ext uri="{FF2B5EF4-FFF2-40B4-BE49-F238E27FC236}">
                <a16:creationId xmlns:a16="http://schemas.microsoft.com/office/drawing/2014/main" id="{F4D7C31E-2538-406B-0A28-ABCA0D749891}"/>
              </a:ext>
            </a:extLst>
          </p:cNvPr>
          <p:cNvSpPr/>
          <p:nvPr/>
        </p:nvSpPr>
        <p:spPr>
          <a:xfrm>
            <a:off x="609600" y="5816600"/>
            <a:ext cx="10972800" cy="482600"/>
          </a:xfrm>
          <a:prstGeom prst="roundRect">
            <a:avLst>
              <a:gd name="adj" fmla="val 6000"/>
            </a:avLst>
          </a:prstGeom>
          <a:solidFill>
            <a:srgbClr val="E4EEFA"/>
          </a:solidFill>
          <a:ln w="12700">
            <a:solidFill>
              <a:srgbClr val="2F7DD1"/>
            </a:solidFill>
          </a:ln>
        </p:spPr>
        <p:style>
          <a:lnRef idx="2">
            <a:schemeClr val="accent1">
              <a:shade val="15000"/>
            </a:schemeClr>
          </a:lnRef>
          <a:fillRef idx="1">
            <a:schemeClr val="accent1"/>
          </a:fillRef>
          <a:effectRef idx="0">
            <a:schemeClr val="accent1"/>
          </a:effectRef>
          <a:fontRef idx="minor">
            <a:schemeClr val="lt1"/>
          </a:fontRef>
        </p:style>
        <p:txBody>
          <a:bodyPr wrap="square" lIns="228600" tIns="50800" rIns="127000" bIns="50800" rtlCol="0" anchor="ctr">
            <a:noAutofit/>
          </a:bodyPr>
          <a:lstStyle/>
          <a:p>
            <a:r>
              <a:rPr lang="fr-FR" sz="1400">
                <a:solidFill>
                  <a:srgbClr val="12162B"/>
                </a:solidFill>
                <a:latin typeface="Calibri" panose="020F0502020204030204" pitchFamily="34" charset="0"/>
              </a:rPr>
              <a:t>Après décision, la documentation est mise à jour (version 7.8) : demande « mets à jour la documentation ».</a:t>
            </a:r>
          </a:p>
        </p:txBody>
      </p:sp>
    </p:spTree>
    <p:extLst>
      <p:ext uri="{BB962C8B-B14F-4D97-AF65-F5344CB8AC3E}">
        <p14:creationId xmlns:p14="http://schemas.microsoft.com/office/powerpoint/2010/main" val="297178255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fefccf2-4053-4a09-b4ee-4c1b968a42ca}" enabled="1" method="Standard" siteId="{579bf795-4ac9-46c1-bf48-34980f6ec90c}" contentBits="2" removed="0"/>
</clbl:labelList>
</file>

<file path=docProps/app.xml><?xml version="1.0" encoding="utf-8"?>
<Properties xmlns="http://schemas.openxmlformats.org/officeDocument/2006/extended-properties" xmlns:vt="http://schemas.openxmlformats.org/officeDocument/2006/docPropsVTypes">
  <TotalTime>0</TotalTime>
  <Words>11344</Words>
  <Application>Microsoft Office PowerPoint</Application>
  <PresentationFormat>Personnalisé</PresentationFormat>
  <Paragraphs>1468</Paragraphs>
  <Slides>65</Slides>
  <Notes>58</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65</vt:i4>
      </vt:variant>
    </vt:vector>
  </HeadingPairs>
  <TitlesOfParts>
    <vt:vector size="69" baseType="lpstr">
      <vt:lpstr>Aptos</vt:lpstr>
      <vt:lpstr>Arial</vt:lpstr>
      <vt:lpstr>Calibri</vt:lpstr>
      <vt:lpstr>Thème Office</vt:lpstr>
      <vt:lpstr>GPIEXALT</vt:lpstr>
      <vt:lpstr>Contrôle du document</vt:lpstr>
      <vt:lpstr>Sommaire</vt:lpstr>
      <vt:lpstr>Vue d'ensemble</vt:lpstr>
      <vt:lpstr>À quoi sert GPIEXALT</vt:lpstr>
      <vt:lpstr>Le cycle de vie d'un matériel</vt:lpstr>
      <vt:lpstr>Les huit onglets</vt:lpstr>
      <vt:lpstr>Fonctions</vt:lpstr>
      <vt:lpstr>Accueil : le tableau de bord</vt:lpstr>
      <vt:lpstr>Emprunter : enregistrer un prêt</vt:lpstr>
      <vt:lpstr>Nouvel emprunt et emprunt par quantité</vt:lpstr>
      <vt:lpstr>Chargeur et Écran : un modèle par exemplaire</vt:lpstr>
      <vt:lpstr>Prolonger un prêt et éviter les doublons</vt:lpstr>
      <vt:lpstr>Restituer : suivre les retours</vt:lpstr>
      <vt:lpstr>Restituer : trois actions possibles</vt:lpstr>
      <vt:lpstr>Rappels et relances Teams par paliers</vt:lpstr>
      <vt:lpstr>Date de retour prévue et alertes de retard</vt:lpstr>
      <vt:lpstr>Attestations : suivi et cycle de vie</vt:lpstr>
      <vt:lpstr>Attestations : actions groupées</vt:lpstr>
      <vt:lpstr>« Marquer comme signée » pas à pas</vt:lpstr>
      <vt:lpstr>Envoyer l'attestation signée par email</vt:lpstr>
      <vt:lpstr>Aperçu du PDF, destinataire et bouton Annuler</vt:lpstr>
      <vt:lpstr>Le PDF d'attestation</vt:lpstr>
      <vt:lpstr>Archives PDF : retrouver une preuve</vt:lpstr>
      <vt:lpstr>Matériel perdu : la synthèse</vt:lpstr>
      <vt:lpstr>Inventaire : la vue d'ensemble en anneaux</vt:lpstr>
      <vt:lpstr>Inventaire : la carte détaillée d'un type</vt:lpstr>
      <vt:lpstr>Inventaire : prix et dépenses</vt:lpstr>
      <vt:lpstr>Inventaire : enregistrer un achat</vt:lpstr>
      <vt:lpstr>Acheter, puis prêter : le stock suit</vt:lpstr>
      <vt:lpstr>Activités récentes : le journal</vt:lpstr>
      <vt:lpstr>Filtrer par période</vt:lpstr>
      <vt:lpstr>Codes QR : étiquettes</vt:lpstr>
      <vt:lpstr>Panneau latéral sur grand écran</vt:lpstr>
      <vt:lpstr>Fiche personne et commentaires</vt:lpstr>
      <vt:lpstr>Email et SMS : comment partent les messages</vt:lpstr>
      <vt:lpstr>Apparence : thèmes et couleurs</vt:lpstr>
      <vt:lpstr>Recherche rapide et raccourcis</vt:lpstr>
      <vt:lpstr>Recherche rapide : tout trouver, partout</vt:lpstr>
      <vt:lpstr>Guide et démonstrations dans chaque page</vt:lpstr>
      <vt:lpstr>Rapports PDF et Excel</vt:lpstr>
      <vt:lpstr>Un rapport propre à chaque page</vt:lpstr>
      <vt:lpstr>Envoyer le rapport par email</vt:lpstr>
      <vt:lpstr>Cinq rôles, du collaborateur à l'administrateur</vt:lpstr>
      <vt:lpstr>Mon matériel : la vue du collaborateur</vt:lpstr>
      <vt:lpstr>Annuaire Microsoft 365 : importer les utilisateurs</vt:lpstr>
      <vt:lpstr>Confort d'utilisation</vt:lpstr>
      <vt:lpstr>Dates, listes et fichiers</vt:lpstr>
      <vt:lpstr>Tous les appareils, tous les écrans</vt:lpstr>
      <vt:lpstr>Gouvernance</vt:lpstr>
      <vt:lpstr>Rôles et responsabilités</vt:lpstr>
      <vt:lpstr>Règles de gestion appliquées</vt:lpstr>
      <vt:lpstr>Architecture et sécurité</vt:lpstr>
      <vt:lpstr>Architecture et dépendances</vt:lpstr>
      <vt:lpstr>Accès, traçabilité et données personnelles</vt:lpstr>
      <vt:lpstr>Sauvegarde</vt:lpstr>
      <vt:lpstr>Où sont enregistrées les données</vt:lpstr>
      <vt:lpstr>Comment c'est enregistré et protégé</vt:lpstr>
      <vt:lpstr>Qualité</vt:lpstr>
      <vt:lpstr>Plan de recette : état au 30/10/2026</vt:lpstr>
      <vt:lpstr>Principaux risques</vt:lpstr>
      <vt:lpstr>Exploitation</vt:lpstr>
      <vt:lpstr>Mises à jour de l'application et de la documentation</vt:lpstr>
      <vt:lpstr>Limites connues et évolutions prévues</vt:lpstr>
      <vt:lpstr>Décisions et actions attendues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Tesfamariam YEBIO</dc:creator>
  <cp:lastModifiedBy>Tesfamariam YEBIO</cp:lastModifiedBy>
  <cp:revision>1</cp:revision>
  <dcterms:created xsi:type="dcterms:W3CDTF">2026-10-30T17:09:16Z</dcterms:created>
  <dcterms:modified xsi:type="dcterms:W3CDTF">2026-10-30T17:09:17Z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Thème Office:8</vt:lpwstr>
  </property>
  <property fmtid="{D5CDD505-2E9C-101B-9397-08002B2CF9AE}" pid="3" name="ClassificationContentMarkingFooterText">
    <vt:lpwstr>Confidentialité : INTERNE</vt:lpwstr>
  </property>
</Properties>
</file>