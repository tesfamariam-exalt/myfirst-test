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1" d="100"/>
          <a:sy n="61" d="100"/>
        </p:scale>
        <p:origin x="76" y="2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48BCE-1EFD-4A8D-927D-6F465846DBAF}" type="datetimeFigureOut">
              <a:rPr lang="fr-FR" smtClean="0"/>
              <a:t>12/10/2026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DA49C2-B7B5-4B20-BE78-914A55665102}" type="slidenum">
              <a:rPr lang="fr-FR" smtClean="0"/>
              <a:t>‹N°›</a:t>
            </a:fld>
            <a:endParaRPr lang="fr-FR"/>
          </a:p>
        </p:txBody>
      </p:sp>
    </p:spTree>
    <p:extLst>
      <p:ext uri="{BB962C8B-B14F-4D97-AF65-F5344CB8AC3E}">
        <p14:creationId xmlns:p14="http://schemas.microsoft.com/office/powerpoint/2010/main" val="1792062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Présentation de GPIEXALT (Gestion du Parc Informatique eXalt, anciennement Prisme) : fonctions, procédures, règles de gestion, architecture, sécurité, sauvegarde, recette et risques. Version 6.0 : thème et logo eXalt, retour prévu et alertes de retard, actions groupées, scan rapide, rapport par email, destinataire au choix. Version 7.0 : rapport propre à chaque page, fiche d'emprunt réorganisée.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a:t>
            </a:fld>
            <a:endParaRPr lang="fr-FR"/>
          </a:p>
        </p:txBody>
      </p:sp>
    </p:spTree>
    <p:extLst>
      <p:ext uri="{BB962C8B-B14F-4D97-AF65-F5344CB8AC3E}">
        <p14:creationId xmlns:p14="http://schemas.microsoft.com/office/powerpoint/2010/main" val="34708480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noms du vérificateur et de l'approbateur restent à renseigner.</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a:t>
            </a:fld>
            <a:endParaRPr lang="fr-FR"/>
          </a:p>
        </p:txBody>
      </p:sp>
    </p:spTree>
    <p:extLst>
      <p:ext uri="{BB962C8B-B14F-4D97-AF65-F5344CB8AC3E}">
        <p14:creationId xmlns:p14="http://schemas.microsoft.com/office/powerpoint/2010/main" val="37136419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dossier PDF détaille chaque partie (71 pages, procédures, plan de recette, registre des risques).</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a:t>
            </a:fld>
            <a:endParaRPr lang="fr-FR"/>
          </a:p>
        </p:txBody>
      </p:sp>
    </p:spTree>
    <p:extLst>
      <p:ext uri="{BB962C8B-B14F-4D97-AF65-F5344CB8AC3E}">
        <p14:creationId xmlns:p14="http://schemas.microsoft.com/office/powerpoint/2010/main" val="14742938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Qui a quel matériel, qu'est-ce qui a été rendu (avec preuve), qu'est-ce qui a été perdu.</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5</a:t>
            </a:fld>
            <a:endParaRPr lang="fr-FR"/>
          </a:p>
        </p:txBody>
      </p:sp>
    </p:spTree>
    <p:extLst>
      <p:ext uri="{BB962C8B-B14F-4D97-AF65-F5344CB8AC3E}">
        <p14:creationId xmlns:p14="http://schemas.microsoft.com/office/powerpoint/2010/main" val="1963771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variante perdu / volé / abîmé remplace l'attestation et alimente l'onglet Matériel perdu.</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6</a:t>
            </a:fld>
            <a:endParaRPr lang="fr-FR"/>
          </a:p>
        </p:txBody>
      </p:sp>
    </p:spTree>
    <p:extLst>
      <p:ext uri="{BB962C8B-B14F-4D97-AF65-F5344CB8AC3E}">
        <p14:creationId xmlns:p14="http://schemas.microsoft.com/office/powerpoint/2010/main" val="22996251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Sur PC : menu latéral repliable ; sur téléphone et tablette en portrait : barre d'onglets en bas. Raccourcis 1 à 7.</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7</a:t>
            </a:fld>
            <a:endParaRPr lang="fr-FR"/>
          </a:p>
        </p:txBody>
      </p:sp>
    </p:spTree>
    <p:extLst>
      <p:ext uri="{BB962C8B-B14F-4D97-AF65-F5344CB8AC3E}">
        <p14:creationId xmlns:p14="http://schemas.microsoft.com/office/powerpoint/2010/main" val="10313623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indicateurs (dont « Retours en retard », visible seulement s'il y en a) ouvrent l'onglet concerné avec le filtre déjà appliqué. Le bandeau « PDF à archiver » n'apparaît que s'il y en a. Au survol des couleurs : libellé et nombre. La date et le lieu s'affichent en haut à droite de chaque page.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9</a:t>
            </a:fld>
            <a:endParaRPr lang="fr-FR"/>
          </a:p>
        </p:txBody>
      </p:sp>
    </p:spTree>
    <p:extLst>
      <p:ext uri="{BB962C8B-B14F-4D97-AF65-F5344CB8AC3E}">
        <p14:creationId xmlns:p14="http://schemas.microsoft.com/office/powerpoint/2010/main" val="1382775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fiche s'ouvre dans une fenêtre avec trois étapes. Un équipement peut être emprunté et restitué plusieurs fois. Annuler (10 secondes) supprime l'emprunt qui vient d'être saisi.</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10</a:t>
            </a:fld>
            <a:endParaRPr lang="fr-FR"/>
          </a:p>
        </p:txBody>
      </p:sp>
    </p:spTree>
    <p:extLst>
      <p:ext uri="{BB962C8B-B14F-4D97-AF65-F5344CB8AC3E}">
        <p14:creationId xmlns:p14="http://schemas.microsoft.com/office/powerpoint/2010/main" val="39298585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jauge de chaque ligne distingue : restitué et signé (vert), encore chez la personne (bleu), en attente de signature (jaune), perdu volé ou abîmé (rouge).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11</a:t>
            </a:fld>
            <a:endParaRPr lang="fr-FR"/>
          </a:p>
        </p:txBody>
      </p:sp>
    </p:spTree>
    <p:extLst>
      <p:ext uri="{BB962C8B-B14F-4D97-AF65-F5344CB8AC3E}">
        <p14:creationId xmlns:p14="http://schemas.microsoft.com/office/powerpoint/2010/main" val="2878650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Rien n'est envoyé automatiquement : la personne connectée envoie elle-même le message préparé. Par email : un aperçu du PDF s'affiche d'abord. Les déclarations sont irréversibles (confirmation demandée).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12</a:t>
            </a:fld>
            <a:endParaRPr lang="fr-FR"/>
          </a:p>
        </p:txBody>
      </p:sp>
    </p:spTree>
    <p:extLst>
      <p:ext uri="{BB962C8B-B14F-4D97-AF65-F5344CB8AC3E}">
        <p14:creationId xmlns:p14="http://schemas.microsoft.com/office/powerpoint/2010/main" val="4017887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date de retour prévue est facultative. Dépassée, elle déclenche une fenêtre d'alerte à l'ouverture (au plus une fois par jour, ou si le nombre augmente), la carte rouge Retours en retard, les pastilles du menu et le filtre En retard de retour. Aucune notification n'est envoyée à l'extérieur : l'alerte n'apparaît que lorsque quelqu'un ouvre GPIEXALT.</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13</a:t>
            </a:fld>
            <a:endParaRPr lang="fr-FR"/>
          </a:p>
        </p:txBody>
      </p:sp>
    </p:spTree>
    <p:extLst>
      <p:ext uri="{BB962C8B-B14F-4D97-AF65-F5344CB8AC3E}">
        <p14:creationId xmlns:p14="http://schemas.microsoft.com/office/powerpoint/2010/main" val="20993170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Chaque ligne affiche un cycle de vie : Envoyée, Signée, PDF archivé. En attente : jours d'attente, rouge à partir de 3 jours (REMINDER_AFTER_DAYS). Le bouton Relancer est masqué par défaut (SHOW_REMIND_BUTTON).</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14</a:t>
            </a:fld>
            <a:endParaRPr lang="fr-FR"/>
          </a:p>
        </p:txBody>
      </p:sp>
    </p:spTree>
    <p:extLst>
      <p:ext uri="{BB962C8B-B14F-4D97-AF65-F5344CB8AC3E}">
        <p14:creationId xmlns:p14="http://schemas.microsoft.com/office/powerpoint/2010/main" val="17516651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Une case par ligne et « Sélectionner toutes les attestations en attente de cette liste » (suit la recherche, les filtres et la période). La barre d'actions apparaît en bas de la liste. La signature groupée exige une date (jamais dans le futur) et une mention écrite ; elle archive un PDF par attestation et n'envoie aucun message.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15</a:t>
            </a:fld>
            <a:endParaRPr lang="fr-FR"/>
          </a:p>
        </p:txBody>
      </p:sp>
    </p:spTree>
    <p:extLst>
      <p:ext uri="{BB962C8B-B14F-4D97-AF65-F5344CB8AC3E}">
        <p14:creationId xmlns:p14="http://schemas.microsoft.com/office/powerpoint/2010/main" val="41344594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date ne peut pas être dans le futur. Un tracé (doigt, stylet, souris) ou une mention écrite est obligatoire. La mention (140 caractères) permet de signer à la place de quelqu'un. Annuler pendant 10 secondes.</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16</a:t>
            </a:fld>
            <a:endParaRPr lang="fr-FR"/>
          </a:p>
        </p:txBody>
      </p:sp>
    </p:spTree>
    <p:extLst>
      <p:ext uri="{BB962C8B-B14F-4D97-AF65-F5344CB8AC3E}">
        <p14:creationId xmlns:p14="http://schemas.microsoft.com/office/powerpoint/2010/main" val="2840744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message part de la boîte Outlook de l'utilisateur par le connecteur Microsoft 365, après un clic sur Envoyer maintenant. Le destinataire est l'adresse de l'annuaire : à contrôler dans la fenêtre. L'envoi réel reste à éprouver (CR-37).</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17</a:t>
            </a:fld>
            <a:endParaRPr lang="fr-FR"/>
          </a:p>
        </p:txBody>
      </p:sp>
    </p:spTree>
    <p:extLst>
      <p:ext uri="{BB962C8B-B14F-4D97-AF65-F5344CB8AC3E}">
        <p14:creationId xmlns:p14="http://schemas.microsoft.com/office/powerpoint/2010/main" val="30668015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L'aperçu utilise la bibliothèque pdf.js chargée à la demande. L'annulation est refusée si une autre action a été enregistrée depuis pour la même personne.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18</a:t>
            </a:fld>
            <a:endParaRPr lang="fr-FR"/>
          </a:p>
        </p:txBody>
      </p:sp>
    </p:spTree>
    <p:extLst>
      <p:ext uri="{BB962C8B-B14F-4D97-AF65-F5344CB8AC3E}">
        <p14:creationId xmlns:p14="http://schemas.microsoft.com/office/powerpoint/2010/main" val="1647047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PDF est créé dans le navigateur, une page A4. Version émise (à l'envoi) et version signée (après Marquer comme signée) ; la mention de signature figure dans le bloc de suivi et sous la case du collaborateur.</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19</a:t>
            </a:fld>
            <a:endParaRPr lang="fr-FR"/>
          </a:p>
        </p:txBody>
      </p:sp>
    </p:spTree>
    <p:extLst>
      <p:ext uri="{BB962C8B-B14F-4D97-AF65-F5344CB8AC3E}">
        <p14:creationId xmlns:p14="http://schemas.microsoft.com/office/powerpoint/2010/main" val="13053397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PDF archivé est stocké dans la base (collection documents), de 6 à 15 Ko. Télécharger restitue exactement le fichier produit à la signature. Dans cette capture, trois attestations signées attendent encore leur archivage.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20</a:t>
            </a:fld>
            <a:endParaRPr lang="fr-FR"/>
          </a:p>
        </p:txBody>
      </p:sp>
    </p:spTree>
    <p:extLst>
      <p:ext uri="{BB962C8B-B14F-4D97-AF65-F5344CB8AC3E}">
        <p14:creationId xmlns:p14="http://schemas.microsoft.com/office/powerpoint/2010/main" val="2370142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Liste déroulante pour choisir le type ; les deux premiers indicateurs suivent le filtre. La date de perte n'est volontairement pas affichée.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21</a:t>
            </a:fld>
            <a:endParaRPr lang="fr-FR"/>
          </a:p>
        </p:txBody>
      </p:sp>
    </p:spTree>
    <p:extLst>
      <p:ext uri="{BB962C8B-B14F-4D97-AF65-F5344CB8AC3E}">
        <p14:creationId xmlns:p14="http://schemas.microsoft.com/office/powerpoint/2010/main" val="9046674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quatre indicateurs servent aussi de filtres ; un second clic retire le filtre. 50 événements affichés à la fois. La mention de signature figure sous l'événement « attestation signée ».</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22</a:t>
            </a:fld>
            <a:endParaRPr lang="fr-FR"/>
          </a:p>
        </p:txBody>
      </p:sp>
    </p:spTree>
    <p:extLst>
      <p:ext uri="{BB962C8B-B14F-4D97-AF65-F5344CB8AC3E}">
        <p14:creationId xmlns:p14="http://schemas.microsoft.com/office/powerpoint/2010/main" val="11006755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filtre ne modifie aucune donnée : il restreint l'affichage, les indicateurs et les exports de l'onglet. Réinitialiser rétablit toutes les dates.</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23</a:t>
            </a:fld>
            <a:endParaRPr lang="fr-FR"/>
          </a:p>
        </p:txBody>
      </p:sp>
    </p:spTree>
    <p:extLst>
      <p:ext uri="{BB962C8B-B14F-4D97-AF65-F5344CB8AC3E}">
        <p14:creationId xmlns:p14="http://schemas.microsoft.com/office/powerpoint/2010/main" val="29619235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étiquettes se génèrent depuis la fiche d'une personne ; le scanner est dans le menu latéral et sur l'Accueil. La caméra n'est utilisée que pendant le scan et n'est jamais enregistrée. Bibliothèques jsQR et qrcode-generator chargées à la demande.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24</a:t>
            </a:fld>
            <a:endParaRPr lang="fr-FR"/>
          </a:p>
        </p:txBody>
      </p:sp>
    </p:spTree>
    <p:extLst>
      <p:ext uri="{BB962C8B-B14F-4D97-AF65-F5344CB8AC3E}">
        <p14:creationId xmlns:p14="http://schemas.microsoft.com/office/powerpoint/2010/main" val="11318234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Scan rapide : « Prêter maintenant » enregistre l'emprunt du jour (Annuler possible) puis la caméra repart ; « Restituer ce matériel » ouvre Restituer avec l'équipement coché. Panneau latéral : à partir de 1 480 px de large, la fiche s'affiche à droite ; confirmation avant d'abandonner une sélection non enregistrée.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25</a:t>
            </a:fld>
            <a:endParaRPr lang="fr-FR"/>
          </a:p>
        </p:txBody>
      </p:sp>
    </p:spTree>
    <p:extLst>
      <p:ext uri="{BB962C8B-B14F-4D97-AF65-F5344CB8AC3E}">
        <p14:creationId xmlns:p14="http://schemas.microsoft.com/office/powerpoint/2010/main" val="4591469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commentaires sont un fil horodaté par personne ; chacun peut modifier ses propres commentaires.</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26</a:t>
            </a:fld>
            <a:endParaRPr lang="fr-FR"/>
          </a:p>
        </p:txBody>
      </p:sp>
    </p:spTree>
    <p:extLst>
      <p:ext uri="{BB962C8B-B14F-4D97-AF65-F5344CB8AC3E}">
        <p14:creationId xmlns:p14="http://schemas.microsoft.com/office/powerpoint/2010/main" val="26510749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Avec le connecteur Microsoft 365 autorisé : aperçu du PDF puis brouillon Outlook avec pièce jointe. Sinon : repli. La création du brouillon a été testée avec un connecteur simulé ; le premier essai réel est à vérifier (CR-12).</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27</a:t>
            </a:fld>
            <a:endParaRPr lang="fr-FR"/>
          </a:p>
        </p:txBody>
      </p:sp>
    </p:spTree>
    <p:extLst>
      <p:ext uri="{BB962C8B-B14F-4D97-AF65-F5344CB8AC3E}">
        <p14:creationId xmlns:p14="http://schemas.microsoft.com/office/powerpoint/2010/main" val="8677758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choix est mémorisé dans le navigateur de chaque personne (pas partagé, pas synchronisé entre appareils). Le rouge et le vert ne sont pas proposés comme accents car ils signalent perdu et signé.</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28</a:t>
            </a:fld>
            <a:endParaRPr lang="fr-FR"/>
          </a:p>
        </p:txBody>
      </p:sp>
    </p:spTree>
    <p:extLst>
      <p:ext uri="{BB962C8B-B14F-4D97-AF65-F5344CB8AC3E}">
        <p14:creationId xmlns:p14="http://schemas.microsoft.com/office/powerpoint/2010/main" val="24149023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bouton Rechercher figure en haut de chaque page ; Ctrl K ouvre la même fenêtre. Un code (AP-1) ou un numéro de série affiche l'équipement et ouvre la fiche de la personne. Entrée ouvre l'action la plus utile sur une personne, Maj + Entrée l'autre.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29</a:t>
            </a:fld>
            <a:endParaRPr lang="fr-FR"/>
          </a:p>
        </p:txBody>
      </p:sp>
    </p:spTree>
    <p:extLst>
      <p:ext uri="{BB962C8B-B14F-4D97-AF65-F5344CB8AC3E}">
        <p14:creationId xmlns:p14="http://schemas.microsoft.com/office/powerpoint/2010/main" val="31183934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rapports sont créés dans le navigateur (jsPDF et autotable pour le PDF, ExcelJS pour Excel, chargées à la demande). Ils sont réservés aux rôles Administrateur full, Super utilisateur et Lecteur.</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30</a:t>
            </a:fld>
            <a:endParaRPr lang="fr-FR"/>
          </a:p>
        </p:txBody>
      </p:sp>
    </p:spTree>
    <p:extLst>
      <p:ext uri="{BB962C8B-B14F-4D97-AF65-F5344CB8AC3E}">
        <p14:creationId xmlns:p14="http://schemas.microsoft.com/office/powerpoint/2010/main" val="40519600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bouton Rapport figure en haut à droite d'Accueil, Emprunter, Restituer, Attestations, Archives PDF et Matériel perdu (masqué pour un Agent IT). La période s'applique à l'activité de la page ; les situations (parc, attestations en attente) sont celles d'aujourd'hui. Fichiers : rapport_gpiexalt_emprunts, restitutions, attestations, archives, perdu ; l'Accueil produit le rapport complet.</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31</a:t>
            </a:fld>
            <a:endParaRPr lang="fr-FR"/>
          </a:p>
        </p:txBody>
      </p:sp>
    </p:spTree>
    <p:extLst>
      <p:ext uri="{BB962C8B-B14F-4D97-AF65-F5344CB8AC3E}">
        <p14:creationId xmlns:p14="http://schemas.microsoft.com/office/powerpoint/2010/main" val="21666908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message part de la boîte Outlook de l'utilisateur par le connecteur Microsoft 365, après un clic sur Envoyer maintenant. Jusqu'à 10 adresses. Au-delà de 2,9 Mo (limite de Microsoft Graph), l'envoi direct est refusé : télécharger le rapport et le joindre à un message. Sans connecteur : fichier .eml.</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32</a:t>
            </a:fld>
            <a:endParaRPr lang="fr-FR"/>
          </a:p>
        </p:txBody>
      </p:sp>
    </p:spTree>
    <p:extLst>
      <p:ext uri="{BB962C8B-B14F-4D97-AF65-F5344CB8AC3E}">
        <p14:creationId xmlns:p14="http://schemas.microsoft.com/office/powerpoint/2010/main" val="11705828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Seul « Peut consulter » interdit techniquement toute écriture ; les rôles Agent IT et Lecteur restreignent l'affichage. Les droits réels passeront par Entra ID.</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33</a:t>
            </a:fld>
            <a:endParaRPr lang="fr-FR"/>
          </a:p>
        </p:txBody>
      </p:sp>
    </p:spTree>
    <p:extLst>
      <p:ext uri="{BB962C8B-B14F-4D97-AF65-F5344CB8AC3E}">
        <p14:creationId xmlns:p14="http://schemas.microsoft.com/office/powerpoint/2010/main" val="31499045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Un compte non rattaché voit « Compte non rattaché » et son identifiant, à communiquer à l'administrateur.</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34</a:t>
            </a:fld>
            <a:endParaRPr lang="fr-FR"/>
          </a:p>
        </p:txBody>
      </p:sp>
    </p:spTree>
    <p:extLst>
      <p:ext uri="{BB962C8B-B14F-4D97-AF65-F5344CB8AC3E}">
        <p14:creationId xmlns:p14="http://schemas.microsoft.com/office/powerpoint/2010/main" val="21642693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Lecture seule via le connecteur Microsoft 365 (list-users, list-groups, list-group-members). Le parc réel n'est pas importé : le connecteur ne donne pas accès à Intune. Les données importées sont personnelles : validation du DPO avant un import complet.</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35</a:t>
            </a:fld>
            <a:endParaRPr lang="fr-FR"/>
          </a:p>
        </p:txBody>
      </p:sp>
    </p:spTree>
    <p:extLst>
      <p:ext uri="{BB962C8B-B14F-4D97-AF65-F5344CB8AC3E}">
        <p14:creationId xmlns:p14="http://schemas.microsoft.com/office/powerpoint/2010/main" val="40209688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Barre de progression et compteurs animés au chargement, impression en noir sur blanc, focus géré dans les fenêtres, animations réduites si le système le demande. Thème, couleur, densité et visite guidée sont mémorisés par navigateur.</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36</a:t>
            </a:fld>
            <a:endParaRPr lang="fr-FR"/>
          </a:p>
        </p:txBody>
      </p:sp>
    </p:spTree>
    <p:extLst>
      <p:ext uri="{BB962C8B-B14F-4D97-AF65-F5344CB8AC3E}">
        <p14:creationId xmlns:p14="http://schemas.microsoft.com/office/powerpoint/2010/main" val="37083556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Barre d'onglets en bas sur téléphone et tablette en portrait ; menu latéral sur PC et tablette en paysage.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37</a:t>
            </a:fld>
            <a:endParaRPr lang="fr-FR"/>
          </a:p>
        </p:txBody>
      </p:sp>
    </p:spTree>
    <p:extLst>
      <p:ext uri="{BB962C8B-B14F-4D97-AF65-F5344CB8AC3E}">
        <p14:creationId xmlns:p14="http://schemas.microsoft.com/office/powerpoint/2010/main" val="27088505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Cinq rôles dans l'application (Administrateur full, Super utilisateur, Agent IT, Lecteur, Collaborateur) ; le partage de la page reste la limite appliquée par la plateforme.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39</a:t>
            </a:fld>
            <a:endParaRPr lang="fr-FR"/>
          </a:p>
        </p:txBody>
      </p:sp>
    </p:spTree>
    <p:extLst>
      <p:ext uri="{BB962C8B-B14F-4D97-AF65-F5344CB8AC3E}">
        <p14:creationId xmlns:p14="http://schemas.microsoft.com/office/powerpoint/2010/main" val="18137842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RG-01 à RG-30 : chapitre 5 du dossier PDF.</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40</a:t>
            </a:fld>
            <a:endParaRPr lang="fr-FR"/>
          </a:p>
        </p:txBody>
      </p:sp>
    </p:spTree>
    <p:extLst>
      <p:ext uri="{BB962C8B-B14F-4D97-AF65-F5344CB8AC3E}">
        <p14:creationId xmlns:p14="http://schemas.microsoft.com/office/powerpoint/2010/main" val="24577647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jsPDF est chargé depuis cdnjs.cloudflare.com : dépendance externe à faire valider par le RSSI. Le connecteur Microsoft 365 est autorisé par chaque utilisateur.</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42</a:t>
            </a:fld>
            <a:endParaRPr lang="fr-FR"/>
          </a:p>
        </p:txBody>
      </p:sp>
    </p:spTree>
    <p:extLst>
      <p:ext uri="{BB962C8B-B14F-4D97-AF65-F5344CB8AC3E}">
        <p14:creationId xmlns:p14="http://schemas.microsoft.com/office/powerpoint/2010/main" val="8061515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Base légale, durée de conservation et hébergement : à valider. Aucune purge automatique à ce jour.</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43</a:t>
            </a:fld>
            <a:endParaRPr lang="fr-FR"/>
          </a:p>
        </p:txBody>
      </p:sp>
    </p:spTree>
    <p:extLst>
      <p:ext uri="{BB962C8B-B14F-4D97-AF65-F5344CB8AC3E}">
        <p14:creationId xmlns:p14="http://schemas.microsoft.com/office/powerpoint/2010/main" val="6083785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people et documents ; roles, links et mine pour les accès. Une personne n'apparaît dans la base qu'à sa première action.</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45</a:t>
            </a:fld>
            <a:endParaRPr lang="fr-FR"/>
          </a:p>
        </p:txBody>
      </p:sp>
    </p:spTree>
    <p:extLst>
      <p:ext uri="{BB962C8B-B14F-4D97-AF65-F5344CB8AC3E}">
        <p14:creationId xmlns:p14="http://schemas.microsoft.com/office/powerpoint/2010/main" val="25672524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Au-delà de 6 secondes, l'enregistrement est abandonné et la pastille passe en Mode local.</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46</a:t>
            </a:fld>
            <a:endParaRPr lang="fr-FR"/>
          </a:p>
        </p:txBody>
      </p:sp>
    </p:spTree>
    <p:extLst>
      <p:ext uri="{BB962C8B-B14F-4D97-AF65-F5344CB8AC3E}">
        <p14:creationId xmlns:p14="http://schemas.microsoft.com/office/powerpoint/2010/main" val="30838603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CR-01 à CR-52 dans le dossier PDF, chapitre 10.</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48</a:t>
            </a:fld>
            <a:endParaRPr lang="fr-FR"/>
          </a:p>
        </p:txBody>
      </p:sp>
    </p:spTree>
    <p:extLst>
      <p:ext uri="{BB962C8B-B14F-4D97-AF65-F5344CB8AC3E}">
        <p14:creationId xmlns:p14="http://schemas.microsoft.com/office/powerpoint/2010/main" val="2463404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Registre complet : chapitre 11 du dossier PDF.</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49</a:t>
            </a:fld>
            <a:endParaRPr lang="fr-FR"/>
          </a:p>
        </p:txBody>
      </p:sp>
    </p:spTree>
    <p:extLst>
      <p:ext uri="{BB962C8B-B14F-4D97-AF65-F5344CB8AC3E}">
        <p14:creationId xmlns:p14="http://schemas.microsoft.com/office/powerpoint/2010/main" val="12508978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Chaque modification de l'application crée une nouvelle version à la même adresse. La documentation ne se met pas à jour toute seule.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51</a:t>
            </a:fld>
            <a:endParaRPr lang="fr-FR"/>
          </a:p>
        </p:txBody>
      </p:sp>
    </p:spTree>
    <p:extLst>
      <p:ext uri="{BB962C8B-B14F-4D97-AF65-F5344CB8AC3E}">
        <p14:creationId xmlns:p14="http://schemas.microsoft.com/office/powerpoint/2010/main" val="7795958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Données de démonstration, rôles Agent IT et Lecteur appliqués à l'affichage, envoi à relire, SMS vers un numéro de test, pas de sauvegarde externe automatique. La signature enregistrée est déclarée par l'équipe IT, non qualifiée.</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52</a:t>
            </a:fld>
            <a:endParaRPr lang="fr-FR"/>
          </a:p>
        </p:txBody>
      </p:sp>
    </p:spTree>
    <p:extLst>
      <p:ext uri="{BB962C8B-B14F-4D97-AF65-F5344CB8AC3E}">
        <p14:creationId xmlns:p14="http://schemas.microsoft.com/office/powerpoint/2010/main" val="148982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responsables sont des propositions. Après décision : mise à jour de la documentation en version 7.1.</a:t>
            </a:r>
          </a:p>
        </p:txBody>
      </p:sp>
      <p:sp>
        <p:nvSpPr>
          <p:cNvPr id="4" name="Espace réservé du numéro de diapositive 3"/>
          <p:cNvSpPr>
            <a:spLocks noGrp="1"/>
          </p:cNvSpPr>
          <p:nvPr>
            <p:ph type="sldNum" sz="quarter" idx="5"/>
          </p:nvPr>
        </p:nvSpPr>
        <p:spPr/>
        <p:txBody>
          <a:bodyPr/>
          <a:lstStyle/>
          <a:p>
            <a:fld id="{1CDA49C2-B7B5-4B20-BE78-914A55665102}" type="slidenum">
              <a:rPr lang="fr-FR" smtClean="0"/>
              <a:t>53</a:t>
            </a:fld>
            <a:endParaRPr lang="fr-FR"/>
          </a:p>
        </p:txBody>
      </p:sp>
    </p:spTree>
    <p:extLst>
      <p:ext uri="{BB962C8B-B14F-4D97-AF65-F5344CB8AC3E}">
        <p14:creationId xmlns:p14="http://schemas.microsoft.com/office/powerpoint/2010/main" val="34709096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F7FBDC-8BE6-0E18-754F-138D69A4AE1D}"/>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5080276A-1A6A-0F04-0143-7B692DC704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69589F-3655-724C-709D-B034C793FFF8}"/>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9C0F5D9A-4883-472F-2E47-66BD76F4C6F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6911F80-EB8A-6CDE-4D3D-B4F1896EC2C8}"/>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40783884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2A32C7-7A54-8CCE-221B-9EE761A5382F}"/>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D355219-B1EA-35DE-84A6-03FA3D241F32}"/>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05CED6F-2E6B-9ED0-F3BA-305ACC964316}"/>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8B5C5087-3CF1-64AC-FFF9-5B0FF028EB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C9E9CD6-7C94-1707-8C90-44808FEBA2D1}"/>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3514343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3518DA9-A955-E1C2-56A6-C376D42749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DA2D0929-EDBE-ED75-3B90-A3D48582128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FC1C9FA9-9D74-3014-9AC8-A973ADD740BF}"/>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473E195A-E610-FAB2-782D-101BD2BFEF8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000751C-5962-4A45-9194-1CE5B056737C}"/>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3791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52B464A-E865-3C37-2EE0-50D477743CD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AC2FF52-61E4-1BCB-9B7A-8D13FF4F108F}"/>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0181B048-4DBC-B5EF-A275-0D57AFCE7F7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2B40EB12-3ABB-3F42-9969-291D2B365E72}"/>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6" name="Espace réservé du pied de page 5">
            <a:extLst>
              <a:ext uri="{FF2B5EF4-FFF2-40B4-BE49-F238E27FC236}">
                <a16:creationId xmlns:a16="http://schemas.microsoft.com/office/drawing/2014/main" id="{E5C35268-B544-098C-3A69-E66E3B5228A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6575EDE-5C90-5574-70C6-2CB749158F14}"/>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1629768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D05AC4-0B67-778E-53D4-9DBC6232A681}"/>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34A7A19-70F0-F84B-DD70-1DF294AD56B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8C294431-3565-9861-C8F4-D1E79479E36F}"/>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212E49FF-4AF1-860C-B370-3B9BEA4A47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24DE7817-BD47-073F-5E5B-FF5CB1EA4356}"/>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64D884EB-6AEC-452F-A8D3-81A4FF5FE07D}"/>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8" name="Espace réservé du pied de page 7">
            <a:extLst>
              <a:ext uri="{FF2B5EF4-FFF2-40B4-BE49-F238E27FC236}">
                <a16:creationId xmlns:a16="http://schemas.microsoft.com/office/drawing/2014/main" id="{C78BE1C6-A8B8-368E-3706-7884AB21F2D6}"/>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97F60C8B-28CB-C13E-A00D-30935EE7BD43}"/>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1505397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771022E-B74B-20A7-D72A-BA0D4F0129C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AF95D050-56B5-9B45-938C-8D450DAE103A}"/>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4" name="Espace réservé du pied de page 3">
            <a:extLst>
              <a:ext uri="{FF2B5EF4-FFF2-40B4-BE49-F238E27FC236}">
                <a16:creationId xmlns:a16="http://schemas.microsoft.com/office/drawing/2014/main" id="{06DDD986-BEA7-579E-7AC4-12EC7A1CAFA5}"/>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C42EDF41-4879-0F3E-2248-3F1DE5CC84AC}"/>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2699110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CD7AAA27-92C2-501B-9F36-1BBC909F4BD4}"/>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3" name="Espace réservé du pied de page 2">
            <a:extLst>
              <a:ext uri="{FF2B5EF4-FFF2-40B4-BE49-F238E27FC236}">
                <a16:creationId xmlns:a16="http://schemas.microsoft.com/office/drawing/2014/main" id="{21F7655B-3051-6FDC-68AE-E23E3AC96961}"/>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D5716B92-AD79-75DE-E37A-FF70B5D9CDFD}"/>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4224804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D8A1FF-E996-A2BD-B795-7C45E2CBD22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5F35FCC4-94CC-90D1-D460-4DD687C485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60413E7A-355B-939E-1627-F1B36ADDDFE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C692522-D093-8C90-E4A6-EB997C1CD7FA}"/>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6" name="Espace réservé du pied de page 5">
            <a:extLst>
              <a:ext uri="{FF2B5EF4-FFF2-40B4-BE49-F238E27FC236}">
                <a16:creationId xmlns:a16="http://schemas.microsoft.com/office/drawing/2014/main" id="{E4B23F55-BA7C-81D5-CD93-8E5EDE31E4A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C42F440-7652-390F-8A36-43443890250D}"/>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3849918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F4506E-66E9-1564-8FA7-E4B891F5FB7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EFA8265E-32EF-228A-4CDE-27CE79304A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450D98CD-2169-6942-0172-3D5C364D3F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D52AFC5-1C97-2273-3BD9-CF2EE01D3E6A}"/>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6" name="Espace réservé du pied de page 5">
            <a:extLst>
              <a:ext uri="{FF2B5EF4-FFF2-40B4-BE49-F238E27FC236}">
                <a16:creationId xmlns:a16="http://schemas.microsoft.com/office/drawing/2014/main" id="{F5D27FAB-524B-28D2-AB4D-B923BBCFA54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3F9D461-EA9F-FBB4-676F-591FB9802A41}"/>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183640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80A4D47-845C-42BA-9237-0237BF90F147}"/>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6D91D3AD-6013-0920-1238-EF0159EEA7EC}"/>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546ACC2D-0DA3-A907-E2C6-104FA5DF0892}"/>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880FE5EB-5035-7A1D-2C91-2F36C9EE444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AEF38DB-D5E3-862E-1690-7A3852279C2F}"/>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27912229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B865846F-722D-8B53-0965-011EAD2CD4F9}"/>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0D120D4-106A-ADBB-E658-C01D0E236240}"/>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0BC39CC-EFCD-1A25-E8DC-09F8897D58CB}"/>
              </a:ext>
            </a:extLst>
          </p:cNvPr>
          <p:cNvSpPr>
            <a:spLocks noGrp="1"/>
          </p:cNvSpPr>
          <p:nvPr>
            <p:ph type="dt" sz="half" idx="10"/>
          </p:nvPr>
        </p:nvSpPr>
        <p:spPr/>
        <p:txBody>
          <a:bodyPr/>
          <a:lstStyle/>
          <a:p>
            <a:fld id="{6509732C-D4BF-4DEF-8113-0A040966179D}"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B3681087-4785-62F5-C645-A86B5986BC3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EBBB4EF-9BBF-6A47-7413-3B973B5526C3}"/>
              </a:ext>
            </a:extLst>
          </p:cNvPr>
          <p:cNvSpPr>
            <a:spLocks noGrp="1"/>
          </p:cNvSpPr>
          <p:nvPr>
            <p:ph type="sldNum" sz="quarter" idx="12"/>
          </p:nvPr>
        </p:nvSpPr>
        <p:spPr/>
        <p:txBody>
          <a:bodyPr/>
          <a:lstStyle/>
          <a:p>
            <a:fld id="{B97EC96C-6EB5-414F-B442-29937EDEEBD4}" type="slidenum">
              <a:rPr lang="fr-FR" smtClean="0"/>
              <a:t>‹N°›</a:t>
            </a:fld>
            <a:endParaRPr lang="fr-FR"/>
          </a:p>
        </p:txBody>
      </p:sp>
    </p:spTree>
    <p:extLst>
      <p:ext uri="{BB962C8B-B14F-4D97-AF65-F5344CB8AC3E}">
        <p14:creationId xmlns:p14="http://schemas.microsoft.com/office/powerpoint/2010/main" val="5278012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6FB"/>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EA4302F-8E95-A07A-643C-896DBACEBF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B473239C-5E12-ABF4-FA4E-948496BFB36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ADD97-DAF0-EB66-D8F1-B994EFBCC6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509732C-D4BF-4DEF-8113-0A040966179D}"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B968B250-7804-384A-BB35-EE697B93B0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EEA0D8E-E436-8C4C-FC1D-9B53405F52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97EC96C-6EB5-414F-B442-29937EDEEBD4}" type="slidenum">
              <a:rPr lang="fr-FR" smtClean="0"/>
              <a:t>‹N°›</a:t>
            </a:fld>
            <a:endParaRPr lang="fr-FR"/>
          </a:p>
        </p:txBody>
      </p:sp>
      <p:sp>
        <p:nvSpPr>
          <p:cNvPr id="8" name="ZoneTexte 7">
            <a:extLst>
              <a:ext uri="{FF2B5EF4-FFF2-40B4-BE49-F238E27FC236}">
                <a16:creationId xmlns:a16="http://schemas.microsoft.com/office/drawing/2014/main" id="{A8F77E98-F359-2481-7745-0B8D634F5438}"/>
              </a:ext>
            </a:extLst>
          </p:cNvPr>
          <p:cNvSpPr txBox="1"/>
          <p:nvPr userDrawn="1">
            <p:extLst>
              <p:ext uri="{1162E1C5-73C7-4A58-AE30-91384D911F3F}">
                <p184:classification xmlns:p184="http://schemas.microsoft.com/office/powerpoint/2018/4/main" val="ftr"/>
              </p:ext>
            </p:extLst>
          </p:nvPr>
        </p:nvSpPr>
        <p:spPr>
          <a:xfrm>
            <a:off x="5401437" y="6642100"/>
            <a:ext cx="1414463" cy="152400"/>
          </a:xfrm>
          <a:prstGeom prst="rect">
            <a:avLst/>
          </a:prstGeom>
        </p:spPr>
        <p:txBody>
          <a:bodyPr horzOverflow="overflow" lIns="0" tIns="0" rIns="0" bIns="0">
            <a:spAutoFit/>
          </a:bodyPr>
          <a:lstStyle/>
          <a:p>
            <a:pPr algn="l"/>
            <a:r>
              <a:rPr lang="fr-FR" sz="1000">
                <a:solidFill>
                  <a:srgbClr val="000000">
                    <a:alpha val="50000"/>
                  </a:srgbClr>
                </a:solidFill>
                <a:latin typeface="Aptos" panose="020B0004020202020204" pitchFamily="34" charset="0"/>
              </a:rPr>
              <a:t>Confidentialité : INTERNE</a:t>
            </a:r>
          </a:p>
        </p:txBody>
      </p:sp>
    </p:spTree>
    <p:extLst>
      <p:ext uri="{BB962C8B-B14F-4D97-AF65-F5344CB8AC3E}">
        <p14:creationId xmlns:p14="http://schemas.microsoft.com/office/powerpoint/2010/main" val="10602205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7CEFCB-4246-0296-D7E4-F738D09D66F2}"/>
              </a:ext>
            </a:extLst>
          </p:cNvPr>
          <p:cNvSpPr>
            <a:spLocks noGrp="1"/>
          </p:cNvSpPr>
          <p:nvPr>
            <p:ph type="ctrTitle"/>
          </p:nvPr>
        </p:nvSpPr>
        <p:spPr>
          <a:xfrm>
            <a:off x="1219200" y="2540000"/>
            <a:ext cx="7112000" cy="1016000"/>
          </a:xfrm>
        </p:spPr>
        <p:txBody>
          <a:bodyPr lIns="0" anchor="ctr">
            <a:normAutofit/>
          </a:bodyPr>
          <a:lstStyle/>
          <a:p>
            <a:pPr algn="l"/>
            <a:r>
              <a:rPr lang="fr-FR" sz="6600" b="1">
                <a:solidFill>
                  <a:srgbClr val="FFFFFF"/>
                </a:solidFill>
                <a:latin typeface="Calibri" panose="020F0502020204030204" pitchFamily="34" charset="0"/>
              </a:rPr>
              <a:t>GPIEXALT</a:t>
            </a:r>
          </a:p>
        </p:txBody>
      </p:sp>
      <p:sp>
        <p:nvSpPr>
          <p:cNvPr id="3" name="Sous-titre 2">
            <a:extLst>
              <a:ext uri="{FF2B5EF4-FFF2-40B4-BE49-F238E27FC236}">
                <a16:creationId xmlns:a16="http://schemas.microsoft.com/office/drawing/2014/main" id="{4D6E7A8D-8667-68C4-37D3-DD8F17087862}"/>
              </a:ext>
            </a:extLst>
          </p:cNvPr>
          <p:cNvSpPr>
            <a:spLocks noGrp="1"/>
          </p:cNvSpPr>
          <p:nvPr>
            <p:ph type="subTitle" idx="1"/>
          </p:nvPr>
        </p:nvSpPr>
        <p:spPr>
          <a:xfrm>
            <a:off x="1219200" y="3632200"/>
            <a:ext cx="6604000" cy="1016000"/>
          </a:xfrm>
        </p:spPr>
        <p:txBody>
          <a:bodyPr lIns="0" anchor="t">
            <a:normAutofit/>
          </a:bodyPr>
          <a:lstStyle/>
          <a:p>
            <a:pPr algn="l"/>
            <a:r>
              <a:rPr lang="fr-FR" sz="2200">
                <a:solidFill>
                  <a:srgbClr val="CADCFC"/>
                </a:solidFill>
                <a:latin typeface="Calibri" panose="020F0502020204030204" pitchFamily="34" charset="0"/>
              </a:rPr>
              <a:t>Dossier de documentation : gestion du parc informatique eXalt, prêts, restitutions et attestations de matériel</a:t>
            </a:r>
          </a:p>
        </p:txBody>
      </p:sp>
      <p:pic>
        <p:nvPicPr>
          <p:cNvPr id="5" name="Image 4">
            <a:extLst>
              <a:ext uri="{FF2B5EF4-FFF2-40B4-BE49-F238E27FC236}">
                <a16:creationId xmlns:a16="http://schemas.microsoft.com/office/drawing/2014/main" id="{4525C6F3-BB15-3595-E629-176E2F15F9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128000" y="1270000"/>
            <a:ext cx="3683000" cy="3683000"/>
          </a:xfrm>
          <a:prstGeom prst="rect">
            <a:avLst/>
          </a:prstGeom>
        </p:spPr>
      </p:pic>
      <p:sp>
        <p:nvSpPr>
          <p:cNvPr id="6" name="ZoneTexte 5">
            <a:extLst>
              <a:ext uri="{FF2B5EF4-FFF2-40B4-BE49-F238E27FC236}">
                <a16:creationId xmlns:a16="http://schemas.microsoft.com/office/drawing/2014/main" id="{1A54DD01-3FDF-215D-DE45-F6622CC6AB60}"/>
              </a:ext>
            </a:extLst>
          </p:cNvPr>
          <p:cNvSpPr txBox="1"/>
          <p:nvPr/>
        </p:nvSpPr>
        <p:spPr>
          <a:xfrm>
            <a:off x="1219200" y="2133600"/>
            <a:ext cx="7620000" cy="228600"/>
          </a:xfrm>
          <a:prstGeom prst="rect">
            <a:avLst/>
          </a:prstGeom>
          <a:noFill/>
        </p:spPr>
        <p:txBody>
          <a:bodyPr vert="horz" wrap="square" lIns="0" tIns="0" rIns="0" bIns="0" rtlCol="0">
            <a:noAutofit/>
          </a:bodyPr>
          <a:lstStyle/>
          <a:p>
            <a:r>
              <a:rPr lang="fr-FR" sz="1200" b="1" spc="150">
                <a:solidFill>
                  <a:srgbClr val="B9B6FF"/>
                </a:solidFill>
                <a:latin typeface="Calibri" panose="020F0502020204030204" pitchFamily="34" charset="0"/>
              </a:rPr>
              <a:t>DOCUMENTATION FONCTIONNELLE, TECHNIQUE ET D'EXPLOITATION</a:t>
            </a:r>
          </a:p>
        </p:txBody>
      </p:sp>
      <p:sp>
        <p:nvSpPr>
          <p:cNvPr id="7" name="ZoneTexte 6">
            <a:extLst>
              <a:ext uri="{FF2B5EF4-FFF2-40B4-BE49-F238E27FC236}">
                <a16:creationId xmlns:a16="http://schemas.microsoft.com/office/drawing/2014/main" id="{08251748-E5BA-3F38-7E63-FDAED78EDD88}"/>
              </a:ext>
            </a:extLst>
          </p:cNvPr>
          <p:cNvSpPr txBox="1"/>
          <p:nvPr/>
        </p:nvSpPr>
        <p:spPr>
          <a:xfrm>
            <a:off x="1219200" y="5461000"/>
            <a:ext cx="7874000" cy="228600"/>
          </a:xfrm>
          <a:prstGeom prst="rect">
            <a:avLst/>
          </a:prstGeom>
          <a:noFill/>
        </p:spPr>
        <p:txBody>
          <a:bodyPr vert="horz" wrap="square" lIns="0" tIns="0" rIns="0" bIns="0" rtlCol="0">
            <a:noAutofit/>
          </a:bodyPr>
          <a:lstStyle/>
          <a:p>
            <a:r>
              <a:rPr lang="fr-FR" sz="1300">
                <a:solidFill>
                  <a:srgbClr val="AEB9E3"/>
                </a:solidFill>
                <a:latin typeface="Calibri" panose="020F0502020204030204" pitchFamily="34" charset="0"/>
              </a:rPr>
              <a:t>DOC-GPIEXALT-001  ·  Version 7.0  ·  12/10/2026  ·  Application v167</a:t>
            </a:r>
          </a:p>
        </p:txBody>
      </p:sp>
      <p:sp>
        <p:nvSpPr>
          <p:cNvPr id="8" name="ZoneTexte 7">
            <a:extLst>
              <a:ext uri="{FF2B5EF4-FFF2-40B4-BE49-F238E27FC236}">
                <a16:creationId xmlns:a16="http://schemas.microsoft.com/office/drawing/2014/main" id="{0FE43D81-33B0-B90B-03A9-2935032D42DE}"/>
              </a:ext>
            </a:extLst>
          </p:cNvPr>
          <p:cNvSpPr txBox="1"/>
          <p:nvPr/>
        </p:nvSpPr>
        <p:spPr>
          <a:xfrm>
            <a:off x="1219200" y="5740400"/>
            <a:ext cx="7874000" cy="228600"/>
          </a:xfrm>
          <a:prstGeom prst="rect">
            <a:avLst/>
          </a:prstGeom>
          <a:noFill/>
        </p:spPr>
        <p:txBody>
          <a:bodyPr vert="horz" wrap="square" lIns="0" tIns="0" rIns="0" bIns="0" rtlCol="0">
            <a:noAutofit/>
          </a:bodyPr>
          <a:lstStyle/>
          <a:p>
            <a:r>
              <a:rPr lang="fr-FR" sz="1300">
                <a:solidFill>
                  <a:srgbClr val="AEB9E3"/>
                </a:solidFill>
                <a:latin typeface="Calibri" panose="020F0502020204030204" pitchFamily="34" charset="0"/>
              </a:rPr>
              <a:t>Propriétaire : Service informatique (DSI)  ·  Classification : Interne  ·  Statut : diffusé pour validation</a:t>
            </a:r>
          </a:p>
        </p:txBody>
      </p:sp>
    </p:spTree>
    <p:extLst>
      <p:ext uri="{BB962C8B-B14F-4D97-AF65-F5344CB8AC3E}">
        <p14:creationId xmlns:p14="http://schemas.microsoft.com/office/powerpoint/2010/main" val="14332392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70D2848-3AA8-5C27-EC3A-72EA4FDD37D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Contrôle du document</a:t>
            </a:r>
          </a:p>
        </p:txBody>
      </p:sp>
      <p:sp>
        <p:nvSpPr>
          <p:cNvPr id="3" name="ZoneTexte 2">
            <a:extLst>
              <a:ext uri="{FF2B5EF4-FFF2-40B4-BE49-F238E27FC236}">
                <a16:creationId xmlns:a16="http://schemas.microsoft.com/office/drawing/2014/main" id="{B69A5725-A8CC-FD38-56AB-BC24C0CC8797}"/>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7A4B0149-8943-0255-859F-E8695C7BDB2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Référence, version, propriétaire et circuit de validation</a:t>
            </a:r>
          </a:p>
        </p:txBody>
      </p:sp>
      <p:sp>
        <p:nvSpPr>
          <p:cNvPr id="5" name="ZoneTexte 4">
            <a:extLst>
              <a:ext uri="{FF2B5EF4-FFF2-40B4-BE49-F238E27FC236}">
                <a16:creationId xmlns:a16="http://schemas.microsoft.com/office/drawing/2014/main" id="{73B5A275-92AD-C9BE-64BC-7E1E80A1242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BC09C47B-A553-B179-F9C9-357D9979B1D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11DDB739-583E-4018-9AA7-C63D145E32A5}" type="slidenum">
              <a:rPr lang="fr-FR" sz="900" smtClean="0">
                <a:solidFill>
                  <a:srgbClr val="586080"/>
                </a:solidFill>
                <a:latin typeface="Calibri" panose="020F0502020204030204" pitchFamily="34" charset="0"/>
              </a:rPr>
              <a:t>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6FDD265-ED1E-9C3C-9F18-6982AFC3F1D5}"/>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FB91A236-04B6-BC0E-1764-C64DD9D25E0F}"/>
              </a:ext>
            </a:extLst>
          </p:cNvPr>
          <p:cNvSpPr txBox="1"/>
          <p:nvPr/>
        </p:nvSpPr>
        <p:spPr>
          <a:xfrm>
            <a:off x="863600" y="17780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Informations générales</a:t>
            </a:r>
          </a:p>
        </p:txBody>
      </p:sp>
      <p:graphicFrame>
        <p:nvGraphicFramePr>
          <p:cNvPr id="9" name="Tableau 8">
            <a:extLst>
              <a:ext uri="{FF2B5EF4-FFF2-40B4-BE49-F238E27FC236}">
                <a16:creationId xmlns:a16="http://schemas.microsoft.com/office/drawing/2014/main" id="{104A614F-D9FD-4EB3-EADC-7F756D15DB2A}"/>
              </a:ext>
            </a:extLst>
          </p:cNvPr>
          <p:cNvGraphicFramePr>
            <a:graphicFrameLocks noGrp="1"/>
          </p:cNvGraphicFramePr>
          <p:nvPr>
            <p:extLst>
              <p:ext uri="{D42A27DB-BD31-4B8C-83A1-F6EECF244321}">
                <p14:modId xmlns:p14="http://schemas.microsoft.com/office/powerpoint/2010/main" val="3834682291"/>
              </p:ext>
            </p:extLst>
          </p:nvPr>
        </p:nvGraphicFramePr>
        <p:xfrm>
          <a:off x="787400" y="2159000"/>
          <a:ext cx="4978400" cy="3657600"/>
        </p:xfrm>
        <a:graphic>
          <a:graphicData uri="http://schemas.openxmlformats.org/drawingml/2006/table">
            <a:tbl>
              <a:tblPr firstRow="1" bandRow="1">
                <a:tableStyleId>{2D5ABB26-0587-4C30-8999-92F81FD0307C}</a:tableStyleId>
              </a:tblPr>
              <a:tblGrid>
                <a:gridCol w="1524000">
                  <a:extLst>
                    <a:ext uri="{9D8B030D-6E8A-4147-A177-3AD203B41FA5}">
                      <a16:colId xmlns:a16="http://schemas.microsoft.com/office/drawing/2014/main" val="3209291595"/>
                    </a:ext>
                  </a:extLst>
                </a:gridCol>
                <a:gridCol w="3454400">
                  <a:extLst>
                    <a:ext uri="{9D8B030D-6E8A-4147-A177-3AD203B41FA5}">
                      <a16:colId xmlns:a16="http://schemas.microsoft.com/office/drawing/2014/main" val="2799363930"/>
                    </a:ext>
                  </a:extLst>
                </a:gridCol>
              </a:tblGrid>
              <a:tr h="457200">
                <a:tc>
                  <a:txBody>
                    <a:bodyPr/>
                    <a:lstStyle/>
                    <a:p>
                      <a:pPr algn="l"/>
                      <a:r>
                        <a:rPr lang="fr-FR" sz="1200" b="1">
                          <a:solidFill>
                            <a:srgbClr val="FFFFFF"/>
                          </a:solidFill>
                          <a:latin typeface="Calibri" panose="020F0502020204030204" pitchFamily="34" charset="0"/>
                        </a:rPr>
                        <a:t>Rubrique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Valeur</a:t>
                      </a:r>
                    </a:p>
                  </a:txBody>
                  <a:tcPr marL="127000" marR="127000" marT="38100" marB="38100" anchor="ctr">
                    <a:solidFill>
                      <a:srgbClr val="1E1C8C"/>
                    </a:solidFill>
                  </a:tcPr>
                </a:tc>
                <a:extLst>
                  <a:ext uri="{0D108BD9-81ED-4DB2-BD59-A6C34878D82A}">
                    <a16:rowId xmlns:a16="http://schemas.microsoft.com/office/drawing/2014/main" val="1999736430"/>
                  </a:ext>
                </a:extLst>
              </a:tr>
              <a:tr h="457200">
                <a:tc>
                  <a:txBody>
                    <a:bodyPr/>
                    <a:lstStyle/>
                    <a:p>
                      <a:pPr algn="l"/>
                      <a:r>
                        <a:rPr lang="fr-FR" sz="1200" b="1">
                          <a:solidFill>
                            <a:srgbClr val="12162B"/>
                          </a:solidFill>
                          <a:latin typeface="Calibri" panose="020F0502020204030204" pitchFamily="34" charset="0"/>
                        </a:rPr>
                        <a:t>Référence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DOC-GPIEXALT-001</a:t>
                      </a:r>
                    </a:p>
                  </a:txBody>
                  <a:tcPr marL="127000" marR="127000" marT="38100" marB="38100" anchor="ctr">
                    <a:solidFill>
                      <a:srgbClr val="FFFFFF"/>
                    </a:solidFill>
                  </a:tcPr>
                </a:tc>
                <a:extLst>
                  <a:ext uri="{0D108BD9-81ED-4DB2-BD59-A6C34878D82A}">
                    <a16:rowId xmlns:a16="http://schemas.microsoft.com/office/drawing/2014/main" val="3814712922"/>
                  </a:ext>
                </a:extLst>
              </a:tr>
              <a:tr h="457200">
                <a:tc>
                  <a:txBody>
                    <a:bodyPr/>
                    <a:lstStyle/>
                    <a:p>
                      <a:pPr algn="l"/>
                      <a:r>
                        <a:rPr lang="fr-FR" sz="1200" b="1">
                          <a:solidFill>
                            <a:srgbClr val="12162B"/>
                          </a:solidFill>
                          <a:latin typeface="Calibri" panose="020F0502020204030204" pitchFamily="34" charset="0"/>
                        </a:rPr>
                        <a:t>Version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7.0 — 12/10/2026</a:t>
                      </a:r>
                    </a:p>
                  </a:txBody>
                  <a:tcPr marL="127000" marR="127000" marT="38100" marB="38100" anchor="ctr">
                    <a:solidFill>
                      <a:srgbClr val="F0F2FA"/>
                    </a:solidFill>
                  </a:tcPr>
                </a:tc>
                <a:extLst>
                  <a:ext uri="{0D108BD9-81ED-4DB2-BD59-A6C34878D82A}">
                    <a16:rowId xmlns:a16="http://schemas.microsoft.com/office/drawing/2014/main" val="3542893436"/>
                  </a:ext>
                </a:extLst>
              </a:tr>
              <a:tr h="457200">
                <a:tc>
                  <a:txBody>
                    <a:bodyPr/>
                    <a:lstStyle/>
                    <a:p>
                      <a:pPr algn="l"/>
                      <a:r>
                        <a:rPr lang="fr-FR" sz="1200" b="1">
                          <a:solidFill>
                            <a:srgbClr val="12162B"/>
                          </a:solidFill>
                          <a:latin typeface="Calibri" panose="020F0502020204030204" pitchFamily="34" charset="0"/>
                        </a:rPr>
                        <a:t>Application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GPIEXALT, version 167</a:t>
                      </a:r>
                    </a:p>
                  </a:txBody>
                  <a:tcPr marL="127000" marR="127000" marT="38100" marB="38100" anchor="ctr">
                    <a:solidFill>
                      <a:srgbClr val="FFFFFF"/>
                    </a:solidFill>
                  </a:tcPr>
                </a:tc>
                <a:extLst>
                  <a:ext uri="{0D108BD9-81ED-4DB2-BD59-A6C34878D82A}">
                    <a16:rowId xmlns:a16="http://schemas.microsoft.com/office/drawing/2014/main" val="4225877063"/>
                  </a:ext>
                </a:extLst>
              </a:tr>
              <a:tr h="457200">
                <a:tc>
                  <a:txBody>
                    <a:bodyPr/>
                    <a:lstStyle/>
                    <a:p>
                      <a:pPr algn="l"/>
                      <a:r>
                        <a:rPr lang="fr-FR" sz="1200" b="1">
                          <a:solidFill>
                            <a:srgbClr val="12162B"/>
                          </a:solidFill>
                          <a:latin typeface="Calibri" panose="020F0502020204030204" pitchFamily="34" charset="0"/>
                        </a:rPr>
                        <a:t>Propriétaire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Service informatique (DSI)</a:t>
                      </a:r>
                    </a:p>
                  </a:txBody>
                  <a:tcPr marL="127000" marR="127000" marT="38100" marB="38100" anchor="ctr">
                    <a:solidFill>
                      <a:srgbClr val="F0F2FA"/>
                    </a:solidFill>
                  </a:tcPr>
                </a:tc>
                <a:extLst>
                  <a:ext uri="{0D108BD9-81ED-4DB2-BD59-A6C34878D82A}">
                    <a16:rowId xmlns:a16="http://schemas.microsoft.com/office/drawing/2014/main" val="1980735008"/>
                  </a:ext>
                </a:extLst>
              </a:tr>
              <a:tr h="457200">
                <a:tc>
                  <a:txBody>
                    <a:bodyPr/>
                    <a:lstStyle/>
                    <a:p>
                      <a:pPr algn="l"/>
                      <a:r>
                        <a:rPr lang="fr-FR" sz="1200" b="1">
                          <a:solidFill>
                            <a:srgbClr val="12162B"/>
                          </a:solidFill>
                          <a:latin typeface="Calibri" panose="020F0502020204030204" pitchFamily="34" charset="0"/>
                        </a:rPr>
                        <a:t>Classification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Interne</a:t>
                      </a:r>
                    </a:p>
                  </a:txBody>
                  <a:tcPr marL="127000" marR="127000" marT="38100" marB="38100" anchor="ctr">
                    <a:solidFill>
                      <a:srgbClr val="FFFFFF"/>
                    </a:solidFill>
                  </a:tcPr>
                </a:tc>
                <a:extLst>
                  <a:ext uri="{0D108BD9-81ED-4DB2-BD59-A6C34878D82A}">
                    <a16:rowId xmlns:a16="http://schemas.microsoft.com/office/drawing/2014/main" val="2596067812"/>
                  </a:ext>
                </a:extLst>
              </a:tr>
              <a:tr h="457200">
                <a:tc>
                  <a:txBody>
                    <a:bodyPr/>
                    <a:lstStyle/>
                    <a:p>
                      <a:pPr algn="l"/>
                      <a:r>
                        <a:rPr lang="fr-FR" sz="1200" b="1">
                          <a:solidFill>
                            <a:srgbClr val="12162B"/>
                          </a:solidFill>
                          <a:latin typeface="Calibri" panose="020F0502020204030204" pitchFamily="34" charset="0"/>
                        </a:rPr>
                        <a:t>Statut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Diffusé pour validation</a:t>
                      </a:r>
                    </a:p>
                  </a:txBody>
                  <a:tcPr marL="127000" marR="127000" marT="38100" marB="38100" anchor="ctr">
                    <a:solidFill>
                      <a:srgbClr val="F0F2FA"/>
                    </a:solidFill>
                  </a:tcPr>
                </a:tc>
                <a:extLst>
                  <a:ext uri="{0D108BD9-81ED-4DB2-BD59-A6C34878D82A}">
                    <a16:rowId xmlns:a16="http://schemas.microsoft.com/office/drawing/2014/main" val="1566317971"/>
                  </a:ext>
                </a:extLst>
              </a:tr>
              <a:tr h="457200">
                <a:tc>
                  <a:txBody>
                    <a:bodyPr/>
                    <a:lstStyle/>
                    <a:p>
                      <a:pPr algn="l"/>
                      <a:r>
                        <a:rPr lang="fr-FR" sz="1200" b="1">
                          <a:solidFill>
                            <a:srgbClr val="12162B"/>
                          </a:solidFill>
                          <a:latin typeface="Calibri" panose="020F0502020204030204" pitchFamily="34" charset="0"/>
                        </a:rPr>
                        <a:t>Diffusion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Équipe IT, DSI ; RSSI et DPO (sécurité, données)</a:t>
                      </a:r>
                    </a:p>
                  </a:txBody>
                  <a:tcPr marL="127000" marR="127000" marT="38100" marB="38100" anchor="ctr">
                    <a:solidFill>
                      <a:srgbClr val="FFFFFF"/>
                    </a:solidFill>
                  </a:tcPr>
                </a:tc>
                <a:extLst>
                  <a:ext uri="{0D108BD9-81ED-4DB2-BD59-A6C34878D82A}">
                    <a16:rowId xmlns:a16="http://schemas.microsoft.com/office/drawing/2014/main" val="369743531"/>
                  </a:ext>
                </a:extLst>
              </a:tr>
            </a:tbl>
          </a:graphicData>
        </a:graphic>
      </p:graphicFrame>
      <p:sp>
        <p:nvSpPr>
          <p:cNvPr id="10" name="Rectangle : coins arrondis 9">
            <a:extLst>
              <a:ext uri="{FF2B5EF4-FFF2-40B4-BE49-F238E27FC236}">
                <a16:creationId xmlns:a16="http://schemas.microsoft.com/office/drawing/2014/main" id="{B3240987-992E-77B6-F649-E99DC953483B}"/>
              </a:ext>
            </a:extLst>
          </p:cNvPr>
          <p:cNvSpPr/>
          <p:nvPr/>
        </p:nvSpPr>
        <p:spPr>
          <a:xfrm>
            <a:off x="6248400" y="1600200"/>
            <a:ext cx="5334000" cy="2717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A35F767F-452C-4B00-691E-1E4AC6AAF456}"/>
              </a:ext>
            </a:extLst>
          </p:cNvPr>
          <p:cNvSpPr txBox="1"/>
          <p:nvPr/>
        </p:nvSpPr>
        <p:spPr>
          <a:xfrm>
            <a:off x="6502400" y="1752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Historique des révisions</a:t>
            </a:r>
          </a:p>
        </p:txBody>
      </p:sp>
      <p:graphicFrame>
        <p:nvGraphicFramePr>
          <p:cNvPr id="12" name="Tableau 11">
            <a:extLst>
              <a:ext uri="{FF2B5EF4-FFF2-40B4-BE49-F238E27FC236}">
                <a16:creationId xmlns:a16="http://schemas.microsoft.com/office/drawing/2014/main" id="{DD787630-5641-35B6-2975-D1755D04DB07}"/>
              </a:ext>
            </a:extLst>
          </p:cNvPr>
          <p:cNvGraphicFramePr>
            <a:graphicFrameLocks noGrp="1"/>
          </p:cNvGraphicFramePr>
          <p:nvPr>
            <p:extLst>
              <p:ext uri="{D42A27DB-BD31-4B8C-83A1-F6EECF244321}">
                <p14:modId xmlns:p14="http://schemas.microsoft.com/office/powerpoint/2010/main" val="1252560469"/>
              </p:ext>
            </p:extLst>
          </p:nvPr>
        </p:nvGraphicFramePr>
        <p:xfrm>
          <a:off x="6426200" y="2133600"/>
          <a:ext cx="4978400" cy="2133600"/>
        </p:xfrm>
        <a:graphic>
          <a:graphicData uri="http://schemas.openxmlformats.org/drawingml/2006/table">
            <a:tbl>
              <a:tblPr firstRow="1" bandRow="1">
                <a:tableStyleId>{2D5ABB26-0587-4C30-8999-92F81FD0307C}</a:tableStyleId>
              </a:tblPr>
              <a:tblGrid>
                <a:gridCol w="711200">
                  <a:extLst>
                    <a:ext uri="{9D8B030D-6E8A-4147-A177-3AD203B41FA5}">
                      <a16:colId xmlns:a16="http://schemas.microsoft.com/office/drawing/2014/main" val="535268875"/>
                    </a:ext>
                  </a:extLst>
                </a:gridCol>
                <a:gridCol w="1041400">
                  <a:extLst>
                    <a:ext uri="{9D8B030D-6E8A-4147-A177-3AD203B41FA5}">
                      <a16:colId xmlns:a16="http://schemas.microsoft.com/office/drawing/2014/main" val="1847748171"/>
                    </a:ext>
                  </a:extLst>
                </a:gridCol>
                <a:gridCol w="3225800">
                  <a:extLst>
                    <a:ext uri="{9D8B030D-6E8A-4147-A177-3AD203B41FA5}">
                      <a16:colId xmlns:a16="http://schemas.microsoft.com/office/drawing/2014/main" val="1528299654"/>
                    </a:ext>
                  </a:extLst>
                </a:gridCol>
              </a:tblGrid>
              <a:tr h="266700">
                <a:tc>
                  <a:txBody>
                    <a:bodyPr/>
                    <a:lstStyle/>
                    <a:p>
                      <a:pPr algn="l"/>
                      <a:r>
                        <a:rPr lang="fr-FR" sz="1000" b="1">
                          <a:solidFill>
                            <a:srgbClr val="FFFFFF"/>
                          </a:solidFill>
                          <a:latin typeface="Calibri" panose="020F0502020204030204" pitchFamily="34" charset="0"/>
                        </a:rPr>
                        <a:t>Version</a:t>
                      </a:r>
                    </a:p>
                  </a:txBody>
                  <a:tcPr marL="127000" marR="127000" marT="38100" marB="38100" anchor="ctr">
                    <a:solidFill>
                      <a:srgbClr val="1E1C8C"/>
                    </a:solidFill>
                  </a:tcPr>
                </a:tc>
                <a:tc>
                  <a:txBody>
                    <a:bodyPr/>
                    <a:lstStyle/>
                    <a:p>
                      <a:pPr algn="l"/>
                      <a:r>
                        <a:rPr lang="fr-FR" sz="1000" b="1">
                          <a:solidFill>
                            <a:srgbClr val="FFFFFF"/>
                          </a:solidFill>
                          <a:latin typeface="Calibri" panose="020F0502020204030204" pitchFamily="34" charset="0"/>
                        </a:rPr>
                        <a:t>Date</a:t>
                      </a:r>
                    </a:p>
                  </a:txBody>
                  <a:tcPr marL="127000" marR="127000" marT="38100" marB="38100" anchor="ctr">
                    <a:solidFill>
                      <a:srgbClr val="1E1C8C"/>
                    </a:solidFill>
                  </a:tcPr>
                </a:tc>
                <a:tc>
                  <a:txBody>
                    <a:bodyPr/>
                    <a:lstStyle/>
                    <a:p>
                      <a:pPr algn="l"/>
                      <a:r>
                        <a:rPr lang="fr-FR" sz="1000" b="1">
                          <a:solidFill>
                            <a:srgbClr val="FFFFFF"/>
                          </a:solidFill>
                          <a:latin typeface="Calibri" panose="020F0502020204030204" pitchFamily="34" charset="0"/>
                        </a:rPr>
                        <a:t>Nature</a:t>
                      </a:r>
                    </a:p>
                  </a:txBody>
                  <a:tcPr marL="127000" marR="127000" marT="38100" marB="38100" anchor="ctr">
                    <a:solidFill>
                      <a:srgbClr val="1E1C8C"/>
                    </a:solidFill>
                  </a:tcPr>
                </a:tc>
                <a:extLst>
                  <a:ext uri="{0D108BD9-81ED-4DB2-BD59-A6C34878D82A}">
                    <a16:rowId xmlns:a16="http://schemas.microsoft.com/office/drawing/2014/main" val="3039728877"/>
                  </a:ext>
                </a:extLst>
              </a:tr>
              <a:tr h="266700">
                <a:tc>
                  <a:txBody>
                    <a:bodyPr/>
                    <a:lstStyle/>
                    <a:p>
                      <a:pPr algn="l"/>
                      <a:r>
                        <a:rPr lang="fr-FR" sz="1000" b="1">
                          <a:solidFill>
                            <a:srgbClr val="12162B"/>
                          </a:solidFill>
                          <a:latin typeface="Calibri" panose="020F0502020204030204" pitchFamily="34" charset="0"/>
                        </a:rPr>
                        <a:t>1.0</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05/10/2026</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Première édition</a:t>
                      </a:r>
                    </a:p>
                  </a:txBody>
                  <a:tcPr marL="127000" marR="127000" marT="38100" marB="38100" anchor="ctr">
                    <a:solidFill>
                      <a:srgbClr val="FFFFFF"/>
                    </a:solidFill>
                  </a:tcPr>
                </a:tc>
                <a:extLst>
                  <a:ext uri="{0D108BD9-81ED-4DB2-BD59-A6C34878D82A}">
                    <a16:rowId xmlns:a16="http://schemas.microsoft.com/office/drawing/2014/main" val="3193339970"/>
                  </a:ext>
                </a:extLst>
              </a:tr>
              <a:tr h="266700">
                <a:tc>
                  <a:txBody>
                    <a:bodyPr/>
                    <a:lstStyle/>
                    <a:p>
                      <a:pPr algn="l"/>
                      <a:r>
                        <a:rPr lang="fr-FR" sz="1000" b="1">
                          <a:solidFill>
                            <a:srgbClr val="12162B"/>
                          </a:solidFill>
                          <a:latin typeface="Calibri" panose="020F0502020204030204" pitchFamily="34" charset="0"/>
                        </a:rPr>
                        <a:t>2.0</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05/10/2026</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Édition entreprise</a:t>
                      </a:r>
                    </a:p>
                  </a:txBody>
                  <a:tcPr marL="127000" marR="127000" marT="38100" marB="38100" anchor="ctr">
                    <a:solidFill>
                      <a:srgbClr val="F0F2FA"/>
                    </a:solidFill>
                  </a:tcPr>
                </a:tc>
                <a:extLst>
                  <a:ext uri="{0D108BD9-81ED-4DB2-BD59-A6C34878D82A}">
                    <a16:rowId xmlns:a16="http://schemas.microsoft.com/office/drawing/2014/main" val="4165448451"/>
                  </a:ext>
                </a:extLst>
              </a:tr>
              <a:tr h="266700">
                <a:tc>
                  <a:txBody>
                    <a:bodyPr/>
                    <a:lstStyle/>
                    <a:p>
                      <a:pPr algn="l"/>
                      <a:r>
                        <a:rPr lang="fr-FR" sz="1000" b="1">
                          <a:solidFill>
                            <a:srgbClr val="12162B"/>
                          </a:solidFill>
                          <a:latin typeface="Calibri" panose="020F0502020204030204" pitchFamily="34" charset="0"/>
                        </a:rPr>
                        <a:t>3.0</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06/10/2026</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App 106 : accueil, QR, signature</a:t>
                      </a:r>
                    </a:p>
                  </a:txBody>
                  <a:tcPr marL="127000" marR="127000" marT="38100" marB="38100" anchor="ctr">
                    <a:solidFill>
                      <a:srgbClr val="FFFFFF"/>
                    </a:solidFill>
                  </a:tcPr>
                </a:tc>
                <a:extLst>
                  <a:ext uri="{0D108BD9-81ED-4DB2-BD59-A6C34878D82A}">
                    <a16:rowId xmlns:a16="http://schemas.microsoft.com/office/drawing/2014/main" val="2975885531"/>
                  </a:ext>
                </a:extLst>
              </a:tr>
              <a:tr h="266700">
                <a:tc>
                  <a:txBody>
                    <a:bodyPr/>
                    <a:lstStyle/>
                    <a:p>
                      <a:pPr algn="l"/>
                      <a:r>
                        <a:rPr lang="fr-FR" sz="1000" b="1">
                          <a:solidFill>
                            <a:srgbClr val="12162B"/>
                          </a:solidFill>
                          <a:latin typeface="Calibri" panose="020F0502020204030204" pitchFamily="34" charset="0"/>
                        </a:rPr>
                        <a:t>4.0</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07/10/2026</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App 128 : rôles, rapports, recherche</a:t>
                      </a:r>
                    </a:p>
                  </a:txBody>
                  <a:tcPr marL="127000" marR="127000" marT="38100" marB="38100" anchor="ctr">
                    <a:solidFill>
                      <a:srgbClr val="F0F2FA"/>
                    </a:solidFill>
                  </a:tcPr>
                </a:tc>
                <a:extLst>
                  <a:ext uri="{0D108BD9-81ED-4DB2-BD59-A6C34878D82A}">
                    <a16:rowId xmlns:a16="http://schemas.microsoft.com/office/drawing/2014/main" val="1076916839"/>
                  </a:ext>
                </a:extLst>
              </a:tr>
              <a:tr h="266700">
                <a:tc>
                  <a:txBody>
                    <a:bodyPr/>
                    <a:lstStyle/>
                    <a:p>
                      <a:pPr algn="l"/>
                      <a:r>
                        <a:rPr lang="fr-FR" sz="1000" b="1">
                          <a:solidFill>
                            <a:srgbClr val="12162B"/>
                          </a:solidFill>
                          <a:latin typeface="Calibri" panose="020F0502020204030204" pitchFamily="34" charset="0"/>
                        </a:rPr>
                        <a:t>5.0</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08/10/2026</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App 147 : annuaire, envoi signé</a:t>
                      </a:r>
                    </a:p>
                  </a:txBody>
                  <a:tcPr marL="127000" marR="127000" marT="38100" marB="38100" anchor="ctr">
                    <a:solidFill>
                      <a:srgbClr val="FFFFFF"/>
                    </a:solidFill>
                  </a:tcPr>
                </a:tc>
                <a:extLst>
                  <a:ext uri="{0D108BD9-81ED-4DB2-BD59-A6C34878D82A}">
                    <a16:rowId xmlns:a16="http://schemas.microsoft.com/office/drawing/2014/main" val="3761095342"/>
                  </a:ext>
                </a:extLst>
              </a:tr>
              <a:tr h="266700">
                <a:tc>
                  <a:txBody>
                    <a:bodyPr/>
                    <a:lstStyle/>
                    <a:p>
                      <a:pPr algn="l"/>
                      <a:r>
                        <a:rPr lang="fr-FR" sz="1000" b="1">
                          <a:solidFill>
                            <a:srgbClr val="12162B"/>
                          </a:solidFill>
                          <a:latin typeface="Calibri" panose="020F0502020204030204" pitchFamily="34" charset="0"/>
                        </a:rPr>
                        <a:t>6.0</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09/10/2026</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App 161 : GPIEXALT, retards, rapport</a:t>
                      </a:r>
                    </a:p>
                  </a:txBody>
                  <a:tcPr marL="127000" marR="127000" marT="38100" marB="38100" anchor="ctr">
                    <a:solidFill>
                      <a:srgbClr val="F0F2FA"/>
                    </a:solidFill>
                  </a:tcPr>
                </a:tc>
                <a:extLst>
                  <a:ext uri="{0D108BD9-81ED-4DB2-BD59-A6C34878D82A}">
                    <a16:rowId xmlns:a16="http://schemas.microsoft.com/office/drawing/2014/main" val="1113397070"/>
                  </a:ext>
                </a:extLst>
              </a:tr>
              <a:tr h="266700">
                <a:tc>
                  <a:txBody>
                    <a:bodyPr/>
                    <a:lstStyle/>
                    <a:p>
                      <a:pPr algn="l"/>
                      <a:r>
                        <a:rPr lang="fr-FR" sz="1000" b="1">
                          <a:solidFill>
                            <a:srgbClr val="12162B"/>
                          </a:solidFill>
                          <a:latin typeface="Calibri" panose="020F0502020204030204" pitchFamily="34" charset="0"/>
                        </a:rPr>
                        <a:t>7.0</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12/10/2026</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App 167 : rapport par page</a:t>
                      </a:r>
                    </a:p>
                  </a:txBody>
                  <a:tcPr marL="127000" marR="127000" marT="38100" marB="38100" anchor="ctr">
                    <a:solidFill>
                      <a:srgbClr val="FFFFFF"/>
                    </a:solidFill>
                  </a:tcPr>
                </a:tc>
                <a:extLst>
                  <a:ext uri="{0D108BD9-81ED-4DB2-BD59-A6C34878D82A}">
                    <a16:rowId xmlns:a16="http://schemas.microsoft.com/office/drawing/2014/main" val="2070354500"/>
                  </a:ext>
                </a:extLst>
              </a:tr>
            </a:tbl>
          </a:graphicData>
        </a:graphic>
      </p:graphicFrame>
      <p:sp>
        <p:nvSpPr>
          <p:cNvPr id="13" name="Rectangle : coins arrondis 12">
            <a:extLst>
              <a:ext uri="{FF2B5EF4-FFF2-40B4-BE49-F238E27FC236}">
                <a16:creationId xmlns:a16="http://schemas.microsoft.com/office/drawing/2014/main" id="{497967CA-D667-6BAE-6B39-878E4DC54327}"/>
              </a:ext>
            </a:extLst>
          </p:cNvPr>
          <p:cNvSpPr/>
          <p:nvPr/>
        </p:nvSpPr>
        <p:spPr>
          <a:xfrm>
            <a:off x="6248400" y="4495800"/>
            <a:ext cx="5334000" cy="1752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C7ED9715-1E6C-81FA-18FD-CAA6FE53EE49}"/>
              </a:ext>
            </a:extLst>
          </p:cNvPr>
          <p:cNvSpPr txBox="1"/>
          <p:nvPr/>
        </p:nvSpPr>
        <p:spPr>
          <a:xfrm>
            <a:off x="6502400" y="46228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Circuit de validation</a:t>
            </a:r>
          </a:p>
        </p:txBody>
      </p:sp>
      <p:graphicFrame>
        <p:nvGraphicFramePr>
          <p:cNvPr id="15" name="Tableau 14">
            <a:extLst>
              <a:ext uri="{FF2B5EF4-FFF2-40B4-BE49-F238E27FC236}">
                <a16:creationId xmlns:a16="http://schemas.microsoft.com/office/drawing/2014/main" id="{F06F71C5-681B-79E4-7B77-D0354F21988E}"/>
              </a:ext>
            </a:extLst>
          </p:cNvPr>
          <p:cNvGraphicFramePr>
            <a:graphicFrameLocks noGrp="1"/>
          </p:cNvGraphicFramePr>
          <p:nvPr>
            <p:extLst>
              <p:ext uri="{D42A27DB-BD31-4B8C-83A1-F6EECF244321}">
                <p14:modId xmlns:p14="http://schemas.microsoft.com/office/powerpoint/2010/main" val="1133878857"/>
              </p:ext>
            </p:extLst>
          </p:nvPr>
        </p:nvGraphicFramePr>
        <p:xfrm>
          <a:off x="6426200" y="4978400"/>
          <a:ext cx="4978400" cy="1219200"/>
        </p:xfrm>
        <a:graphic>
          <a:graphicData uri="http://schemas.openxmlformats.org/drawingml/2006/table">
            <a:tbl>
              <a:tblPr firstRow="1" bandRow="1">
                <a:tableStyleId>{2D5ABB26-0587-4C30-8999-92F81FD0307C}</a:tableStyleId>
              </a:tblPr>
              <a:tblGrid>
                <a:gridCol w="1270000">
                  <a:extLst>
                    <a:ext uri="{9D8B030D-6E8A-4147-A177-3AD203B41FA5}">
                      <a16:colId xmlns:a16="http://schemas.microsoft.com/office/drawing/2014/main" val="2333636838"/>
                    </a:ext>
                  </a:extLst>
                </a:gridCol>
                <a:gridCol w="2413000">
                  <a:extLst>
                    <a:ext uri="{9D8B030D-6E8A-4147-A177-3AD203B41FA5}">
                      <a16:colId xmlns:a16="http://schemas.microsoft.com/office/drawing/2014/main" val="2382391147"/>
                    </a:ext>
                  </a:extLst>
                </a:gridCol>
                <a:gridCol w="1295400">
                  <a:extLst>
                    <a:ext uri="{9D8B030D-6E8A-4147-A177-3AD203B41FA5}">
                      <a16:colId xmlns:a16="http://schemas.microsoft.com/office/drawing/2014/main" val="1320663866"/>
                    </a:ext>
                  </a:extLst>
                </a:gridCol>
              </a:tblGrid>
              <a:tr h="304800">
                <a:tc>
                  <a:txBody>
                    <a:bodyPr/>
                    <a:lstStyle/>
                    <a:p>
                      <a:pPr algn="l"/>
                      <a:r>
                        <a:rPr lang="fr-FR" sz="1200" b="1">
                          <a:solidFill>
                            <a:srgbClr val="FFFFFF"/>
                          </a:solidFill>
                          <a:latin typeface="Calibri" panose="020F0502020204030204" pitchFamily="34" charset="0"/>
                        </a:rPr>
                        <a:t>Étape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Nom et fonction</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Date</a:t>
                      </a:r>
                    </a:p>
                  </a:txBody>
                  <a:tcPr marL="127000" marR="127000" marT="38100" marB="38100" anchor="ctr">
                    <a:solidFill>
                      <a:srgbClr val="1E1C8C"/>
                    </a:solidFill>
                  </a:tcPr>
                </a:tc>
                <a:extLst>
                  <a:ext uri="{0D108BD9-81ED-4DB2-BD59-A6C34878D82A}">
                    <a16:rowId xmlns:a16="http://schemas.microsoft.com/office/drawing/2014/main" val="1654439872"/>
                  </a:ext>
                </a:extLst>
              </a:tr>
              <a:tr h="304800">
                <a:tc>
                  <a:txBody>
                    <a:bodyPr/>
                    <a:lstStyle/>
                    <a:p>
                      <a:pPr algn="l"/>
                      <a:r>
                        <a:rPr lang="fr-FR" sz="1200" b="1">
                          <a:solidFill>
                            <a:srgbClr val="12162B"/>
                          </a:solidFill>
                          <a:latin typeface="Calibri" panose="020F0502020204030204" pitchFamily="34" charset="0"/>
                        </a:rPr>
                        <a:t>Rédaction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Service informatique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12/10/2026</a:t>
                      </a:r>
                    </a:p>
                  </a:txBody>
                  <a:tcPr marL="127000" marR="127000" marT="38100" marB="38100" anchor="ctr">
                    <a:solidFill>
                      <a:srgbClr val="FFFFFF"/>
                    </a:solidFill>
                  </a:tcPr>
                </a:tc>
                <a:extLst>
                  <a:ext uri="{0D108BD9-81ED-4DB2-BD59-A6C34878D82A}">
                    <a16:rowId xmlns:a16="http://schemas.microsoft.com/office/drawing/2014/main" val="1238097697"/>
                  </a:ext>
                </a:extLst>
              </a:tr>
              <a:tr h="304800">
                <a:tc>
                  <a:txBody>
                    <a:bodyPr/>
                    <a:lstStyle/>
                    <a:p>
                      <a:pPr algn="l"/>
                      <a:r>
                        <a:rPr lang="fr-FR" sz="1200" b="1">
                          <a:solidFill>
                            <a:srgbClr val="12162B"/>
                          </a:solidFill>
                          <a:latin typeface="Calibri" panose="020F0502020204030204" pitchFamily="34" charset="0"/>
                        </a:rPr>
                        <a:t>Vérification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À renseigner</a:t>
                      </a:r>
                    </a:p>
                  </a:txBody>
                  <a:tcPr marL="127000" marR="127000" marT="38100" marB="38100" anchor="ctr">
                    <a:solidFill>
                      <a:srgbClr val="F0F2FA"/>
                    </a:solidFill>
                  </a:tcPr>
                </a:tc>
                <a:tc>
                  <a:txBody>
                    <a:bodyPr/>
                    <a:lstStyle/>
                    <a:p>
                      <a:pPr algn="l"/>
                      <a:endParaRPr lang="fr-FR" sz="1200" b="0">
                        <a:solidFill>
                          <a:srgbClr val="12162B"/>
                        </a:solidFill>
                        <a:latin typeface="Calibri" panose="020F0502020204030204" pitchFamily="34" charset="0"/>
                      </a:endParaRPr>
                    </a:p>
                  </a:txBody>
                  <a:tcPr marL="127000" marR="127000" marT="38100" marB="38100" anchor="ctr">
                    <a:solidFill>
                      <a:srgbClr val="F0F2FA"/>
                    </a:solidFill>
                  </a:tcPr>
                </a:tc>
                <a:extLst>
                  <a:ext uri="{0D108BD9-81ED-4DB2-BD59-A6C34878D82A}">
                    <a16:rowId xmlns:a16="http://schemas.microsoft.com/office/drawing/2014/main" val="523912095"/>
                  </a:ext>
                </a:extLst>
              </a:tr>
              <a:tr h="304800">
                <a:tc>
                  <a:txBody>
                    <a:bodyPr/>
                    <a:lstStyle/>
                    <a:p>
                      <a:pPr algn="l"/>
                      <a:r>
                        <a:rPr lang="fr-FR" sz="1200" b="1">
                          <a:solidFill>
                            <a:srgbClr val="12162B"/>
                          </a:solidFill>
                          <a:latin typeface="Calibri" panose="020F0502020204030204" pitchFamily="34" charset="0"/>
                        </a:rPr>
                        <a:t>Approbation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À renseigner (DSI)</a:t>
                      </a:r>
                    </a:p>
                  </a:txBody>
                  <a:tcPr marL="127000" marR="127000" marT="38100" marB="38100" anchor="ctr">
                    <a:solidFill>
                      <a:srgbClr val="FFFFFF"/>
                    </a:solidFill>
                  </a:tcPr>
                </a:tc>
                <a:tc>
                  <a:txBody>
                    <a:bodyPr/>
                    <a:lstStyle/>
                    <a:p>
                      <a:pPr algn="l"/>
                      <a:endParaRPr lang="fr-FR" sz="1200" b="0">
                        <a:solidFill>
                          <a:srgbClr val="12162B"/>
                        </a:solidFill>
                        <a:latin typeface="Calibri" panose="020F0502020204030204" pitchFamily="34" charset="0"/>
                      </a:endParaRPr>
                    </a:p>
                  </a:txBody>
                  <a:tcPr marL="127000" marR="127000" marT="38100" marB="38100" anchor="ctr">
                    <a:solidFill>
                      <a:srgbClr val="FFFFFF"/>
                    </a:solidFill>
                  </a:tcPr>
                </a:tc>
                <a:extLst>
                  <a:ext uri="{0D108BD9-81ED-4DB2-BD59-A6C34878D82A}">
                    <a16:rowId xmlns:a16="http://schemas.microsoft.com/office/drawing/2014/main" val="659402058"/>
                  </a:ext>
                </a:extLst>
              </a:tr>
            </a:tbl>
          </a:graphicData>
        </a:graphic>
      </p:graphicFrame>
    </p:spTree>
    <p:extLst>
      <p:ext uri="{BB962C8B-B14F-4D97-AF65-F5344CB8AC3E}">
        <p14:creationId xmlns:p14="http://schemas.microsoft.com/office/powerpoint/2010/main" val="37305289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E459AB8-A531-E1CA-8723-FEACA33FB9C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Sommaire</a:t>
            </a:r>
          </a:p>
        </p:txBody>
      </p:sp>
      <p:sp>
        <p:nvSpPr>
          <p:cNvPr id="3" name="ZoneTexte 2">
            <a:extLst>
              <a:ext uri="{FF2B5EF4-FFF2-40B4-BE49-F238E27FC236}">
                <a16:creationId xmlns:a16="http://schemas.microsoft.com/office/drawing/2014/main" id="{B52979AB-7C11-3403-B483-FA8F6B0D146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F4619EB0-910E-7D10-7015-A3E8385D990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Sept parties, de la vue d'ensemble aux actions attendues</a:t>
            </a:r>
          </a:p>
        </p:txBody>
      </p:sp>
      <p:sp>
        <p:nvSpPr>
          <p:cNvPr id="5" name="ZoneTexte 4">
            <a:extLst>
              <a:ext uri="{FF2B5EF4-FFF2-40B4-BE49-F238E27FC236}">
                <a16:creationId xmlns:a16="http://schemas.microsoft.com/office/drawing/2014/main" id="{39E15F53-027F-7E4E-5939-9A3B8DFB8587}"/>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E3F87EDC-7722-1D13-D9DF-02B8387B8A75}"/>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6EA4A82-6965-42D4-8622-5ABF4EA94802}" type="slidenum">
              <a:rPr lang="fr-FR" sz="900" smtClean="0">
                <a:solidFill>
                  <a:srgbClr val="586080"/>
                </a:solidFill>
                <a:latin typeface="Calibri" panose="020F0502020204030204" pitchFamily="34" charset="0"/>
              </a:rPr>
              <a:t>3</a:t>
            </a:fld>
            <a:endParaRPr lang="fr-FR" sz="900">
              <a:solidFill>
                <a:srgbClr val="586080"/>
              </a:solidFill>
              <a:latin typeface="Calibri" panose="020F0502020204030204" pitchFamily="34" charset="0"/>
            </a:endParaRPr>
          </a:p>
        </p:txBody>
      </p:sp>
      <p:sp>
        <p:nvSpPr>
          <p:cNvPr id="7" name="ZoneTexte 6">
            <a:extLst>
              <a:ext uri="{FF2B5EF4-FFF2-40B4-BE49-F238E27FC236}">
                <a16:creationId xmlns:a16="http://schemas.microsoft.com/office/drawing/2014/main" id="{3083C32E-9FEF-83CE-1309-6BCA91B8EB6A}"/>
              </a:ext>
            </a:extLst>
          </p:cNvPr>
          <p:cNvSpPr txBox="1"/>
          <p:nvPr/>
        </p:nvSpPr>
        <p:spPr>
          <a:xfrm>
            <a:off x="609600" y="16510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01</a:t>
            </a:r>
          </a:p>
        </p:txBody>
      </p:sp>
      <p:sp>
        <p:nvSpPr>
          <p:cNvPr id="8" name="ZoneTexte 7">
            <a:extLst>
              <a:ext uri="{FF2B5EF4-FFF2-40B4-BE49-F238E27FC236}">
                <a16:creationId xmlns:a16="http://schemas.microsoft.com/office/drawing/2014/main" id="{33383B85-437B-EA6D-E579-2DE67D1133F0}"/>
              </a:ext>
            </a:extLst>
          </p:cNvPr>
          <p:cNvSpPr txBox="1"/>
          <p:nvPr/>
        </p:nvSpPr>
        <p:spPr>
          <a:xfrm>
            <a:off x="1651000" y="16510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Vue d'ensemble</a:t>
            </a:r>
          </a:p>
        </p:txBody>
      </p:sp>
      <p:sp>
        <p:nvSpPr>
          <p:cNvPr id="9" name="ZoneTexte 8">
            <a:extLst>
              <a:ext uri="{FF2B5EF4-FFF2-40B4-BE49-F238E27FC236}">
                <a16:creationId xmlns:a16="http://schemas.microsoft.com/office/drawing/2014/main" id="{B7CFB85C-ADDF-D07C-06EF-316D5EC06048}"/>
              </a:ext>
            </a:extLst>
          </p:cNvPr>
          <p:cNvSpPr txBox="1"/>
          <p:nvPr/>
        </p:nvSpPr>
        <p:spPr>
          <a:xfrm>
            <a:off x="1651000" y="19558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Finalité, cycle de vie, les sept onglets</a:t>
            </a:r>
          </a:p>
        </p:txBody>
      </p:sp>
      <p:sp>
        <p:nvSpPr>
          <p:cNvPr id="10" name="ZoneTexte 9">
            <a:extLst>
              <a:ext uri="{FF2B5EF4-FFF2-40B4-BE49-F238E27FC236}">
                <a16:creationId xmlns:a16="http://schemas.microsoft.com/office/drawing/2014/main" id="{A3F9CD67-3003-8C16-0E65-B3FF437E8B8D}"/>
              </a:ext>
            </a:extLst>
          </p:cNvPr>
          <p:cNvSpPr txBox="1"/>
          <p:nvPr/>
        </p:nvSpPr>
        <p:spPr>
          <a:xfrm>
            <a:off x="609600" y="23114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02</a:t>
            </a:r>
          </a:p>
        </p:txBody>
      </p:sp>
      <p:sp>
        <p:nvSpPr>
          <p:cNvPr id="11" name="ZoneTexte 10">
            <a:extLst>
              <a:ext uri="{FF2B5EF4-FFF2-40B4-BE49-F238E27FC236}">
                <a16:creationId xmlns:a16="http://schemas.microsoft.com/office/drawing/2014/main" id="{5A79566C-1D19-2CBC-155D-CED2099480D5}"/>
              </a:ext>
            </a:extLst>
          </p:cNvPr>
          <p:cNvSpPr txBox="1"/>
          <p:nvPr/>
        </p:nvSpPr>
        <p:spPr>
          <a:xfrm>
            <a:off x="1651000" y="23114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Fonctions</a:t>
            </a:r>
          </a:p>
        </p:txBody>
      </p:sp>
      <p:sp>
        <p:nvSpPr>
          <p:cNvPr id="12" name="ZoneTexte 11">
            <a:extLst>
              <a:ext uri="{FF2B5EF4-FFF2-40B4-BE49-F238E27FC236}">
                <a16:creationId xmlns:a16="http://schemas.microsoft.com/office/drawing/2014/main" id="{EE14202E-FC41-A1F1-5F47-17D8E84C41A8}"/>
              </a:ext>
            </a:extLst>
          </p:cNvPr>
          <p:cNvSpPr txBox="1"/>
          <p:nvPr/>
        </p:nvSpPr>
        <p:spPr>
          <a:xfrm>
            <a:off x="1651000" y="26162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Prêts, retours, attestations, archives, QR, recherche, rapports, rôles, annuaire, thèmes</a:t>
            </a:r>
          </a:p>
        </p:txBody>
      </p:sp>
      <p:sp>
        <p:nvSpPr>
          <p:cNvPr id="13" name="ZoneTexte 12">
            <a:extLst>
              <a:ext uri="{FF2B5EF4-FFF2-40B4-BE49-F238E27FC236}">
                <a16:creationId xmlns:a16="http://schemas.microsoft.com/office/drawing/2014/main" id="{2A4E36CC-D6EC-68A0-9B50-BA941B356354}"/>
              </a:ext>
            </a:extLst>
          </p:cNvPr>
          <p:cNvSpPr txBox="1"/>
          <p:nvPr/>
        </p:nvSpPr>
        <p:spPr>
          <a:xfrm>
            <a:off x="609600" y="29718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03</a:t>
            </a:r>
          </a:p>
        </p:txBody>
      </p:sp>
      <p:sp>
        <p:nvSpPr>
          <p:cNvPr id="14" name="ZoneTexte 13">
            <a:extLst>
              <a:ext uri="{FF2B5EF4-FFF2-40B4-BE49-F238E27FC236}">
                <a16:creationId xmlns:a16="http://schemas.microsoft.com/office/drawing/2014/main" id="{0F15B5A4-74FA-6AEF-07A9-7F1CE5A7EE89}"/>
              </a:ext>
            </a:extLst>
          </p:cNvPr>
          <p:cNvSpPr txBox="1"/>
          <p:nvPr/>
        </p:nvSpPr>
        <p:spPr>
          <a:xfrm>
            <a:off x="1651000" y="29718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Gouvernance</a:t>
            </a:r>
          </a:p>
        </p:txBody>
      </p:sp>
      <p:sp>
        <p:nvSpPr>
          <p:cNvPr id="15" name="ZoneTexte 14">
            <a:extLst>
              <a:ext uri="{FF2B5EF4-FFF2-40B4-BE49-F238E27FC236}">
                <a16:creationId xmlns:a16="http://schemas.microsoft.com/office/drawing/2014/main" id="{BA8B3826-CAB8-75A8-AB73-F957BCDDCD72}"/>
              </a:ext>
            </a:extLst>
          </p:cNvPr>
          <p:cNvSpPr txBox="1"/>
          <p:nvPr/>
        </p:nvSpPr>
        <p:spPr>
          <a:xfrm>
            <a:off x="1651000" y="32766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Rôles et responsabilités, règles de gestion</a:t>
            </a:r>
          </a:p>
        </p:txBody>
      </p:sp>
      <p:sp>
        <p:nvSpPr>
          <p:cNvPr id="16" name="ZoneTexte 15">
            <a:extLst>
              <a:ext uri="{FF2B5EF4-FFF2-40B4-BE49-F238E27FC236}">
                <a16:creationId xmlns:a16="http://schemas.microsoft.com/office/drawing/2014/main" id="{2DD480B7-4B68-362F-1D5A-63A967C4CE66}"/>
              </a:ext>
            </a:extLst>
          </p:cNvPr>
          <p:cNvSpPr txBox="1"/>
          <p:nvPr/>
        </p:nvSpPr>
        <p:spPr>
          <a:xfrm>
            <a:off x="609600" y="36322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04</a:t>
            </a:r>
          </a:p>
        </p:txBody>
      </p:sp>
      <p:sp>
        <p:nvSpPr>
          <p:cNvPr id="17" name="ZoneTexte 16">
            <a:extLst>
              <a:ext uri="{FF2B5EF4-FFF2-40B4-BE49-F238E27FC236}">
                <a16:creationId xmlns:a16="http://schemas.microsoft.com/office/drawing/2014/main" id="{D52318D5-42FA-D99F-C23C-6368AFB8DAAF}"/>
              </a:ext>
            </a:extLst>
          </p:cNvPr>
          <p:cNvSpPr txBox="1"/>
          <p:nvPr/>
        </p:nvSpPr>
        <p:spPr>
          <a:xfrm>
            <a:off x="1651000" y="36322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Architecture et sécurité</a:t>
            </a:r>
          </a:p>
        </p:txBody>
      </p:sp>
      <p:sp>
        <p:nvSpPr>
          <p:cNvPr id="18" name="ZoneTexte 17">
            <a:extLst>
              <a:ext uri="{FF2B5EF4-FFF2-40B4-BE49-F238E27FC236}">
                <a16:creationId xmlns:a16="http://schemas.microsoft.com/office/drawing/2014/main" id="{32D63856-073F-FE82-DB07-141432C549F6}"/>
              </a:ext>
            </a:extLst>
          </p:cNvPr>
          <p:cNvSpPr txBox="1"/>
          <p:nvPr/>
        </p:nvSpPr>
        <p:spPr>
          <a:xfrm>
            <a:off x="1651000" y="39370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Composants, accès, données personnelles</a:t>
            </a:r>
          </a:p>
        </p:txBody>
      </p:sp>
      <p:sp>
        <p:nvSpPr>
          <p:cNvPr id="19" name="ZoneTexte 18">
            <a:extLst>
              <a:ext uri="{FF2B5EF4-FFF2-40B4-BE49-F238E27FC236}">
                <a16:creationId xmlns:a16="http://schemas.microsoft.com/office/drawing/2014/main" id="{3C2AD391-707A-3906-DCC1-09915F6BDAAB}"/>
              </a:ext>
            </a:extLst>
          </p:cNvPr>
          <p:cNvSpPr txBox="1"/>
          <p:nvPr/>
        </p:nvSpPr>
        <p:spPr>
          <a:xfrm>
            <a:off x="609600" y="42926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05</a:t>
            </a:r>
          </a:p>
        </p:txBody>
      </p:sp>
      <p:sp>
        <p:nvSpPr>
          <p:cNvPr id="20" name="ZoneTexte 19">
            <a:extLst>
              <a:ext uri="{FF2B5EF4-FFF2-40B4-BE49-F238E27FC236}">
                <a16:creationId xmlns:a16="http://schemas.microsoft.com/office/drawing/2014/main" id="{23C7F130-89D4-DAD1-B2F5-2587C604B621}"/>
              </a:ext>
            </a:extLst>
          </p:cNvPr>
          <p:cNvSpPr txBox="1"/>
          <p:nvPr/>
        </p:nvSpPr>
        <p:spPr>
          <a:xfrm>
            <a:off x="1651000" y="42926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Sauvegarde</a:t>
            </a:r>
          </a:p>
        </p:txBody>
      </p:sp>
      <p:sp>
        <p:nvSpPr>
          <p:cNvPr id="21" name="ZoneTexte 20">
            <a:extLst>
              <a:ext uri="{FF2B5EF4-FFF2-40B4-BE49-F238E27FC236}">
                <a16:creationId xmlns:a16="http://schemas.microsoft.com/office/drawing/2014/main" id="{9609E1DE-F059-815D-BDD4-BADBB06477AD}"/>
              </a:ext>
            </a:extLst>
          </p:cNvPr>
          <p:cNvSpPr txBox="1"/>
          <p:nvPr/>
        </p:nvSpPr>
        <p:spPr>
          <a:xfrm>
            <a:off x="1651000" y="45974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Où, comment, en cas d'échec</a:t>
            </a:r>
          </a:p>
        </p:txBody>
      </p:sp>
      <p:sp>
        <p:nvSpPr>
          <p:cNvPr id="22" name="ZoneTexte 21">
            <a:extLst>
              <a:ext uri="{FF2B5EF4-FFF2-40B4-BE49-F238E27FC236}">
                <a16:creationId xmlns:a16="http://schemas.microsoft.com/office/drawing/2014/main" id="{769F66B5-E3DB-64C7-EC61-4949734A5529}"/>
              </a:ext>
            </a:extLst>
          </p:cNvPr>
          <p:cNvSpPr txBox="1"/>
          <p:nvPr/>
        </p:nvSpPr>
        <p:spPr>
          <a:xfrm>
            <a:off x="609600" y="49530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06</a:t>
            </a:r>
          </a:p>
        </p:txBody>
      </p:sp>
      <p:sp>
        <p:nvSpPr>
          <p:cNvPr id="23" name="ZoneTexte 22">
            <a:extLst>
              <a:ext uri="{FF2B5EF4-FFF2-40B4-BE49-F238E27FC236}">
                <a16:creationId xmlns:a16="http://schemas.microsoft.com/office/drawing/2014/main" id="{7832D347-8F45-3453-7D8B-F57CF418B2AD}"/>
              </a:ext>
            </a:extLst>
          </p:cNvPr>
          <p:cNvSpPr txBox="1"/>
          <p:nvPr/>
        </p:nvSpPr>
        <p:spPr>
          <a:xfrm>
            <a:off x="1651000" y="49530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Qualité</a:t>
            </a:r>
          </a:p>
        </p:txBody>
      </p:sp>
      <p:sp>
        <p:nvSpPr>
          <p:cNvPr id="24" name="ZoneTexte 23">
            <a:extLst>
              <a:ext uri="{FF2B5EF4-FFF2-40B4-BE49-F238E27FC236}">
                <a16:creationId xmlns:a16="http://schemas.microsoft.com/office/drawing/2014/main" id="{122565F2-6A87-0743-68E2-213AEF11A08B}"/>
              </a:ext>
            </a:extLst>
          </p:cNvPr>
          <p:cNvSpPr txBox="1"/>
          <p:nvPr/>
        </p:nvSpPr>
        <p:spPr>
          <a:xfrm>
            <a:off x="1651000" y="52578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Plan de recette, risques</a:t>
            </a:r>
          </a:p>
        </p:txBody>
      </p:sp>
      <p:sp>
        <p:nvSpPr>
          <p:cNvPr id="25" name="ZoneTexte 24">
            <a:extLst>
              <a:ext uri="{FF2B5EF4-FFF2-40B4-BE49-F238E27FC236}">
                <a16:creationId xmlns:a16="http://schemas.microsoft.com/office/drawing/2014/main" id="{822AC7B4-A5E6-FC1E-5617-DF8C8E34BB40}"/>
              </a:ext>
            </a:extLst>
          </p:cNvPr>
          <p:cNvSpPr txBox="1"/>
          <p:nvPr/>
        </p:nvSpPr>
        <p:spPr>
          <a:xfrm>
            <a:off x="609600" y="56134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07</a:t>
            </a:r>
          </a:p>
        </p:txBody>
      </p:sp>
      <p:sp>
        <p:nvSpPr>
          <p:cNvPr id="26" name="ZoneTexte 25">
            <a:extLst>
              <a:ext uri="{FF2B5EF4-FFF2-40B4-BE49-F238E27FC236}">
                <a16:creationId xmlns:a16="http://schemas.microsoft.com/office/drawing/2014/main" id="{7CACBE9A-0CAF-27DE-906B-4A1A21BF590C}"/>
              </a:ext>
            </a:extLst>
          </p:cNvPr>
          <p:cNvSpPr txBox="1"/>
          <p:nvPr/>
        </p:nvSpPr>
        <p:spPr>
          <a:xfrm>
            <a:off x="1651000" y="56134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Exploitation</a:t>
            </a:r>
          </a:p>
        </p:txBody>
      </p:sp>
      <p:sp>
        <p:nvSpPr>
          <p:cNvPr id="27" name="ZoneTexte 26">
            <a:extLst>
              <a:ext uri="{FF2B5EF4-FFF2-40B4-BE49-F238E27FC236}">
                <a16:creationId xmlns:a16="http://schemas.microsoft.com/office/drawing/2014/main" id="{54C30644-6124-B53A-74C9-D4642C27E100}"/>
              </a:ext>
            </a:extLst>
          </p:cNvPr>
          <p:cNvSpPr txBox="1"/>
          <p:nvPr/>
        </p:nvSpPr>
        <p:spPr>
          <a:xfrm>
            <a:off x="1651000" y="59182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Mises à jour, limites, actions attendues</a:t>
            </a:r>
          </a:p>
        </p:txBody>
      </p:sp>
      <p:sp>
        <p:nvSpPr>
          <p:cNvPr id="28" name="Rectangle : coins arrondis 27">
            <a:extLst>
              <a:ext uri="{FF2B5EF4-FFF2-40B4-BE49-F238E27FC236}">
                <a16:creationId xmlns:a16="http://schemas.microsoft.com/office/drawing/2014/main" id="{CAB48E77-017C-74C2-A9AF-F9D411C7379D}"/>
              </a:ext>
            </a:extLst>
          </p:cNvPr>
          <p:cNvSpPr/>
          <p:nvPr/>
        </p:nvSpPr>
        <p:spPr>
          <a:xfrm>
            <a:off x="8382000" y="1625600"/>
            <a:ext cx="3200400" cy="4572000"/>
          </a:xfrm>
          <a:prstGeom prst="roundRect">
            <a:avLst>
              <a:gd name="adj" fmla="val 4500"/>
            </a:avLst>
          </a:prstGeom>
          <a:solidFill>
            <a:srgbClr val="1E1C8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ZoneTexte 28">
            <a:extLst>
              <a:ext uri="{FF2B5EF4-FFF2-40B4-BE49-F238E27FC236}">
                <a16:creationId xmlns:a16="http://schemas.microsoft.com/office/drawing/2014/main" id="{C29E7B91-AF42-FF20-7973-ED3DF59A6FB9}"/>
              </a:ext>
            </a:extLst>
          </p:cNvPr>
          <p:cNvSpPr txBox="1"/>
          <p:nvPr/>
        </p:nvSpPr>
        <p:spPr>
          <a:xfrm>
            <a:off x="8661400" y="1854200"/>
            <a:ext cx="2667000" cy="254000"/>
          </a:xfrm>
          <a:prstGeom prst="rect">
            <a:avLst/>
          </a:prstGeom>
          <a:noFill/>
        </p:spPr>
        <p:txBody>
          <a:bodyPr vert="horz" wrap="square" lIns="0" tIns="0" rIns="0" bIns="0" rtlCol="0">
            <a:noAutofit/>
          </a:bodyPr>
          <a:lstStyle/>
          <a:p>
            <a:r>
              <a:rPr lang="fr-FR" sz="1100" b="1">
                <a:solidFill>
                  <a:srgbClr val="B9B6FF"/>
                </a:solidFill>
                <a:latin typeface="Calibri" panose="020F0502020204030204" pitchFamily="34" charset="0"/>
              </a:rPr>
              <a:t>EN BREF</a:t>
            </a:r>
          </a:p>
        </p:txBody>
      </p:sp>
      <p:sp>
        <p:nvSpPr>
          <p:cNvPr id="30" name="ZoneTexte 29">
            <a:extLst>
              <a:ext uri="{FF2B5EF4-FFF2-40B4-BE49-F238E27FC236}">
                <a16:creationId xmlns:a16="http://schemas.microsoft.com/office/drawing/2014/main" id="{AE749B94-917A-8392-F73E-C313F17B284C}"/>
              </a:ext>
            </a:extLst>
          </p:cNvPr>
          <p:cNvSpPr txBox="1"/>
          <p:nvPr/>
        </p:nvSpPr>
        <p:spPr>
          <a:xfrm>
            <a:off x="8661400" y="2184400"/>
            <a:ext cx="2667000" cy="3810000"/>
          </a:xfrm>
          <a:prstGeom prst="rect">
            <a:avLst/>
          </a:prstGeom>
          <a:noFill/>
        </p:spPr>
        <p:txBody>
          <a:bodyPr vert="horz" wrap="square" lIns="0" tIns="0" rIns="0" bIns="0" rtlCol="0">
            <a:noAutofit/>
          </a:bodyPr>
          <a:lstStyle/>
          <a:p>
            <a:r>
              <a:rPr lang="fr-FR" sz="1500">
                <a:solidFill>
                  <a:srgbClr val="FFFFFF"/>
                </a:solidFill>
                <a:latin typeface="Calibri" panose="020F0502020204030204" pitchFamily="34" charset="0"/>
              </a:rPr>
              <a:t>Un outil pour savoir qui détient quel matériel, prouver ce qui a été restitué par une attestation datée et signée, et suivre les pertes.</a:t>
            </a:r>
          </a:p>
          <a:p>
            <a:endParaRPr lang="fr-FR" sz="1500">
              <a:solidFill>
                <a:srgbClr val="FFFFFF"/>
              </a:solidFill>
              <a:latin typeface="Calibri" panose="020F0502020204030204" pitchFamily="34" charset="0"/>
            </a:endParaRPr>
          </a:p>
          <a:p>
            <a:r>
              <a:rPr lang="fr-FR" sz="1500">
                <a:solidFill>
                  <a:srgbClr val="FFFFFF"/>
                </a:solidFill>
                <a:latin typeface="Calibri" panose="020F0502020204030204" pitchFamily="34" charset="0"/>
              </a:rPr>
              <a:t>PC, tablette, téléphone.</a:t>
            </a:r>
          </a:p>
          <a:p>
            <a:r>
              <a:rPr lang="fr-FR" sz="1500">
                <a:solidFill>
                  <a:srgbClr val="FFFFFF"/>
                </a:solidFill>
                <a:latin typeface="Calibri" panose="020F0502020204030204" pitchFamily="34" charset="0"/>
              </a:rPr>
              <a:t>Chaque action est tracée.</a:t>
            </a:r>
          </a:p>
        </p:txBody>
      </p:sp>
    </p:spTree>
    <p:extLst>
      <p:ext uri="{BB962C8B-B14F-4D97-AF65-F5344CB8AC3E}">
        <p14:creationId xmlns:p14="http://schemas.microsoft.com/office/powerpoint/2010/main" val="3579139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B87056-D727-391E-BCE7-80694BA20503}"/>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Vue d'ensemble</a:t>
            </a:r>
          </a:p>
        </p:txBody>
      </p:sp>
      <p:sp>
        <p:nvSpPr>
          <p:cNvPr id="3" name="ZoneTexte 2">
            <a:extLst>
              <a:ext uri="{FF2B5EF4-FFF2-40B4-BE49-F238E27FC236}">
                <a16:creationId xmlns:a16="http://schemas.microsoft.com/office/drawing/2014/main" id="{BF6E5868-013A-AB68-8E79-EA5081150DCD}"/>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01</a:t>
            </a:r>
          </a:p>
        </p:txBody>
      </p:sp>
      <p:sp>
        <p:nvSpPr>
          <p:cNvPr id="4" name="ZoneTexte 3">
            <a:extLst>
              <a:ext uri="{FF2B5EF4-FFF2-40B4-BE49-F238E27FC236}">
                <a16:creationId xmlns:a16="http://schemas.microsoft.com/office/drawing/2014/main" id="{4E75CD14-C633-5530-7105-17BB8F757360}"/>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Finalité, cycle de vie et onglets</a:t>
            </a:r>
          </a:p>
        </p:txBody>
      </p:sp>
      <p:pic>
        <p:nvPicPr>
          <p:cNvPr id="6" name="Image 5">
            <a:extLst>
              <a:ext uri="{FF2B5EF4-FFF2-40B4-BE49-F238E27FC236}">
                <a16:creationId xmlns:a16="http://schemas.microsoft.com/office/drawing/2014/main" id="{F186BEF2-4A3D-AD86-85A9-C8C481F4D28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B7506CEF-FAA7-7803-9357-DAD3740FD68E}"/>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7.0</a:t>
            </a:r>
          </a:p>
        </p:txBody>
      </p:sp>
    </p:spTree>
    <p:extLst>
      <p:ext uri="{BB962C8B-B14F-4D97-AF65-F5344CB8AC3E}">
        <p14:creationId xmlns:p14="http://schemas.microsoft.com/office/powerpoint/2010/main" val="13594055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44F387-09FF-0A5F-C96D-4E4A39913D0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À quoi sert GPIEXALT</a:t>
            </a:r>
          </a:p>
        </p:txBody>
      </p:sp>
      <p:sp>
        <p:nvSpPr>
          <p:cNvPr id="3" name="ZoneTexte 2">
            <a:extLst>
              <a:ext uri="{FF2B5EF4-FFF2-40B4-BE49-F238E27FC236}">
                <a16:creationId xmlns:a16="http://schemas.microsoft.com/office/drawing/2014/main" id="{CD17421A-E45D-7CE5-6739-07D63FFCAE8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CB067A93-7DB4-447F-4726-4C6435A8820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Trois questions, une seule application</a:t>
            </a:r>
          </a:p>
        </p:txBody>
      </p:sp>
      <p:sp>
        <p:nvSpPr>
          <p:cNvPr id="5" name="ZoneTexte 4">
            <a:extLst>
              <a:ext uri="{FF2B5EF4-FFF2-40B4-BE49-F238E27FC236}">
                <a16:creationId xmlns:a16="http://schemas.microsoft.com/office/drawing/2014/main" id="{714D090A-57D8-3092-9A14-336940E2F78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D53CC1E2-398F-4751-8C49-7B6893A9D97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4C6A3B0-1D01-43CD-AAF2-6445D1B33551}" type="slidenum">
              <a:rPr lang="fr-FR" sz="900" smtClean="0">
                <a:solidFill>
                  <a:srgbClr val="586080"/>
                </a:solidFill>
                <a:latin typeface="Calibri" panose="020F0502020204030204" pitchFamily="34" charset="0"/>
              </a:rPr>
              <a:t>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3DAC5F53-131F-AAAE-1FA8-49B7B6FD2A6C}"/>
              </a:ext>
            </a:extLst>
          </p:cNvPr>
          <p:cNvSpPr/>
          <p:nvPr/>
        </p:nvSpPr>
        <p:spPr>
          <a:xfrm>
            <a:off x="6096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DD261546-FA8D-3B23-DE38-35610BAF48F5}"/>
              </a:ext>
            </a:extLst>
          </p:cNvPr>
          <p:cNvSpPr/>
          <p:nvPr/>
        </p:nvSpPr>
        <p:spPr>
          <a:xfrm>
            <a:off x="889000" y="1905000"/>
            <a:ext cx="660400" cy="6604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BEB7EAA3-825A-F9A5-43EE-CAABF503AFF6}"/>
              </a:ext>
            </a:extLst>
          </p:cNvPr>
          <p:cNvSpPr txBox="1"/>
          <p:nvPr/>
        </p:nvSpPr>
        <p:spPr>
          <a:xfrm>
            <a:off x="8890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Qui a quoi</a:t>
            </a:r>
          </a:p>
        </p:txBody>
      </p:sp>
      <p:sp>
        <p:nvSpPr>
          <p:cNvPr id="10" name="ZoneTexte 9">
            <a:extLst>
              <a:ext uri="{FF2B5EF4-FFF2-40B4-BE49-F238E27FC236}">
                <a16:creationId xmlns:a16="http://schemas.microsoft.com/office/drawing/2014/main" id="{9128BA22-8E39-61A2-08A4-8B3C18AEDC9A}"/>
              </a:ext>
            </a:extLst>
          </p:cNvPr>
          <p:cNvSpPr txBox="1"/>
          <p:nvPr/>
        </p:nvSpPr>
        <p:spPr>
          <a:xfrm>
            <a:off x="8890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Chaque équipement prêté est suivi, personne par personne, avec la date et l'auteur de l'enregistrement.</a:t>
            </a:r>
          </a:p>
        </p:txBody>
      </p:sp>
      <p:sp>
        <p:nvSpPr>
          <p:cNvPr id="11" name="Rectangle : coins arrondis 10">
            <a:extLst>
              <a:ext uri="{FF2B5EF4-FFF2-40B4-BE49-F238E27FC236}">
                <a16:creationId xmlns:a16="http://schemas.microsoft.com/office/drawing/2014/main" id="{B1764E8B-0175-FAA3-46A4-D6A43A19D921}"/>
              </a:ext>
            </a:extLst>
          </p:cNvPr>
          <p:cNvSpPr/>
          <p:nvPr/>
        </p:nvSpPr>
        <p:spPr>
          <a:xfrm>
            <a:off x="43815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9E8B48D8-9D3E-4F6E-3FB4-B1D2B09A5648}"/>
              </a:ext>
            </a:extLst>
          </p:cNvPr>
          <p:cNvSpPr/>
          <p:nvPr/>
        </p:nvSpPr>
        <p:spPr>
          <a:xfrm>
            <a:off x="4660900" y="1905000"/>
            <a:ext cx="660400" cy="6604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747E5DED-F977-2F97-4757-5C8297DDE746}"/>
              </a:ext>
            </a:extLst>
          </p:cNvPr>
          <p:cNvSpPr txBox="1"/>
          <p:nvPr/>
        </p:nvSpPr>
        <p:spPr>
          <a:xfrm>
            <a:off x="46609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Preuve de restitution</a:t>
            </a:r>
          </a:p>
        </p:txBody>
      </p:sp>
      <p:sp>
        <p:nvSpPr>
          <p:cNvPr id="14" name="ZoneTexte 13">
            <a:extLst>
              <a:ext uri="{FF2B5EF4-FFF2-40B4-BE49-F238E27FC236}">
                <a16:creationId xmlns:a16="http://schemas.microsoft.com/office/drawing/2014/main" id="{44B02D8C-3729-3C41-FB76-A496B51E65EE}"/>
              </a:ext>
            </a:extLst>
          </p:cNvPr>
          <p:cNvSpPr txBox="1"/>
          <p:nvPr/>
        </p:nvSpPr>
        <p:spPr>
          <a:xfrm>
            <a:off x="46609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Une attestation PDF datée et signée, envoyée par email ou par téléphone, puis archivée.</a:t>
            </a:r>
          </a:p>
        </p:txBody>
      </p:sp>
      <p:sp>
        <p:nvSpPr>
          <p:cNvPr id="15" name="Rectangle : coins arrondis 14">
            <a:extLst>
              <a:ext uri="{FF2B5EF4-FFF2-40B4-BE49-F238E27FC236}">
                <a16:creationId xmlns:a16="http://schemas.microsoft.com/office/drawing/2014/main" id="{436A3D40-5C3A-B103-61A7-66F5CB09D7A4}"/>
              </a:ext>
            </a:extLst>
          </p:cNvPr>
          <p:cNvSpPr/>
          <p:nvPr/>
        </p:nvSpPr>
        <p:spPr>
          <a:xfrm>
            <a:off x="81534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F0A1CC4F-D145-5AC8-413C-51FDE0962E4C}"/>
              </a:ext>
            </a:extLst>
          </p:cNvPr>
          <p:cNvSpPr/>
          <p:nvPr/>
        </p:nvSpPr>
        <p:spPr>
          <a:xfrm>
            <a:off x="8432800" y="1905000"/>
            <a:ext cx="660400" cy="6604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3</a:t>
            </a:r>
          </a:p>
        </p:txBody>
      </p:sp>
      <p:sp>
        <p:nvSpPr>
          <p:cNvPr id="17" name="ZoneTexte 16">
            <a:extLst>
              <a:ext uri="{FF2B5EF4-FFF2-40B4-BE49-F238E27FC236}">
                <a16:creationId xmlns:a16="http://schemas.microsoft.com/office/drawing/2014/main" id="{995D1427-A5FC-7B90-7A23-E7EB41A2D55D}"/>
              </a:ext>
            </a:extLst>
          </p:cNvPr>
          <p:cNvSpPr txBox="1"/>
          <p:nvPr/>
        </p:nvSpPr>
        <p:spPr>
          <a:xfrm>
            <a:off x="84328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Pertes sous contrôle</a:t>
            </a:r>
          </a:p>
        </p:txBody>
      </p:sp>
      <p:sp>
        <p:nvSpPr>
          <p:cNvPr id="18" name="ZoneTexte 17">
            <a:extLst>
              <a:ext uri="{FF2B5EF4-FFF2-40B4-BE49-F238E27FC236}">
                <a16:creationId xmlns:a16="http://schemas.microsoft.com/office/drawing/2014/main" id="{8A7D2D01-E447-DED1-8B76-78AE02B77BEA}"/>
              </a:ext>
            </a:extLst>
          </p:cNvPr>
          <p:cNvSpPr txBox="1"/>
          <p:nvPr/>
        </p:nvSpPr>
        <p:spPr>
          <a:xfrm>
            <a:off x="84328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Le matériel perdu, volé ou abîmé est déclaré et compté par type d'équipement.</a:t>
            </a:r>
          </a:p>
        </p:txBody>
      </p:sp>
      <p:sp>
        <p:nvSpPr>
          <p:cNvPr id="19" name="Rectangle : coins arrondis 18">
            <a:extLst>
              <a:ext uri="{FF2B5EF4-FFF2-40B4-BE49-F238E27FC236}">
                <a16:creationId xmlns:a16="http://schemas.microsoft.com/office/drawing/2014/main" id="{2206472E-CD78-11BF-D081-A812A2954E77}"/>
              </a:ext>
            </a:extLst>
          </p:cNvPr>
          <p:cNvSpPr/>
          <p:nvPr/>
        </p:nvSpPr>
        <p:spPr>
          <a:xfrm>
            <a:off x="609600" y="5080000"/>
            <a:ext cx="10972800" cy="965200"/>
          </a:xfrm>
          <a:prstGeom prst="roundRect">
            <a:avLst>
              <a:gd name="adj" fmla="val 6000"/>
            </a:avLst>
          </a:prstGeom>
          <a:solidFill>
            <a:srgbClr val="1E1C8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50800" rIns="127000" bIns="50800" rtlCol="0" anchor="ctr"/>
          <a:lstStyle/>
          <a:p>
            <a:pPr algn="ctr"/>
            <a:r>
              <a:rPr lang="fr-FR">
                <a:solidFill>
                  <a:srgbClr val="FFFFFF"/>
                </a:solidFill>
                <a:latin typeface="Calibri" panose="020F0502020204030204" pitchFamily="34" charset="0"/>
              </a:rPr>
              <a:t>PC, tablette et téléphone   ·   Données sauvegardées et partagées   ·   Chaque action est tracée</a:t>
            </a:r>
          </a:p>
        </p:txBody>
      </p:sp>
    </p:spTree>
    <p:extLst>
      <p:ext uri="{BB962C8B-B14F-4D97-AF65-F5344CB8AC3E}">
        <p14:creationId xmlns:p14="http://schemas.microsoft.com/office/powerpoint/2010/main" val="2661588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E8C0029-8526-00AE-CA60-9C3EAD9B389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 cycle de vie d'un matériel</a:t>
            </a:r>
          </a:p>
        </p:txBody>
      </p:sp>
      <p:sp>
        <p:nvSpPr>
          <p:cNvPr id="3" name="ZoneTexte 2">
            <a:extLst>
              <a:ext uri="{FF2B5EF4-FFF2-40B4-BE49-F238E27FC236}">
                <a16:creationId xmlns:a16="http://schemas.microsoft.com/office/drawing/2014/main" id="{6E4887CE-423C-E11F-EDA1-9259D1E72C1A}"/>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209889CF-04AD-4696-449B-94A031A9FDA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Quatre étapes et une variante</a:t>
            </a:r>
          </a:p>
        </p:txBody>
      </p:sp>
      <p:sp>
        <p:nvSpPr>
          <p:cNvPr id="5" name="ZoneTexte 4">
            <a:extLst>
              <a:ext uri="{FF2B5EF4-FFF2-40B4-BE49-F238E27FC236}">
                <a16:creationId xmlns:a16="http://schemas.microsoft.com/office/drawing/2014/main" id="{8661A8CF-F584-91DA-4702-82992BE47DD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11ABA41B-A8B2-0C48-3BEB-1EE058F87A1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6E0324F-1F69-4F78-8110-7C0A4550D700}" type="slidenum">
              <a:rPr lang="fr-FR" sz="900" smtClean="0">
                <a:solidFill>
                  <a:srgbClr val="586080"/>
                </a:solidFill>
                <a:latin typeface="Calibri" panose="020F0502020204030204" pitchFamily="34" charset="0"/>
              </a:rPr>
              <a:t>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12BDF15-A8ED-F21A-7B95-5FD0C58FAA02}"/>
              </a:ext>
            </a:extLst>
          </p:cNvPr>
          <p:cNvSpPr/>
          <p:nvPr/>
        </p:nvSpPr>
        <p:spPr>
          <a:xfrm>
            <a:off x="609600"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EB688FBD-BCFD-4471-6983-872228BBDE1D}"/>
              </a:ext>
            </a:extLst>
          </p:cNvPr>
          <p:cNvSpPr/>
          <p:nvPr/>
        </p:nvSpPr>
        <p:spPr>
          <a:xfrm>
            <a:off x="812800" y="1879600"/>
            <a:ext cx="482600" cy="4826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41296122-13E0-42F7-E2E8-9455BFF7DEDC}"/>
              </a:ext>
            </a:extLst>
          </p:cNvPr>
          <p:cNvSpPr txBox="1"/>
          <p:nvPr/>
        </p:nvSpPr>
        <p:spPr>
          <a:xfrm>
            <a:off x="812800"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Emprunter</a:t>
            </a:r>
          </a:p>
        </p:txBody>
      </p:sp>
      <p:sp>
        <p:nvSpPr>
          <p:cNvPr id="10" name="ZoneTexte 9">
            <a:extLst>
              <a:ext uri="{FF2B5EF4-FFF2-40B4-BE49-F238E27FC236}">
                <a16:creationId xmlns:a16="http://schemas.microsoft.com/office/drawing/2014/main" id="{5C7B819D-8A8D-A0D4-6379-4990ED9FC8FF}"/>
              </a:ext>
            </a:extLst>
          </p:cNvPr>
          <p:cNvSpPr txBox="1"/>
          <p:nvPr/>
        </p:nvSpPr>
        <p:spPr>
          <a:xfrm>
            <a:off x="812800"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Le prêt est enregistré</a:t>
            </a:r>
          </a:p>
        </p:txBody>
      </p:sp>
      <p:cxnSp>
        <p:nvCxnSpPr>
          <p:cNvPr id="11" name="Connecteur droit 10">
            <a:extLst>
              <a:ext uri="{FF2B5EF4-FFF2-40B4-BE49-F238E27FC236}">
                <a16:creationId xmlns:a16="http://schemas.microsoft.com/office/drawing/2014/main" id="{A86F2B88-7083-24D4-17BC-77CA7DFED0C4}"/>
              </a:ext>
            </a:extLst>
          </p:cNvPr>
          <p:cNvCxnSpPr/>
          <p:nvPr/>
        </p:nvCxnSpPr>
        <p:spPr>
          <a:xfrm>
            <a:off x="3073400"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 coins arrondis 11">
            <a:extLst>
              <a:ext uri="{FF2B5EF4-FFF2-40B4-BE49-F238E27FC236}">
                <a16:creationId xmlns:a16="http://schemas.microsoft.com/office/drawing/2014/main" id="{C662801B-6CBD-0492-976F-0C2CCD9E95D7}"/>
              </a:ext>
            </a:extLst>
          </p:cNvPr>
          <p:cNvSpPr/>
          <p:nvPr/>
        </p:nvSpPr>
        <p:spPr>
          <a:xfrm>
            <a:off x="3462909"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B7406A0E-BB8C-66F2-4EC5-A9F0E42DAF1D}"/>
              </a:ext>
            </a:extLst>
          </p:cNvPr>
          <p:cNvSpPr/>
          <p:nvPr/>
        </p:nvSpPr>
        <p:spPr>
          <a:xfrm>
            <a:off x="3666109" y="1879600"/>
            <a:ext cx="482600" cy="4826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2</a:t>
            </a:r>
          </a:p>
        </p:txBody>
      </p:sp>
      <p:sp>
        <p:nvSpPr>
          <p:cNvPr id="14" name="ZoneTexte 13">
            <a:extLst>
              <a:ext uri="{FF2B5EF4-FFF2-40B4-BE49-F238E27FC236}">
                <a16:creationId xmlns:a16="http://schemas.microsoft.com/office/drawing/2014/main" id="{FB83BA10-66B2-B7F2-7804-6E9B56761344}"/>
              </a:ext>
            </a:extLst>
          </p:cNvPr>
          <p:cNvSpPr txBox="1"/>
          <p:nvPr/>
        </p:nvSpPr>
        <p:spPr>
          <a:xfrm>
            <a:off x="3666109"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Restituer</a:t>
            </a:r>
          </a:p>
        </p:txBody>
      </p:sp>
      <p:sp>
        <p:nvSpPr>
          <p:cNvPr id="15" name="ZoneTexte 14">
            <a:extLst>
              <a:ext uri="{FF2B5EF4-FFF2-40B4-BE49-F238E27FC236}">
                <a16:creationId xmlns:a16="http://schemas.microsoft.com/office/drawing/2014/main" id="{907DC04E-52A0-8F54-9CC5-75C5D88FE8EA}"/>
              </a:ext>
            </a:extLst>
          </p:cNvPr>
          <p:cNvSpPr txBox="1"/>
          <p:nvPr/>
        </p:nvSpPr>
        <p:spPr>
          <a:xfrm>
            <a:off x="3666109"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Envoi par email ou téléphone</a:t>
            </a:r>
          </a:p>
        </p:txBody>
      </p:sp>
      <p:cxnSp>
        <p:nvCxnSpPr>
          <p:cNvPr id="16" name="Connecteur droit 15">
            <a:extLst>
              <a:ext uri="{FF2B5EF4-FFF2-40B4-BE49-F238E27FC236}">
                <a16:creationId xmlns:a16="http://schemas.microsoft.com/office/drawing/2014/main" id="{5131BAA8-6085-E8F7-6219-A7DF171AB03C}"/>
              </a:ext>
            </a:extLst>
          </p:cNvPr>
          <p:cNvCxnSpPr/>
          <p:nvPr/>
        </p:nvCxnSpPr>
        <p:spPr>
          <a:xfrm>
            <a:off x="5926709"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 coins arrondis 16">
            <a:extLst>
              <a:ext uri="{FF2B5EF4-FFF2-40B4-BE49-F238E27FC236}">
                <a16:creationId xmlns:a16="http://schemas.microsoft.com/office/drawing/2014/main" id="{D86F9F95-D08E-6DF4-9F87-58A4EE1419DE}"/>
              </a:ext>
            </a:extLst>
          </p:cNvPr>
          <p:cNvSpPr/>
          <p:nvPr/>
        </p:nvSpPr>
        <p:spPr>
          <a:xfrm>
            <a:off x="6316218"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C0539D31-A8B3-7C84-36CC-273F8220C66C}"/>
              </a:ext>
            </a:extLst>
          </p:cNvPr>
          <p:cNvSpPr/>
          <p:nvPr/>
        </p:nvSpPr>
        <p:spPr>
          <a:xfrm>
            <a:off x="6519418" y="1879600"/>
            <a:ext cx="482600" cy="4826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3</a:t>
            </a:r>
          </a:p>
        </p:txBody>
      </p:sp>
      <p:sp>
        <p:nvSpPr>
          <p:cNvPr id="19" name="ZoneTexte 18">
            <a:extLst>
              <a:ext uri="{FF2B5EF4-FFF2-40B4-BE49-F238E27FC236}">
                <a16:creationId xmlns:a16="http://schemas.microsoft.com/office/drawing/2014/main" id="{FC2F0156-D28B-5BC7-C501-0F71CDB76639}"/>
              </a:ext>
            </a:extLst>
          </p:cNvPr>
          <p:cNvSpPr txBox="1"/>
          <p:nvPr/>
        </p:nvSpPr>
        <p:spPr>
          <a:xfrm>
            <a:off x="6519418"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Attestation</a:t>
            </a:r>
          </a:p>
        </p:txBody>
      </p:sp>
      <p:sp>
        <p:nvSpPr>
          <p:cNvPr id="20" name="ZoneTexte 19">
            <a:extLst>
              <a:ext uri="{FF2B5EF4-FFF2-40B4-BE49-F238E27FC236}">
                <a16:creationId xmlns:a16="http://schemas.microsoft.com/office/drawing/2014/main" id="{1BC29BA0-E073-F64A-0660-6D57FDF20EEF}"/>
              </a:ext>
            </a:extLst>
          </p:cNvPr>
          <p:cNvSpPr txBox="1"/>
          <p:nvPr/>
        </p:nvSpPr>
        <p:spPr>
          <a:xfrm>
            <a:off x="6519418"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 En attente », puis relances</a:t>
            </a:r>
          </a:p>
        </p:txBody>
      </p:sp>
      <p:cxnSp>
        <p:nvCxnSpPr>
          <p:cNvPr id="21" name="Connecteur droit 20">
            <a:extLst>
              <a:ext uri="{FF2B5EF4-FFF2-40B4-BE49-F238E27FC236}">
                <a16:creationId xmlns:a16="http://schemas.microsoft.com/office/drawing/2014/main" id="{F41D0985-246C-0F16-949F-C3E710AD5F04}"/>
              </a:ext>
            </a:extLst>
          </p:cNvPr>
          <p:cNvCxnSpPr/>
          <p:nvPr/>
        </p:nvCxnSpPr>
        <p:spPr>
          <a:xfrm>
            <a:off x="8780018"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22" name="Rectangle : coins arrondis 21">
            <a:extLst>
              <a:ext uri="{FF2B5EF4-FFF2-40B4-BE49-F238E27FC236}">
                <a16:creationId xmlns:a16="http://schemas.microsoft.com/office/drawing/2014/main" id="{ED124DAA-3469-15D6-DD01-BA371B78CC37}"/>
              </a:ext>
            </a:extLst>
          </p:cNvPr>
          <p:cNvSpPr/>
          <p:nvPr/>
        </p:nvSpPr>
        <p:spPr>
          <a:xfrm>
            <a:off x="9169527"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D72E9FD0-6D86-0CF7-1C86-8F2B7E1BB8F7}"/>
              </a:ext>
            </a:extLst>
          </p:cNvPr>
          <p:cNvSpPr/>
          <p:nvPr/>
        </p:nvSpPr>
        <p:spPr>
          <a:xfrm>
            <a:off x="9372727" y="1879600"/>
            <a:ext cx="482600" cy="4826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4</a:t>
            </a:r>
          </a:p>
        </p:txBody>
      </p:sp>
      <p:sp>
        <p:nvSpPr>
          <p:cNvPr id="24" name="ZoneTexte 23">
            <a:extLst>
              <a:ext uri="{FF2B5EF4-FFF2-40B4-BE49-F238E27FC236}">
                <a16:creationId xmlns:a16="http://schemas.microsoft.com/office/drawing/2014/main" id="{7BEC106B-CA66-D294-EF8C-20B73DADCDDC}"/>
              </a:ext>
            </a:extLst>
          </p:cNvPr>
          <p:cNvSpPr txBox="1"/>
          <p:nvPr/>
        </p:nvSpPr>
        <p:spPr>
          <a:xfrm>
            <a:off x="9372727"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Signée</a:t>
            </a:r>
          </a:p>
        </p:txBody>
      </p:sp>
      <p:sp>
        <p:nvSpPr>
          <p:cNvPr id="25" name="ZoneTexte 24">
            <a:extLst>
              <a:ext uri="{FF2B5EF4-FFF2-40B4-BE49-F238E27FC236}">
                <a16:creationId xmlns:a16="http://schemas.microsoft.com/office/drawing/2014/main" id="{D9CE24FA-1BDB-772C-E9C6-6D1DCF991C16}"/>
              </a:ext>
            </a:extLst>
          </p:cNvPr>
          <p:cNvSpPr txBox="1"/>
          <p:nvPr/>
        </p:nvSpPr>
        <p:spPr>
          <a:xfrm>
            <a:off x="9372727"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PDF daté, signé et archivé</a:t>
            </a:r>
          </a:p>
        </p:txBody>
      </p:sp>
      <p:cxnSp>
        <p:nvCxnSpPr>
          <p:cNvPr id="26" name="Connecteur droit 25">
            <a:extLst>
              <a:ext uri="{FF2B5EF4-FFF2-40B4-BE49-F238E27FC236}">
                <a16:creationId xmlns:a16="http://schemas.microsoft.com/office/drawing/2014/main" id="{3F37EDD2-F162-79D0-12AD-103278EAA214}"/>
              </a:ext>
            </a:extLst>
          </p:cNvPr>
          <p:cNvCxnSpPr/>
          <p:nvPr/>
        </p:nvCxnSpPr>
        <p:spPr>
          <a:xfrm>
            <a:off x="4356100" y="3606800"/>
            <a:ext cx="0" cy="635000"/>
          </a:xfrm>
          <a:prstGeom prst="line">
            <a:avLst/>
          </a:prstGeom>
          <a:ln w="25400">
            <a:solidFill>
              <a:srgbClr val="C43D3D"/>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 coins arrondis 26">
            <a:extLst>
              <a:ext uri="{FF2B5EF4-FFF2-40B4-BE49-F238E27FC236}">
                <a16:creationId xmlns:a16="http://schemas.microsoft.com/office/drawing/2014/main" id="{9F6F962B-CE30-709F-CEC1-8F1A1CDD7BA8}"/>
              </a:ext>
            </a:extLst>
          </p:cNvPr>
          <p:cNvSpPr/>
          <p:nvPr/>
        </p:nvSpPr>
        <p:spPr>
          <a:xfrm>
            <a:off x="2324100" y="4267200"/>
            <a:ext cx="4064000" cy="889000"/>
          </a:xfrm>
          <a:prstGeom prst="roundRect">
            <a:avLst>
              <a:gd name="adj" fmla="val 6000"/>
            </a:avLst>
          </a:prstGeom>
          <a:solidFill>
            <a:srgbClr val="FBE4E4"/>
          </a:solidFill>
          <a:ln w="12700">
            <a:solidFill>
              <a:srgbClr val="C43D3D"/>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600" b="1">
                <a:solidFill>
                  <a:srgbClr val="C43D3D"/>
                </a:solidFill>
                <a:latin typeface="Calibri" panose="020F0502020204030204" pitchFamily="34" charset="0"/>
              </a:rPr>
              <a:t>Variante : perdu, volé ou abîmé</a:t>
            </a:r>
          </a:p>
          <a:p>
            <a:pPr algn="ctr"/>
            <a:r>
              <a:rPr lang="fr-FR" sz="1600" b="1">
                <a:solidFill>
                  <a:srgbClr val="C43D3D"/>
                </a:solidFill>
                <a:latin typeface="Calibri" panose="020F0502020204030204" pitchFamily="34" charset="0"/>
              </a:rPr>
              <a:t>→ onglet « Matériel perdu »</a:t>
            </a:r>
          </a:p>
        </p:txBody>
      </p:sp>
      <p:sp>
        <p:nvSpPr>
          <p:cNvPr id="28" name="Rectangle : coins arrondis 27">
            <a:extLst>
              <a:ext uri="{FF2B5EF4-FFF2-40B4-BE49-F238E27FC236}">
                <a16:creationId xmlns:a16="http://schemas.microsoft.com/office/drawing/2014/main" id="{FD55C5B2-F75C-75E7-8ACF-D749A6253A17}"/>
              </a:ext>
            </a:extLst>
          </p:cNvPr>
          <p:cNvSpPr/>
          <p:nvPr/>
        </p:nvSpPr>
        <p:spPr>
          <a:xfrm>
            <a:off x="609600" y="5461000"/>
            <a:ext cx="10972800" cy="660400"/>
          </a:xfrm>
          <a:prstGeom prst="roundRect">
            <a:avLst>
              <a:gd name="adj" fmla="val 6000"/>
            </a:avLst>
          </a:prstGeom>
          <a:solidFill>
            <a:srgbClr val="FFFFFF"/>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500">
                <a:solidFill>
                  <a:srgbClr val="12162B"/>
                </a:solidFill>
                <a:latin typeface="Calibri" panose="020F0502020204030204" pitchFamily="34" charset="0"/>
              </a:rPr>
              <a:t>À chaque étape, l'application enregistre qui a fait l'action et quand : prêt, envoi, relance, signature, déclaration.</a:t>
            </a:r>
          </a:p>
        </p:txBody>
      </p:sp>
    </p:spTree>
    <p:extLst>
      <p:ext uri="{BB962C8B-B14F-4D97-AF65-F5344CB8AC3E}">
        <p14:creationId xmlns:p14="http://schemas.microsoft.com/office/powerpoint/2010/main" val="5860892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C09615-7A72-BE5E-D01D-21971AF8AE1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Les sept onglets</a:t>
            </a:r>
          </a:p>
        </p:txBody>
      </p:sp>
      <p:sp>
        <p:nvSpPr>
          <p:cNvPr id="3" name="ZoneTexte 2">
            <a:extLst>
              <a:ext uri="{FF2B5EF4-FFF2-40B4-BE49-F238E27FC236}">
                <a16:creationId xmlns:a16="http://schemas.microsoft.com/office/drawing/2014/main" id="{02B082CF-C7B4-C0EE-BDB1-9FF2465053A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507F1C14-C5BE-12E4-94EA-59463082B8E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Piloter, opérer, suivre</a:t>
            </a:r>
          </a:p>
        </p:txBody>
      </p:sp>
      <p:sp>
        <p:nvSpPr>
          <p:cNvPr id="5" name="ZoneTexte 4">
            <a:extLst>
              <a:ext uri="{FF2B5EF4-FFF2-40B4-BE49-F238E27FC236}">
                <a16:creationId xmlns:a16="http://schemas.microsoft.com/office/drawing/2014/main" id="{B112135C-36B7-99C9-28A1-1DC1B79DF34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97DF9187-88BD-5C9A-F124-6394E67EDAD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F66534C-DBBA-4986-995F-9CA1F7161922}" type="slidenum">
              <a:rPr lang="fr-FR" sz="900" smtClean="0">
                <a:solidFill>
                  <a:srgbClr val="586080"/>
                </a:solidFill>
                <a:latin typeface="Calibri" panose="020F0502020204030204" pitchFamily="34" charset="0"/>
              </a:rPr>
              <a:t>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11A466D-1C2B-FBDF-D3E6-329C6ACE35F5}"/>
              </a:ext>
            </a:extLst>
          </p:cNvPr>
          <p:cNvSpPr/>
          <p:nvPr/>
        </p:nvSpPr>
        <p:spPr>
          <a:xfrm>
            <a:off x="609600" y="1574800"/>
            <a:ext cx="26289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6A83EAB4-BFE5-8BD3-DA85-44042EAD10B5}"/>
              </a:ext>
            </a:extLst>
          </p:cNvPr>
          <p:cNvSpPr/>
          <p:nvPr/>
        </p:nvSpPr>
        <p:spPr>
          <a:xfrm>
            <a:off x="787400" y="1727200"/>
            <a:ext cx="381000" cy="3810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10602423-168C-94F7-E74A-E9EDAE66F2FD}"/>
              </a:ext>
            </a:extLst>
          </p:cNvPr>
          <p:cNvSpPr txBox="1"/>
          <p:nvPr/>
        </p:nvSpPr>
        <p:spPr>
          <a:xfrm>
            <a:off x="1295400" y="17907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Accueil</a:t>
            </a:r>
          </a:p>
        </p:txBody>
      </p:sp>
      <p:sp>
        <p:nvSpPr>
          <p:cNvPr id="10" name="ZoneTexte 9">
            <a:extLst>
              <a:ext uri="{FF2B5EF4-FFF2-40B4-BE49-F238E27FC236}">
                <a16:creationId xmlns:a16="http://schemas.microsoft.com/office/drawing/2014/main" id="{D1CFE427-AB4B-D9CB-B53D-142501DDF92D}"/>
              </a:ext>
            </a:extLst>
          </p:cNvPr>
          <p:cNvSpPr txBox="1"/>
          <p:nvPr/>
        </p:nvSpPr>
        <p:spPr>
          <a:xfrm>
            <a:off x="787400" y="2260600"/>
            <a:ext cx="2311400" cy="787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Ce qui demande une action, répartition du parc</a:t>
            </a:r>
          </a:p>
        </p:txBody>
      </p:sp>
      <p:sp>
        <p:nvSpPr>
          <p:cNvPr id="11" name="Rectangle : coins arrondis 10">
            <a:extLst>
              <a:ext uri="{FF2B5EF4-FFF2-40B4-BE49-F238E27FC236}">
                <a16:creationId xmlns:a16="http://schemas.microsoft.com/office/drawing/2014/main" id="{1CBB2EB2-D0FD-44A3-381F-B6CB525B2EF1}"/>
              </a:ext>
            </a:extLst>
          </p:cNvPr>
          <p:cNvSpPr/>
          <p:nvPr/>
        </p:nvSpPr>
        <p:spPr>
          <a:xfrm>
            <a:off x="3390900" y="1574800"/>
            <a:ext cx="26289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CFEA2BA6-0FE6-203A-207C-9A5474182C51}"/>
              </a:ext>
            </a:extLst>
          </p:cNvPr>
          <p:cNvSpPr/>
          <p:nvPr/>
        </p:nvSpPr>
        <p:spPr>
          <a:xfrm>
            <a:off x="3568700" y="1727200"/>
            <a:ext cx="381000" cy="3810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8702C95E-1A3B-4366-974C-A8A0EC75854A}"/>
              </a:ext>
            </a:extLst>
          </p:cNvPr>
          <p:cNvSpPr txBox="1"/>
          <p:nvPr/>
        </p:nvSpPr>
        <p:spPr>
          <a:xfrm>
            <a:off x="4076700" y="17907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Emprunter</a:t>
            </a:r>
          </a:p>
        </p:txBody>
      </p:sp>
      <p:sp>
        <p:nvSpPr>
          <p:cNvPr id="14" name="ZoneTexte 13">
            <a:extLst>
              <a:ext uri="{FF2B5EF4-FFF2-40B4-BE49-F238E27FC236}">
                <a16:creationId xmlns:a16="http://schemas.microsoft.com/office/drawing/2014/main" id="{3944DD90-4423-4395-DF59-9B68B5B54D1C}"/>
              </a:ext>
            </a:extLst>
          </p:cNvPr>
          <p:cNvSpPr txBox="1"/>
          <p:nvPr/>
        </p:nvSpPr>
        <p:spPr>
          <a:xfrm>
            <a:off x="3568700" y="2260600"/>
            <a:ext cx="2311400" cy="787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Enregistrer les équipements remis à une personne</a:t>
            </a:r>
          </a:p>
        </p:txBody>
      </p:sp>
      <p:sp>
        <p:nvSpPr>
          <p:cNvPr id="15" name="Rectangle : coins arrondis 14">
            <a:extLst>
              <a:ext uri="{FF2B5EF4-FFF2-40B4-BE49-F238E27FC236}">
                <a16:creationId xmlns:a16="http://schemas.microsoft.com/office/drawing/2014/main" id="{5390B6F7-E78E-0E88-7708-63E15F953594}"/>
              </a:ext>
            </a:extLst>
          </p:cNvPr>
          <p:cNvSpPr/>
          <p:nvPr/>
        </p:nvSpPr>
        <p:spPr>
          <a:xfrm>
            <a:off x="6172200" y="1574800"/>
            <a:ext cx="26289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82E8CA98-02A2-609A-2A54-6745200DA10D}"/>
              </a:ext>
            </a:extLst>
          </p:cNvPr>
          <p:cNvSpPr/>
          <p:nvPr/>
        </p:nvSpPr>
        <p:spPr>
          <a:xfrm>
            <a:off x="6350000" y="1727200"/>
            <a:ext cx="381000" cy="3810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3</a:t>
            </a:r>
          </a:p>
        </p:txBody>
      </p:sp>
      <p:sp>
        <p:nvSpPr>
          <p:cNvPr id="17" name="ZoneTexte 16">
            <a:extLst>
              <a:ext uri="{FF2B5EF4-FFF2-40B4-BE49-F238E27FC236}">
                <a16:creationId xmlns:a16="http://schemas.microsoft.com/office/drawing/2014/main" id="{620E08BD-EDFB-61C0-9727-A5EF77C29391}"/>
              </a:ext>
            </a:extLst>
          </p:cNvPr>
          <p:cNvSpPr txBox="1"/>
          <p:nvPr/>
        </p:nvSpPr>
        <p:spPr>
          <a:xfrm>
            <a:off x="6858000" y="17907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Restituer</a:t>
            </a:r>
          </a:p>
        </p:txBody>
      </p:sp>
      <p:sp>
        <p:nvSpPr>
          <p:cNvPr id="18" name="ZoneTexte 17">
            <a:extLst>
              <a:ext uri="{FF2B5EF4-FFF2-40B4-BE49-F238E27FC236}">
                <a16:creationId xmlns:a16="http://schemas.microsoft.com/office/drawing/2014/main" id="{CD6B4B11-7CC4-AE52-C191-9E24A7F761B4}"/>
              </a:ext>
            </a:extLst>
          </p:cNvPr>
          <p:cNvSpPr txBox="1"/>
          <p:nvPr/>
        </p:nvSpPr>
        <p:spPr>
          <a:xfrm>
            <a:off x="6350000" y="2260600"/>
            <a:ext cx="2311400" cy="787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Attestation de retour, ou perte, vol, casse</a:t>
            </a:r>
          </a:p>
        </p:txBody>
      </p:sp>
      <p:sp>
        <p:nvSpPr>
          <p:cNvPr id="19" name="Rectangle : coins arrondis 18">
            <a:extLst>
              <a:ext uri="{FF2B5EF4-FFF2-40B4-BE49-F238E27FC236}">
                <a16:creationId xmlns:a16="http://schemas.microsoft.com/office/drawing/2014/main" id="{E40711F6-6A36-DC07-8F21-5817306DA84E}"/>
              </a:ext>
            </a:extLst>
          </p:cNvPr>
          <p:cNvSpPr/>
          <p:nvPr/>
        </p:nvSpPr>
        <p:spPr>
          <a:xfrm>
            <a:off x="8953500" y="1574800"/>
            <a:ext cx="26289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4BBB3D5D-E0EB-9AF9-49A5-9DCA005DEFCD}"/>
              </a:ext>
            </a:extLst>
          </p:cNvPr>
          <p:cNvSpPr/>
          <p:nvPr/>
        </p:nvSpPr>
        <p:spPr>
          <a:xfrm>
            <a:off x="9131300" y="1727200"/>
            <a:ext cx="381000" cy="3810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4</a:t>
            </a:r>
          </a:p>
        </p:txBody>
      </p:sp>
      <p:sp>
        <p:nvSpPr>
          <p:cNvPr id="21" name="ZoneTexte 20">
            <a:extLst>
              <a:ext uri="{FF2B5EF4-FFF2-40B4-BE49-F238E27FC236}">
                <a16:creationId xmlns:a16="http://schemas.microsoft.com/office/drawing/2014/main" id="{40915922-A5BB-A79D-C0E4-6BBE2A16D5F5}"/>
              </a:ext>
            </a:extLst>
          </p:cNvPr>
          <p:cNvSpPr txBox="1"/>
          <p:nvPr/>
        </p:nvSpPr>
        <p:spPr>
          <a:xfrm>
            <a:off x="9639300" y="17907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Matériel perdu</a:t>
            </a:r>
          </a:p>
        </p:txBody>
      </p:sp>
      <p:sp>
        <p:nvSpPr>
          <p:cNvPr id="22" name="ZoneTexte 21">
            <a:extLst>
              <a:ext uri="{FF2B5EF4-FFF2-40B4-BE49-F238E27FC236}">
                <a16:creationId xmlns:a16="http://schemas.microsoft.com/office/drawing/2014/main" id="{98BE1704-0E5B-0A88-DA46-5C71447ACC69}"/>
              </a:ext>
            </a:extLst>
          </p:cNvPr>
          <p:cNvSpPr txBox="1"/>
          <p:nvPr/>
        </p:nvSpPr>
        <p:spPr>
          <a:xfrm>
            <a:off x="9131300" y="2260600"/>
            <a:ext cx="2311400" cy="787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Synthèse du matériel perdu, volé ou abîmé</a:t>
            </a:r>
          </a:p>
        </p:txBody>
      </p:sp>
      <p:sp>
        <p:nvSpPr>
          <p:cNvPr id="23" name="Rectangle : coins arrondis 22">
            <a:extLst>
              <a:ext uri="{FF2B5EF4-FFF2-40B4-BE49-F238E27FC236}">
                <a16:creationId xmlns:a16="http://schemas.microsoft.com/office/drawing/2014/main" id="{CB015FE8-B8B4-47B8-FD44-84513C78879D}"/>
              </a:ext>
            </a:extLst>
          </p:cNvPr>
          <p:cNvSpPr/>
          <p:nvPr/>
        </p:nvSpPr>
        <p:spPr>
          <a:xfrm>
            <a:off x="609600" y="3302000"/>
            <a:ext cx="26289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7547CACB-08F7-E723-3A61-274A8B2A4818}"/>
              </a:ext>
            </a:extLst>
          </p:cNvPr>
          <p:cNvSpPr/>
          <p:nvPr/>
        </p:nvSpPr>
        <p:spPr>
          <a:xfrm>
            <a:off x="787400" y="3454400"/>
            <a:ext cx="381000" cy="3810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5</a:t>
            </a:r>
          </a:p>
        </p:txBody>
      </p:sp>
      <p:sp>
        <p:nvSpPr>
          <p:cNvPr id="25" name="ZoneTexte 24">
            <a:extLst>
              <a:ext uri="{FF2B5EF4-FFF2-40B4-BE49-F238E27FC236}">
                <a16:creationId xmlns:a16="http://schemas.microsoft.com/office/drawing/2014/main" id="{CA0C4913-0CE8-ED5C-F1F8-725BCF8B2B2E}"/>
              </a:ext>
            </a:extLst>
          </p:cNvPr>
          <p:cNvSpPr txBox="1"/>
          <p:nvPr/>
        </p:nvSpPr>
        <p:spPr>
          <a:xfrm>
            <a:off x="1295400" y="3517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Attestations</a:t>
            </a:r>
          </a:p>
        </p:txBody>
      </p:sp>
      <p:sp>
        <p:nvSpPr>
          <p:cNvPr id="26" name="ZoneTexte 25">
            <a:extLst>
              <a:ext uri="{FF2B5EF4-FFF2-40B4-BE49-F238E27FC236}">
                <a16:creationId xmlns:a16="http://schemas.microsoft.com/office/drawing/2014/main" id="{56E70C2B-9176-E55D-0CA3-5C0E3FD4AD18}"/>
              </a:ext>
            </a:extLst>
          </p:cNvPr>
          <p:cNvSpPr txBox="1"/>
          <p:nvPr/>
        </p:nvSpPr>
        <p:spPr>
          <a:xfrm>
            <a:off x="787400" y="3987800"/>
            <a:ext cx="2311400" cy="787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Suivre les envois : en attente, à relancer, signées</a:t>
            </a:r>
          </a:p>
        </p:txBody>
      </p:sp>
      <p:sp>
        <p:nvSpPr>
          <p:cNvPr id="27" name="Rectangle : coins arrondis 26">
            <a:extLst>
              <a:ext uri="{FF2B5EF4-FFF2-40B4-BE49-F238E27FC236}">
                <a16:creationId xmlns:a16="http://schemas.microsoft.com/office/drawing/2014/main" id="{C6585B11-86C7-CCBA-9D97-2A95B64B3EA6}"/>
              </a:ext>
            </a:extLst>
          </p:cNvPr>
          <p:cNvSpPr/>
          <p:nvPr/>
        </p:nvSpPr>
        <p:spPr>
          <a:xfrm>
            <a:off x="3390900" y="3302000"/>
            <a:ext cx="26289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0DC7C09F-33C3-8FF7-B1F2-E4F72DDA2030}"/>
              </a:ext>
            </a:extLst>
          </p:cNvPr>
          <p:cNvSpPr/>
          <p:nvPr/>
        </p:nvSpPr>
        <p:spPr>
          <a:xfrm>
            <a:off x="3568700" y="3454400"/>
            <a:ext cx="381000" cy="381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6</a:t>
            </a:r>
          </a:p>
        </p:txBody>
      </p:sp>
      <p:sp>
        <p:nvSpPr>
          <p:cNvPr id="29" name="ZoneTexte 28">
            <a:extLst>
              <a:ext uri="{FF2B5EF4-FFF2-40B4-BE49-F238E27FC236}">
                <a16:creationId xmlns:a16="http://schemas.microsoft.com/office/drawing/2014/main" id="{732409DF-51EF-2162-F487-DF2EE64A192C}"/>
              </a:ext>
            </a:extLst>
          </p:cNvPr>
          <p:cNvSpPr txBox="1"/>
          <p:nvPr/>
        </p:nvSpPr>
        <p:spPr>
          <a:xfrm>
            <a:off x="4076700" y="3517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Archives PDF</a:t>
            </a:r>
          </a:p>
        </p:txBody>
      </p:sp>
      <p:sp>
        <p:nvSpPr>
          <p:cNvPr id="30" name="ZoneTexte 29">
            <a:extLst>
              <a:ext uri="{FF2B5EF4-FFF2-40B4-BE49-F238E27FC236}">
                <a16:creationId xmlns:a16="http://schemas.microsoft.com/office/drawing/2014/main" id="{444D7B59-549A-060F-DE2A-BD57A48C4070}"/>
              </a:ext>
            </a:extLst>
          </p:cNvPr>
          <p:cNvSpPr txBox="1"/>
          <p:nvPr/>
        </p:nvSpPr>
        <p:spPr>
          <a:xfrm>
            <a:off x="3568700" y="3987800"/>
            <a:ext cx="2311400" cy="787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Retrouver le PDF signé de chaque attestation</a:t>
            </a:r>
          </a:p>
        </p:txBody>
      </p:sp>
      <p:sp>
        <p:nvSpPr>
          <p:cNvPr id="31" name="Rectangle : coins arrondis 30">
            <a:extLst>
              <a:ext uri="{FF2B5EF4-FFF2-40B4-BE49-F238E27FC236}">
                <a16:creationId xmlns:a16="http://schemas.microsoft.com/office/drawing/2014/main" id="{2778BD26-F8F9-E9AD-6E45-63D6D8031DF1}"/>
              </a:ext>
            </a:extLst>
          </p:cNvPr>
          <p:cNvSpPr/>
          <p:nvPr/>
        </p:nvSpPr>
        <p:spPr>
          <a:xfrm>
            <a:off x="6172200" y="3302000"/>
            <a:ext cx="26289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Ellipse 31">
            <a:extLst>
              <a:ext uri="{FF2B5EF4-FFF2-40B4-BE49-F238E27FC236}">
                <a16:creationId xmlns:a16="http://schemas.microsoft.com/office/drawing/2014/main" id="{50DDDCB1-C79A-C910-DDC7-3BC87B5E9350}"/>
              </a:ext>
            </a:extLst>
          </p:cNvPr>
          <p:cNvSpPr/>
          <p:nvPr/>
        </p:nvSpPr>
        <p:spPr>
          <a:xfrm>
            <a:off x="6350000" y="3454400"/>
            <a:ext cx="381000" cy="381000"/>
          </a:xfrm>
          <a:prstGeom prst="ellipse">
            <a:avLst/>
          </a:prstGeom>
          <a:solidFill>
            <a:srgbClr val="8A93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7</a:t>
            </a:r>
          </a:p>
        </p:txBody>
      </p:sp>
      <p:sp>
        <p:nvSpPr>
          <p:cNvPr id="33" name="ZoneTexte 32">
            <a:extLst>
              <a:ext uri="{FF2B5EF4-FFF2-40B4-BE49-F238E27FC236}">
                <a16:creationId xmlns:a16="http://schemas.microsoft.com/office/drawing/2014/main" id="{C864AB96-A62F-09D0-9469-3A2998940C5E}"/>
              </a:ext>
            </a:extLst>
          </p:cNvPr>
          <p:cNvSpPr txBox="1"/>
          <p:nvPr/>
        </p:nvSpPr>
        <p:spPr>
          <a:xfrm>
            <a:off x="6858000" y="3517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Activités récentes</a:t>
            </a:r>
          </a:p>
        </p:txBody>
      </p:sp>
      <p:sp>
        <p:nvSpPr>
          <p:cNvPr id="34" name="ZoneTexte 33">
            <a:extLst>
              <a:ext uri="{FF2B5EF4-FFF2-40B4-BE49-F238E27FC236}">
                <a16:creationId xmlns:a16="http://schemas.microsoft.com/office/drawing/2014/main" id="{F034581D-DCBE-EE15-D949-FDA073E60653}"/>
              </a:ext>
            </a:extLst>
          </p:cNvPr>
          <p:cNvSpPr txBox="1"/>
          <p:nvPr/>
        </p:nvSpPr>
        <p:spPr>
          <a:xfrm>
            <a:off x="6350000" y="3987800"/>
            <a:ext cx="2311400" cy="787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Journal de tout ce qui a été enregistré</a:t>
            </a:r>
          </a:p>
        </p:txBody>
      </p:sp>
      <p:sp>
        <p:nvSpPr>
          <p:cNvPr id="35" name="Rectangle : coins arrondis 34">
            <a:extLst>
              <a:ext uri="{FF2B5EF4-FFF2-40B4-BE49-F238E27FC236}">
                <a16:creationId xmlns:a16="http://schemas.microsoft.com/office/drawing/2014/main" id="{CC3BD5FF-BFFB-5FDC-8634-CEC3C8673A16}"/>
              </a:ext>
            </a:extLst>
          </p:cNvPr>
          <p:cNvSpPr/>
          <p:nvPr/>
        </p:nvSpPr>
        <p:spPr>
          <a:xfrm>
            <a:off x="6172200" y="3302000"/>
            <a:ext cx="5410200" cy="1574800"/>
          </a:xfrm>
          <a:prstGeom prst="roundRect">
            <a:avLst>
              <a:gd name="adj" fmla="val 4500"/>
            </a:avLst>
          </a:prstGeom>
          <a:solidFill>
            <a:srgbClr val="1E1C8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ZoneTexte 35">
            <a:extLst>
              <a:ext uri="{FF2B5EF4-FFF2-40B4-BE49-F238E27FC236}">
                <a16:creationId xmlns:a16="http://schemas.microsoft.com/office/drawing/2014/main" id="{BC914F5B-7266-6102-64E1-DE44781C7CCA}"/>
              </a:ext>
            </a:extLst>
          </p:cNvPr>
          <p:cNvSpPr txBox="1"/>
          <p:nvPr/>
        </p:nvSpPr>
        <p:spPr>
          <a:xfrm>
            <a:off x="6426200" y="3454400"/>
            <a:ext cx="4953000" cy="254000"/>
          </a:xfrm>
          <a:prstGeom prst="rect">
            <a:avLst/>
          </a:prstGeom>
          <a:noFill/>
        </p:spPr>
        <p:txBody>
          <a:bodyPr vert="horz" wrap="square" lIns="0" tIns="0" rIns="0" bIns="0" rtlCol="0">
            <a:noAutofit/>
          </a:bodyPr>
          <a:lstStyle/>
          <a:p>
            <a:r>
              <a:rPr lang="fr-FR" sz="1100" b="1">
                <a:solidFill>
                  <a:srgbClr val="B9B6FF"/>
                </a:solidFill>
                <a:latin typeface="Calibri" panose="020F0502020204030204" pitchFamily="34" charset="0"/>
              </a:rPr>
              <a:t>AUSSI DANS L'APPLICATION</a:t>
            </a:r>
          </a:p>
        </p:txBody>
      </p:sp>
      <p:sp>
        <p:nvSpPr>
          <p:cNvPr id="37" name="ZoneTexte 36">
            <a:extLst>
              <a:ext uri="{FF2B5EF4-FFF2-40B4-BE49-F238E27FC236}">
                <a16:creationId xmlns:a16="http://schemas.microsoft.com/office/drawing/2014/main" id="{49653B2B-1D3D-8EF4-8848-6062869C80B5}"/>
              </a:ext>
            </a:extLst>
          </p:cNvPr>
          <p:cNvSpPr txBox="1"/>
          <p:nvPr/>
        </p:nvSpPr>
        <p:spPr>
          <a:xfrm>
            <a:off x="6426200" y="3759200"/>
            <a:ext cx="4953000" cy="1066800"/>
          </a:xfrm>
          <a:prstGeom prst="rect">
            <a:avLst/>
          </a:prstGeom>
          <a:noFill/>
        </p:spPr>
        <p:txBody>
          <a:bodyPr vert="horz" wrap="square" lIns="0" tIns="0" rIns="0" bIns="0" rtlCol="0">
            <a:noAutofit/>
          </a:bodyPr>
          <a:lstStyle/>
          <a:p>
            <a:r>
              <a:rPr lang="fr-FR" sz="1500">
                <a:solidFill>
                  <a:srgbClr val="FFFFFF"/>
                </a:solidFill>
                <a:latin typeface="Calibri" panose="020F0502020204030204" pitchFamily="34" charset="0"/>
              </a:rPr>
              <a:t>Recherche rapide · Rapport PDF ou Excel de chaque page (envoi par email) · Alertes de retard · Rôles et accès · Annuaire Microsoft 365 · Filtres par période · Scan rapide · Thèmes eXalt</a:t>
            </a:r>
          </a:p>
        </p:txBody>
      </p:sp>
      <p:sp>
        <p:nvSpPr>
          <p:cNvPr id="38" name="Rectangle : coins arrondis 37">
            <a:extLst>
              <a:ext uri="{FF2B5EF4-FFF2-40B4-BE49-F238E27FC236}">
                <a16:creationId xmlns:a16="http://schemas.microsoft.com/office/drawing/2014/main" id="{7E006E05-8360-F46C-D664-436249E7BF5F}"/>
              </a:ext>
            </a:extLst>
          </p:cNvPr>
          <p:cNvSpPr/>
          <p:nvPr/>
        </p:nvSpPr>
        <p:spPr>
          <a:xfrm>
            <a:off x="609600" y="5054600"/>
            <a:ext cx="10972800" cy="1168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ZoneTexte 38">
            <a:extLst>
              <a:ext uri="{FF2B5EF4-FFF2-40B4-BE49-F238E27FC236}">
                <a16:creationId xmlns:a16="http://schemas.microsoft.com/office/drawing/2014/main" id="{F1B72827-8BDF-93E9-09BC-64E14E893142}"/>
              </a:ext>
            </a:extLst>
          </p:cNvPr>
          <p:cNvSpPr txBox="1"/>
          <p:nvPr/>
        </p:nvSpPr>
        <p:spPr>
          <a:xfrm>
            <a:off x="863600" y="5181600"/>
            <a:ext cx="5080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Aides à la navigation</a:t>
            </a:r>
          </a:p>
        </p:txBody>
      </p:sp>
      <p:sp>
        <p:nvSpPr>
          <p:cNvPr id="40" name="ZoneTexte 39">
            <a:extLst>
              <a:ext uri="{FF2B5EF4-FFF2-40B4-BE49-F238E27FC236}">
                <a16:creationId xmlns:a16="http://schemas.microsoft.com/office/drawing/2014/main" id="{D469158F-19A6-91C4-A371-71EC18346742}"/>
              </a:ext>
            </a:extLst>
          </p:cNvPr>
          <p:cNvSpPr txBox="1"/>
          <p:nvPr/>
        </p:nvSpPr>
        <p:spPr>
          <a:xfrm>
            <a:off x="863600" y="5511800"/>
            <a:ext cx="5080000" cy="6858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Raccourcis : Ctrl K, 1 à 7 (onglets), / (liste), ? (aide), Échap</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Recherche insensible aux accents et à la casse</a:t>
            </a:r>
          </a:p>
        </p:txBody>
      </p:sp>
      <p:sp>
        <p:nvSpPr>
          <p:cNvPr id="41" name="ZoneTexte 40">
            <a:extLst>
              <a:ext uri="{FF2B5EF4-FFF2-40B4-BE49-F238E27FC236}">
                <a16:creationId xmlns:a16="http://schemas.microsoft.com/office/drawing/2014/main" id="{AA8DFB96-DD52-3BA4-DEB6-D2CEB693E5D6}"/>
              </a:ext>
            </a:extLst>
          </p:cNvPr>
          <p:cNvSpPr txBox="1"/>
          <p:nvPr/>
        </p:nvSpPr>
        <p:spPr>
          <a:xfrm>
            <a:off x="6248400" y="5511800"/>
            <a:ext cx="5080000" cy="6858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Douze thèmes (dont eXalt) et sept couleurs d'accent</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Pastille de sauvegarde : « Synchronisé » ou « Mode local »</a:t>
            </a:r>
          </a:p>
        </p:txBody>
      </p:sp>
    </p:spTree>
    <p:extLst>
      <p:ext uri="{BB962C8B-B14F-4D97-AF65-F5344CB8AC3E}">
        <p14:creationId xmlns:p14="http://schemas.microsoft.com/office/powerpoint/2010/main" val="18394914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B03213-4906-5815-1C0B-49C2407CF664}"/>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Fonctions</a:t>
            </a:r>
          </a:p>
        </p:txBody>
      </p:sp>
      <p:sp>
        <p:nvSpPr>
          <p:cNvPr id="3" name="ZoneTexte 2">
            <a:extLst>
              <a:ext uri="{FF2B5EF4-FFF2-40B4-BE49-F238E27FC236}">
                <a16:creationId xmlns:a16="http://schemas.microsoft.com/office/drawing/2014/main" id="{A813F5D2-1ED4-D60F-B84D-969D7F367CFC}"/>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02</a:t>
            </a:r>
          </a:p>
        </p:txBody>
      </p:sp>
      <p:sp>
        <p:nvSpPr>
          <p:cNvPr id="4" name="ZoneTexte 3">
            <a:extLst>
              <a:ext uri="{FF2B5EF4-FFF2-40B4-BE49-F238E27FC236}">
                <a16:creationId xmlns:a16="http://schemas.microsoft.com/office/drawing/2014/main" id="{BD064B84-909F-C33C-1225-163D4538083D}"/>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Chaque écran, chaque bouton, chaque donnée enregistrée</a:t>
            </a:r>
          </a:p>
        </p:txBody>
      </p:sp>
      <p:pic>
        <p:nvPicPr>
          <p:cNvPr id="6" name="Image 5">
            <a:extLst>
              <a:ext uri="{FF2B5EF4-FFF2-40B4-BE49-F238E27FC236}">
                <a16:creationId xmlns:a16="http://schemas.microsoft.com/office/drawing/2014/main" id="{518F8661-6D44-427C-D409-6D9CC676B05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4609CE7C-9EBD-A757-A990-741B5C398FE8}"/>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7.0</a:t>
            </a:r>
          </a:p>
        </p:txBody>
      </p:sp>
    </p:spTree>
    <p:extLst>
      <p:ext uri="{BB962C8B-B14F-4D97-AF65-F5344CB8AC3E}">
        <p14:creationId xmlns:p14="http://schemas.microsoft.com/office/powerpoint/2010/main" val="27759442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8A7BF6-0C72-593A-6059-6F49A26423B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Accueil : le tableau de bord</a:t>
            </a:r>
          </a:p>
        </p:txBody>
      </p:sp>
      <p:sp>
        <p:nvSpPr>
          <p:cNvPr id="3" name="ZoneTexte 2">
            <a:extLst>
              <a:ext uri="{FF2B5EF4-FFF2-40B4-BE49-F238E27FC236}">
                <a16:creationId xmlns:a16="http://schemas.microsoft.com/office/drawing/2014/main" id="{0F9061C7-DF02-0768-13E6-4DCBA0FEC9D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1</a:t>
            </a:r>
          </a:p>
        </p:txBody>
      </p:sp>
      <p:sp>
        <p:nvSpPr>
          <p:cNvPr id="4" name="ZoneTexte 3">
            <a:extLst>
              <a:ext uri="{FF2B5EF4-FFF2-40B4-BE49-F238E27FC236}">
                <a16:creationId xmlns:a16="http://schemas.microsoft.com/office/drawing/2014/main" id="{DE8E0114-C110-786A-19A0-554037FF6CF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Ce qui demande une action, en un coup d'œil</a:t>
            </a:r>
          </a:p>
        </p:txBody>
      </p:sp>
      <p:sp>
        <p:nvSpPr>
          <p:cNvPr id="5" name="ZoneTexte 4">
            <a:extLst>
              <a:ext uri="{FF2B5EF4-FFF2-40B4-BE49-F238E27FC236}">
                <a16:creationId xmlns:a16="http://schemas.microsoft.com/office/drawing/2014/main" id="{7FF3AC12-E39D-9141-CF23-8328D8B04A2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82AE73D9-D653-9A1C-12EC-7599A9953FA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FABB6E64-7C7A-460E-B897-878B7B6AC139}" type="slidenum">
              <a:rPr lang="fr-FR" sz="900" smtClean="0">
                <a:solidFill>
                  <a:srgbClr val="586080"/>
                </a:solidFill>
                <a:latin typeface="Calibri" panose="020F0502020204030204" pitchFamily="34" charset="0"/>
              </a:rPr>
              <a:t>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7AFFE98-A74C-3C1E-03DD-1A41733B8DA8}"/>
              </a:ext>
            </a:extLst>
          </p:cNvPr>
          <p:cNvSpPr/>
          <p:nvPr/>
        </p:nvSpPr>
        <p:spPr>
          <a:xfrm>
            <a:off x="609600" y="1600200"/>
            <a:ext cx="5207000" cy="4546247"/>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811E8D9F-377F-84C4-CFD7-79564B5D35ED}"/>
              </a:ext>
            </a:extLst>
          </p:cNvPr>
          <p:cNvSpPr/>
          <p:nvPr/>
        </p:nvSpPr>
        <p:spPr>
          <a:xfrm>
            <a:off x="609600" y="1600200"/>
            <a:ext cx="5207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29701FE1-0A8B-2DE6-67F6-C9CE3068BF1A}"/>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F654FB3-9193-4424-8342-78B988918E78}"/>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CEA35C1-5C40-D43D-1005-CF242FAA89DB}"/>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FE01D9CF-533D-3CFE-F3D8-0563A8FC1762}"/>
              </a:ext>
            </a:extLst>
          </p:cNvPr>
          <p:cNvSpPr/>
          <p:nvPr/>
        </p:nvSpPr>
        <p:spPr>
          <a:xfrm>
            <a:off x="2070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E20180A-6F6A-15A9-D8EE-6275E25F02D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5207000" cy="4266847"/>
          </a:xfrm>
          <a:prstGeom prst="rect">
            <a:avLst/>
          </a:prstGeom>
        </p:spPr>
      </p:pic>
      <p:sp>
        <p:nvSpPr>
          <p:cNvPr id="15" name="Ellipse 14">
            <a:extLst>
              <a:ext uri="{FF2B5EF4-FFF2-40B4-BE49-F238E27FC236}">
                <a16:creationId xmlns:a16="http://schemas.microsoft.com/office/drawing/2014/main" id="{32A28D79-4AB3-02C1-2F2F-3AA811C6504B}"/>
              </a:ext>
            </a:extLst>
          </p:cNvPr>
          <p:cNvSpPr/>
          <p:nvPr/>
        </p:nvSpPr>
        <p:spPr>
          <a:xfrm>
            <a:off x="1589088" y="207080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10616772-1910-C4E8-7400-65F0DE08FCFA}"/>
              </a:ext>
            </a:extLst>
          </p:cNvPr>
          <p:cNvSpPr/>
          <p:nvPr/>
        </p:nvSpPr>
        <p:spPr>
          <a:xfrm>
            <a:off x="4988101" y="233838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CA733D77-7B7F-B266-02D0-5A2AAD88E85F}"/>
              </a:ext>
            </a:extLst>
          </p:cNvPr>
          <p:cNvSpPr/>
          <p:nvPr/>
        </p:nvSpPr>
        <p:spPr>
          <a:xfrm>
            <a:off x="1589088" y="283377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664229E0-1A2C-6989-CCED-AA388291F229}"/>
              </a:ext>
            </a:extLst>
          </p:cNvPr>
          <p:cNvSpPr/>
          <p:nvPr/>
        </p:nvSpPr>
        <p:spPr>
          <a:xfrm>
            <a:off x="1589088" y="331470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33F0C85F-9BBD-0B16-B6D7-3DA55EAB9B81}"/>
              </a:ext>
            </a:extLst>
          </p:cNvPr>
          <p:cNvSpPr/>
          <p:nvPr/>
        </p:nvSpPr>
        <p:spPr>
          <a:xfrm>
            <a:off x="1589088" y="39402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D7A7D70C-6BFD-7A71-DDFA-B38AB2D8360F}"/>
              </a:ext>
            </a:extLst>
          </p:cNvPr>
          <p:cNvSpPr/>
          <p:nvPr/>
        </p:nvSpPr>
        <p:spPr>
          <a:xfrm>
            <a:off x="3581488" y="39402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CD72CBB6-C6D3-438D-1959-643FB27C6862}"/>
              </a:ext>
            </a:extLst>
          </p:cNvPr>
          <p:cNvSpPr/>
          <p:nvPr/>
        </p:nvSpPr>
        <p:spPr>
          <a:xfrm>
            <a:off x="1589088" y="477916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9EDF7A9A-6263-6DF2-A41F-CDE446251341}"/>
              </a:ext>
            </a:extLst>
          </p:cNvPr>
          <p:cNvSpPr/>
          <p:nvPr/>
        </p:nvSpPr>
        <p:spPr>
          <a:xfrm>
            <a:off x="6350000" y="1600200"/>
            <a:ext cx="5232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5A594E5C-96C6-5BF7-6120-AD24F826D2A5}"/>
              </a:ext>
            </a:extLst>
          </p:cNvPr>
          <p:cNvSpPr txBox="1"/>
          <p:nvPr/>
        </p:nvSpPr>
        <p:spPr>
          <a:xfrm>
            <a:off x="6578600" y="1752600"/>
            <a:ext cx="4775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E0B26147-35D9-3FFA-A081-BFF3B1E60218}"/>
              </a:ext>
            </a:extLst>
          </p:cNvPr>
          <p:cNvSpPr/>
          <p:nvPr/>
        </p:nvSpPr>
        <p:spPr>
          <a:xfrm>
            <a:off x="6578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3E8F0FA2-3CD7-53EA-91C1-86D1B73DA1A2}"/>
              </a:ext>
            </a:extLst>
          </p:cNvPr>
          <p:cNvSpPr txBox="1"/>
          <p:nvPr/>
        </p:nvSpPr>
        <p:spPr>
          <a:xfrm>
            <a:off x="6985000" y="2146300"/>
            <a:ext cx="4368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Phrase de situation et voyant (vert, orange, rouge)</a:t>
            </a:r>
          </a:p>
        </p:txBody>
      </p:sp>
      <p:sp>
        <p:nvSpPr>
          <p:cNvPr id="26" name="Ellipse 25">
            <a:extLst>
              <a:ext uri="{FF2B5EF4-FFF2-40B4-BE49-F238E27FC236}">
                <a16:creationId xmlns:a16="http://schemas.microsoft.com/office/drawing/2014/main" id="{199AF83E-4376-CCFB-26D9-67236E5CA122}"/>
              </a:ext>
            </a:extLst>
          </p:cNvPr>
          <p:cNvSpPr/>
          <p:nvPr/>
        </p:nvSpPr>
        <p:spPr>
          <a:xfrm>
            <a:off x="6578600" y="2590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1B327087-14C7-F646-9948-352C3F4944C9}"/>
              </a:ext>
            </a:extLst>
          </p:cNvPr>
          <p:cNvSpPr txBox="1"/>
          <p:nvPr/>
        </p:nvSpPr>
        <p:spPr>
          <a:xfrm>
            <a:off x="6985000" y="2603500"/>
            <a:ext cx="4368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Accès rapides : recherche, prêt, retour, QR, rapport</a:t>
            </a:r>
          </a:p>
        </p:txBody>
      </p:sp>
      <p:sp>
        <p:nvSpPr>
          <p:cNvPr id="28" name="Ellipse 27">
            <a:extLst>
              <a:ext uri="{FF2B5EF4-FFF2-40B4-BE49-F238E27FC236}">
                <a16:creationId xmlns:a16="http://schemas.microsoft.com/office/drawing/2014/main" id="{A0B823A6-2BA0-E578-237D-DDB88D7CCFB8}"/>
              </a:ext>
            </a:extLst>
          </p:cNvPr>
          <p:cNvSpPr/>
          <p:nvPr/>
        </p:nvSpPr>
        <p:spPr>
          <a:xfrm>
            <a:off x="6578600" y="3048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D48BB881-A476-C1FF-2195-8570F7B80F60}"/>
              </a:ext>
            </a:extLst>
          </p:cNvPr>
          <p:cNvSpPr txBox="1"/>
          <p:nvPr/>
        </p:nvSpPr>
        <p:spPr>
          <a:xfrm>
            <a:off x="6985000" y="3060700"/>
            <a:ext cx="4368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Indicateurs cliquables, dont Retours en retard</a:t>
            </a:r>
          </a:p>
        </p:txBody>
      </p:sp>
      <p:sp>
        <p:nvSpPr>
          <p:cNvPr id="30" name="Ellipse 29">
            <a:extLst>
              <a:ext uri="{FF2B5EF4-FFF2-40B4-BE49-F238E27FC236}">
                <a16:creationId xmlns:a16="http://schemas.microsoft.com/office/drawing/2014/main" id="{76AE5B36-11ED-0837-F9E2-514B1AD4F589}"/>
              </a:ext>
            </a:extLst>
          </p:cNvPr>
          <p:cNvSpPr/>
          <p:nvPr/>
        </p:nvSpPr>
        <p:spPr>
          <a:xfrm>
            <a:off x="6578600" y="3505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BDBE7B89-10AD-D010-FD0D-07B5C81F3132}"/>
              </a:ext>
            </a:extLst>
          </p:cNvPr>
          <p:cNvSpPr txBox="1"/>
          <p:nvPr/>
        </p:nvSpPr>
        <p:spPr>
          <a:xfrm>
            <a:off x="6985000" y="3517900"/>
            <a:ext cx="4368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Bandeau « PDF à archiver » (si besoin)</a:t>
            </a:r>
          </a:p>
        </p:txBody>
      </p:sp>
      <p:sp>
        <p:nvSpPr>
          <p:cNvPr id="32" name="Ellipse 31">
            <a:extLst>
              <a:ext uri="{FF2B5EF4-FFF2-40B4-BE49-F238E27FC236}">
                <a16:creationId xmlns:a16="http://schemas.microsoft.com/office/drawing/2014/main" id="{A2846787-4C6B-5276-E231-CEB5660A433F}"/>
              </a:ext>
            </a:extLst>
          </p:cNvPr>
          <p:cNvSpPr/>
          <p:nvPr/>
        </p:nvSpPr>
        <p:spPr>
          <a:xfrm>
            <a:off x="6578600" y="3962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4DF567CF-8EBC-3D29-315E-5BBBC6E84B0C}"/>
              </a:ext>
            </a:extLst>
          </p:cNvPr>
          <p:cNvSpPr txBox="1"/>
          <p:nvPr/>
        </p:nvSpPr>
        <p:spPr>
          <a:xfrm>
            <a:off x="6985000" y="3975100"/>
            <a:ext cx="4368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Parc matériel : chez les personnes, en retard, en attente, perdu</a:t>
            </a:r>
          </a:p>
        </p:txBody>
      </p:sp>
      <p:sp>
        <p:nvSpPr>
          <p:cNvPr id="34" name="Ellipse 33">
            <a:extLst>
              <a:ext uri="{FF2B5EF4-FFF2-40B4-BE49-F238E27FC236}">
                <a16:creationId xmlns:a16="http://schemas.microsoft.com/office/drawing/2014/main" id="{9B2F2CF6-0948-4579-4990-23822F91D3F6}"/>
              </a:ext>
            </a:extLst>
          </p:cNvPr>
          <p:cNvSpPr/>
          <p:nvPr/>
        </p:nvSpPr>
        <p:spPr>
          <a:xfrm>
            <a:off x="6578600" y="441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46522EE0-0CE5-604E-1AF0-CA7E53A3BEA8}"/>
              </a:ext>
            </a:extLst>
          </p:cNvPr>
          <p:cNvSpPr txBox="1"/>
          <p:nvPr/>
        </p:nvSpPr>
        <p:spPr>
          <a:xfrm>
            <a:off x="6985000" y="4432300"/>
            <a:ext cx="4368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Attestations : signées, en attente, à relancer</a:t>
            </a:r>
          </a:p>
        </p:txBody>
      </p:sp>
      <p:sp>
        <p:nvSpPr>
          <p:cNvPr id="36" name="Ellipse 35">
            <a:extLst>
              <a:ext uri="{FF2B5EF4-FFF2-40B4-BE49-F238E27FC236}">
                <a16:creationId xmlns:a16="http://schemas.microsoft.com/office/drawing/2014/main" id="{A4626AA8-C693-8F33-0628-231091E97739}"/>
              </a:ext>
            </a:extLst>
          </p:cNvPr>
          <p:cNvSpPr/>
          <p:nvPr/>
        </p:nvSpPr>
        <p:spPr>
          <a:xfrm>
            <a:off x="6578600" y="4876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EF84BF55-F75B-582F-C5E8-99DAE6715A39}"/>
              </a:ext>
            </a:extLst>
          </p:cNvPr>
          <p:cNvSpPr txBox="1"/>
          <p:nvPr/>
        </p:nvSpPr>
        <p:spPr>
          <a:xfrm>
            <a:off x="6985000" y="4889500"/>
            <a:ext cx="4368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Statistiques par type de matériel</a:t>
            </a:r>
          </a:p>
        </p:txBody>
      </p:sp>
    </p:spTree>
    <p:extLst>
      <p:ext uri="{BB962C8B-B14F-4D97-AF65-F5344CB8AC3E}">
        <p14:creationId xmlns:p14="http://schemas.microsoft.com/office/powerpoint/2010/main" val="42123152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EBE118A-2C5A-F734-E158-F10609C32B6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Emprunter : enregistrer un prêt</a:t>
            </a:r>
          </a:p>
        </p:txBody>
      </p:sp>
      <p:sp>
        <p:nvSpPr>
          <p:cNvPr id="3" name="ZoneTexte 2">
            <a:extLst>
              <a:ext uri="{FF2B5EF4-FFF2-40B4-BE49-F238E27FC236}">
                <a16:creationId xmlns:a16="http://schemas.microsoft.com/office/drawing/2014/main" id="{F80E0C81-7C58-D9BC-8EA4-DB89578E337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2</a:t>
            </a:r>
          </a:p>
        </p:txBody>
      </p:sp>
      <p:sp>
        <p:nvSpPr>
          <p:cNvPr id="4" name="ZoneTexte 3">
            <a:extLst>
              <a:ext uri="{FF2B5EF4-FFF2-40B4-BE49-F238E27FC236}">
                <a16:creationId xmlns:a16="http://schemas.microsoft.com/office/drawing/2014/main" id="{D8D76F5C-D7B8-82D2-A76F-EE352B66963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Rechercher la personne, cocher le matériel, choisir la date, enregistrer</a:t>
            </a:r>
          </a:p>
        </p:txBody>
      </p:sp>
      <p:sp>
        <p:nvSpPr>
          <p:cNvPr id="5" name="ZoneTexte 4">
            <a:extLst>
              <a:ext uri="{FF2B5EF4-FFF2-40B4-BE49-F238E27FC236}">
                <a16:creationId xmlns:a16="http://schemas.microsoft.com/office/drawing/2014/main" id="{9F7F9BBD-D364-14DF-7846-AA05EFAAA4F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C512DA1A-65AE-7853-2AD5-BC1667874FF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3C3B84D-353A-477B-AAA9-2324374464C8}" type="slidenum">
              <a:rPr lang="fr-FR" sz="900" smtClean="0">
                <a:solidFill>
                  <a:srgbClr val="586080"/>
                </a:solidFill>
                <a:latin typeface="Calibri" panose="020F0502020204030204" pitchFamily="34" charset="0"/>
              </a:rPr>
              <a:t>10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81C4F18-1245-3D8D-3B48-A068C3899771}"/>
              </a:ext>
            </a:extLst>
          </p:cNvPr>
          <p:cNvSpPr/>
          <p:nvPr/>
        </p:nvSpPr>
        <p:spPr>
          <a:xfrm>
            <a:off x="609600" y="1600200"/>
            <a:ext cx="7010400" cy="4660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509FCA9-A90C-6BBE-4F3C-72E15D7D8BFE}"/>
              </a:ext>
            </a:extLst>
          </p:cNvPr>
          <p:cNvSpPr/>
          <p:nvPr/>
        </p:nvSpPr>
        <p:spPr>
          <a:xfrm>
            <a:off x="609600" y="1600200"/>
            <a:ext cx="7010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BA7188D-BDCD-41AA-044D-E61167BA7211}"/>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3B18BA23-8CD7-C4EF-7234-562DF43424A3}"/>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0EC0B124-A629-F141-D46C-81961F83753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11EFCFE3-BD49-24EB-DEBF-0357B7BFF38A}"/>
              </a:ext>
            </a:extLst>
          </p:cNvPr>
          <p:cNvSpPr/>
          <p:nvPr/>
        </p:nvSpPr>
        <p:spPr>
          <a:xfrm>
            <a:off x="2971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59D63C9-73A1-ACC7-FD1B-927A0057629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010400" cy="4381500"/>
          </a:xfrm>
          <a:prstGeom prst="rect">
            <a:avLst/>
          </a:prstGeom>
        </p:spPr>
      </p:pic>
      <p:sp>
        <p:nvSpPr>
          <p:cNvPr id="15" name="Ellipse 14">
            <a:extLst>
              <a:ext uri="{FF2B5EF4-FFF2-40B4-BE49-F238E27FC236}">
                <a16:creationId xmlns:a16="http://schemas.microsoft.com/office/drawing/2014/main" id="{3F29E870-BB75-C9CD-77B5-8CA9E29DECDA}"/>
              </a:ext>
            </a:extLst>
          </p:cNvPr>
          <p:cNvSpPr/>
          <p:nvPr/>
        </p:nvSpPr>
        <p:spPr>
          <a:xfrm>
            <a:off x="1972310" y="320823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13E14F37-0E86-2D9A-5734-42106B6063EF}"/>
              </a:ext>
            </a:extLst>
          </p:cNvPr>
          <p:cNvSpPr/>
          <p:nvPr/>
        </p:nvSpPr>
        <p:spPr>
          <a:xfrm>
            <a:off x="2113492" y="373401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296D9939-9B87-1B82-B36F-5A68128AD300}"/>
              </a:ext>
            </a:extLst>
          </p:cNvPr>
          <p:cNvSpPr/>
          <p:nvPr/>
        </p:nvSpPr>
        <p:spPr>
          <a:xfrm>
            <a:off x="1972310" y="409913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1C914E96-AA21-D438-2327-C55AABDC621D}"/>
              </a:ext>
            </a:extLst>
          </p:cNvPr>
          <p:cNvSpPr/>
          <p:nvPr/>
        </p:nvSpPr>
        <p:spPr>
          <a:xfrm>
            <a:off x="1972310" y="433768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81D435B9-A966-DD19-01B5-AC4FADF529C0}"/>
              </a:ext>
            </a:extLst>
          </p:cNvPr>
          <p:cNvSpPr/>
          <p:nvPr/>
        </p:nvSpPr>
        <p:spPr>
          <a:xfrm>
            <a:off x="6285653" y="4099137"/>
            <a:ext cx="254001"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BB4ED6AA-7ED1-7B05-7FC7-6C43C9C5FCA5}"/>
              </a:ext>
            </a:extLst>
          </p:cNvPr>
          <p:cNvSpPr/>
          <p:nvPr/>
        </p:nvSpPr>
        <p:spPr>
          <a:xfrm>
            <a:off x="5808557" y="48439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8F77D9A6-70E9-D2A6-AD3A-0B151E304BE6}"/>
              </a:ext>
            </a:extLst>
          </p:cNvPr>
          <p:cNvSpPr/>
          <p:nvPr/>
        </p:nvSpPr>
        <p:spPr>
          <a:xfrm>
            <a:off x="6986694" y="48439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372E0E55-29F5-BADB-4A98-998E3508DF36}"/>
              </a:ext>
            </a:extLst>
          </p:cNvPr>
          <p:cNvSpPr/>
          <p:nvPr/>
        </p:nvSpPr>
        <p:spPr>
          <a:xfrm>
            <a:off x="8077200" y="1600200"/>
            <a:ext cx="35052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C1F6424E-AF36-1873-04AB-CCBCA38B6A44}"/>
              </a:ext>
            </a:extLst>
          </p:cNvPr>
          <p:cNvSpPr txBox="1"/>
          <p:nvPr/>
        </p:nvSpPr>
        <p:spPr>
          <a:xfrm>
            <a:off x="8305800" y="1752600"/>
            <a:ext cx="304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C7E59565-3ECF-EAA8-290C-65793FCBEC49}"/>
              </a:ext>
            </a:extLst>
          </p:cNvPr>
          <p:cNvSpPr/>
          <p:nvPr/>
        </p:nvSpPr>
        <p:spPr>
          <a:xfrm>
            <a:off x="83058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3581C58E-50B1-8562-A6C3-F0B89980734C}"/>
              </a:ext>
            </a:extLst>
          </p:cNvPr>
          <p:cNvSpPr txBox="1"/>
          <p:nvPr/>
        </p:nvSpPr>
        <p:spPr>
          <a:xfrm>
            <a:off x="8712200" y="21463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Quatre indicateurs</a:t>
            </a:r>
          </a:p>
        </p:txBody>
      </p:sp>
      <p:sp>
        <p:nvSpPr>
          <p:cNvPr id="26" name="Ellipse 25">
            <a:extLst>
              <a:ext uri="{FF2B5EF4-FFF2-40B4-BE49-F238E27FC236}">
                <a16:creationId xmlns:a16="http://schemas.microsoft.com/office/drawing/2014/main" id="{CDD8CAAB-BD24-468B-EE77-B1F5AC3C84A0}"/>
              </a:ext>
            </a:extLst>
          </p:cNvPr>
          <p:cNvSpPr/>
          <p:nvPr/>
        </p:nvSpPr>
        <p:spPr>
          <a:xfrm>
            <a:off x="8305800" y="25527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5506525B-C955-973F-11D6-85A865DB54C5}"/>
              </a:ext>
            </a:extLst>
          </p:cNvPr>
          <p:cNvSpPr txBox="1"/>
          <p:nvPr/>
        </p:nvSpPr>
        <p:spPr>
          <a:xfrm>
            <a:off x="8712200" y="25654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(accents ignorés)</a:t>
            </a:r>
          </a:p>
        </p:txBody>
      </p:sp>
      <p:sp>
        <p:nvSpPr>
          <p:cNvPr id="28" name="Ellipse 27">
            <a:extLst>
              <a:ext uri="{FF2B5EF4-FFF2-40B4-BE49-F238E27FC236}">
                <a16:creationId xmlns:a16="http://schemas.microsoft.com/office/drawing/2014/main" id="{3D35977B-7123-81A7-D184-421EA02B805D}"/>
              </a:ext>
            </a:extLst>
          </p:cNvPr>
          <p:cNvSpPr/>
          <p:nvPr/>
        </p:nvSpPr>
        <p:spPr>
          <a:xfrm>
            <a:off x="8305800" y="2971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91196D71-2736-6F98-292F-24D1D90B29DC}"/>
              </a:ext>
            </a:extLst>
          </p:cNvPr>
          <p:cNvSpPr txBox="1"/>
          <p:nvPr/>
        </p:nvSpPr>
        <p:spPr>
          <a:xfrm>
            <a:off x="8712200" y="29845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Filtres : à emprunter, tout emprunté</a:t>
            </a:r>
          </a:p>
        </p:txBody>
      </p:sp>
      <p:sp>
        <p:nvSpPr>
          <p:cNvPr id="30" name="Ellipse 29">
            <a:extLst>
              <a:ext uri="{FF2B5EF4-FFF2-40B4-BE49-F238E27FC236}">
                <a16:creationId xmlns:a16="http://schemas.microsoft.com/office/drawing/2014/main" id="{6EFF24DA-68AC-5254-79C2-A080AA7689EF}"/>
              </a:ext>
            </a:extLst>
          </p:cNvPr>
          <p:cNvSpPr/>
          <p:nvPr/>
        </p:nvSpPr>
        <p:spPr>
          <a:xfrm>
            <a:off x="8305800" y="3390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FA8401BD-3A0A-5152-FAD4-0D5A1D4F4D96}"/>
              </a:ext>
            </a:extLst>
          </p:cNvPr>
          <p:cNvSpPr txBox="1"/>
          <p:nvPr/>
        </p:nvSpPr>
        <p:spPr>
          <a:xfrm>
            <a:off x="8712200" y="34036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Période (entre deux dates…)</a:t>
            </a:r>
          </a:p>
        </p:txBody>
      </p:sp>
      <p:sp>
        <p:nvSpPr>
          <p:cNvPr id="32" name="Ellipse 31">
            <a:extLst>
              <a:ext uri="{FF2B5EF4-FFF2-40B4-BE49-F238E27FC236}">
                <a16:creationId xmlns:a16="http://schemas.microsoft.com/office/drawing/2014/main" id="{803EAF98-72AC-BE48-149E-4D3693A68F90}"/>
              </a:ext>
            </a:extLst>
          </p:cNvPr>
          <p:cNvSpPr/>
          <p:nvPr/>
        </p:nvSpPr>
        <p:spPr>
          <a:xfrm>
            <a:off x="83058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283BA21A-199D-8C09-CFC0-4D41C806C7B0}"/>
              </a:ext>
            </a:extLst>
          </p:cNvPr>
          <p:cNvSpPr txBox="1"/>
          <p:nvPr/>
        </p:nvSpPr>
        <p:spPr>
          <a:xfrm>
            <a:off x="8712200" y="38227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Tri</a:t>
            </a:r>
          </a:p>
        </p:txBody>
      </p:sp>
      <p:sp>
        <p:nvSpPr>
          <p:cNvPr id="34" name="Ellipse 33">
            <a:extLst>
              <a:ext uri="{FF2B5EF4-FFF2-40B4-BE49-F238E27FC236}">
                <a16:creationId xmlns:a16="http://schemas.microsoft.com/office/drawing/2014/main" id="{3EA1F81B-CD5D-B135-0FC9-A41248292653}"/>
              </a:ext>
            </a:extLst>
          </p:cNvPr>
          <p:cNvSpPr/>
          <p:nvPr/>
        </p:nvSpPr>
        <p:spPr>
          <a:xfrm>
            <a:off x="8305800" y="4229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97BA8C12-3879-3F88-C7FC-15A5030DE555}"/>
              </a:ext>
            </a:extLst>
          </p:cNvPr>
          <p:cNvSpPr txBox="1"/>
          <p:nvPr/>
        </p:nvSpPr>
        <p:spPr>
          <a:xfrm>
            <a:off x="8712200" y="42418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Jauge « x / y remis »</a:t>
            </a:r>
          </a:p>
        </p:txBody>
      </p:sp>
      <p:sp>
        <p:nvSpPr>
          <p:cNvPr id="36" name="Ellipse 35">
            <a:extLst>
              <a:ext uri="{FF2B5EF4-FFF2-40B4-BE49-F238E27FC236}">
                <a16:creationId xmlns:a16="http://schemas.microsoft.com/office/drawing/2014/main" id="{8820AC49-96CF-7150-E8A8-CF07C5A8AB16}"/>
              </a:ext>
            </a:extLst>
          </p:cNvPr>
          <p:cNvSpPr/>
          <p:nvPr/>
        </p:nvSpPr>
        <p:spPr>
          <a:xfrm>
            <a:off x="8305800" y="4648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85645D5C-1DD3-1848-B5AF-B04EDD686585}"/>
              </a:ext>
            </a:extLst>
          </p:cNvPr>
          <p:cNvSpPr txBox="1"/>
          <p:nvPr/>
        </p:nvSpPr>
        <p:spPr>
          <a:xfrm>
            <a:off x="8712200" y="46609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État de la personne</a:t>
            </a:r>
          </a:p>
        </p:txBody>
      </p:sp>
      <p:sp>
        <p:nvSpPr>
          <p:cNvPr id="38" name="ZoneTexte 37">
            <a:extLst>
              <a:ext uri="{FF2B5EF4-FFF2-40B4-BE49-F238E27FC236}">
                <a16:creationId xmlns:a16="http://schemas.microsoft.com/office/drawing/2014/main" id="{7B412F5D-F7F4-80E3-FA7E-75256C59AEAD}"/>
              </a:ext>
            </a:extLst>
          </p:cNvPr>
          <p:cNvSpPr txBox="1"/>
          <p:nvPr/>
        </p:nvSpPr>
        <p:spPr>
          <a:xfrm>
            <a:off x="8305800" y="5181600"/>
            <a:ext cx="30480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Dans la fiche</a:t>
            </a:r>
          </a:p>
        </p:txBody>
      </p:sp>
      <p:sp>
        <p:nvSpPr>
          <p:cNvPr id="39" name="ZoneTexte 38">
            <a:extLst>
              <a:ext uri="{FF2B5EF4-FFF2-40B4-BE49-F238E27FC236}">
                <a16:creationId xmlns:a16="http://schemas.microsoft.com/office/drawing/2014/main" id="{B01446D7-1EC3-82C0-4DAD-C2CA1A033466}"/>
              </a:ext>
            </a:extLst>
          </p:cNvPr>
          <p:cNvSpPr txBox="1"/>
          <p:nvPr/>
        </p:nvSpPr>
        <p:spPr>
          <a:xfrm>
            <a:off x="8305800" y="5435600"/>
            <a:ext cx="3048000" cy="7874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3 étapes ; carte « Retour prévu » facultative, bouton Enregistrer en bas à droite. Annuler pendant 10 s.</a:t>
            </a:r>
          </a:p>
        </p:txBody>
      </p:sp>
    </p:spTree>
    <p:extLst>
      <p:ext uri="{BB962C8B-B14F-4D97-AF65-F5344CB8AC3E}">
        <p14:creationId xmlns:p14="http://schemas.microsoft.com/office/powerpoint/2010/main" val="10870995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FC5232-BB4E-A783-86F4-3FF0A1A5066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Restituer : suivre les retours</a:t>
            </a:r>
          </a:p>
        </p:txBody>
      </p:sp>
      <p:sp>
        <p:nvSpPr>
          <p:cNvPr id="3" name="ZoneTexte 2">
            <a:extLst>
              <a:ext uri="{FF2B5EF4-FFF2-40B4-BE49-F238E27FC236}">
                <a16:creationId xmlns:a16="http://schemas.microsoft.com/office/drawing/2014/main" id="{9F143807-C2A9-F570-9510-CBD2344791D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3</a:t>
            </a:r>
          </a:p>
        </p:txBody>
      </p:sp>
      <p:sp>
        <p:nvSpPr>
          <p:cNvPr id="4" name="ZoneTexte 3">
            <a:extLst>
              <a:ext uri="{FF2B5EF4-FFF2-40B4-BE49-F238E27FC236}">
                <a16:creationId xmlns:a16="http://schemas.microsoft.com/office/drawing/2014/main" id="{9CAB503E-AD80-6C27-E307-8A96AF860615}"/>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Indicateurs, filtres et jauge à quatre couleurs</a:t>
            </a:r>
          </a:p>
        </p:txBody>
      </p:sp>
      <p:sp>
        <p:nvSpPr>
          <p:cNvPr id="5" name="ZoneTexte 4">
            <a:extLst>
              <a:ext uri="{FF2B5EF4-FFF2-40B4-BE49-F238E27FC236}">
                <a16:creationId xmlns:a16="http://schemas.microsoft.com/office/drawing/2014/main" id="{3C45154C-6785-3E25-1E86-1752A31E890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A72FDB49-AC42-6380-6F4C-BCE2B4C7891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718F7D6-AFA0-4C26-B2FB-12A1E51F68D2}" type="slidenum">
              <a:rPr lang="fr-FR" sz="900" smtClean="0">
                <a:solidFill>
                  <a:srgbClr val="586080"/>
                </a:solidFill>
                <a:latin typeface="Calibri" panose="020F0502020204030204" pitchFamily="34" charset="0"/>
              </a:rPr>
              <a:t>11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D79DC6AE-48C2-FD2A-9A62-B47622FB15B7}"/>
              </a:ext>
            </a:extLst>
          </p:cNvPr>
          <p:cNvSpPr/>
          <p:nvPr/>
        </p:nvSpPr>
        <p:spPr>
          <a:xfrm>
            <a:off x="609600" y="1600200"/>
            <a:ext cx="7010400" cy="4660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FE7E0B8A-48FB-0D8E-EA60-0B3B397A9174}"/>
              </a:ext>
            </a:extLst>
          </p:cNvPr>
          <p:cNvSpPr/>
          <p:nvPr/>
        </p:nvSpPr>
        <p:spPr>
          <a:xfrm>
            <a:off x="609600" y="1600200"/>
            <a:ext cx="7010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C19B641E-8F78-75A0-F06C-A6249481E73D}"/>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4D60D12-9250-A00C-578D-92012977E840}"/>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5622423-2C19-00A4-4831-332DAD77B2FC}"/>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033FB22A-DA74-D4A4-FF31-DA07E7CC3865}"/>
              </a:ext>
            </a:extLst>
          </p:cNvPr>
          <p:cNvSpPr/>
          <p:nvPr/>
        </p:nvSpPr>
        <p:spPr>
          <a:xfrm>
            <a:off x="2971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2116D3AB-EF2E-27CA-58DE-CF100EB06A7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010400" cy="4381500"/>
          </a:xfrm>
          <a:prstGeom prst="rect">
            <a:avLst/>
          </a:prstGeom>
        </p:spPr>
      </p:pic>
      <p:sp>
        <p:nvSpPr>
          <p:cNvPr id="15" name="Ellipse 14">
            <a:extLst>
              <a:ext uri="{FF2B5EF4-FFF2-40B4-BE49-F238E27FC236}">
                <a16:creationId xmlns:a16="http://schemas.microsoft.com/office/drawing/2014/main" id="{47F6382A-1097-4D11-0632-D8A770C02412}"/>
              </a:ext>
            </a:extLst>
          </p:cNvPr>
          <p:cNvSpPr/>
          <p:nvPr/>
        </p:nvSpPr>
        <p:spPr>
          <a:xfrm>
            <a:off x="1972310" y="332020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A3622ABD-CEDD-EB92-B2DC-C23CD8D01223}"/>
              </a:ext>
            </a:extLst>
          </p:cNvPr>
          <p:cNvSpPr/>
          <p:nvPr/>
        </p:nvSpPr>
        <p:spPr>
          <a:xfrm>
            <a:off x="6251575" y="383624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2589835C-BA68-B76E-6DBB-11C50F55B994}"/>
              </a:ext>
            </a:extLst>
          </p:cNvPr>
          <p:cNvSpPr/>
          <p:nvPr/>
        </p:nvSpPr>
        <p:spPr>
          <a:xfrm>
            <a:off x="1972310" y="420624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22CCB153-E3EE-FFF1-D2CA-B6187DA9D394}"/>
              </a:ext>
            </a:extLst>
          </p:cNvPr>
          <p:cNvSpPr/>
          <p:nvPr/>
        </p:nvSpPr>
        <p:spPr>
          <a:xfrm>
            <a:off x="5774478" y="499491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CA5A6336-F582-51E0-04A0-8CCA26CE6C7A}"/>
              </a:ext>
            </a:extLst>
          </p:cNvPr>
          <p:cNvSpPr/>
          <p:nvPr/>
        </p:nvSpPr>
        <p:spPr>
          <a:xfrm>
            <a:off x="7001298" y="49559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Rectangle : coins arrondis 19">
            <a:extLst>
              <a:ext uri="{FF2B5EF4-FFF2-40B4-BE49-F238E27FC236}">
                <a16:creationId xmlns:a16="http://schemas.microsoft.com/office/drawing/2014/main" id="{28E5E527-B101-0F5E-0964-17B163035F26}"/>
              </a:ext>
            </a:extLst>
          </p:cNvPr>
          <p:cNvSpPr/>
          <p:nvPr/>
        </p:nvSpPr>
        <p:spPr>
          <a:xfrm>
            <a:off x="8077200" y="1600200"/>
            <a:ext cx="35052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2E077B5A-382E-3109-3A41-DA47031EEF28}"/>
              </a:ext>
            </a:extLst>
          </p:cNvPr>
          <p:cNvSpPr txBox="1"/>
          <p:nvPr/>
        </p:nvSpPr>
        <p:spPr>
          <a:xfrm>
            <a:off x="8305800" y="1752600"/>
            <a:ext cx="304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2" name="Ellipse 21">
            <a:extLst>
              <a:ext uri="{FF2B5EF4-FFF2-40B4-BE49-F238E27FC236}">
                <a16:creationId xmlns:a16="http://schemas.microsoft.com/office/drawing/2014/main" id="{CC1E18DA-48E4-1BE7-340A-7E991F575D93}"/>
              </a:ext>
            </a:extLst>
          </p:cNvPr>
          <p:cNvSpPr/>
          <p:nvPr/>
        </p:nvSpPr>
        <p:spPr>
          <a:xfrm>
            <a:off x="83058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3" name="ZoneTexte 22">
            <a:extLst>
              <a:ext uri="{FF2B5EF4-FFF2-40B4-BE49-F238E27FC236}">
                <a16:creationId xmlns:a16="http://schemas.microsoft.com/office/drawing/2014/main" id="{CE6A8E75-1478-15A7-9F53-645E52BBDE0E}"/>
              </a:ext>
            </a:extLst>
          </p:cNvPr>
          <p:cNvSpPr txBox="1"/>
          <p:nvPr/>
        </p:nvSpPr>
        <p:spPr>
          <a:xfrm>
            <a:off x="8712200" y="21463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Quatre indicateurs cliquables</a:t>
            </a:r>
          </a:p>
        </p:txBody>
      </p:sp>
      <p:sp>
        <p:nvSpPr>
          <p:cNvPr id="24" name="Ellipse 23">
            <a:extLst>
              <a:ext uri="{FF2B5EF4-FFF2-40B4-BE49-F238E27FC236}">
                <a16:creationId xmlns:a16="http://schemas.microsoft.com/office/drawing/2014/main" id="{4F151C58-96F1-AD1E-D9C5-035B45DF0253}"/>
              </a:ext>
            </a:extLst>
          </p:cNvPr>
          <p:cNvSpPr/>
          <p:nvPr/>
        </p:nvSpPr>
        <p:spPr>
          <a:xfrm>
            <a:off x="8305800" y="2590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5" name="ZoneTexte 24">
            <a:extLst>
              <a:ext uri="{FF2B5EF4-FFF2-40B4-BE49-F238E27FC236}">
                <a16:creationId xmlns:a16="http://schemas.microsoft.com/office/drawing/2014/main" id="{3A6BD23D-602A-7DD2-E8F7-669CFFA5592F}"/>
              </a:ext>
            </a:extLst>
          </p:cNvPr>
          <p:cNvSpPr txBox="1"/>
          <p:nvPr/>
        </p:nvSpPr>
        <p:spPr>
          <a:xfrm>
            <a:off x="8712200" y="26035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et scanner QR</a:t>
            </a:r>
          </a:p>
        </p:txBody>
      </p:sp>
      <p:sp>
        <p:nvSpPr>
          <p:cNvPr id="26" name="Ellipse 25">
            <a:extLst>
              <a:ext uri="{FF2B5EF4-FFF2-40B4-BE49-F238E27FC236}">
                <a16:creationId xmlns:a16="http://schemas.microsoft.com/office/drawing/2014/main" id="{226047EB-0A96-5F34-1C0E-DEA50CF19181}"/>
              </a:ext>
            </a:extLst>
          </p:cNvPr>
          <p:cNvSpPr/>
          <p:nvPr/>
        </p:nvSpPr>
        <p:spPr>
          <a:xfrm>
            <a:off x="8305800" y="3048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7" name="ZoneTexte 26">
            <a:extLst>
              <a:ext uri="{FF2B5EF4-FFF2-40B4-BE49-F238E27FC236}">
                <a16:creationId xmlns:a16="http://schemas.microsoft.com/office/drawing/2014/main" id="{01D2F548-C821-81C0-D328-749527E26088}"/>
              </a:ext>
            </a:extLst>
          </p:cNvPr>
          <p:cNvSpPr txBox="1"/>
          <p:nvPr/>
        </p:nvSpPr>
        <p:spPr>
          <a:xfrm>
            <a:off x="8712200" y="30607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Filtres : à traiter, en retard de retour, en attente, perdu…</a:t>
            </a:r>
          </a:p>
        </p:txBody>
      </p:sp>
      <p:sp>
        <p:nvSpPr>
          <p:cNvPr id="28" name="Ellipse 27">
            <a:extLst>
              <a:ext uri="{FF2B5EF4-FFF2-40B4-BE49-F238E27FC236}">
                <a16:creationId xmlns:a16="http://schemas.microsoft.com/office/drawing/2014/main" id="{B555ED93-8FA8-9D40-08AA-8F9AAC12A3FF}"/>
              </a:ext>
            </a:extLst>
          </p:cNvPr>
          <p:cNvSpPr/>
          <p:nvPr/>
        </p:nvSpPr>
        <p:spPr>
          <a:xfrm>
            <a:off x="8305800" y="3505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29" name="ZoneTexte 28">
            <a:extLst>
              <a:ext uri="{FF2B5EF4-FFF2-40B4-BE49-F238E27FC236}">
                <a16:creationId xmlns:a16="http://schemas.microsoft.com/office/drawing/2014/main" id="{2D1CA930-2B2D-2890-BF97-DB4274FB6D24}"/>
              </a:ext>
            </a:extLst>
          </p:cNvPr>
          <p:cNvSpPr txBox="1"/>
          <p:nvPr/>
        </p:nvSpPr>
        <p:spPr>
          <a:xfrm>
            <a:off x="8712200" y="35179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Jauge : restitué, chez la personne, en attente, perdu</a:t>
            </a:r>
          </a:p>
        </p:txBody>
      </p:sp>
      <p:sp>
        <p:nvSpPr>
          <p:cNvPr id="30" name="Ellipse 29">
            <a:extLst>
              <a:ext uri="{FF2B5EF4-FFF2-40B4-BE49-F238E27FC236}">
                <a16:creationId xmlns:a16="http://schemas.microsoft.com/office/drawing/2014/main" id="{1B7985B7-511C-162D-398C-E5B32A0F4C4D}"/>
              </a:ext>
            </a:extLst>
          </p:cNvPr>
          <p:cNvSpPr/>
          <p:nvPr/>
        </p:nvSpPr>
        <p:spPr>
          <a:xfrm>
            <a:off x="8305800" y="3962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1" name="ZoneTexte 30">
            <a:extLst>
              <a:ext uri="{FF2B5EF4-FFF2-40B4-BE49-F238E27FC236}">
                <a16:creationId xmlns:a16="http://schemas.microsoft.com/office/drawing/2014/main" id="{E972148B-CF03-B76E-B3E3-5E258D3B1009}"/>
              </a:ext>
            </a:extLst>
          </p:cNvPr>
          <p:cNvSpPr txBox="1"/>
          <p:nvPr/>
        </p:nvSpPr>
        <p:spPr>
          <a:xfrm>
            <a:off x="8712200" y="39751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Pastille d'état de la ligne</a:t>
            </a:r>
          </a:p>
        </p:txBody>
      </p:sp>
      <p:sp>
        <p:nvSpPr>
          <p:cNvPr id="32" name="ZoneTexte 31">
            <a:extLst>
              <a:ext uri="{FF2B5EF4-FFF2-40B4-BE49-F238E27FC236}">
                <a16:creationId xmlns:a16="http://schemas.microsoft.com/office/drawing/2014/main" id="{9A2EEF42-4339-DB44-586B-C7A855F20EF7}"/>
              </a:ext>
            </a:extLst>
          </p:cNvPr>
          <p:cNvSpPr txBox="1"/>
          <p:nvPr/>
        </p:nvSpPr>
        <p:spPr>
          <a:xfrm>
            <a:off x="8305800" y="4724400"/>
            <a:ext cx="30480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Priorité d'une ligne</a:t>
            </a:r>
          </a:p>
        </p:txBody>
      </p:sp>
      <p:sp>
        <p:nvSpPr>
          <p:cNvPr id="33" name="ZoneTexte 32">
            <a:extLst>
              <a:ext uri="{FF2B5EF4-FFF2-40B4-BE49-F238E27FC236}">
                <a16:creationId xmlns:a16="http://schemas.microsoft.com/office/drawing/2014/main" id="{5689D915-0E84-839A-1399-15F710937523}"/>
              </a:ext>
            </a:extLst>
          </p:cNvPr>
          <p:cNvSpPr txBox="1"/>
          <p:nvPr/>
        </p:nvSpPr>
        <p:spPr>
          <a:xfrm>
            <a:off x="8305800" y="4978400"/>
            <a:ext cx="3048000" cy="1219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Le bord gauche suit la priorité : perte (rouge), attente de signature (jaune), en cours (bleu), tout rendu (vert). « Retour en retard » en rouge sur la ligne.</a:t>
            </a:r>
          </a:p>
        </p:txBody>
      </p:sp>
    </p:spTree>
    <p:extLst>
      <p:ext uri="{BB962C8B-B14F-4D97-AF65-F5344CB8AC3E}">
        <p14:creationId xmlns:p14="http://schemas.microsoft.com/office/powerpoint/2010/main" val="2809482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D5A213-CE6B-BDEF-A68C-879AB5F1C2C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Restituer : trois actions possibles</a:t>
            </a:r>
          </a:p>
        </p:txBody>
      </p:sp>
      <p:sp>
        <p:nvSpPr>
          <p:cNvPr id="3" name="ZoneTexte 2">
            <a:extLst>
              <a:ext uri="{FF2B5EF4-FFF2-40B4-BE49-F238E27FC236}">
                <a16:creationId xmlns:a16="http://schemas.microsoft.com/office/drawing/2014/main" id="{7B81A50A-8445-CF47-6412-8FF0E8C7B78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3</a:t>
            </a:r>
          </a:p>
        </p:txBody>
      </p:sp>
      <p:sp>
        <p:nvSpPr>
          <p:cNvPr id="4" name="ZoneTexte 3">
            <a:extLst>
              <a:ext uri="{FF2B5EF4-FFF2-40B4-BE49-F238E27FC236}">
                <a16:creationId xmlns:a16="http://schemas.microsoft.com/office/drawing/2014/main" id="{D1F3042D-F9FE-2145-7279-176F1FB13C4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Attestation par email ou téléphone, ou déclaration de perte, vol, casse</a:t>
            </a:r>
          </a:p>
        </p:txBody>
      </p:sp>
      <p:sp>
        <p:nvSpPr>
          <p:cNvPr id="5" name="ZoneTexte 4">
            <a:extLst>
              <a:ext uri="{FF2B5EF4-FFF2-40B4-BE49-F238E27FC236}">
                <a16:creationId xmlns:a16="http://schemas.microsoft.com/office/drawing/2014/main" id="{EFFE795F-81A4-A1BC-5039-FE21546FA99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0C74406C-F294-7A9A-94E7-033F50D7115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ED05165-C0FE-4DE3-AD83-A0453CBCD595}" type="slidenum">
              <a:rPr lang="fr-FR" sz="900" smtClean="0">
                <a:solidFill>
                  <a:srgbClr val="586080"/>
                </a:solidFill>
                <a:latin typeface="Calibri" panose="020F0502020204030204" pitchFamily="34" charset="0"/>
              </a:rPr>
              <a:t>12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F02591E-35ED-C8AB-B484-0CF4186494E0}"/>
              </a:ext>
            </a:extLst>
          </p:cNvPr>
          <p:cNvSpPr/>
          <p:nvPr/>
        </p:nvSpPr>
        <p:spPr>
          <a:xfrm>
            <a:off x="609600" y="1574800"/>
            <a:ext cx="3454400" cy="4710044"/>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0DBFAA59-DD75-12AB-56E7-32A61EBFE2DE}"/>
              </a:ext>
            </a:extLst>
          </p:cNvPr>
          <p:cNvSpPr/>
          <p:nvPr/>
        </p:nvSpPr>
        <p:spPr>
          <a:xfrm>
            <a:off x="609600" y="1574800"/>
            <a:ext cx="3454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44057384-AA27-C829-BE58-AFD2B0BD3586}"/>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7697CFF1-9E57-7CBA-806F-F9EA01AA7930}"/>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72A3041-E6A1-84B7-0522-FE14AB295EB3}"/>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404C6806-0582-06B4-FF52-D867102ED574}"/>
              </a:ext>
            </a:extLst>
          </p:cNvPr>
          <p:cNvSpPr/>
          <p:nvPr/>
        </p:nvSpPr>
        <p:spPr>
          <a:xfrm>
            <a:off x="11938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7956723-38D3-8122-D6F5-40225F7EA01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454400" cy="4430644"/>
          </a:xfrm>
          <a:prstGeom prst="rect">
            <a:avLst/>
          </a:prstGeom>
        </p:spPr>
      </p:pic>
      <p:sp>
        <p:nvSpPr>
          <p:cNvPr id="15" name="Ellipse 14">
            <a:extLst>
              <a:ext uri="{FF2B5EF4-FFF2-40B4-BE49-F238E27FC236}">
                <a16:creationId xmlns:a16="http://schemas.microsoft.com/office/drawing/2014/main" id="{9CE4BEB2-5AB6-07C4-2AF0-E728EAADE30D}"/>
              </a:ext>
            </a:extLst>
          </p:cNvPr>
          <p:cNvSpPr/>
          <p:nvPr/>
        </p:nvSpPr>
        <p:spPr>
          <a:xfrm>
            <a:off x="565205" y="221156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5C741111-CD98-60B3-C9A6-BB7A6F444AF9}"/>
              </a:ext>
            </a:extLst>
          </p:cNvPr>
          <p:cNvSpPr/>
          <p:nvPr/>
        </p:nvSpPr>
        <p:spPr>
          <a:xfrm>
            <a:off x="565205" y="298880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E1F8901A-9C65-2C37-EE5A-B40878C8E5A5}"/>
              </a:ext>
            </a:extLst>
          </p:cNvPr>
          <p:cNvSpPr/>
          <p:nvPr/>
        </p:nvSpPr>
        <p:spPr>
          <a:xfrm>
            <a:off x="565205" y="317279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7F0D6DBE-449C-D8A5-A2E1-F52D53C52AC9}"/>
              </a:ext>
            </a:extLst>
          </p:cNvPr>
          <p:cNvSpPr/>
          <p:nvPr/>
        </p:nvSpPr>
        <p:spPr>
          <a:xfrm>
            <a:off x="565205" y="459960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AA322EC8-48D7-0396-63EC-2DC61D55DE4C}"/>
              </a:ext>
            </a:extLst>
          </p:cNvPr>
          <p:cNvSpPr/>
          <p:nvPr/>
        </p:nvSpPr>
        <p:spPr>
          <a:xfrm>
            <a:off x="565205" y="514029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FAC5E595-07C0-4831-1161-406ED62E07DF}"/>
              </a:ext>
            </a:extLst>
          </p:cNvPr>
          <p:cNvSpPr/>
          <p:nvPr/>
        </p:nvSpPr>
        <p:spPr>
          <a:xfrm>
            <a:off x="565205" y="555707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49B18530-4969-E152-EC1C-1CEA75673ABD}"/>
              </a:ext>
            </a:extLst>
          </p:cNvPr>
          <p:cNvSpPr/>
          <p:nvPr/>
        </p:nvSpPr>
        <p:spPr>
          <a:xfrm>
            <a:off x="3523974" y="221156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1F49A602-001E-3B14-0A66-0F824A7F2E1B}"/>
              </a:ext>
            </a:extLst>
          </p:cNvPr>
          <p:cNvSpPr/>
          <p:nvPr/>
        </p:nvSpPr>
        <p:spPr>
          <a:xfrm>
            <a:off x="5486400" y="1574800"/>
            <a:ext cx="6096000" cy="4673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EA2D3D18-7DE3-CD7F-793D-CDCAD4A4EF1A}"/>
              </a:ext>
            </a:extLst>
          </p:cNvPr>
          <p:cNvSpPr txBox="1"/>
          <p:nvPr/>
        </p:nvSpPr>
        <p:spPr>
          <a:xfrm>
            <a:off x="5740400" y="1727200"/>
            <a:ext cx="558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132C7FCF-31BB-D4FC-3CBE-27F6E2010CDC}"/>
              </a:ext>
            </a:extLst>
          </p:cNvPr>
          <p:cNvSpPr/>
          <p:nvPr/>
        </p:nvSpPr>
        <p:spPr>
          <a:xfrm>
            <a:off x="57404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A23F774A-B50C-29AA-4554-46A1141E4574}"/>
              </a:ext>
            </a:extLst>
          </p:cNvPr>
          <p:cNvSpPr txBox="1"/>
          <p:nvPr/>
        </p:nvSpPr>
        <p:spPr>
          <a:xfrm>
            <a:off x="6146800" y="21463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Compteurs : restitués, à signer, perdus</a:t>
            </a:r>
          </a:p>
        </p:txBody>
      </p:sp>
      <p:sp>
        <p:nvSpPr>
          <p:cNvPr id="26" name="Ellipse 25">
            <a:extLst>
              <a:ext uri="{FF2B5EF4-FFF2-40B4-BE49-F238E27FC236}">
                <a16:creationId xmlns:a16="http://schemas.microsoft.com/office/drawing/2014/main" id="{12DBDA43-BC17-44F5-4C24-F721C7AC9BD0}"/>
              </a:ext>
            </a:extLst>
          </p:cNvPr>
          <p:cNvSpPr/>
          <p:nvPr/>
        </p:nvSpPr>
        <p:spPr>
          <a:xfrm>
            <a:off x="5740400" y="2501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BA9219E3-3EC3-FCD3-CEAF-C34E75BD4222}"/>
              </a:ext>
            </a:extLst>
          </p:cNvPr>
          <p:cNvSpPr txBox="1"/>
          <p:nvPr/>
        </p:nvSpPr>
        <p:spPr>
          <a:xfrm>
            <a:off x="6146800" y="25146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Étapes : matériel, date de retour, envoi</a:t>
            </a:r>
          </a:p>
        </p:txBody>
      </p:sp>
      <p:sp>
        <p:nvSpPr>
          <p:cNvPr id="28" name="Ellipse 27">
            <a:extLst>
              <a:ext uri="{FF2B5EF4-FFF2-40B4-BE49-F238E27FC236}">
                <a16:creationId xmlns:a16="http://schemas.microsoft.com/office/drawing/2014/main" id="{0E17730F-C3A1-A3F4-E2F6-A38041EDFC2F}"/>
              </a:ext>
            </a:extLst>
          </p:cNvPr>
          <p:cNvSpPr/>
          <p:nvPr/>
        </p:nvSpPr>
        <p:spPr>
          <a:xfrm>
            <a:off x="5740400" y="2870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D6B1B0E9-3C2F-F5D9-77B9-2D4A392BF774}"/>
              </a:ext>
            </a:extLst>
          </p:cNvPr>
          <p:cNvSpPr txBox="1"/>
          <p:nvPr/>
        </p:nvSpPr>
        <p:spPr>
          <a:xfrm>
            <a:off x="6146800" y="28829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Matériel emprunté : cases et quantités</a:t>
            </a:r>
          </a:p>
        </p:txBody>
      </p:sp>
      <p:sp>
        <p:nvSpPr>
          <p:cNvPr id="30" name="Ellipse 29">
            <a:extLst>
              <a:ext uri="{FF2B5EF4-FFF2-40B4-BE49-F238E27FC236}">
                <a16:creationId xmlns:a16="http://schemas.microsoft.com/office/drawing/2014/main" id="{4EABAD1F-9C3C-52AF-38AE-1467FEDEAC45}"/>
              </a:ext>
            </a:extLst>
          </p:cNvPr>
          <p:cNvSpPr/>
          <p:nvPr/>
        </p:nvSpPr>
        <p:spPr>
          <a:xfrm>
            <a:off x="5740400" y="32385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681A9329-A695-03BE-6182-749A1D4447F5}"/>
              </a:ext>
            </a:extLst>
          </p:cNvPr>
          <p:cNvSpPr txBox="1"/>
          <p:nvPr/>
        </p:nvSpPr>
        <p:spPr>
          <a:xfrm>
            <a:off x="6146800" y="32512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Date de retour, « Sélectionner tout »</a:t>
            </a:r>
          </a:p>
        </p:txBody>
      </p:sp>
      <p:sp>
        <p:nvSpPr>
          <p:cNvPr id="32" name="Ellipse 31">
            <a:extLst>
              <a:ext uri="{FF2B5EF4-FFF2-40B4-BE49-F238E27FC236}">
                <a16:creationId xmlns:a16="http://schemas.microsoft.com/office/drawing/2014/main" id="{A3E0B4B6-F753-00F9-5EA8-C6F95E347CED}"/>
              </a:ext>
            </a:extLst>
          </p:cNvPr>
          <p:cNvSpPr/>
          <p:nvPr/>
        </p:nvSpPr>
        <p:spPr>
          <a:xfrm>
            <a:off x="5740400" y="3606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E789FC69-E236-70C7-9A5A-F32B3F44F025}"/>
              </a:ext>
            </a:extLst>
          </p:cNvPr>
          <p:cNvSpPr txBox="1"/>
          <p:nvPr/>
        </p:nvSpPr>
        <p:spPr>
          <a:xfrm>
            <a:off x="6146800" y="36195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Par email / Par téléphone : attestation en attente</a:t>
            </a:r>
          </a:p>
        </p:txBody>
      </p:sp>
      <p:sp>
        <p:nvSpPr>
          <p:cNvPr id="34" name="Ellipse 33">
            <a:extLst>
              <a:ext uri="{FF2B5EF4-FFF2-40B4-BE49-F238E27FC236}">
                <a16:creationId xmlns:a16="http://schemas.microsoft.com/office/drawing/2014/main" id="{202198E6-386E-EF65-4D51-CA687B96E14D}"/>
              </a:ext>
            </a:extLst>
          </p:cNvPr>
          <p:cNvSpPr/>
          <p:nvPr/>
        </p:nvSpPr>
        <p:spPr>
          <a:xfrm>
            <a:off x="5740400" y="3975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602324A5-1310-7DAA-9429-2B565471CFE4}"/>
              </a:ext>
            </a:extLst>
          </p:cNvPr>
          <p:cNvSpPr txBox="1"/>
          <p:nvPr/>
        </p:nvSpPr>
        <p:spPr>
          <a:xfrm>
            <a:off x="6146800" y="39878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Déclarer perdu / volé / abîmé (confirmation)</a:t>
            </a:r>
          </a:p>
        </p:txBody>
      </p:sp>
      <p:sp>
        <p:nvSpPr>
          <p:cNvPr id="36" name="Ellipse 35">
            <a:extLst>
              <a:ext uri="{FF2B5EF4-FFF2-40B4-BE49-F238E27FC236}">
                <a16:creationId xmlns:a16="http://schemas.microsoft.com/office/drawing/2014/main" id="{4BF42E87-2E09-E5DA-F453-615771117517}"/>
              </a:ext>
            </a:extLst>
          </p:cNvPr>
          <p:cNvSpPr/>
          <p:nvPr/>
        </p:nvSpPr>
        <p:spPr>
          <a:xfrm>
            <a:off x="5740400" y="4343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480D728E-914C-44C0-5E48-729F3D454D02}"/>
              </a:ext>
            </a:extLst>
          </p:cNvPr>
          <p:cNvSpPr txBox="1"/>
          <p:nvPr/>
        </p:nvSpPr>
        <p:spPr>
          <a:xfrm>
            <a:off x="6146800" y="43561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d'une autre personne</a:t>
            </a:r>
          </a:p>
        </p:txBody>
      </p:sp>
      <p:sp>
        <p:nvSpPr>
          <p:cNvPr id="38" name="ZoneTexte 37">
            <a:extLst>
              <a:ext uri="{FF2B5EF4-FFF2-40B4-BE49-F238E27FC236}">
                <a16:creationId xmlns:a16="http://schemas.microsoft.com/office/drawing/2014/main" id="{D2C66C1C-2909-EA74-353D-8D891E1C0979}"/>
              </a:ext>
            </a:extLst>
          </p:cNvPr>
          <p:cNvSpPr txBox="1"/>
          <p:nvPr/>
        </p:nvSpPr>
        <p:spPr>
          <a:xfrm>
            <a:off x="5740400" y="4775200"/>
            <a:ext cx="5588000" cy="2540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Résultat</a:t>
            </a:r>
          </a:p>
        </p:txBody>
      </p:sp>
      <p:sp>
        <p:nvSpPr>
          <p:cNvPr id="39" name="ZoneTexte 38">
            <a:extLst>
              <a:ext uri="{FF2B5EF4-FFF2-40B4-BE49-F238E27FC236}">
                <a16:creationId xmlns:a16="http://schemas.microsoft.com/office/drawing/2014/main" id="{47096544-320C-90D6-4EAA-3BE3ECA83F3B}"/>
              </a:ext>
            </a:extLst>
          </p:cNvPr>
          <p:cNvSpPr txBox="1"/>
          <p:nvPr/>
        </p:nvSpPr>
        <p:spPr>
          <a:xfrm>
            <a:off x="5740400" y="5054600"/>
            <a:ext cx="5588000" cy="11684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Par email : aperçu du PDF, choix du destinataire (adresse enregistrée ou saisie à la main), puis brouillon Outlook, PDF joint</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Par téléphone : SMS préparé, numéro de test 06 95 17 58 74</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Déclaration : sort de chez la personne, visible dans Matériel perdu</a:t>
            </a:r>
          </a:p>
        </p:txBody>
      </p:sp>
    </p:spTree>
    <p:extLst>
      <p:ext uri="{BB962C8B-B14F-4D97-AF65-F5344CB8AC3E}">
        <p14:creationId xmlns:p14="http://schemas.microsoft.com/office/powerpoint/2010/main" val="3455523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427A34-812A-2986-6A8D-BA0753D572D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Date de retour prévue et alertes de retard</a:t>
            </a:r>
          </a:p>
        </p:txBody>
      </p:sp>
      <p:sp>
        <p:nvSpPr>
          <p:cNvPr id="3" name="ZoneTexte 2">
            <a:extLst>
              <a:ext uri="{FF2B5EF4-FFF2-40B4-BE49-F238E27FC236}">
                <a16:creationId xmlns:a16="http://schemas.microsoft.com/office/drawing/2014/main" id="{76A7BFAC-FD62-DFCE-B5AE-2F4C1F6A6FC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ONGLETS 2 ET 3</a:t>
            </a:r>
          </a:p>
        </p:txBody>
      </p:sp>
      <p:sp>
        <p:nvSpPr>
          <p:cNvPr id="4" name="ZoneTexte 3">
            <a:extLst>
              <a:ext uri="{FF2B5EF4-FFF2-40B4-BE49-F238E27FC236}">
                <a16:creationId xmlns:a16="http://schemas.microsoft.com/office/drawing/2014/main" id="{A873CDA9-A643-38E8-96EB-5F95CDCC1BB1}"/>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Facultative à l'emprunt, surveillée ensuite : fenêtre, carte, pastilles, filtre</a:t>
            </a:r>
          </a:p>
        </p:txBody>
      </p:sp>
      <p:sp>
        <p:nvSpPr>
          <p:cNvPr id="5" name="ZoneTexte 4">
            <a:extLst>
              <a:ext uri="{FF2B5EF4-FFF2-40B4-BE49-F238E27FC236}">
                <a16:creationId xmlns:a16="http://schemas.microsoft.com/office/drawing/2014/main" id="{8B997D02-9F3B-2EF8-DDB9-081C889D7E44}"/>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56388CBB-A412-00E7-A782-7ABAAF148D9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1555BBB-2D74-4CDF-8C5F-1D4743030CC8}" type="slidenum">
              <a:rPr lang="fr-FR" sz="900" smtClean="0">
                <a:solidFill>
                  <a:srgbClr val="586080"/>
                </a:solidFill>
                <a:latin typeface="Calibri" panose="020F0502020204030204" pitchFamily="34" charset="0"/>
              </a:rPr>
              <a:t>13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8B5E07D4-9C9F-7282-65A7-B54C048541B4}"/>
              </a:ext>
            </a:extLst>
          </p:cNvPr>
          <p:cNvSpPr/>
          <p:nvPr/>
        </p:nvSpPr>
        <p:spPr>
          <a:xfrm>
            <a:off x="609600" y="1600200"/>
            <a:ext cx="4191000" cy="2904532"/>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004FB227-2DCB-E913-DE63-C9F12A86FF52}"/>
              </a:ext>
            </a:extLst>
          </p:cNvPr>
          <p:cNvSpPr/>
          <p:nvPr/>
        </p:nvSpPr>
        <p:spPr>
          <a:xfrm>
            <a:off x="6096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49C3F317-0484-E463-5057-382DB6D35E6A}"/>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F38B7607-0F62-A743-A24D-B53F72FAF615}"/>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0C4DACAE-56BA-504C-0CA7-F795C6BD6999}"/>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32CC187E-3BC7-948F-F910-C8C724DDD259}"/>
              </a:ext>
            </a:extLst>
          </p:cNvPr>
          <p:cNvSpPr/>
          <p:nvPr/>
        </p:nvSpPr>
        <p:spPr>
          <a:xfrm>
            <a:off x="1562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B219EE61-81C9-31DF-BFDE-2A4A9C1C692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191000" cy="2625132"/>
          </a:xfrm>
          <a:prstGeom prst="rect">
            <a:avLst/>
          </a:prstGeom>
        </p:spPr>
      </p:pic>
      <p:sp>
        <p:nvSpPr>
          <p:cNvPr id="15" name="Rectangle : coins arrondis 14">
            <a:extLst>
              <a:ext uri="{FF2B5EF4-FFF2-40B4-BE49-F238E27FC236}">
                <a16:creationId xmlns:a16="http://schemas.microsoft.com/office/drawing/2014/main" id="{F2517EEF-B394-30F2-3EA8-409D46F8F11A}"/>
              </a:ext>
            </a:extLst>
          </p:cNvPr>
          <p:cNvSpPr/>
          <p:nvPr/>
        </p:nvSpPr>
        <p:spPr>
          <a:xfrm>
            <a:off x="609600" y="4724400"/>
            <a:ext cx="4191000" cy="152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051E7AC5-18BC-C8ED-B3E5-9B94487F295B}"/>
              </a:ext>
            </a:extLst>
          </p:cNvPr>
          <p:cNvSpPr txBox="1"/>
          <p:nvPr/>
        </p:nvSpPr>
        <p:spPr>
          <a:xfrm>
            <a:off x="787400" y="4851400"/>
            <a:ext cx="3860800" cy="13208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Carte « Retour prévu le » (facultatif) sous la date de remise : pastilles + 1 semaine, + 1 mois, + 3 mois, Effacer. Une date antérieure à l'emprunt est refusée. Le bouton Enregistrer est en bas à droite de la carte.</a:t>
            </a:r>
          </a:p>
        </p:txBody>
      </p:sp>
      <p:sp>
        <p:nvSpPr>
          <p:cNvPr id="17" name="Rectangle : coins arrondis 16">
            <a:extLst>
              <a:ext uri="{FF2B5EF4-FFF2-40B4-BE49-F238E27FC236}">
                <a16:creationId xmlns:a16="http://schemas.microsoft.com/office/drawing/2014/main" id="{F1161AD4-5906-F49F-4B66-364D86748669}"/>
              </a:ext>
            </a:extLst>
          </p:cNvPr>
          <p:cNvSpPr/>
          <p:nvPr/>
        </p:nvSpPr>
        <p:spPr>
          <a:xfrm>
            <a:off x="5029200" y="1600200"/>
            <a:ext cx="3175000" cy="2730277"/>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 coins arrondis 17">
            <a:extLst>
              <a:ext uri="{FF2B5EF4-FFF2-40B4-BE49-F238E27FC236}">
                <a16:creationId xmlns:a16="http://schemas.microsoft.com/office/drawing/2014/main" id="{DFEAC74D-95AF-B769-DA8B-4C8692E0215A}"/>
              </a:ext>
            </a:extLst>
          </p:cNvPr>
          <p:cNvSpPr/>
          <p:nvPr/>
        </p:nvSpPr>
        <p:spPr>
          <a:xfrm>
            <a:off x="5029200" y="1600200"/>
            <a:ext cx="317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89C1F1EF-85FF-B84D-1F2B-89481947BAA5}"/>
              </a:ext>
            </a:extLst>
          </p:cNvPr>
          <p:cNvSpPr/>
          <p:nvPr/>
        </p:nvSpPr>
        <p:spPr>
          <a:xfrm>
            <a:off x="51562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108A5696-2120-2BC9-1E1D-110A5FD0C3E9}"/>
              </a:ext>
            </a:extLst>
          </p:cNvPr>
          <p:cNvSpPr/>
          <p:nvPr/>
        </p:nvSpPr>
        <p:spPr>
          <a:xfrm>
            <a:off x="53213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Ellipse 20">
            <a:extLst>
              <a:ext uri="{FF2B5EF4-FFF2-40B4-BE49-F238E27FC236}">
                <a16:creationId xmlns:a16="http://schemas.microsoft.com/office/drawing/2014/main" id="{B713EA69-B8A6-3793-E970-A51C20E73A7E}"/>
              </a:ext>
            </a:extLst>
          </p:cNvPr>
          <p:cNvSpPr/>
          <p:nvPr/>
        </p:nvSpPr>
        <p:spPr>
          <a:xfrm>
            <a:off x="54864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79661720-FA17-CF8E-42DD-0E46EC116F5F}"/>
              </a:ext>
            </a:extLst>
          </p:cNvPr>
          <p:cNvSpPr/>
          <p:nvPr/>
        </p:nvSpPr>
        <p:spPr>
          <a:xfrm>
            <a:off x="54737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4" name="Image 23">
            <a:extLst>
              <a:ext uri="{FF2B5EF4-FFF2-40B4-BE49-F238E27FC236}">
                <a16:creationId xmlns:a16="http://schemas.microsoft.com/office/drawing/2014/main" id="{69213DA2-B705-2C6B-E944-3491A7E439CF}"/>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029200" y="1879600"/>
            <a:ext cx="3175000" cy="2450877"/>
          </a:xfrm>
          <a:prstGeom prst="rect">
            <a:avLst/>
          </a:prstGeom>
        </p:spPr>
      </p:pic>
      <p:sp>
        <p:nvSpPr>
          <p:cNvPr id="25" name="Rectangle : coins arrondis 24">
            <a:extLst>
              <a:ext uri="{FF2B5EF4-FFF2-40B4-BE49-F238E27FC236}">
                <a16:creationId xmlns:a16="http://schemas.microsoft.com/office/drawing/2014/main" id="{9C9FF79F-C422-649E-C5F9-9300B32F2074}"/>
              </a:ext>
            </a:extLst>
          </p:cNvPr>
          <p:cNvSpPr/>
          <p:nvPr/>
        </p:nvSpPr>
        <p:spPr>
          <a:xfrm>
            <a:off x="5029200" y="4470400"/>
            <a:ext cx="3175000" cy="17780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50800" rIns="127000" bIns="50800" rtlCol="0" anchor="ctr">
            <a:noAutofit/>
          </a:bodyPr>
          <a:lstStyle/>
          <a:p>
            <a:r>
              <a:rPr lang="fr-FR" sz="1300">
                <a:solidFill>
                  <a:srgbClr val="12162B"/>
                </a:solidFill>
                <a:latin typeface="Calibri" panose="020F0502020204030204" pitchFamily="34" charset="0"/>
              </a:rPr>
              <a:t>Limite : pas de notification automatique. L'alerte n'apparaît que lorsque quelqu'un ouvre l'application (risque R-19).</a:t>
            </a:r>
          </a:p>
        </p:txBody>
      </p:sp>
      <p:sp>
        <p:nvSpPr>
          <p:cNvPr id="26" name="Rectangle : coins arrondis 25">
            <a:extLst>
              <a:ext uri="{FF2B5EF4-FFF2-40B4-BE49-F238E27FC236}">
                <a16:creationId xmlns:a16="http://schemas.microsoft.com/office/drawing/2014/main" id="{A781FE77-BC0A-4C8C-F0CD-7605992C3D6E}"/>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4D3BE7AF-8072-EAD6-9A76-FD98EDFB23F2}"/>
              </a:ext>
            </a:extLst>
          </p:cNvPr>
          <p:cNvSpPr txBox="1"/>
          <p:nvPr/>
        </p:nvSpPr>
        <p:spPr>
          <a:xfrm>
            <a:off x="8686800" y="1752600"/>
            <a:ext cx="26924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Où voir les retards</a:t>
            </a:r>
          </a:p>
        </p:txBody>
      </p:sp>
      <p:sp>
        <p:nvSpPr>
          <p:cNvPr id="28" name="ZoneTexte 27">
            <a:extLst>
              <a:ext uri="{FF2B5EF4-FFF2-40B4-BE49-F238E27FC236}">
                <a16:creationId xmlns:a16="http://schemas.microsoft.com/office/drawing/2014/main" id="{7B09E52B-3A08-5B5D-DDAB-A1B033821F48}"/>
              </a:ext>
            </a:extLst>
          </p:cNvPr>
          <p:cNvSpPr txBox="1"/>
          <p:nvPr/>
        </p:nvSpPr>
        <p:spPr>
          <a:xfrm>
            <a:off x="8686800" y="2133600"/>
            <a:ext cx="2717800" cy="4064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Fenêtre à l'ouverture : personnes, équipements, jours de retard</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Accueil : carte rouge, phrase de situation, segment violet dans le parc</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Menu : pastille Restituer en rouge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Restituer : filtre « En retard de retour », personnes en retard en tête</a:t>
            </a:r>
          </a:p>
        </p:txBody>
      </p:sp>
    </p:spTree>
    <p:extLst>
      <p:ext uri="{BB962C8B-B14F-4D97-AF65-F5344CB8AC3E}">
        <p14:creationId xmlns:p14="http://schemas.microsoft.com/office/powerpoint/2010/main" val="22213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00C1D56-4C4D-ABD2-867C-555EE6F1E38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Attestations : suivi et cycle de vie</a:t>
            </a:r>
          </a:p>
        </p:txBody>
      </p:sp>
      <p:sp>
        <p:nvSpPr>
          <p:cNvPr id="3" name="ZoneTexte 2">
            <a:extLst>
              <a:ext uri="{FF2B5EF4-FFF2-40B4-BE49-F238E27FC236}">
                <a16:creationId xmlns:a16="http://schemas.microsoft.com/office/drawing/2014/main" id="{D6EB6CDF-08C7-4B89-0CAD-ECE14EAFDA1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DBF0999F-7A92-3275-1A7B-D282DD5F1E20}"/>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Toutes les preuves, avec leur statut et leurs actions</a:t>
            </a:r>
          </a:p>
        </p:txBody>
      </p:sp>
      <p:sp>
        <p:nvSpPr>
          <p:cNvPr id="5" name="ZoneTexte 4">
            <a:extLst>
              <a:ext uri="{FF2B5EF4-FFF2-40B4-BE49-F238E27FC236}">
                <a16:creationId xmlns:a16="http://schemas.microsoft.com/office/drawing/2014/main" id="{49B126A7-08B8-A294-5A2C-D055156CB29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9C5BDED0-9887-87E1-C923-ED15B472B57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A407A88-FE2A-4798-AA4B-92FD1DB59E75}" type="slidenum">
              <a:rPr lang="fr-FR" sz="900" smtClean="0">
                <a:solidFill>
                  <a:srgbClr val="586080"/>
                </a:solidFill>
                <a:latin typeface="Calibri" panose="020F0502020204030204" pitchFamily="34" charset="0"/>
              </a:rPr>
              <a:t>14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F5130AFB-8A8A-14C2-7559-58BC57C7C4F4}"/>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EFBC71E7-3371-1CE6-5838-289FE7A3B47E}"/>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B222EA78-7923-78EA-0265-42812DE3733B}"/>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B26ACEB-4540-CA58-106D-743D39784C44}"/>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F78CD14E-1AD3-75EE-9201-0B28AC0EC51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CC5E79DC-61A7-10F1-33E3-55D9CBF23752}"/>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F18AF0E-637D-C518-85FB-8C5EC0A1E11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E72AA9E1-38B2-1A67-4251-599B7605BF8B}"/>
              </a:ext>
            </a:extLst>
          </p:cNvPr>
          <p:cNvSpPr/>
          <p:nvPr/>
        </p:nvSpPr>
        <p:spPr>
          <a:xfrm>
            <a:off x="2020888" y="345175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21CFE5BF-6889-A687-E653-DC5274985EBB}"/>
              </a:ext>
            </a:extLst>
          </p:cNvPr>
          <p:cNvSpPr/>
          <p:nvPr/>
        </p:nvSpPr>
        <p:spPr>
          <a:xfrm>
            <a:off x="2020888" y="43867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9F9CDFC7-0C63-DDC5-B6B6-C6FABFB469E7}"/>
              </a:ext>
            </a:extLst>
          </p:cNvPr>
          <p:cNvSpPr/>
          <p:nvPr/>
        </p:nvSpPr>
        <p:spPr>
          <a:xfrm>
            <a:off x="5032110" y="43867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3682940C-F4B5-78D7-43F1-9D75E4906D17}"/>
              </a:ext>
            </a:extLst>
          </p:cNvPr>
          <p:cNvSpPr/>
          <p:nvPr/>
        </p:nvSpPr>
        <p:spPr>
          <a:xfrm>
            <a:off x="2619110" y="546761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2880FA66-EE9B-3723-73D0-AA85FD3C04B7}"/>
              </a:ext>
            </a:extLst>
          </p:cNvPr>
          <p:cNvSpPr/>
          <p:nvPr/>
        </p:nvSpPr>
        <p:spPr>
          <a:xfrm>
            <a:off x="5218113" y="527155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0B9DAA92-BBD1-FD9E-D7EB-505FF40190D5}"/>
              </a:ext>
            </a:extLst>
          </p:cNvPr>
          <p:cNvSpPr/>
          <p:nvPr/>
        </p:nvSpPr>
        <p:spPr>
          <a:xfrm>
            <a:off x="5947040" y="527155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A1CBAF91-FA24-6489-24FB-759F981BCB91}"/>
              </a:ext>
            </a:extLst>
          </p:cNvPr>
          <p:cNvSpPr/>
          <p:nvPr/>
        </p:nvSpPr>
        <p:spPr>
          <a:xfrm>
            <a:off x="7042944" y="527155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Ellipse 21">
            <a:extLst>
              <a:ext uri="{FF2B5EF4-FFF2-40B4-BE49-F238E27FC236}">
                <a16:creationId xmlns:a16="http://schemas.microsoft.com/office/drawing/2014/main" id="{CC09C0F5-A246-4A86-37BE-EC24477EC354}"/>
              </a:ext>
            </a:extLst>
          </p:cNvPr>
          <p:cNvSpPr/>
          <p:nvPr/>
        </p:nvSpPr>
        <p:spPr>
          <a:xfrm>
            <a:off x="6816725" y="465825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8</a:t>
            </a:r>
          </a:p>
        </p:txBody>
      </p:sp>
      <p:sp>
        <p:nvSpPr>
          <p:cNvPr id="23" name="Ellipse 22">
            <a:extLst>
              <a:ext uri="{FF2B5EF4-FFF2-40B4-BE49-F238E27FC236}">
                <a16:creationId xmlns:a16="http://schemas.microsoft.com/office/drawing/2014/main" id="{77C8CEF6-0446-0ED0-9FCA-D111C10DF6FF}"/>
              </a:ext>
            </a:extLst>
          </p:cNvPr>
          <p:cNvSpPr/>
          <p:nvPr/>
        </p:nvSpPr>
        <p:spPr>
          <a:xfrm>
            <a:off x="2040996" y="48593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9</a:t>
            </a:r>
          </a:p>
        </p:txBody>
      </p:sp>
      <p:sp>
        <p:nvSpPr>
          <p:cNvPr id="24" name="Rectangle : coins arrondis 23">
            <a:extLst>
              <a:ext uri="{FF2B5EF4-FFF2-40B4-BE49-F238E27FC236}">
                <a16:creationId xmlns:a16="http://schemas.microsoft.com/office/drawing/2014/main" id="{BFF077D2-9B09-25CD-48F3-16D31FCCC3B3}"/>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6763594D-CBE8-17D6-FF81-EBBEA2005141}"/>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6" name="Ellipse 25">
            <a:extLst>
              <a:ext uri="{FF2B5EF4-FFF2-40B4-BE49-F238E27FC236}">
                <a16:creationId xmlns:a16="http://schemas.microsoft.com/office/drawing/2014/main" id="{D761E446-9D8C-AD49-EE83-C121466EB856}"/>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7" name="ZoneTexte 26">
            <a:extLst>
              <a:ext uri="{FF2B5EF4-FFF2-40B4-BE49-F238E27FC236}">
                <a16:creationId xmlns:a16="http://schemas.microsoft.com/office/drawing/2014/main" id="{C88441E7-E731-29A8-C049-8056063C6CEF}"/>
              </a:ext>
            </a:extLst>
          </p:cNvPr>
          <p:cNvSpPr txBox="1"/>
          <p:nvPr/>
        </p:nvSpPr>
        <p:spPr>
          <a:xfrm>
            <a:off x="9118600" y="21463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envoyées, en attente, à relancer, délai moyen</a:t>
            </a:r>
          </a:p>
        </p:txBody>
      </p:sp>
      <p:sp>
        <p:nvSpPr>
          <p:cNvPr id="28" name="Ellipse 27">
            <a:extLst>
              <a:ext uri="{FF2B5EF4-FFF2-40B4-BE49-F238E27FC236}">
                <a16:creationId xmlns:a16="http://schemas.microsoft.com/office/drawing/2014/main" id="{9ECFAE27-BAA4-EA38-6375-73B65605686B}"/>
              </a:ext>
            </a:extLst>
          </p:cNvPr>
          <p:cNvSpPr/>
          <p:nvPr/>
        </p:nvSpPr>
        <p:spPr>
          <a:xfrm>
            <a:off x="8712200" y="25527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9" name="ZoneTexte 28">
            <a:extLst>
              <a:ext uri="{FF2B5EF4-FFF2-40B4-BE49-F238E27FC236}">
                <a16:creationId xmlns:a16="http://schemas.microsoft.com/office/drawing/2014/main" id="{1DF4E548-A4B0-1BA0-DD11-59959C90BFBD}"/>
              </a:ext>
            </a:extLst>
          </p:cNvPr>
          <p:cNvSpPr txBox="1"/>
          <p:nvPr/>
        </p:nvSpPr>
        <p:spPr>
          <a:xfrm>
            <a:off x="9118600" y="25654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 à relancer, signées…</a:t>
            </a:r>
          </a:p>
        </p:txBody>
      </p:sp>
      <p:sp>
        <p:nvSpPr>
          <p:cNvPr id="30" name="Ellipse 29">
            <a:extLst>
              <a:ext uri="{FF2B5EF4-FFF2-40B4-BE49-F238E27FC236}">
                <a16:creationId xmlns:a16="http://schemas.microsoft.com/office/drawing/2014/main" id="{6FF10656-F5C1-1FE9-4760-8F553853BE98}"/>
              </a:ext>
            </a:extLst>
          </p:cNvPr>
          <p:cNvSpPr/>
          <p:nvPr/>
        </p:nvSpPr>
        <p:spPr>
          <a:xfrm>
            <a:off x="8712200" y="2971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31" name="ZoneTexte 30">
            <a:extLst>
              <a:ext uri="{FF2B5EF4-FFF2-40B4-BE49-F238E27FC236}">
                <a16:creationId xmlns:a16="http://schemas.microsoft.com/office/drawing/2014/main" id="{37B210D1-5E16-48E7-80DC-B83D5A03FD6C}"/>
              </a:ext>
            </a:extLst>
          </p:cNvPr>
          <p:cNvSpPr txBox="1"/>
          <p:nvPr/>
        </p:nvSpPr>
        <p:spPr>
          <a:xfrm>
            <a:off x="9118600" y="29845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 (date d'envoi)</a:t>
            </a:r>
          </a:p>
        </p:txBody>
      </p:sp>
      <p:sp>
        <p:nvSpPr>
          <p:cNvPr id="32" name="Ellipse 31">
            <a:extLst>
              <a:ext uri="{FF2B5EF4-FFF2-40B4-BE49-F238E27FC236}">
                <a16:creationId xmlns:a16="http://schemas.microsoft.com/office/drawing/2014/main" id="{87959F81-BCCB-A60D-3247-D30F3E09BB0D}"/>
              </a:ext>
            </a:extLst>
          </p:cNvPr>
          <p:cNvSpPr/>
          <p:nvPr/>
        </p:nvSpPr>
        <p:spPr>
          <a:xfrm>
            <a:off x="8712200" y="3390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3" name="ZoneTexte 32">
            <a:extLst>
              <a:ext uri="{FF2B5EF4-FFF2-40B4-BE49-F238E27FC236}">
                <a16:creationId xmlns:a16="http://schemas.microsoft.com/office/drawing/2014/main" id="{4BACC514-F9BC-05F4-F5F6-E137ABC753EE}"/>
              </a:ext>
            </a:extLst>
          </p:cNvPr>
          <p:cNvSpPr txBox="1"/>
          <p:nvPr/>
        </p:nvSpPr>
        <p:spPr>
          <a:xfrm>
            <a:off x="9118600" y="34036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Cycle de vie : envoyée, signée, archivée</a:t>
            </a:r>
          </a:p>
        </p:txBody>
      </p:sp>
      <p:sp>
        <p:nvSpPr>
          <p:cNvPr id="34" name="Ellipse 33">
            <a:extLst>
              <a:ext uri="{FF2B5EF4-FFF2-40B4-BE49-F238E27FC236}">
                <a16:creationId xmlns:a16="http://schemas.microsoft.com/office/drawing/2014/main" id="{69C49901-1C30-0043-2834-5CC35F68FAED}"/>
              </a:ext>
            </a:extLst>
          </p:cNvPr>
          <p:cNvSpPr/>
          <p:nvPr/>
        </p:nvSpPr>
        <p:spPr>
          <a:xfrm>
            <a:off x="87122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5" name="ZoneTexte 34">
            <a:extLst>
              <a:ext uri="{FF2B5EF4-FFF2-40B4-BE49-F238E27FC236}">
                <a16:creationId xmlns:a16="http://schemas.microsoft.com/office/drawing/2014/main" id="{D887ED04-F836-46BA-386D-875657048BBF}"/>
              </a:ext>
            </a:extLst>
          </p:cNvPr>
          <p:cNvSpPr txBox="1"/>
          <p:nvPr/>
        </p:nvSpPr>
        <p:spPr>
          <a:xfrm>
            <a:off x="9118600" y="38227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En attente · N j (rouge dès 3 jours)</a:t>
            </a:r>
          </a:p>
        </p:txBody>
      </p:sp>
      <p:sp>
        <p:nvSpPr>
          <p:cNvPr id="36" name="Ellipse 35">
            <a:extLst>
              <a:ext uri="{FF2B5EF4-FFF2-40B4-BE49-F238E27FC236}">
                <a16:creationId xmlns:a16="http://schemas.microsoft.com/office/drawing/2014/main" id="{560615EC-A8E6-220B-5143-AF569828ED8A}"/>
              </a:ext>
            </a:extLst>
          </p:cNvPr>
          <p:cNvSpPr/>
          <p:nvPr/>
        </p:nvSpPr>
        <p:spPr>
          <a:xfrm>
            <a:off x="8712200" y="4229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7" name="ZoneTexte 36">
            <a:extLst>
              <a:ext uri="{FF2B5EF4-FFF2-40B4-BE49-F238E27FC236}">
                <a16:creationId xmlns:a16="http://schemas.microsoft.com/office/drawing/2014/main" id="{65818E7E-21A4-F111-1915-B0AB8183B102}"/>
              </a:ext>
            </a:extLst>
          </p:cNvPr>
          <p:cNvSpPr txBox="1"/>
          <p:nvPr/>
        </p:nvSpPr>
        <p:spPr>
          <a:xfrm>
            <a:off x="9118600" y="42418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Marquer comme signée</a:t>
            </a:r>
          </a:p>
        </p:txBody>
      </p:sp>
      <p:sp>
        <p:nvSpPr>
          <p:cNvPr id="38" name="Ellipse 37">
            <a:extLst>
              <a:ext uri="{FF2B5EF4-FFF2-40B4-BE49-F238E27FC236}">
                <a16:creationId xmlns:a16="http://schemas.microsoft.com/office/drawing/2014/main" id="{0152E916-3C10-B6DA-C556-6FEF0AC0DA7C}"/>
              </a:ext>
            </a:extLst>
          </p:cNvPr>
          <p:cNvSpPr/>
          <p:nvPr/>
        </p:nvSpPr>
        <p:spPr>
          <a:xfrm>
            <a:off x="8712200" y="4648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9" name="ZoneTexte 38">
            <a:extLst>
              <a:ext uri="{FF2B5EF4-FFF2-40B4-BE49-F238E27FC236}">
                <a16:creationId xmlns:a16="http://schemas.microsoft.com/office/drawing/2014/main" id="{543F2980-2BCA-B2F2-553E-572818D4AF6D}"/>
              </a:ext>
            </a:extLst>
          </p:cNvPr>
          <p:cNvSpPr txBox="1"/>
          <p:nvPr/>
        </p:nvSpPr>
        <p:spPr>
          <a:xfrm>
            <a:off x="9118600" y="46609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PDF de l'attestation</a:t>
            </a:r>
          </a:p>
        </p:txBody>
      </p:sp>
      <p:sp>
        <p:nvSpPr>
          <p:cNvPr id="40" name="Ellipse 39">
            <a:extLst>
              <a:ext uri="{FF2B5EF4-FFF2-40B4-BE49-F238E27FC236}">
                <a16:creationId xmlns:a16="http://schemas.microsoft.com/office/drawing/2014/main" id="{78CF10A1-8BEC-53C1-4BCA-8624098C9CCC}"/>
              </a:ext>
            </a:extLst>
          </p:cNvPr>
          <p:cNvSpPr/>
          <p:nvPr/>
        </p:nvSpPr>
        <p:spPr>
          <a:xfrm>
            <a:off x="8712200" y="50673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8</a:t>
            </a:r>
          </a:p>
        </p:txBody>
      </p:sp>
      <p:sp>
        <p:nvSpPr>
          <p:cNvPr id="41" name="ZoneTexte 40">
            <a:extLst>
              <a:ext uri="{FF2B5EF4-FFF2-40B4-BE49-F238E27FC236}">
                <a16:creationId xmlns:a16="http://schemas.microsoft.com/office/drawing/2014/main" id="{1C57AE4C-5761-E733-0F9B-BA480B4C86A1}"/>
              </a:ext>
            </a:extLst>
          </p:cNvPr>
          <p:cNvSpPr txBox="1"/>
          <p:nvPr/>
        </p:nvSpPr>
        <p:spPr>
          <a:xfrm>
            <a:off x="9118600" y="50800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Exporter CSV</a:t>
            </a:r>
          </a:p>
        </p:txBody>
      </p:sp>
      <p:sp>
        <p:nvSpPr>
          <p:cNvPr id="42" name="Ellipse 41">
            <a:extLst>
              <a:ext uri="{FF2B5EF4-FFF2-40B4-BE49-F238E27FC236}">
                <a16:creationId xmlns:a16="http://schemas.microsoft.com/office/drawing/2014/main" id="{85C36E5A-CA07-6BD4-87A0-EA5DDA4C73A5}"/>
              </a:ext>
            </a:extLst>
          </p:cNvPr>
          <p:cNvSpPr/>
          <p:nvPr/>
        </p:nvSpPr>
        <p:spPr>
          <a:xfrm>
            <a:off x="8712200" y="5486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9</a:t>
            </a:r>
          </a:p>
        </p:txBody>
      </p:sp>
      <p:sp>
        <p:nvSpPr>
          <p:cNvPr id="43" name="ZoneTexte 42">
            <a:extLst>
              <a:ext uri="{FF2B5EF4-FFF2-40B4-BE49-F238E27FC236}">
                <a16:creationId xmlns:a16="http://schemas.microsoft.com/office/drawing/2014/main" id="{6C2DF873-7B14-B602-61B0-A91BBCA5E7D0}"/>
              </a:ext>
            </a:extLst>
          </p:cNvPr>
          <p:cNvSpPr txBox="1"/>
          <p:nvPr/>
        </p:nvSpPr>
        <p:spPr>
          <a:xfrm>
            <a:off x="9118600" y="54991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Sélection multiple (cases à cocher)</a:t>
            </a:r>
          </a:p>
        </p:txBody>
      </p:sp>
    </p:spTree>
    <p:extLst>
      <p:ext uri="{BB962C8B-B14F-4D97-AF65-F5344CB8AC3E}">
        <p14:creationId xmlns:p14="http://schemas.microsoft.com/office/powerpoint/2010/main" val="38785943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686595A-18CB-62C6-4020-A896A530101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Attestations : actions groupées</a:t>
            </a:r>
          </a:p>
        </p:txBody>
      </p:sp>
      <p:sp>
        <p:nvSpPr>
          <p:cNvPr id="3" name="ZoneTexte 2">
            <a:extLst>
              <a:ext uri="{FF2B5EF4-FFF2-40B4-BE49-F238E27FC236}">
                <a16:creationId xmlns:a16="http://schemas.microsoft.com/office/drawing/2014/main" id="{AC0E4924-ED86-D47E-65B8-13EE031A62C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257D3553-8B1B-CB8F-1373-E6B0D524610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Cocher plusieurs attestations, puis les signer ou les exporter d'un coup</a:t>
            </a:r>
          </a:p>
        </p:txBody>
      </p:sp>
      <p:sp>
        <p:nvSpPr>
          <p:cNvPr id="5" name="ZoneTexte 4">
            <a:extLst>
              <a:ext uri="{FF2B5EF4-FFF2-40B4-BE49-F238E27FC236}">
                <a16:creationId xmlns:a16="http://schemas.microsoft.com/office/drawing/2014/main" id="{51B240C8-E2EF-13B3-FCB5-218C7E160925}"/>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07932E77-F305-C6F4-4480-6B795BBB31B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1E42D01D-BB16-4C0D-B0F7-FF73335FF2E9}" type="slidenum">
              <a:rPr lang="fr-FR" sz="900" smtClean="0">
                <a:solidFill>
                  <a:srgbClr val="586080"/>
                </a:solidFill>
                <a:latin typeface="Calibri" panose="020F0502020204030204" pitchFamily="34" charset="0"/>
              </a:rPr>
              <a:t>15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34D5160-7860-BE9D-3804-9FB582965C79}"/>
              </a:ext>
            </a:extLst>
          </p:cNvPr>
          <p:cNvSpPr/>
          <p:nvPr/>
        </p:nvSpPr>
        <p:spPr>
          <a:xfrm>
            <a:off x="609600" y="1600200"/>
            <a:ext cx="6604000" cy="4406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0AE674E5-3AF2-88A5-4CDB-A3F96D87AA4B}"/>
              </a:ext>
            </a:extLst>
          </p:cNvPr>
          <p:cNvSpPr/>
          <p:nvPr/>
        </p:nvSpPr>
        <p:spPr>
          <a:xfrm>
            <a:off x="609600" y="1600200"/>
            <a:ext cx="660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90A7A188-63CF-7633-6213-5F76EA1BBD51}"/>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8A3C5A6-934B-C904-3D26-E15713F8EC0D}"/>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79261617-E8C2-785D-C597-BDF49DF67E5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BEF0CD12-241E-49BC-E282-9275480F41D2}"/>
              </a:ext>
            </a:extLst>
          </p:cNvPr>
          <p:cNvSpPr/>
          <p:nvPr/>
        </p:nvSpPr>
        <p:spPr>
          <a:xfrm>
            <a:off x="2768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F2C5B918-D7BA-37C8-BD25-9352765AA31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6604000" cy="4127500"/>
          </a:xfrm>
          <a:prstGeom prst="rect">
            <a:avLst/>
          </a:prstGeom>
        </p:spPr>
      </p:pic>
      <p:sp>
        <p:nvSpPr>
          <p:cNvPr id="15" name="Rectangle : coins arrondis 14">
            <a:extLst>
              <a:ext uri="{FF2B5EF4-FFF2-40B4-BE49-F238E27FC236}">
                <a16:creationId xmlns:a16="http://schemas.microsoft.com/office/drawing/2014/main" id="{9343916B-85A0-8C6B-3610-0E313B3FA85D}"/>
              </a:ext>
            </a:extLst>
          </p:cNvPr>
          <p:cNvSpPr/>
          <p:nvPr/>
        </p:nvSpPr>
        <p:spPr>
          <a:xfrm>
            <a:off x="7518400" y="1600200"/>
            <a:ext cx="4064000" cy="4343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1D8D98CA-E65A-3DF7-40B5-9D12761C08F2}"/>
              </a:ext>
            </a:extLst>
          </p:cNvPr>
          <p:cNvSpPr/>
          <p:nvPr/>
        </p:nvSpPr>
        <p:spPr>
          <a:xfrm>
            <a:off x="7518400" y="1600200"/>
            <a:ext cx="406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8E98F9EF-8505-1C8A-3112-A487CA35731A}"/>
              </a:ext>
            </a:extLst>
          </p:cNvPr>
          <p:cNvSpPr/>
          <p:nvPr/>
        </p:nvSpPr>
        <p:spPr>
          <a:xfrm>
            <a:off x="7645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6C352364-B39B-9518-89C5-BD1DDB20D150}"/>
              </a:ext>
            </a:extLst>
          </p:cNvPr>
          <p:cNvSpPr/>
          <p:nvPr/>
        </p:nvSpPr>
        <p:spPr>
          <a:xfrm>
            <a:off x="7810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A44CD016-595B-0324-C622-E5828C65DFDC}"/>
              </a:ext>
            </a:extLst>
          </p:cNvPr>
          <p:cNvSpPr/>
          <p:nvPr/>
        </p:nvSpPr>
        <p:spPr>
          <a:xfrm>
            <a:off x="7975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83097A8D-BDD6-AE5B-9C2C-84038DB5171A}"/>
              </a:ext>
            </a:extLst>
          </p:cNvPr>
          <p:cNvSpPr/>
          <p:nvPr/>
        </p:nvSpPr>
        <p:spPr>
          <a:xfrm>
            <a:off x="84074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E46C92BF-56DC-9A6D-9D66-2C0A7F3BE62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518400" y="1879600"/>
            <a:ext cx="4064000" cy="4064000"/>
          </a:xfrm>
          <a:prstGeom prst="rect">
            <a:avLst/>
          </a:prstGeom>
        </p:spPr>
      </p:pic>
      <p:sp>
        <p:nvSpPr>
          <p:cNvPr id="23" name="Rectangle : coins arrondis 22">
            <a:extLst>
              <a:ext uri="{FF2B5EF4-FFF2-40B4-BE49-F238E27FC236}">
                <a16:creationId xmlns:a16="http://schemas.microsoft.com/office/drawing/2014/main" id="{27FA8FFE-9A6F-0147-AD50-BC84A1E5C3C1}"/>
              </a:ext>
            </a:extLst>
          </p:cNvPr>
          <p:cNvSpPr/>
          <p:nvPr/>
        </p:nvSpPr>
        <p:spPr>
          <a:xfrm>
            <a:off x="609600" y="6096000"/>
            <a:ext cx="6604000" cy="355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DACAE2D7-B71E-138A-2B7D-9FF639564B16}"/>
              </a:ext>
            </a:extLst>
          </p:cNvPr>
          <p:cNvSpPr txBox="1"/>
          <p:nvPr/>
        </p:nvSpPr>
        <p:spPr>
          <a:xfrm>
            <a:off x="736600" y="6159500"/>
            <a:ext cx="6350000" cy="254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Marquer N comme signées  ·  Exporter la sélection (CSV)  ·  Désélectionner</a:t>
            </a:r>
          </a:p>
        </p:txBody>
      </p:sp>
    </p:spTree>
    <p:extLst>
      <p:ext uri="{BB962C8B-B14F-4D97-AF65-F5344CB8AC3E}">
        <p14:creationId xmlns:p14="http://schemas.microsoft.com/office/powerpoint/2010/main" val="10286715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6C347B-3C98-CE83-E1F8-0B72A4B2777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 Marquer comme signée » pas à pas</a:t>
            </a:r>
          </a:p>
        </p:txBody>
      </p:sp>
      <p:sp>
        <p:nvSpPr>
          <p:cNvPr id="3" name="ZoneTexte 2">
            <a:extLst>
              <a:ext uri="{FF2B5EF4-FFF2-40B4-BE49-F238E27FC236}">
                <a16:creationId xmlns:a16="http://schemas.microsoft.com/office/drawing/2014/main" id="{ED050169-7741-F2D4-BBBD-2895D24F0E0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762DEF11-CE90-FFC4-CCC3-DDCE30826AA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date, une signature, une mention, un PDF archivé</a:t>
            </a:r>
          </a:p>
        </p:txBody>
      </p:sp>
      <p:sp>
        <p:nvSpPr>
          <p:cNvPr id="5" name="ZoneTexte 4">
            <a:extLst>
              <a:ext uri="{FF2B5EF4-FFF2-40B4-BE49-F238E27FC236}">
                <a16:creationId xmlns:a16="http://schemas.microsoft.com/office/drawing/2014/main" id="{C671DF43-2F18-F134-C861-1A0AA71E150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C54D9D44-8DB2-3C58-C327-FDF42295416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F932A3C-5402-4C83-8964-3ECB687AA5EA}" type="slidenum">
              <a:rPr lang="fr-FR" sz="900" smtClean="0">
                <a:solidFill>
                  <a:srgbClr val="586080"/>
                </a:solidFill>
                <a:latin typeface="Calibri" panose="020F0502020204030204" pitchFamily="34" charset="0"/>
              </a:rPr>
              <a:t>16</a:t>
            </a:fld>
            <a:endParaRPr lang="fr-FR" sz="900">
              <a:solidFill>
                <a:srgbClr val="586080"/>
              </a:solidFill>
              <a:latin typeface="Calibri" panose="020F0502020204030204" pitchFamily="34" charset="0"/>
            </a:endParaRPr>
          </a:p>
        </p:txBody>
      </p:sp>
      <p:sp>
        <p:nvSpPr>
          <p:cNvPr id="7" name="Ellipse 6">
            <a:extLst>
              <a:ext uri="{FF2B5EF4-FFF2-40B4-BE49-F238E27FC236}">
                <a16:creationId xmlns:a16="http://schemas.microsoft.com/office/drawing/2014/main" id="{B22278DB-0FE0-40CF-6D61-E98BBE90FE98}"/>
              </a:ext>
            </a:extLst>
          </p:cNvPr>
          <p:cNvSpPr/>
          <p:nvPr/>
        </p:nvSpPr>
        <p:spPr>
          <a:xfrm>
            <a:off x="609600" y="16256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1</a:t>
            </a:r>
          </a:p>
        </p:txBody>
      </p:sp>
      <p:sp>
        <p:nvSpPr>
          <p:cNvPr id="8" name="ZoneTexte 7">
            <a:extLst>
              <a:ext uri="{FF2B5EF4-FFF2-40B4-BE49-F238E27FC236}">
                <a16:creationId xmlns:a16="http://schemas.microsoft.com/office/drawing/2014/main" id="{BED2465D-72C2-CEF6-D6B6-81E082F4D683}"/>
              </a:ext>
            </a:extLst>
          </p:cNvPr>
          <p:cNvSpPr txBox="1"/>
          <p:nvPr/>
        </p:nvSpPr>
        <p:spPr>
          <a:xfrm>
            <a:off x="1295400" y="16129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Clic sur le bouton</a:t>
            </a:r>
          </a:p>
        </p:txBody>
      </p:sp>
      <p:sp>
        <p:nvSpPr>
          <p:cNvPr id="9" name="ZoneTexte 8">
            <a:extLst>
              <a:ext uri="{FF2B5EF4-FFF2-40B4-BE49-F238E27FC236}">
                <a16:creationId xmlns:a16="http://schemas.microsoft.com/office/drawing/2014/main" id="{DC01ABC6-1DC6-3B25-C5F3-9AA4641BD7AD}"/>
              </a:ext>
            </a:extLst>
          </p:cNvPr>
          <p:cNvSpPr txBox="1"/>
          <p:nvPr/>
        </p:nvSpPr>
        <p:spPr>
          <a:xfrm>
            <a:off x="1295400" y="19304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Dans Attestations ou dans la fiche de la personne</a:t>
            </a:r>
          </a:p>
        </p:txBody>
      </p:sp>
      <p:sp>
        <p:nvSpPr>
          <p:cNvPr id="10" name="Ellipse 9">
            <a:extLst>
              <a:ext uri="{FF2B5EF4-FFF2-40B4-BE49-F238E27FC236}">
                <a16:creationId xmlns:a16="http://schemas.microsoft.com/office/drawing/2014/main" id="{7615B601-7BB4-92AF-968F-BEA21B376C7A}"/>
              </a:ext>
            </a:extLst>
          </p:cNvPr>
          <p:cNvSpPr/>
          <p:nvPr/>
        </p:nvSpPr>
        <p:spPr>
          <a:xfrm>
            <a:off x="609600" y="25400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2</a:t>
            </a:r>
          </a:p>
        </p:txBody>
      </p:sp>
      <p:sp>
        <p:nvSpPr>
          <p:cNvPr id="11" name="ZoneTexte 10">
            <a:extLst>
              <a:ext uri="{FF2B5EF4-FFF2-40B4-BE49-F238E27FC236}">
                <a16:creationId xmlns:a16="http://schemas.microsoft.com/office/drawing/2014/main" id="{416C7C5F-9B51-3717-0D88-C2B5310E450E}"/>
              </a:ext>
            </a:extLst>
          </p:cNvPr>
          <p:cNvSpPr txBox="1"/>
          <p:nvPr/>
        </p:nvSpPr>
        <p:spPr>
          <a:xfrm>
            <a:off x="1295400" y="25273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Date, et signature ou mention</a:t>
            </a:r>
          </a:p>
        </p:txBody>
      </p:sp>
      <p:sp>
        <p:nvSpPr>
          <p:cNvPr id="12" name="ZoneTexte 11">
            <a:extLst>
              <a:ext uri="{FF2B5EF4-FFF2-40B4-BE49-F238E27FC236}">
                <a16:creationId xmlns:a16="http://schemas.microsoft.com/office/drawing/2014/main" id="{058B06E7-11A4-D6BB-181F-61AB84B95581}"/>
              </a:ext>
            </a:extLst>
          </p:cNvPr>
          <p:cNvSpPr txBox="1"/>
          <p:nvPr/>
        </p:nvSpPr>
        <p:spPr>
          <a:xfrm>
            <a:off x="1295400" y="28448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Un tracé ou une mention est obligatoire : le bouton Valider reste grisé sinon</a:t>
            </a:r>
          </a:p>
        </p:txBody>
      </p:sp>
      <p:sp>
        <p:nvSpPr>
          <p:cNvPr id="13" name="Ellipse 12">
            <a:extLst>
              <a:ext uri="{FF2B5EF4-FFF2-40B4-BE49-F238E27FC236}">
                <a16:creationId xmlns:a16="http://schemas.microsoft.com/office/drawing/2014/main" id="{8960BB1F-2F14-CE9E-59E3-B460666059A7}"/>
              </a:ext>
            </a:extLst>
          </p:cNvPr>
          <p:cNvSpPr/>
          <p:nvPr/>
        </p:nvSpPr>
        <p:spPr>
          <a:xfrm>
            <a:off x="609600" y="34544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3</a:t>
            </a:r>
          </a:p>
        </p:txBody>
      </p:sp>
      <p:sp>
        <p:nvSpPr>
          <p:cNvPr id="14" name="ZoneTexte 13">
            <a:extLst>
              <a:ext uri="{FF2B5EF4-FFF2-40B4-BE49-F238E27FC236}">
                <a16:creationId xmlns:a16="http://schemas.microsoft.com/office/drawing/2014/main" id="{6CDC9410-363D-BDE8-2566-C7D663CBD9EC}"/>
              </a:ext>
            </a:extLst>
          </p:cNvPr>
          <p:cNvSpPr txBox="1"/>
          <p:nvPr/>
        </p:nvSpPr>
        <p:spPr>
          <a:xfrm>
            <a:off x="1295400" y="34417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PDF signé généré</a:t>
            </a:r>
          </a:p>
        </p:txBody>
      </p:sp>
      <p:sp>
        <p:nvSpPr>
          <p:cNvPr id="15" name="ZoneTexte 14">
            <a:extLst>
              <a:ext uri="{FF2B5EF4-FFF2-40B4-BE49-F238E27FC236}">
                <a16:creationId xmlns:a16="http://schemas.microsoft.com/office/drawing/2014/main" id="{7D5EA801-BB68-AC73-627E-417B9E70B4C6}"/>
              </a:ext>
            </a:extLst>
          </p:cNvPr>
          <p:cNvSpPr txBox="1"/>
          <p:nvPr/>
        </p:nvSpPr>
        <p:spPr>
          <a:xfrm>
            <a:off x="1295400" y="37592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Signature et mention dans le PDF ; « DSI » côté IT</a:t>
            </a:r>
          </a:p>
        </p:txBody>
      </p:sp>
      <p:sp>
        <p:nvSpPr>
          <p:cNvPr id="16" name="Ellipse 15">
            <a:extLst>
              <a:ext uri="{FF2B5EF4-FFF2-40B4-BE49-F238E27FC236}">
                <a16:creationId xmlns:a16="http://schemas.microsoft.com/office/drawing/2014/main" id="{27491646-4451-7BBF-5C7B-E709C2560946}"/>
              </a:ext>
            </a:extLst>
          </p:cNvPr>
          <p:cNvSpPr/>
          <p:nvPr/>
        </p:nvSpPr>
        <p:spPr>
          <a:xfrm>
            <a:off x="609600" y="43688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4</a:t>
            </a:r>
          </a:p>
        </p:txBody>
      </p:sp>
      <p:sp>
        <p:nvSpPr>
          <p:cNvPr id="17" name="ZoneTexte 16">
            <a:extLst>
              <a:ext uri="{FF2B5EF4-FFF2-40B4-BE49-F238E27FC236}">
                <a16:creationId xmlns:a16="http://schemas.microsoft.com/office/drawing/2014/main" id="{82435D5A-2B34-AB8E-FD83-6DE899855E33}"/>
              </a:ext>
            </a:extLst>
          </p:cNvPr>
          <p:cNvSpPr txBox="1"/>
          <p:nvPr/>
        </p:nvSpPr>
        <p:spPr>
          <a:xfrm>
            <a:off x="1295400" y="43561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Archivage, message et Annuler</a:t>
            </a:r>
          </a:p>
        </p:txBody>
      </p:sp>
      <p:sp>
        <p:nvSpPr>
          <p:cNvPr id="18" name="ZoneTexte 17">
            <a:extLst>
              <a:ext uri="{FF2B5EF4-FFF2-40B4-BE49-F238E27FC236}">
                <a16:creationId xmlns:a16="http://schemas.microsoft.com/office/drawing/2014/main" id="{1AB3C4B4-5EAC-BC56-5D50-BA779D94E035}"/>
              </a:ext>
            </a:extLst>
          </p:cNvPr>
          <p:cNvSpPr txBox="1"/>
          <p:nvPr/>
        </p:nvSpPr>
        <p:spPr>
          <a:xfrm>
            <a:off x="1295400" y="46736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PDF rangé dans Archives ; envoi au collaborateur proposé ; Annuler 10 s</a:t>
            </a:r>
          </a:p>
        </p:txBody>
      </p:sp>
      <p:sp>
        <p:nvSpPr>
          <p:cNvPr id="19" name="Rectangle : coins arrondis 18">
            <a:extLst>
              <a:ext uri="{FF2B5EF4-FFF2-40B4-BE49-F238E27FC236}">
                <a16:creationId xmlns:a16="http://schemas.microsoft.com/office/drawing/2014/main" id="{6031232E-D9B3-B555-36C9-C707054A8BD4}"/>
              </a:ext>
            </a:extLst>
          </p:cNvPr>
          <p:cNvSpPr/>
          <p:nvPr/>
        </p:nvSpPr>
        <p:spPr>
          <a:xfrm>
            <a:off x="609600" y="5384800"/>
            <a:ext cx="5080000" cy="8382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r>
              <a:rPr lang="fr-FR" sz="1300">
                <a:solidFill>
                  <a:srgbClr val="12162B"/>
                </a:solidFill>
                <a:latin typeface="Calibri" panose="020F0502020204030204" pitchFamily="34" charset="0"/>
              </a:rPr>
              <a:t>Si l'archivage échoue, la signature est quand même enregistrée : « Archiver le PDF » permet de recommencer.</a:t>
            </a:r>
          </a:p>
        </p:txBody>
      </p:sp>
      <p:sp>
        <p:nvSpPr>
          <p:cNvPr id="20" name="Rectangle : coins arrondis 19">
            <a:extLst>
              <a:ext uri="{FF2B5EF4-FFF2-40B4-BE49-F238E27FC236}">
                <a16:creationId xmlns:a16="http://schemas.microsoft.com/office/drawing/2014/main" id="{DE521E7C-F519-A3C5-9C80-C568AA8ACD5F}"/>
              </a:ext>
            </a:extLst>
          </p:cNvPr>
          <p:cNvSpPr/>
          <p:nvPr/>
        </p:nvSpPr>
        <p:spPr>
          <a:xfrm>
            <a:off x="6553200" y="1574800"/>
            <a:ext cx="2730500" cy="4743174"/>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88E56A9B-2B50-45D5-542B-D5514858B4B2}"/>
              </a:ext>
            </a:extLst>
          </p:cNvPr>
          <p:cNvSpPr/>
          <p:nvPr/>
        </p:nvSpPr>
        <p:spPr>
          <a:xfrm>
            <a:off x="6553200" y="1574800"/>
            <a:ext cx="27305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Ellipse 21">
            <a:extLst>
              <a:ext uri="{FF2B5EF4-FFF2-40B4-BE49-F238E27FC236}">
                <a16:creationId xmlns:a16="http://schemas.microsoft.com/office/drawing/2014/main" id="{F4E3B412-B49C-BA4B-41FA-BF29DCA8433C}"/>
              </a:ext>
            </a:extLst>
          </p:cNvPr>
          <p:cNvSpPr/>
          <p:nvPr/>
        </p:nvSpPr>
        <p:spPr>
          <a:xfrm>
            <a:off x="66802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FEFE91E1-6C56-09F1-4DBA-111CB9EBBF40}"/>
              </a:ext>
            </a:extLst>
          </p:cNvPr>
          <p:cNvSpPr/>
          <p:nvPr/>
        </p:nvSpPr>
        <p:spPr>
          <a:xfrm>
            <a:off x="68453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FBCF0805-C388-7BEA-C982-BA179103D723}"/>
              </a:ext>
            </a:extLst>
          </p:cNvPr>
          <p:cNvSpPr/>
          <p:nvPr/>
        </p:nvSpPr>
        <p:spPr>
          <a:xfrm>
            <a:off x="70104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 coins arrondis 24">
            <a:extLst>
              <a:ext uri="{FF2B5EF4-FFF2-40B4-BE49-F238E27FC236}">
                <a16:creationId xmlns:a16="http://schemas.microsoft.com/office/drawing/2014/main" id="{7B1FAE98-C410-A6D5-C88B-AB1A0E0AD75D}"/>
              </a:ext>
            </a:extLst>
          </p:cNvPr>
          <p:cNvSpPr/>
          <p:nvPr/>
        </p:nvSpPr>
        <p:spPr>
          <a:xfrm>
            <a:off x="677545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7" name="Image 26">
            <a:extLst>
              <a:ext uri="{FF2B5EF4-FFF2-40B4-BE49-F238E27FC236}">
                <a16:creationId xmlns:a16="http://schemas.microsoft.com/office/drawing/2014/main" id="{9EE0503F-5D8E-08DA-FEFA-707636020C3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553200" y="1854200"/>
            <a:ext cx="2730500" cy="4463774"/>
          </a:xfrm>
          <a:prstGeom prst="rect">
            <a:avLst/>
          </a:prstGeom>
        </p:spPr>
      </p:pic>
      <p:sp>
        <p:nvSpPr>
          <p:cNvPr id="28" name="Ellipse 27">
            <a:extLst>
              <a:ext uri="{FF2B5EF4-FFF2-40B4-BE49-F238E27FC236}">
                <a16:creationId xmlns:a16="http://schemas.microsoft.com/office/drawing/2014/main" id="{2176E1A1-2D63-94C4-F756-396CFE331F50}"/>
              </a:ext>
            </a:extLst>
          </p:cNvPr>
          <p:cNvSpPr/>
          <p:nvPr/>
        </p:nvSpPr>
        <p:spPr>
          <a:xfrm>
            <a:off x="6509302" y="291437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29" name="Ellipse 28">
            <a:extLst>
              <a:ext uri="{FF2B5EF4-FFF2-40B4-BE49-F238E27FC236}">
                <a16:creationId xmlns:a16="http://schemas.microsoft.com/office/drawing/2014/main" id="{ABE6DEE2-9E9A-AD48-9E8F-FC37B079C3AA}"/>
              </a:ext>
            </a:extLst>
          </p:cNvPr>
          <p:cNvSpPr/>
          <p:nvPr/>
        </p:nvSpPr>
        <p:spPr>
          <a:xfrm>
            <a:off x="6509302" y="394127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30" name="Ellipse 29">
            <a:extLst>
              <a:ext uri="{FF2B5EF4-FFF2-40B4-BE49-F238E27FC236}">
                <a16:creationId xmlns:a16="http://schemas.microsoft.com/office/drawing/2014/main" id="{ECFF7DE2-C3AE-BB88-896D-6206B55F6842}"/>
              </a:ext>
            </a:extLst>
          </p:cNvPr>
          <p:cNvSpPr/>
          <p:nvPr/>
        </p:nvSpPr>
        <p:spPr>
          <a:xfrm>
            <a:off x="8652151" y="34545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31" name="Ellipse 30">
            <a:extLst>
              <a:ext uri="{FF2B5EF4-FFF2-40B4-BE49-F238E27FC236}">
                <a16:creationId xmlns:a16="http://schemas.microsoft.com/office/drawing/2014/main" id="{4075ED21-E9D9-7921-8627-A3562BC471A3}"/>
              </a:ext>
            </a:extLst>
          </p:cNvPr>
          <p:cNvSpPr/>
          <p:nvPr/>
        </p:nvSpPr>
        <p:spPr>
          <a:xfrm>
            <a:off x="6509302" y="470700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32" name="Ellipse 31">
            <a:extLst>
              <a:ext uri="{FF2B5EF4-FFF2-40B4-BE49-F238E27FC236}">
                <a16:creationId xmlns:a16="http://schemas.microsoft.com/office/drawing/2014/main" id="{1063BA06-37DB-C34D-002C-ACB879CC9594}"/>
              </a:ext>
            </a:extLst>
          </p:cNvPr>
          <p:cNvSpPr/>
          <p:nvPr/>
        </p:nvSpPr>
        <p:spPr>
          <a:xfrm>
            <a:off x="8088244" y="470700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33" name="Ellipse 32">
            <a:extLst>
              <a:ext uri="{FF2B5EF4-FFF2-40B4-BE49-F238E27FC236}">
                <a16:creationId xmlns:a16="http://schemas.microsoft.com/office/drawing/2014/main" id="{F5DCFB29-C18A-A196-6556-511B1C57A6CC}"/>
              </a:ext>
            </a:extLst>
          </p:cNvPr>
          <p:cNvSpPr/>
          <p:nvPr/>
        </p:nvSpPr>
        <p:spPr>
          <a:xfrm>
            <a:off x="6509302" y="547273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34" name="Ellipse 33">
            <a:extLst>
              <a:ext uri="{FF2B5EF4-FFF2-40B4-BE49-F238E27FC236}">
                <a16:creationId xmlns:a16="http://schemas.microsoft.com/office/drawing/2014/main" id="{A6962CCF-6C97-FE99-165A-52B755866526}"/>
              </a:ext>
            </a:extLst>
          </p:cNvPr>
          <p:cNvSpPr/>
          <p:nvPr/>
        </p:nvSpPr>
        <p:spPr>
          <a:xfrm>
            <a:off x="7488720" y="589418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35" name="Ellipse 34">
            <a:extLst>
              <a:ext uri="{FF2B5EF4-FFF2-40B4-BE49-F238E27FC236}">
                <a16:creationId xmlns:a16="http://schemas.microsoft.com/office/drawing/2014/main" id="{EADF0F90-7C08-ECFF-4E6C-A5F81F2BC5EA}"/>
              </a:ext>
            </a:extLst>
          </p:cNvPr>
          <p:cNvSpPr/>
          <p:nvPr/>
        </p:nvSpPr>
        <p:spPr>
          <a:xfrm>
            <a:off x="8028885" y="589418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8</a:t>
            </a:r>
          </a:p>
        </p:txBody>
      </p:sp>
      <p:sp>
        <p:nvSpPr>
          <p:cNvPr id="36" name="Rectangle : coins arrondis 35">
            <a:extLst>
              <a:ext uri="{FF2B5EF4-FFF2-40B4-BE49-F238E27FC236}">
                <a16:creationId xmlns:a16="http://schemas.microsoft.com/office/drawing/2014/main" id="{3D542B52-0EB5-C8C2-08DA-E9E72B1BFE88}"/>
              </a:ext>
            </a:extLst>
          </p:cNvPr>
          <p:cNvSpPr/>
          <p:nvPr/>
        </p:nvSpPr>
        <p:spPr>
          <a:xfrm>
            <a:off x="9804400" y="1574800"/>
            <a:ext cx="1778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7" name="ZoneTexte 36">
            <a:extLst>
              <a:ext uri="{FF2B5EF4-FFF2-40B4-BE49-F238E27FC236}">
                <a16:creationId xmlns:a16="http://schemas.microsoft.com/office/drawing/2014/main" id="{F03115EA-2DFF-323D-C0E8-995799814D40}"/>
              </a:ext>
            </a:extLst>
          </p:cNvPr>
          <p:cNvSpPr txBox="1"/>
          <p:nvPr/>
        </p:nvSpPr>
        <p:spPr>
          <a:xfrm>
            <a:off x="9931400" y="1676400"/>
            <a:ext cx="1524000" cy="228600"/>
          </a:xfrm>
          <a:prstGeom prst="rect">
            <a:avLst/>
          </a:prstGeom>
          <a:noFill/>
        </p:spPr>
        <p:txBody>
          <a:bodyPr vert="horz" wrap="square" lIns="0" tIns="0" rIns="0" bIns="0" rtlCol="0">
            <a:noAutofit/>
          </a:bodyPr>
          <a:lstStyle/>
          <a:p>
            <a:r>
              <a:rPr lang="fr-FR" sz="1300" b="1">
                <a:solidFill>
                  <a:srgbClr val="1E1C8C"/>
                </a:solidFill>
                <a:latin typeface="Calibri" panose="020F0502020204030204" pitchFamily="34" charset="0"/>
              </a:rPr>
              <a:t>Repères</a:t>
            </a:r>
          </a:p>
        </p:txBody>
      </p:sp>
      <p:sp>
        <p:nvSpPr>
          <p:cNvPr id="38" name="Ellipse 37">
            <a:extLst>
              <a:ext uri="{FF2B5EF4-FFF2-40B4-BE49-F238E27FC236}">
                <a16:creationId xmlns:a16="http://schemas.microsoft.com/office/drawing/2014/main" id="{1D19B9F6-402E-5EFD-A1C0-2224866C6ADE}"/>
              </a:ext>
            </a:extLst>
          </p:cNvPr>
          <p:cNvSpPr/>
          <p:nvPr/>
        </p:nvSpPr>
        <p:spPr>
          <a:xfrm>
            <a:off x="9956800" y="2006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39" name="ZoneTexte 38">
            <a:extLst>
              <a:ext uri="{FF2B5EF4-FFF2-40B4-BE49-F238E27FC236}">
                <a16:creationId xmlns:a16="http://schemas.microsoft.com/office/drawing/2014/main" id="{6F744D28-21DA-9DB9-BA19-4E4F269DD6E0}"/>
              </a:ext>
            </a:extLst>
          </p:cNvPr>
          <p:cNvSpPr txBox="1"/>
          <p:nvPr/>
        </p:nvSpPr>
        <p:spPr>
          <a:xfrm>
            <a:off x="10363200" y="2019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Date</a:t>
            </a:r>
          </a:p>
        </p:txBody>
      </p:sp>
      <p:sp>
        <p:nvSpPr>
          <p:cNvPr id="40" name="Ellipse 39">
            <a:extLst>
              <a:ext uri="{FF2B5EF4-FFF2-40B4-BE49-F238E27FC236}">
                <a16:creationId xmlns:a16="http://schemas.microsoft.com/office/drawing/2014/main" id="{2E5F6D27-8B79-79CE-30A8-1B21ABF0D666}"/>
              </a:ext>
            </a:extLst>
          </p:cNvPr>
          <p:cNvSpPr/>
          <p:nvPr/>
        </p:nvSpPr>
        <p:spPr>
          <a:xfrm>
            <a:off x="9956800" y="238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41" name="ZoneTexte 40">
            <a:extLst>
              <a:ext uri="{FF2B5EF4-FFF2-40B4-BE49-F238E27FC236}">
                <a16:creationId xmlns:a16="http://schemas.microsoft.com/office/drawing/2014/main" id="{AB9DFF36-ED7B-8051-16D1-FA8A5BD9718E}"/>
              </a:ext>
            </a:extLst>
          </p:cNvPr>
          <p:cNvSpPr txBox="1"/>
          <p:nvPr/>
        </p:nvSpPr>
        <p:spPr>
          <a:xfrm>
            <a:off x="10363200" y="2400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Signature</a:t>
            </a:r>
          </a:p>
        </p:txBody>
      </p:sp>
      <p:sp>
        <p:nvSpPr>
          <p:cNvPr id="42" name="Ellipse 41">
            <a:extLst>
              <a:ext uri="{FF2B5EF4-FFF2-40B4-BE49-F238E27FC236}">
                <a16:creationId xmlns:a16="http://schemas.microsoft.com/office/drawing/2014/main" id="{D1B5A4C3-DBF2-88C7-335B-E9ABDA4A6B06}"/>
              </a:ext>
            </a:extLst>
          </p:cNvPr>
          <p:cNvSpPr/>
          <p:nvPr/>
        </p:nvSpPr>
        <p:spPr>
          <a:xfrm>
            <a:off x="9956800" y="2768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43" name="ZoneTexte 42">
            <a:extLst>
              <a:ext uri="{FF2B5EF4-FFF2-40B4-BE49-F238E27FC236}">
                <a16:creationId xmlns:a16="http://schemas.microsoft.com/office/drawing/2014/main" id="{513815EA-D17B-3D72-D862-802DDFFACFB2}"/>
              </a:ext>
            </a:extLst>
          </p:cNvPr>
          <p:cNvSpPr txBox="1"/>
          <p:nvPr/>
        </p:nvSpPr>
        <p:spPr>
          <a:xfrm>
            <a:off x="10363200" y="2781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Effacer</a:t>
            </a:r>
          </a:p>
        </p:txBody>
      </p:sp>
      <p:sp>
        <p:nvSpPr>
          <p:cNvPr id="44" name="Ellipse 43">
            <a:extLst>
              <a:ext uri="{FF2B5EF4-FFF2-40B4-BE49-F238E27FC236}">
                <a16:creationId xmlns:a16="http://schemas.microsoft.com/office/drawing/2014/main" id="{1A9778DD-9605-79B2-7A8A-C626AD213F67}"/>
              </a:ext>
            </a:extLst>
          </p:cNvPr>
          <p:cNvSpPr/>
          <p:nvPr/>
        </p:nvSpPr>
        <p:spPr>
          <a:xfrm>
            <a:off x="99568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45" name="ZoneTexte 44">
            <a:extLst>
              <a:ext uri="{FF2B5EF4-FFF2-40B4-BE49-F238E27FC236}">
                <a16:creationId xmlns:a16="http://schemas.microsoft.com/office/drawing/2014/main" id="{14AD73BC-FFB4-3EA9-F3F4-D79BBA164C02}"/>
              </a:ext>
            </a:extLst>
          </p:cNvPr>
          <p:cNvSpPr txBox="1"/>
          <p:nvPr/>
        </p:nvSpPr>
        <p:spPr>
          <a:xfrm>
            <a:off x="10363200" y="3162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Mention</a:t>
            </a:r>
          </a:p>
        </p:txBody>
      </p:sp>
      <p:sp>
        <p:nvSpPr>
          <p:cNvPr id="46" name="Ellipse 45">
            <a:extLst>
              <a:ext uri="{FF2B5EF4-FFF2-40B4-BE49-F238E27FC236}">
                <a16:creationId xmlns:a16="http://schemas.microsoft.com/office/drawing/2014/main" id="{6D3E3691-B606-DCFF-6517-901F476CA58C}"/>
              </a:ext>
            </a:extLst>
          </p:cNvPr>
          <p:cNvSpPr/>
          <p:nvPr/>
        </p:nvSpPr>
        <p:spPr>
          <a:xfrm>
            <a:off x="9956800" y="3530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47" name="ZoneTexte 46">
            <a:extLst>
              <a:ext uri="{FF2B5EF4-FFF2-40B4-BE49-F238E27FC236}">
                <a16:creationId xmlns:a16="http://schemas.microsoft.com/office/drawing/2014/main" id="{C3A02B24-3862-832A-9177-9A0FAC2A95B0}"/>
              </a:ext>
            </a:extLst>
          </p:cNvPr>
          <p:cNvSpPr txBox="1"/>
          <p:nvPr/>
        </p:nvSpPr>
        <p:spPr>
          <a:xfrm>
            <a:off x="10363200" y="3543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Pré-remplir</a:t>
            </a:r>
          </a:p>
        </p:txBody>
      </p:sp>
      <p:sp>
        <p:nvSpPr>
          <p:cNvPr id="48" name="Ellipse 47">
            <a:extLst>
              <a:ext uri="{FF2B5EF4-FFF2-40B4-BE49-F238E27FC236}">
                <a16:creationId xmlns:a16="http://schemas.microsoft.com/office/drawing/2014/main" id="{AB92332D-E2C4-115D-8C03-4D770E7A4DA7}"/>
              </a:ext>
            </a:extLst>
          </p:cNvPr>
          <p:cNvSpPr/>
          <p:nvPr/>
        </p:nvSpPr>
        <p:spPr>
          <a:xfrm>
            <a:off x="9956800" y="391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49" name="ZoneTexte 48">
            <a:extLst>
              <a:ext uri="{FF2B5EF4-FFF2-40B4-BE49-F238E27FC236}">
                <a16:creationId xmlns:a16="http://schemas.microsoft.com/office/drawing/2014/main" id="{915A11AE-B03D-A58A-70F7-3A57E0FB20A8}"/>
              </a:ext>
            </a:extLst>
          </p:cNvPr>
          <p:cNvSpPr txBox="1"/>
          <p:nvPr/>
        </p:nvSpPr>
        <p:spPr>
          <a:xfrm>
            <a:off x="10363200" y="3924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Message d'aide</a:t>
            </a:r>
          </a:p>
        </p:txBody>
      </p:sp>
      <p:sp>
        <p:nvSpPr>
          <p:cNvPr id="50" name="Ellipse 49">
            <a:extLst>
              <a:ext uri="{FF2B5EF4-FFF2-40B4-BE49-F238E27FC236}">
                <a16:creationId xmlns:a16="http://schemas.microsoft.com/office/drawing/2014/main" id="{53116604-B7EB-8CC1-070B-9DB427B6E309}"/>
              </a:ext>
            </a:extLst>
          </p:cNvPr>
          <p:cNvSpPr/>
          <p:nvPr/>
        </p:nvSpPr>
        <p:spPr>
          <a:xfrm>
            <a:off x="9956800" y="4292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51" name="ZoneTexte 50">
            <a:extLst>
              <a:ext uri="{FF2B5EF4-FFF2-40B4-BE49-F238E27FC236}">
                <a16:creationId xmlns:a16="http://schemas.microsoft.com/office/drawing/2014/main" id="{CCC9E22A-AD78-598A-68C1-5670CB3051A3}"/>
              </a:ext>
            </a:extLst>
          </p:cNvPr>
          <p:cNvSpPr txBox="1"/>
          <p:nvPr/>
        </p:nvSpPr>
        <p:spPr>
          <a:xfrm>
            <a:off x="10363200" y="4305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Annuler</a:t>
            </a:r>
          </a:p>
        </p:txBody>
      </p:sp>
      <p:sp>
        <p:nvSpPr>
          <p:cNvPr id="52" name="Ellipse 51">
            <a:extLst>
              <a:ext uri="{FF2B5EF4-FFF2-40B4-BE49-F238E27FC236}">
                <a16:creationId xmlns:a16="http://schemas.microsoft.com/office/drawing/2014/main" id="{0D6FD63B-20E4-3FE5-9FCF-4483971449A5}"/>
              </a:ext>
            </a:extLst>
          </p:cNvPr>
          <p:cNvSpPr/>
          <p:nvPr/>
        </p:nvSpPr>
        <p:spPr>
          <a:xfrm>
            <a:off x="99568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8</a:t>
            </a:r>
          </a:p>
        </p:txBody>
      </p:sp>
      <p:sp>
        <p:nvSpPr>
          <p:cNvPr id="53" name="ZoneTexte 52">
            <a:extLst>
              <a:ext uri="{FF2B5EF4-FFF2-40B4-BE49-F238E27FC236}">
                <a16:creationId xmlns:a16="http://schemas.microsoft.com/office/drawing/2014/main" id="{D4A8AB04-E70D-17B2-05CF-0F596124C334}"/>
              </a:ext>
            </a:extLst>
          </p:cNvPr>
          <p:cNvSpPr txBox="1"/>
          <p:nvPr/>
        </p:nvSpPr>
        <p:spPr>
          <a:xfrm>
            <a:off x="10363200" y="4686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Valider</a:t>
            </a:r>
          </a:p>
        </p:txBody>
      </p:sp>
    </p:spTree>
    <p:extLst>
      <p:ext uri="{BB962C8B-B14F-4D97-AF65-F5344CB8AC3E}">
        <p14:creationId xmlns:p14="http://schemas.microsoft.com/office/powerpoint/2010/main" val="5210594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251C8AD-3DC7-6F75-96E1-0DA9ACE582E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Envoyer l'attestation signée par email</a:t>
            </a:r>
          </a:p>
        </p:txBody>
      </p:sp>
      <p:sp>
        <p:nvSpPr>
          <p:cNvPr id="3" name="ZoneTexte 2">
            <a:extLst>
              <a:ext uri="{FF2B5EF4-FFF2-40B4-BE49-F238E27FC236}">
                <a16:creationId xmlns:a16="http://schemas.microsoft.com/office/drawing/2014/main" id="{39D8905A-3E5E-AD57-D904-07FA65AA6B77}"/>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329661D1-6490-E28F-ECD2-EAD0D1EAB2F0}"/>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Après la signature : un message prêt à envoyer, avec le PDF signé joint</a:t>
            </a:r>
          </a:p>
        </p:txBody>
      </p:sp>
      <p:sp>
        <p:nvSpPr>
          <p:cNvPr id="5" name="ZoneTexte 4">
            <a:extLst>
              <a:ext uri="{FF2B5EF4-FFF2-40B4-BE49-F238E27FC236}">
                <a16:creationId xmlns:a16="http://schemas.microsoft.com/office/drawing/2014/main" id="{09AD148C-197D-0750-8508-BBD914FD7DA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2110102B-157A-858A-D0EE-A80E536B492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F25C57D2-7BEE-452C-8A2F-A15435BA82DF}" type="slidenum">
              <a:rPr lang="fr-FR" sz="900" smtClean="0">
                <a:solidFill>
                  <a:srgbClr val="586080"/>
                </a:solidFill>
                <a:latin typeface="Calibri" panose="020F0502020204030204" pitchFamily="34" charset="0"/>
              </a:rPr>
              <a:t>17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85CA0727-967C-5C74-1447-374B886AEFBB}"/>
              </a:ext>
            </a:extLst>
          </p:cNvPr>
          <p:cNvSpPr/>
          <p:nvPr/>
        </p:nvSpPr>
        <p:spPr>
          <a:xfrm>
            <a:off x="609600" y="1574800"/>
            <a:ext cx="3175000" cy="453463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29100101-29B9-2029-3546-574805BDBBAA}"/>
              </a:ext>
            </a:extLst>
          </p:cNvPr>
          <p:cNvSpPr/>
          <p:nvPr/>
        </p:nvSpPr>
        <p:spPr>
          <a:xfrm>
            <a:off x="609600" y="1574800"/>
            <a:ext cx="317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16C0593-3746-A211-4C96-6C379E09CA5E}"/>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A8C97022-0936-7655-3A0C-18F64DAA85BD}"/>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3D163800-17CB-5565-06CA-11FB10EDA20E}"/>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2D11EE5-C368-089A-1E72-5B7299F70028}"/>
              </a:ext>
            </a:extLst>
          </p:cNvPr>
          <p:cNvSpPr/>
          <p:nvPr/>
        </p:nvSpPr>
        <p:spPr>
          <a:xfrm>
            <a:off x="10541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BB34BF1-3D9E-1894-A5C0-4BB87C688A3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175000" cy="4255230"/>
          </a:xfrm>
          <a:prstGeom prst="rect">
            <a:avLst/>
          </a:prstGeom>
        </p:spPr>
      </p:pic>
      <p:sp>
        <p:nvSpPr>
          <p:cNvPr id="15" name="Rectangle : coins arrondis 14">
            <a:extLst>
              <a:ext uri="{FF2B5EF4-FFF2-40B4-BE49-F238E27FC236}">
                <a16:creationId xmlns:a16="http://schemas.microsoft.com/office/drawing/2014/main" id="{E241C389-2704-5506-C5DA-58522D275D93}"/>
              </a:ext>
            </a:extLst>
          </p:cNvPr>
          <p:cNvSpPr/>
          <p:nvPr/>
        </p:nvSpPr>
        <p:spPr>
          <a:xfrm>
            <a:off x="4191000" y="1600200"/>
            <a:ext cx="7391400" cy="2235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1961EF38-20A6-8E10-0513-C8473A9A2BC3}"/>
              </a:ext>
            </a:extLst>
          </p:cNvPr>
          <p:cNvSpPr txBox="1"/>
          <p:nvPr/>
        </p:nvSpPr>
        <p:spPr>
          <a:xfrm>
            <a:off x="4445000" y="1752600"/>
            <a:ext cx="6858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Quatre choix dans la fenêtre</a:t>
            </a:r>
          </a:p>
        </p:txBody>
      </p:sp>
      <p:sp>
        <p:nvSpPr>
          <p:cNvPr id="17" name="ZoneTexte 16">
            <a:extLst>
              <a:ext uri="{FF2B5EF4-FFF2-40B4-BE49-F238E27FC236}">
                <a16:creationId xmlns:a16="http://schemas.microsoft.com/office/drawing/2014/main" id="{29D3E3DC-93AD-D26E-46D6-F9C5A2609A1D}"/>
              </a:ext>
            </a:extLst>
          </p:cNvPr>
          <p:cNvSpPr txBox="1"/>
          <p:nvPr/>
        </p:nvSpPr>
        <p:spPr>
          <a:xfrm>
            <a:off x="4445000" y="2133600"/>
            <a:ext cx="6934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Envoyer maintenant : le message part avec le PDF signé joint, copie dans les éléments envoyés</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Modifier : l'objet et le texte (pas le destinataire ni le PDF)</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Créer un brouillon : dossier Brouillons d'Outlook</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Ne pas envoyer : la signature reste enregistrée</a:t>
            </a:r>
          </a:p>
        </p:txBody>
      </p:sp>
      <p:sp>
        <p:nvSpPr>
          <p:cNvPr id="18" name="Rectangle : coins arrondis 17">
            <a:extLst>
              <a:ext uri="{FF2B5EF4-FFF2-40B4-BE49-F238E27FC236}">
                <a16:creationId xmlns:a16="http://schemas.microsoft.com/office/drawing/2014/main" id="{980A1AE0-2F00-DB65-C989-F35AB587DDE7}"/>
              </a:ext>
            </a:extLst>
          </p:cNvPr>
          <p:cNvSpPr/>
          <p:nvPr/>
        </p:nvSpPr>
        <p:spPr>
          <a:xfrm>
            <a:off x="4191000" y="4013200"/>
            <a:ext cx="7391400" cy="2235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51AA2323-A156-DD8B-B97B-F662059E2986}"/>
              </a:ext>
            </a:extLst>
          </p:cNvPr>
          <p:cNvSpPr txBox="1"/>
          <p:nvPr/>
        </p:nvSpPr>
        <p:spPr>
          <a:xfrm>
            <a:off x="4445000" y="4165600"/>
            <a:ext cx="68580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À savoir</a:t>
            </a:r>
          </a:p>
        </p:txBody>
      </p:sp>
      <p:sp>
        <p:nvSpPr>
          <p:cNvPr id="20" name="ZoneTexte 19">
            <a:extLst>
              <a:ext uri="{FF2B5EF4-FFF2-40B4-BE49-F238E27FC236}">
                <a16:creationId xmlns:a16="http://schemas.microsoft.com/office/drawing/2014/main" id="{EFEED89C-FD2A-6222-9AF8-BEF2E0B1230A}"/>
              </a:ext>
            </a:extLst>
          </p:cNvPr>
          <p:cNvSpPr txBox="1"/>
          <p:nvPr/>
        </p:nvSpPr>
        <p:spPr>
          <a:xfrm>
            <a:off x="4445000" y="4546600"/>
            <a:ext cx="6934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Rien ne part sans clic ; la date d'envoi est tracée sur l'attestation</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Sans connecteur : fichier .eml à ouvrir dans Outlook</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Outlook sur le web ne s'ouvre pas depuis la page : brouillon ou .eml</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Premier envoi réel à contrôler avec un destinataire de test</a:t>
            </a:r>
          </a:p>
        </p:txBody>
      </p:sp>
    </p:spTree>
    <p:extLst>
      <p:ext uri="{BB962C8B-B14F-4D97-AF65-F5344CB8AC3E}">
        <p14:creationId xmlns:p14="http://schemas.microsoft.com/office/powerpoint/2010/main" val="1272542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F2A7E1A-311F-E56F-6E88-C220782B447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Aperçu du PDF, destinataire et bouton Annuler</a:t>
            </a:r>
          </a:p>
        </p:txBody>
      </p:sp>
      <p:sp>
        <p:nvSpPr>
          <p:cNvPr id="3" name="ZoneTexte 2">
            <a:extLst>
              <a:ext uri="{FF2B5EF4-FFF2-40B4-BE49-F238E27FC236}">
                <a16:creationId xmlns:a16="http://schemas.microsoft.com/office/drawing/2014/main" id="{DE7A8206-3CE7-2536-7EB8-43CC65F6CC1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71AF6A47-086C-D2B2-FAD4-055F50FDD46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Vérifier avant d'envoyer, corriger tout de suite</a:t>
            </a:r>
          </a:p>
        </p:txBody>
      </p:sp>
      <p:sp>
        <p:nvSpPr>
          <p:cNvPr id="5" name="ZoneTexte 4">
            <a:extLst>
              <a:ext uri="{FF2B5EF4-FFF2-40B4-BE49-F238E27FC236}">
                <a16:creationId xmlns:a16="http://schemas.microsoft.com/office/drawing/2014/main" id="{8C8D66EA-873C-E7E3-C420-01066632B2A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966133B2-81B2-27A2-75AE-94423E3AA08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86C0A33-D78C-4787-89FB-A9080E957A70}" type="slidenum">
              <a:rPr lang="fr-FR" sz="900" smtClean="0">
                <a:solidFill>
                  <a:srgbClr val="586080"/>
                </a:solidFill>
                <a:latin typeface="Calibri" panose="020F0502020204030204" pitchFamily="34" charset="0"/>
              </a:rPr>
              <a:t>18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3A66E03-7A77-64C0-C8AF-74CD2F96BEED}"/>
              </a:ext>
            </a:extLst>
          </p:cNvPr>
          <p:cNvSpPr/>
          <p:nvPr/>
        </p:nvSpPr>
        <p:spPr>
          <a:xfrm>
            <a:off x="609600" y="1600200"/>
            <a:ext cx="2730500" cy="459071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1863D351-4824-5261-2CFF-C3D4BF408E1D}"/>
              </a:ext>
            </a:extLst>
          </p:cNvPr>
          <p:cNvSpPr/>
          <p:nvPr/>
        </p:nvSpPr>
        <p:spPr>
          <a:xfrm>
            <a:off x="609600" y="1600200"/>
            <a:ext cx="27305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F4A298BD-1203-6052-5E18-30A26542A115}"/>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D378B77-1C69-977F-1038-D1779B2A0D15}"/>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E11057D-BF41-A521-44ED-7B161F7DAE66}"/>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25E3DF9D-EF6B-10B5-903F-7DB055E71ACC}"/>
              </a:ext>
            </a:extLst>
          </p:cNvPr>
          <p:cNvSpPr/>
          <p:nvPr/>
        </p:nvSpPr>
        <p:spPr>
          <a:xfrm>
            <a:off x="83185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5F6595D-D342-FAB9-F963-4B2D4D6732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730500" cy="4311316"/>
          </a:xfrm>
          <a:prstGeom prst="rect">
            <a:avLst/>
          </a:prstGeom>
        </p:spPr>
      </p:pic>
      <p:sp>
        <p:nvSpPr>
          <p:cNvPr id="15" name="Rectangle : coins arrondis 14">
            <a:extLst>
              <a:ext uri="{FF2B5EF4-FFF2-40B4-BE49-F238E27FC236}">
                <a16:creationId xmlns:a16="http://schemas.microsoft.com/office/drawing/2014/main" id="{32279525-0104-05AC-30F3-67EAF7B5545C}"/>
              </a:ext>
            </a:extLst>
          </p:cNvPr>
          <p:cNvSpPr/>
          <p:nvPr/>
        </p:nvSpPr>
        <p:spPr>
          <a:xfrm>
            <a:off x="3683000" y="1600200"/>
            <a:ext cx="7899400" cy="2235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F3D3FC31-F6A0-50D4-A347-51BDBC3A9290}"/>
              </a:ext>
            </a:extLst>
          </p:cNvPr>
          <p:cNvSpPr txBox="1"/>
          <p:nvPr/>
        </p:nvSpPr>
        <p:spPr>
          <a:xfrm>
            <a:off x="3911600" y="1752600"/>
            <a:ext cx="74422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Aperçu du PDF et destinataire du message</a:t>
            </a:r>
          </a:p>
        </p:txBody>
      </p:sp>
      <p:sp>
        <p:nvSpPr>
          <p:cNvPr id="17" name="ZoneTexte 16">
            <a:extLst>
              <a:ext uri="{FF2B5EF4-FFF2-40B4-BE49-F238E27FC236}">
                <a16:creationId xmlns:a16="http://schemas.microsoft.com/office/drawing/2014/main" id="{618FC203-D680-D146-64A4-DF5B11D5ACF9}"/>
              </a:ext>
            </a:extLst>
          </p:cNvPr>
          <p:cNvSpPr txBox="1"/>
          <p:nvPr/>
        </p:nvSpPr>
        <p:spPr>
          <a:xfrm>
            <a:off x="3911600" y="2133600"/>
            <a:ext cx="7442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Par email : le PDF s'affiche tel qu'il sera joint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Destinataire : adresse enregistrée, ou autre adresse saisie à la main (personne sans compte professionnel) ; conservée avec l'attestation</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 Continuer et envoyer » enregistre et prépare le brouillon ; « Retour » ne change rien</a:t>
            </a:r>
          </a:p>
        </p:txBody>
      </p:sp>
      <p:sp>
        <p:nvSpPr>
          <p:cNvPr id="18" name="Rectangle : coins arrondis 17">
            <a:extLst>
              <a:ext uri="{FF2B5EF4-FFF2-40B4-BE49-F238E27FC236}">
                <a16:creationId xmlns:a16="http://schemas.microsoft.com/office/drawing/2014/main" id="{DEE43484-EBF0-FB2E-563F-4A1D8BFB363E}"/>
              </a:ext>
            </a:extLst>
          </p:cNvPr>
          <p:cNvSpPr/>
          <p:nvPr/>
        </p:nvSpPr>
        <p:spPr>
          <a:xfrm>
            <a:off x="3683000" y="4013200"/>
            <a:ext cx="7899400" cy="2235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1B8AC8DF-834A-53A9-0F7C-7E5B96C11203}"/>
              </a:ext>
            </a:extLst>
          </p:cNvPr>
          <p:cNvSpPr txBox="1"/>
          <p:nvPr/>
        </p:nvSpPr>
        <p:spPr>
          <a:xfrm>
            <a:off x="3911600" y="4165600"/>
            <a:ext cx="7442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Annuler une saisie qui vient d'être faite</a:t>
            </a:r>
          </a:p>
        </p:txBody>
      </p:sp>
      <p:sp>
        <p:nvSpPr>
          <p:cNvPr id="20" name="ZoneTexte 19">
            <a:extLst>
              <a:ext uri="{FF2B5EF4-FFF2-40B4-BE49-F238E27FC236}">
                <a16:creationId xmlns:a16="http://schemas.microsoft.com/office/drawing/2014/main" id="{5E9E1122-0FD8-C7A4-BF6E-71C192FB763E}"/>
              </a:ext>
            </a:extLst>
          </p:cNvPr>
          <p:cNvSpPr txBox="1"/>
          <p:nvPr/>
        </p:nvSpPr>
        <p:spPr>
          <a:xfrm>
            <a:off x="3911600" y="4546600"/>
            <a:ext cx="7442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Après un emprunt ou une signature, le message propose « Annuler » pendant 10 secondes au moins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Emprunt supprimé ; attestation « En attente », archive et mention supprimées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Refusé si une autre action a été enregistrée depuis pour la personne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Au-delà : commentaire et administrateur</a:t>
            </a:r>
          </a:p>
        </p:txBody>
      </p:sp>
    </p:spTree>
    <p:extLst>
      <p:ext uri="{BB962C8B-B14F-4D97-AF65-F5344CB8AC3E}">
        <p14:creationId xmlns:p14="http://schemas.microsoft.com/office/powerpoint/2010/main" val="22169442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095D062-CAE0-8FE8-7DDC-E9EDC88FD932}"/>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 PDF d'attestation</a:t>
            </a:r>
          </a:p>
        </p:txBody>
      </p:sp>
      <p:sp>
        <p:nvSpPr>
          <p:cNvPr id="3" name="ZoneTexte 2">
            <a:extLst>
              <a:ext uri="{FF2B5EF4-FFF2-40B4-BE49-F238E27FC236}">
                <a16:creationId xmlns:a16="http://schemas.microsoft.com/office/drawing/2014/main" id="{60223B8D-B818-2DA9-856B-4F515D7447F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LE DOCUMENT</a:t>
            </a:r>
          </a:p>
        </p:txBody>
      </p:sp>
      <p:sp>
        <p:nvSpPr>
          <p:cNvPr id="4" name="ZoneTexte 3">
            <a:extLst>
              <a:ext uri="{FF2B5EF4-FFF2-40B4-BE49-F238E27FC236}">
                <a16:creationId xmlns:a16="http://schemas.microsoft.com/office/drawing/2014/main" id="{827A4906-246A-CD9A-CF53-C2610269AFD5}"/>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Deux versions du même document, deux cases toujours remplies</a:t>
            </a:r>
          </a:p>
        </p:txBody>
      </p:sp>
      <p:sp>
        <p:nvSpPr>
          <p:cNvPr id="5" name="ZoneTexte 4">
            <a:extLst>
              <a:ext uri="{FF2B5EF4-FFF2-40B4-BE49-F238E27FC236}">
                <a16:creationId xmlns:a16="http://schemas.microsoft.com/office/drawing/2014/main" id="{283DAD91-E9B5-8D04-0B9E-EEA3AADF8F74}"/>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7FF00B7C-1E3E-8BB5-9ABB-6BB0F5223C6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B08C117-4657-4E52-8AE4-B39F769346F6}" type="slidenum">
              <a:rPr lang="fr-FR" sz="900" smtClean="0">
                <a:solidFill>
                  <a:srgbClr val="586080"/>
                </a:solidFill>
                <a:latin typeface="Calibri" panose="020F0502020204030204" pitchFamily="34" charset="0"/>
              </a:rPr>
              <a:t>19</a:t>
            </a:fld>
            <a:endParaRPr lang="fr-FR" sz="900">
              <a:solidFill>
                <a:srgbClr val="586080"/>
              </a:solidFill>
              <a:latin typeface="Calibri" panose="020F0502020204030204" pitchFamily="34" charset="0"/>
            </a:endParaRPr>
          </a:p>
        </p:txBody>
      </p:sp>
      <p:sp>
        <p:nvSpPr>
          <p:cNvPr id="7" name="Rectangle 6">
            <a:extLst>
              <a:ext uri="{FF2B5EF4-FFF2-40B4-BE49-F238E27FC236}">
                <a16:creationId xmlns:a16="http://schemas.microsoft.com/office/drawing/2014/main" id="{26BEDDD2-7CD0-971E-2428-54C499EE5458}"/>
              </a:ext>
            </a:extLst>
          </p:cNvPr>
          <p:cNvSpPr/>
          <p:nvPr/>
        </p:nvSpPr>
        <p:spPr>
          <a:xfrm>
            <a:off x="609600" y="1600200"/>
            <a:ext cx="3327400" cy="4648200"/>
          </a:xfrm>
          <a:prstGeom prst="rect">
            <a:avLst/>
          </a:prstGeom>
          <a:solidFill>
            <a:srgbClr val="FFFFFF"/>
          </a:solidFill>
          <a:ln w="12700">
            <a:solidFill>
              <a:srgbClr val="DADDEE"/>
            </a:solidFill>
          </a:ln>
          <a:effectLst>
            <a:outerShdw blurRad="203200" dist="50800" dir="5400000" rotWithShape="0">
              <a:srgbClr val="1E1C8C">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a:extLst>
              <a:ext uri="{FF2B5EF4-FFF2-40B4-BE49-F238E27FC236}">
                <a16:creationId xmlns:a16="http://schemas.microsoft.com/office/drawing/2014/main" id="{85B47987-9F06-4B72-D8CE-470EA9612EB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0400" y="1651000"/>
            <a:ext cx="3225800" cy="4559300"/>
          </a:xfrm>
          <a:prstGeom prst="rect">
            <a:avLst/>
          </a:prstGeom>
        </p:spPr>
      </p:pic>
      <p:sp>
        <p:nvSpPr>
          <p:cNvPr id="10" name="Rectangle : coins arrondis 9">
            <a:extLst>
              <a:ext uri="{FF2B5EF4-FFF2-40B4-BE49-F238E27FC236}">
                <a16:creationId xmlns:a16="http://schemas.microsoft.com/office/drawing/2014/main" id="{F39B04F8-B14A-FAA4-1E4C-ABDEF2D8B328}"/>
              </a:ext>
            </a:extLst>
          </p:cNvPr>
          <p:cNvSpPr/>
          <p:nvPr/>
        </p:nvSpPr>
        <p:spPr>
          <a:xfrm>
            <a:off x="4191000" y="1600200"/>
            <a:ext cx="3429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CE563F83-3B46-B3E0-B8A6-863D3E2F862B}"/>
              </a:ext>
            </a:extLst>
          </p:cNvPr>
          <p:cNvSpPr txBox="1"/>
          <p:nvPr/>
        </p:nvSpPr>
        <p:spPr>
          <a:xfrm>
            <a:off x="4419600" y="1752600"/>
            <a:ext cx="2971800" cy="304800"/>
          </a:xfrm>
          <a:prstGeom prst="rect">
            <a:avLst/>
          </a:prstGeom>
          <a:noFill/>
        </p:spPr>
        <p:txBody>
          <a:bodyPr vert="horz" wrap="square" lIns="0" tIns="0" rIns="0" bIns="0" rtlCol="0">
            <a:noAutofit/>
          </a:bodyPr>
          <a:lstStyle/>
          <a:p>
            <a:r>
              <a:rPr lang="fr-FR" sz="1900" b="1">
                <a:solidFill>
                  <a:srgbClr val="2F7DD1"/>
                </a:solidFill>
                <a:latin typeface="Calibri" panose="020F0502020204030204" pitchFamily="34" charset="0"/>
              </a:rPr>
              <a:t>Émise</a:t>
            </a:r>
          </a:p>
        </p:txBody>
      </p:sp>
      <p:sp>
        <p:nvSpPr>
          <p:cNvPr id="12" name="ZoneTexte 11">
            <a:extLst>
              <a:ext uri="{FF2B5EF4-FFF2-40B4-BE49-F238E27FC236}">
                <a16:creationId xmlns:a16="http://schemas.microsoft.com/office/drawing/2014/main" id="{E27E9959-DAC7-FD2E-1A8C-1BAA00A46F5B}"/>
              </a:ext>
            </a:extLst>
          </p:cNvPr>
          <p:cNvSpPr txBox="1"/>
          <p:nvPr/>
        </p:nvSpPr>
        <p:spPr>
          <a:xfrm>
            <a:off x="4419600" y="2159000"/>
            <a:ext cx="3022600" cy="1524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À l'envoi par email ou téléphone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Date d'envoi dans les cases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Bloc « Attestation émise »</a:t>
            </a:r>
          </a:p>
        </p:txBody>
      </p:sp>
      <p:sp>
        <p:nvSpPr>
          <p:cNvPr id="13" name="Rectangle : coins arrondis 12">
            <a:extLst>
              <a:ext uri="{FF2B5EF4-FFF2-40B4-BE49-F238E27FC236}">
                <a16:creationId xmlns:a16="http://schemas.microsoft.com/office/drawing/2014/main" id="{4016A3A0-4C7A-C10B-32CD-E90925B440EE}"/>
              </a:ext>
            </a:extLst>
          </p:cNvPr>
          <p:cNvSpPr/>
          <p:nvPr/>
        </p:nvSpPr>
        <p:spPr>
          <a:xfrm>
            <a:off x="7874000" y="1600200"/>
            <a:ext cx="37084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378E9CA4-37C7-B64C-8236-AB86AC6517F8}"/>
              </a:ext>
            </a:extLst>
          </p:cNvPr>
          <p:cNvSpPr txBox="1"/>
          <p:nvPr/>
        </p:nvSpPr>
        <p:spPr>
          <a:xfrm>
            <a:off x="8102600" y="1752600"/>
            <a:ext cx="3251200" cy="304800"/>
          </a:xfrm>
          <a:prstGeom prst="rect">
            <a:avLst/>
          </a:prstGeom>
          <a:noFill/>
        </p:spPr>
        <p:txBody>
          <a:bodyPr vert="horz" wrap="square" lIns="0" tIns="0" rIns="0" bIns="0" rtlCol="0">
            <a:noAutofit/>
          </a:bodyPr>
          <a:lstStyle/>
          <a:p>
            <a:r>
              <a:rPr lang="fr-FR" sz="1900" b="1">
                <a:solidFill>
                  <a:srgbClr val="1B9E6B"/>
                </a:solidFill>
                <a:latin typeface="Calibri" panose="020F0502020204030204" pitchFamily="34" charset="0"/>
              </a:rPr>
              <a:t>Signée</a:t>
            </a:r>
          </a:p>
        </p:txBody>
      </p:sp>
      <p:sp>
        <p:nvSpPr>
          <p:cNvPr id="15" name="ZoneTexte 14">
            <a:extLst>
              <a:ext uri="{FF2B5EF4-FFF2-40B4-BE49-F238E27FC236}">
                <a16:creationId xmlns:a16="http://schemas.microsoft.com/office/drawing/2014/main" id="{013F426F-95EA-EDFA-1B91-956EA778BA75}"/>
              </a:ext>
            </a:extLst>
          </p:cNvPr>
          <p:cNvSpPr txBox="1"/>
          <p:nvPr/>
        </p:nvSpPr>
        <p:spPr>
          <a:xfrm>
            <a:off x="8102600" y="2159000"/>
            <a:ext cx="3302000" cy="1524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Après « Marquer comme signée »</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Date de signature choisie</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Signature tracée ou nom</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Mention écrite éventuelle</a:t>
            </a:r>
          </a:p>
        </p:txBody>
      </p:sp>
      <p:sp>
        <p:nvSpPr>
          <p:cNvPr id="16" name="Rectangle : coins arrondis 15">
            <a:extLst>
              <a:ext uri="{FF2B5EF4-FFF2-40B4-BE49-F238E27FC236}">
                <a16:creationId xmlns:a16="http://schemas.microsoft.com/office/drawing/2014/main" id="{F0995096-EE54-F39B-30C5-EE4E687811F4}"/>
              </a:ext>
            </a:extLst>
          </p:cNvPr>
          <p:cNvSpPr/>
          <p:nvPr/>
        </p:nvSpPr>
        <p:spPr>
          <a:xfrm>
            <a:off x="4191000" y="3962400"/>
            <a:ext cx="7391400" cy="2286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ECE9BD50-FEC2-1F7F-541E-2E4007B7CFED}"/>
              </a:ext>
            </a:extLst>
          </p:cNvPr>
          <p:cNvSpPr txBox="1"/>
          <p:nvPr/>
        </p:nvSpPr>
        <p:spPr>
          <a:xfrm>
            <a:off x="4419600" y="4114800"/>
            <a:ext cx="6934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Contenu</a:t>
            </a:r>
          </a:p>
        </p:txBody>
      </p:sp>
      <p:sp>
        <p:nvSpPr>
          <p:cNvPr id="18" name="ZoneTexte 17">
            <a:extLst>
              <a:ext uri="{FF2B5EF4-FFF2-40B4-BE49-F238E27FC236}">
                <a16:creationId xmlns:a16="http://schemas.microsoft.com/office/drawing/2014/main" id="{4B8699F5-D9F1-C342-B58D-81E44EB046C2}"/>
              </a:ext>
            </a:extLst>
          </p:cNvPr>
          <p:cNvSpPr txBox="1"/>
          <p:nvPr/>
        </p:nvSpPr>
        <p:spPr>
          <a:xfrm>
            <a:off x="4419600" y="4495800"/>
            <a:ext cx="6934200" cy="1270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Collaborateur, texte d'attestation, tableau du matériel et total</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Dates d'emprunt et de restitution, envoi, signature, mention</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Cases de signature : date, signature ou nom, et « DSI » côté IT ; logo eXalt en en-tête</a:t>
            </a:r>
          </a:p>
        </p:txBody>
      </p:sp>
      <p:sp>
        <p:nvSpPr>
          <p:cNvPr id="19" name="ZoneTexte 18">
            <a:extLst>
              <a:ext uri="{FF2B5EF4-FFF2-40B4-BE49-F238E27FC236}">
                <a16:creationId xmlns:a16="http://schemas.microsoft.com/office/drawing/2014/main" id="{3DA593F4-BEE3-B6BD-32B1-82CEEB064C32}"/>
              </a:ext>
            </a:extLst>
          </p:cNvPr>
          <p:cNvSpPr txBox="1"/>
          <p:nvPr/>
        </p:nvSpPr>
        <p:spPr>
          <a:xfrm>
            <a:off x="4419600" y="5842000"/>
            <a:ext cx="6934200" cy="2540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Fichier : attestation_restitution_prenom-nom_ATT-3-5_signee.pdf</a:t>
            </a:r>
          </a:p>
        </p:txBody>
      </p:sp>
    </p:spTree>
    <p:extLst>
      <p:ext uri="{BB962C8B-B14F-4D97-AF65-F5344CB8AC3E}">
        <p14:creationId xmlns:p14="http://schemas.microsoft.com/office/powerpoint/2010/main" val="35653062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AA40CD-C4C1-1273-2D7E-DB0D18B647B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Archives PDF : retrouver une preuve</a:t>
            </a:r>
          </a:p>
        </p:txBody>
      </p:sp>
      <p:sp>
        <p:nvSpPr>
          <p:cNvPr id="3" name="ZoneTexte 2">
            <a:extLst>
              <a:ext uri="{FF2B5EF4-FFF2-40B4-BE49-F238E27FC236}">
                <a16:creationId xmlns:a16="http://schemas.microsoft.com/office/drawing/2014/main" id="{9273F3EB-6C5D-11C8-D878-D0779A08F6F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B289240A-304A-921A-FF2D-CB6E952DBEC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PDF signé de chaque attestation, à tout moment</a:t>
            </a:r>
          </a:p>
        </p:txBody>
      </p:sp>
      <p:sp>
        <p:nvSpPr>
          <p:cNvPr id="5" name="ZoneTexte 4">
            <a:extLst>
              <a:ext uri="{FF2B5EF4-FFF2-40B4-BE49-F238E27FC236}">
                <a16:creationId xmlns:a16="http://schemas.microsoft.com/office/drawing/2014/main" id="{DF559CE7-B1ED-39CB-62A6-728C4F97B00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090463C2-B637-2345-3C1A-E1524AE9C9B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1286D6A-71AF-4757-AB8B-44FA839954B1}" type="slidenum">
              <a:rPr lang="fr-FR" sz="900" smtClean="0">
                <a:solidFill>
                  <a:srgbClr val="586080"/>
                </a:solidFill>
                <a:latin typeface="Calibri" panose="020F0502020204030204" pitchFamily="34" charset="0"/>
              </a:rPr>
              <a:t>20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6AE4856-A221-4587-6F4B-8C56E86BF8D4}"/>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15A98EBB-1353-3B92-4DA9-FC9FAB30A941}"/>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514CCEFD-C70B-72BB-D800-A120A041DCAC}"/>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DD10943-980B-23F0-DA5A-F0C4A453DDAA}"/>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70BE7B46-264B-A70C-40CA-22B0404B316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C50A78D4-815E-7616-13A7-235F7EFFA456}"/>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3593EC10-194C-EA5B-DDE0-B27F0E71186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AB146D57-5A67-7C59-1680-77ADF35B628B}"/>
              </a:ext>
            </a:extLst>
          </p:cNvPr>
          <p:cNvSpPr/>
          <p:nvPr/>
        </p:nvSpPr>
        <p:spPr>
          <a:xfrm>
            <a:off x="2020888" y="345175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DF43977A-DA0B-87D9-CDBE-112C21F12A37}"/>
              </a:ext>
            </a:extLst>
          </p:cNvPr>
          <p:cNvSpPr/>
          <p:nvPr/>
        </p:nvSpPr>
        <p:spPr>
          <a:xfrm>
            <a:off x="2020888" y="43867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5FF559FF-441C-4A54-7EA7-C238A0D2E005}"/>
              </a:ext>
            </a:extLst>
          </p:cNvPr>
          <p:cNvSpPr/>
          <p:nvPr/>
        </p:nvSpPr>
        <p:spPr>
          <a:xfrm>
            <a:off x="3383227" y="43867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0CB6AC0A-2C75-9F9E-C519-CB41A05D6F4F}"/>
              </a:ext>
            </a:extLst>
          </p:cNvPr>
          <p:cNvSpPr/>
          <p:nvPr/>
        </p:nvSpPr>
        <p:spPr>
          <a:xfrm>
            <a:off x="2402946" y="523636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8D01F77E-EE14-8A86-B992-C114EDD21726}"/>
              </a:ext>
            </a:extLst>
          </p:cNvPr>
          <p:cNvSpPr/>
          <p:nvPr/>
        </p:nvSpPr>
        <p:spPr>
          <a:xfrm>
            <a:off x="6037527" y="504031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F5FDCF58-E410-B6ED-097C-F7E1EE56D85B}"/>
              </a:ext>
            </a:extLst>
          </p:cNvPr>
          <p:cNvSpPr/>
          <p:nvPr/>
        </p:nvSpPr>
        <p:spPr>
          <a:xfrm>
            <a:off x="6670939" y="504031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08663D45-BA6B-6C84-9FE3-14689DE65685}"/>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CA5A54A4-59B7-29B0-BF8A-71C6A953A214}"/>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8D56FC50-0C9C-F2FF-D311-ECB60D604256}"/>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555CF431-767C-641F-0F2E-88C72083BB7C}"/>
              </a:ext>
            </a:extLst>
          </p:cNvPr>
          <p:cNvSpPr txBox="1"/>
          <p:nvPr/>
        </p:nvSpPr>
        <p:spPr>
          <a:xfrm>
            <a:off x="9118600" y="214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archivés, à archiver, espace, dernière signature</a:t>
            </a:r>
          </a:p>
        </p:txBody>
      </p:sp>
      <p:sp>
        <p:nvSpPr>
          <p:cNvPr id="25" name="Ellipse 24">
            <a:extLst>
              <a:ext uri="{FF2B5EF4-FFF2-40B4-BE49-F238E27FC236}">
                <a16:creationId xmlns:a16="http://schemas.microsoft.com/office/drawing/2014/main" id="{520BBEA3-7C23-F9CC-F92E-B691E75A986F}"/>
              </a:ext>
            </a:extLst>
          </p:cNvPr>
          <p:cNvSpPr/>
          <p:nvPr/>
        </p:nvSpPr>
        <p:spPr>
          <a:xfrm>
            <a:off x="87122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511A1669-B6DF-550F-5ECA-4A023CCD0657}"/>
              </a:ext>
            </a:extLst>
          </p:cNvPr>
          <p:cNvSpPr txBox="1"/>
          <p:nvPr/>
        </p:nvSpPr>
        <p:spPr>
          <a:xfrm>
            <a:off x="9118600" y="2654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 tous, archivés, à archiver</a:t>
            </a:r>
          </a:p>
        </p:txBody>
      </p:sp>
      <p:sp>
        <p:nvSpPr>
          <p:cNvPr id="27" name="Ellipse 26">
            <a:extLst>
              <a:ext uri="{FF2B5EF4-FFF2-40B4-BE49-F238E27FC236}">
                <a16:creationId xmlns:a16="http://schemas.microsoft.com/office/drawing/2014/main" id="{B2ED30A4-7B2F-B220-766E-35B8258FBE65}"/>
              </a:ext>
            </a:extLst>
          </p:cNvPr>
          <p:cNvSpPr/>
          <p:nvPr/>
        </p:nvSpPr>
        <p:spPr>
          <a:xfrm>
            <a:off x="87122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BA554C6A-ED32-BB28-36E9-B04D29F45EE4}"/>
              </a:ext>
            </a:extLst>
          </p:cNvPr>
          <p:cNvSpPr txBox="1"/>
          <p:nvPr/>
        </p:nvSpPr>
        <p:spPr>
          <a:xfrm>
            <a:off x="9118600" y="3162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 (date de signature)</a:t>
            </a:r>
          </a:p>
        </p:txBody>
      </p:sp>
      <p:sp>
        <p:nvSpPr>
          <p:cNvPr id="29" name="Ellipse 28">
            <a:extLst>
              <a:ext uri="{FF2B5EF4-FFF2-40B4-BE49-F238E27FC236}">
                <a16:creationId xmlns:a16="http://schemas.microsoft.com/office/drawing/2014/main" id="{E3056EF5-3DE3-D0FD-148C-5AA226E6C599}"/>
              </a:ext>
            </a:extLst>
          </p:cNvPr>
          <p:cNvSpPr/>
          <p:nvPr/>
        </p:nvSpPr>
        <p:spPr>
          <a:xfrm>
            <a:off x="87122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19AB751D-782D-37A0-7FAB-789FF669C7B0}"/>
              </a:ext>
            </a:extLst>
          </p:cNvPr>
          <p:cNvSpPr txBox="1"/>
          <p:nvPr/>
        </p:nvSpPr>
        <p:spPr>
          <a:xfrm>
            <a:off x="9118600" y="3670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Cycle de vie de l'attestation</a:t>
            </a:r>
          </a:p>
        </p:txBody>
      </p:sp>
      <p:sp>
        <p:nvSpPr>
          <p:cNvPr id="31" name="Ellipse 30">
            <a:extLst>
              <a:ext uri="{FF2B5EF4-FFF2-40B4-BE49-F238E27FC236}">
                <a16:creationId xmlns:a16="http://schemas.microsoft.com/office/drawing/2014/main" id="{0EDCD535-076B-A324-4E7A-676DE65238AD}"/>
              </a:ext>
            </a:extLst>
          </p:cNvPr>
          <p:cNvSpPr/>
          <p:nvPr/>
        </p:nvSpPr>
        <p:spPr>
          <a:xfrm>
            <a:off x="87122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053C3016-FF8A-89C9-2F18-05DD7497DB26}"/>
              </a:ext>
            </a:extLst>
          </p:cNvPr>
          <p:cNvSpPr txBox="1"/>
          <p:nvPr/>
        </p:nvSpPr>
        <p:spPr>
          <a:xfrm>
            <a:off x="9118600" y="4178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Statut : Archivé ou Non archivé</a:t>
            </a:r>
          </a:p>
        </p:txBody>
      </p:sp>
      <p:sp>
        <p:nvSpPr>
          <p:cNvPr id="33" name="Ellipse 32">
            <a:extLst>
              <a:ext uri="{FF2B5EF4-FFF2-40B4-BE49-F238E27FC236}">
                <a16:creationId xmlns:a16="http://schemas.microsoft.com/office/drawing/2014/main" id="{73B1AA52-4382-4640-EF1C-D45E06390DA9}"/>
              </a:ext>
            </a:extLst>
          </p:cNvPr>
          <p:cNvSpPr/>
          <p:nvPr/>
        </p:nvSpPr>
        <p:spPr>
          <a:xfrm>
            <a:off x="87122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EB553304-5011-0C09-B1F4-25A0AF752E07}"/>
              </a:ext>
            </a:extLst>
          </p:cNvPr>
          <p:cNvSpPr txBox="1"/>
          <p:nvPr/>
        </p:nvSpPr>
        <p:spPr>
          <a:xfrm>
            <a:off x="9118600" y="468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Télécharger / Archiver le PDF</a:t>
            </a:r>
          </a:p>
        </p:txBody>
      </p:sp>
    </p:spTree>
    <p:extLst>
      <p:ext uri="{BB962C8B-B14F-4D97-AF65-F5344CB8AC3E}">
        <p14:creationId xmlns:p14="http://schemas.microsoft.com/office/powerpoint/2010/main" val="29313504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21CAAA-7677-40EB-3CAF-7993593D1AF4}"/>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Matériel perdu : la synthèse</a:t>
            </a:r>
          </a:p>
        </p:txBody>
      </p:sp>
      <p:sp>
        <p:nvSpPr>
          <p:cNvPr id="3" name="ZoneTexte 2">
            <a:extLst>
              <a:ext uri="{FF2B5EF4-FFF2-40B4-BE49-F238E27FC236}">
                <a16:creationId xmlns:a16="http://schemas.microsoft.com/office/drawing/2014/main" id="{4D0469D4-FF5B-A3F6-A865-A2D19269D13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4</a:t>
            </a:r>
          </a:p>
        </p:txBody>
      </p:sp>
      <p:sp>
        <p:nvSpPr>
          <p:cNvPr id="4" name="ZoneTexte 3">
            <a:extLst>
              <a:ext uri="{FF2B5EF4-FFF2-40B4-BE49-F238E27FC236}">
                <a16:creationId xmlns:a16="http://schemas.microsoft.com/office/drawing/2014/main" id="{8553B741-8066-6FFE-DEC8-12055E8275F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Perdu, volé ou abîmé, par type d'équipement</a:t>
            </a:r>
          </a:p>
        </p:txBody>
      </p:sp>
      <p:sp>
        <p:nvSpPr>
          <p:cNvPr id="5" name="ZoneTexte 4">
            <a:extLst>
              <a:ext uri="{FF2B5EF4-FFF2-40B4-BE49-F238E27FC236}">
                <a16:creationId xmlns:a16="http://schemas.microsoft.com/office/drawing/2014/main" id="{075B2629-80E0-9E52-D5AE-71FD2236B29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84CF594A-EEE4-9822-C999-82FDA8C2AA8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67760C7-BA29-400B-AB80-2E4167F19A4D}" type="slidenum">
              <a:rPr lang="fr-FR" sz="900" smtClean="0">
                <a:solidFill>
                  <a:srgbClr val="586080"/>
                </a:solidFill>
                <a:latin typeface="Calibri" panose="020F0502020204030204" pitchFamily="34" charset="0"/>
              </a:rPr>
              <a:t>21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8A246BE3-67F1-3271-5852-34F5D4C684AF}"/>
              </a:ext>
            </a:extLst>
          </p:cNvPr>
          <p:cNvSpPr/>
          <p:nvPr/>
        </p:nvSpPr>
        <p:spPr>
          <a:xfrm>
            <a:off x="609600" y="1600200"/>
            <a:ext cx="7239000" cy="420052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4842015C-E3A8-4D68-26CC-1C0DAF693EBF}"/>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BD87D38E-2464-1019-FB64-A8323E4B7E75}"/>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662B4113-5D19-083F-5D08-0DD97FE5C305}"/>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98D4C87-8493-A8A3-E13C-819366D55FB8}"/>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7EA99D8F-78D6-C3D3-E9BB-1F9731A803D0}"/>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E955D4E2-9821-BBC2-41E2-7AD15C42B7F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3921125"/>
          </a:xfrm>
          <a:prstGeom prst="rect">
            <a:avLst/>
          </a:prstGeom>
        </p:spPr>
      </p:pic>
      <p:sp>
        <p:nvSpPr>
          <p:cNvPr id="15" name="Ellipse 14">
            <a:extLst>
              <a:ext uri="{FF2B5EF4-FFF2-40B4-BE49-F238E27FC236}">
                <a16:creationId xmlns:a16="http://schemas.microsoft.com/office/drawing/2014/main" id="{BED74BCB-4FAF-55DD-4069-018203CD8654}"/>
              </a:ext>
            </a:extLst>
          </p:cNvPr>
          <p:cNvSpPr/>
          <p:nvPr/>
        </p:nvSpPr>
        <p:spPr>
          <a:xfrm>
            <a:off x="2020888" y="337132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7713391C-FC28-71A8-C7E5-FADD1E19CDDE}"/>
              </a:ext>
            </a:extLst>
          </p:cNvPr>
          <p:cNvSpPr/>
          <p:nvPr/>
        </p:nvSpPr>
        <p:spPr>
          <a:xfrm>
            <a:off x="1990725" y="436668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D308694F-8967-46CF-995A-B91DB1208DE8}"/>
              </a:ext>
            </a:extLst>
          </p:cNvPr>
          <p:cNvSpPr/>
          <p:nvPr/>
        </p:nvSpPr>
        <p:spPr>
          <a:xfrm>
            <a:off x="4001558" y="436668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CE501AD7-B6F2-FBDF-17A2-4ECCA15930BA}"/>
              </a:ext>
            </a:extLst>
          </p:cNvPr>
          <p:cNvSpPr/>
          <p:nvPr/>
        </p:nvSpPr>
        <p:spPr>
          <a:xfrm>
            <a:off x="2418027" y="510566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9190EFC9-10EB-1945-0E6F-8AE13A6E6C60}"/>
              </a:ext>
            </a:extLst>
          </p:cNvPr>
          <p:cNvSpPr/>
          <p:nvPr/>
        </p:nvSpPr>
        <p:spPr>
          <a:xfrm>
            <a:off x="5931958" y="496993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88A297C6-77E8-7AAE-1557-BE3D9EBD20D9}"/>
              </a:ext>
            </a:extLst>
          </p:cNvPr>
          <p:cNvSpPr/>
          <p:nvPr/>
        </p:nvSpPr>
        <p:spPr>
          <a:xfrm>
            <a:off x="6816725" y="465322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4AFB6F36-4AA3-E80D-1771-3BBDFE3CF346}"/>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4C5CEB4A-6C3A-FE24-D758-9E45ED1CCFBA}"/>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6DF686A4-EBF6-2221-4762-63B26E5F576B}"/>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EE3F77C2-9B59-5F58-0444-5743EFA49348}"/>
              </a:ext>
            </a:extLst>
          </p:cNvPr>
          <p:cNvSpPr txBox="1"/>
          <p:nvPr/>
        </p:nvSpPr>
        <p:spPr>
          <a:xfrm>
            <a:off x="9118600" y="214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unités, déclarations, type le plus touché, ce mois-ci</a:t>
            </a:r>
          </a:p>
        </p:txBody>
      </p:sp>
      <p:sp>
        <p:nvSpPr>
          <p:cNvPr id="25" name="Ellipse 24">
            <a:extLst>
              <a:ext uri="{FF2B5EF4-FFF2-40B4-BE49-F238E27FC236}">
                <a16:creationId xmlns:a16="http://schemas.microsoft.com/office/drawing/2014/main" id="{894DFED7-EB43-5DF2-AE4E-1D29B0DFEFD1}"/>
              </a:ext>
            </a:extLst>
          </p:cNvPr>
          <p:cNvSpPr/>
          <p:nvPr/>
        </p:nvSpPr>
        <p:spPr>
          <a:xfrm>
            <a:off x="87122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5BE574DC-9C70-2007-C660-3EF9BA0E41C4}"/>
              </a:ext>
            </a:extLst>
          </p:cNvPr>
          <p:cNvSpPr txBox="1"/>
          <p:nvPr/>
        </p:nvSpPr>
        <p:spPr>
          <a:xfrm>
            <a:off x="9118600" y="2654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Type de matériel (liste déroulante)</a:t>
            </a:r>
          </a:p>
        </p:txBody>
      </p:sp>
      <p:sp>
        <p:nvSpPr>
          <p:cNvPr id="27" name="Ellipse 26">
            <a:extLst>
              <a:ext uri="{FF2B5EF4-FFF2-40B4-BE49-F238E27FC236}">
                <a16:creationId xmlns:a16="http://schemas.microsoft.com/office/drawing/2014/main" id="{6F418710-712E-DB17-84A4-509497C09C55}"/>
              </a:ext>
            </a:extLst>
          </p:cNvPr>
          <p:cNvSpPr/>
          <p:nvPr/>
        </p:nvSpPr>
        <p:spPr>
          <a:xfrm>
            <a:off x="87122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A61BF453-D82D-B737-268D-CE3B1C9D4EDA}"/>
              </a:ext>
            </a:extLst>
          </p:cNvPr>
          <p:cNvSpPr txBox="1"/>
          <p:nvPr/>
        </p:nvSpPr>
        <p:spPr>
          <a:xfrm>
            <a:off x="9118600" y="3162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a:t>
            </a:r>
          </a:p>
        </p:txBody>
      </p:sp>
      <p:sp>
        <p:nvSpPr>
          <p:cNvPr id="29" name="Ellipse 28">
            <a:extLst>
              <a:ext uri="{FF2B5EF4-FFF2-40B4-BE49-F238E27FC236}">
                <a16:creationId xmlns:a16="http://schemas.microsoft.com/office/drawing/2014/main" id="{F7CFAB70-7965-A9CE-37B9-CD28F0869EAE}"/>
              </a:ext>
            </a:extLst>
          </p:cNvPr>
          <p:cNvSpPr/>
          <p:nvPr/>
        </p:nvSpPr>
        <p:spPr>
          <a:xfrm>
            <a:off x="87122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BC81515A-732A-B5EB-A7C4-690F5AB70440}"/>
              </a:ext>
            </a:extLst>
          </p:cNvPr>
          <p:cNvSpPr txBox="1"/>
          <p:nvPr/>
        </p:nvSpPr>
        <p:spPr>
          <a:xfrm>
            <a:off x="9118600" y="3670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Une pastille par déclaration</a:t>
            </a:r>
          </a:p>
        </p:txBody>
      </p:sp>
      <p:sp>
        <p:nvSpPr>
          <p:cNvPr id="31" name="Ellipse 30">
            <a:extLst>
              <a:ext uri="{FF2B5EF4-FFF2-40B4-BE49-F238E27FC236}">
                <a16:creationId xmlns:a16="http://schemas.microsoft.com/office/drawing/2014/main" id="{FF9A5FBC-12FF-AF9F-4BCB-22F54C37CF0F}"/>
              </a:ext>
            </a:extLst>
          </p:cNvPr>
          <p:cNvSpPr/>
          <p:nvPr/>
        </p:nvSpPr>
        <p:spPr>
          <a:xfrm>
            <a:off x="87122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C0695487-4052-77E4-DDE6-BF4A0D8DAB44}"/>
              </a:ext>
            </a:extLst>
          </p:cNvPr>
          <p:cNvSpPr txBox="1"/>
          <p:nvPr/>
        </p:nvSpPr>
        <p:spPr>
          <a:xfrm>
            <a:off x="9118600" y="4178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Jauge : part des pertes</a:t>
            </a:r>
          </a:p>
        </p:txBody>
      </p:sp>
      <p:sp>
        <p:nvSpPr>
          <p:cNvPr id="33" name="Ellipse 32">
            <a:extLst>
              <a:ext uri="{FF2B5EF4-FFF2-40B4-BE49-F238E27FC236}">
                <a16:creationId xmlns:a16="http://schemas.microsoft.com/office/drawing/2014/main" id="{B495A58E-9429-EFB9-6DB1-027D1739819C}"/>
              </a:ext>
            </a:extLst>
          </p:cNvPr>
          <p:cNvSpPr/>
          <p:nvPr/>
        </p:nvSpPr>
        <p:spPr>
          <a:xfrm>
            <a:off x="87122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E3161AF0-B5ED-06AF-6A62-EA7B2E9021AC}"/>
              </a:ext>
            </a:extLst>
          </p:cNvPr>
          <p:cNvSpPr txBox="1"/>
          <p:nvPr/>
        </p:nvSpPr>
        <p:spPr>
          <a:xfrm>
            <a:off x="9118600" y="468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Exporter CSV</a:t>
            </a:r>
          </a:p>
        </p:txBody>
      </p:sp>
      <p:sp>
        <p:nvSpPr>
          <p:cNvPr id="35" name="ZoneTexte 34">
            <a:extLst>
              <a:ext uri="{FF2B5EF4-FFF2-40B4-BE49-F238E27FC236}">
                <a16:creationId xmlns:a16="http://schemas.microsoft.com/office/drawing/2014/main" id="{DD2A2ABD-A10C-DF94-0EE3-54061C604BFD}"/>
              </a:ext>
            </a:extLst>
          </p:cNvPr>
          <p:cNvSpPr txBox="1"/>
          <p:nvPr/>
        </p:nvSpPr>
        <p:spPr>
          <a:xfrm>
            <a:off x="8712200" y="5384800"/>
            <a:ext cx="2667000" cy="7874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Au-delà de six pastilles : « + N autres ».</a:t>
            </a:r>
          </a:p>
        </p:txBody>
      </p:sp>
    </p:spTree>
    <p:extLst>
      <p:ext uri="{BB962C8B-B14F-4D97-AF65-F5344CB8AC3E}">
        <p14:creationId xmlns:p14="http://schemas.microsoft.com/office/powerpoint/2010/main" val="23813447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D69597-2B64-731A-8BC6-7D7C375A8CF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Activités récentes : le journal</a:t>
            </a:r>
          </a:p>
        </p:txBody>
      </p:sp>
      <p:sp>
        <p:nvSpPr>
          <p:cNvPr id="3" name="ZoneTexte 2">
            <a:extLst>
              <a:ext uri="{FF2B5EF4-FFF2-40B4-BE49-F238E27FC236}">
                <a16:creationId xmlns:a16="http://schemas.microsoft.com/office/drawing/2014/main" id="{4988A766-8CC7-A05F-32F4-3D1B601FA8C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7</a:t>
            </a:r>
          </a:p>
        </p:txBody>
      </p:sp>
      <p:sp>
        <p:nvSpPr>
          <p:cNvPr id="4" name="ZoneTexte 3">
            <a:extLst>
              <a:ext uri="{FF2B5EF4-FFF2-40B4-BE49-F238E27FC236}">
                <a16:creationId xmlns:a16="http://schemas.microsoft.com/office/drawing/2014/main" id="{4D2B2496-5584-E052-7491-4A4ACC41AA38}"/>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Tout ce qui a été enregistré, du plus récent au plus ancien</a:t>
            </a:r>
          </a:p>
        </p:txBody>
      </p:sp>
      <p:sp>
        <p:nvSpPr>
          <p:cNvPr id="5" name="ZoneTexte 4">
            <a:extLst>
              <a:ext uri="{FF2B5EF4-FFF2-40B4-BE49-F238E27FC236}">
                <a16:creationId xmlns:a16="http://schemas.microsoft.com/office/drawing/2014/main" id="{DB08633B-D534-31B4-8B5E-BB88E9DF958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B37F2D90-8B3D-ABFC-B2C3-BBF53126DA3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534330C-3517-445B-9551-65002F3C3A26}" type="slidenum">
              <a:rPr lang="fr-FR" sz="900" smtClean="0">
                <a:solidFill>
                  <a:srgbClr val="586080"/>
                </a:solidFill>
                <a:latin typeface="Calibri" panose="020F0502020204030204" pitchFamily="34" charset="0"/>
              </a:rPr>
              <a:t>22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AD8D86D-C215-81D0-3F32-36CF9CBA93DB}"/>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606C3C26-9CC5-3E53-4820-8279FDC100D9}"/>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7D911DA-1795-FB6E-6F6E-A652ED82D41A}"/>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02CE3EC-9564-EE23-95E1-DC8B76827E03}"/>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CFE0B30-D64D-0530-08EE-B12FE97D89BF}"/>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B5DE5262-DFFB-0417-8219-B3660B9F6BF2}"/>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E8FA3850-D9BC-D0D4-7738-19565C35168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7D5C78D5-28DF-8105-2E07-3EF467D73C1A}"/>
              </a:ext>
            </a:extLst>
          </p:cNvPr>
          <p:cNvSpPr/>
          <p:nvPr/>
        </p:nvSpPr>
        <p:spPr>
          <a:xfrm>
            <a:off x="2020888" y="333613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8F9C793C-8BB8-3DE8-69D2-9D30B5C5F4E8}"/>
              </a:ext>
            </a:extLst>
          </p:cNvPr>
          <p:cNvSpPr/>
          <p:nvPr/>
        </p:nvSpPr>
        <p:spPr>
          <a:xfrm>
            <a:off x="2020888" y="427116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44513EE9-08C1-4E0A-3962-9A0814C93A76}"/>
              </a:ext>
            </a:extLst>
          </p:cNvPr>
          <p:cNvSpPr/>
          <p:nvPr/>
        </p:nvSpPr>
        <p:spPr>
          <a:xfrm>
            <a:off x="4564592" y="427116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0722F3EF-7989-8DFD-0C3E-DB28CE6618CD}"/>
              </a:ext>
            </a:extLst>
          </p:cNvPr>
          <p:cNvSpPr/>
          <p:nvPr/>
        </p:nvSpPr>
        <p:spPr>
          <a:xfrm>
            <a:off x="2020888" y="450241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309FD454-E8D9-5420-D2F2-579F20AD89F0}"/>
              </a:ext>
            </a:extLst>
          </p:cNvPr>
          <p:cNvSpPr/>
          <p:nvPr/>
        </p:nvSpPr>
        <p:spPr>
          <a:xfrm>
            <a:off x="2221971" y="474874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Rectangle : coins arrondis 19">
            <a:extLst>
              <a:ext uri="{FF2B5EF4-FFF2-40B4-BE49-F238E27FC236}">
                <a16:creationId xmlns:a16="http://schemas.microsoft.com/office/drawing/2014/main" id="{8EB78278-ABDE-C49E-FE36-39BFBE66FBA0}"/>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42294CC8-6AD6-3D06-89A2-00F1D5FF4D2B}"/>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2" name="Ellipse 21">
            <a:extLst>
              <a:ext uri="{FF2B5EF4-FFF2-40B4-BE49-F238E27FC236}">
                <a16:creationId xmlns:a16="http://schemas.microsoft.com/office/drawing/2014/main" id="{FF70BF47-239F-45E5-931B-B2C76401E0AE}"/>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3" name="ZoneTexte 22">
            <a:extLst>
              <a:ext uri="{FF2B5EF4-FFF2-40B4-BE49-F238E27FC236}">
                <a16:creationId xmlns:a16="http://schemas.microsoft.com/office/drawing/2014/main" id="{1363E697-4CEA-1CA0-C995-EACC201A2B5D}"/>
              </a:ext>
            </a:extLst>
          </p:cNvPr>
          <p:cNvSpPr txBox="1"/>
          <p:nvPr/>
        </p:nvSpPr>
        <p:spPr>
          <a:xfrm>
            <a:off x="9118600" y="21463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et filtres : prêts, envois, signatures, pertes</a:t>
            </a:r>
          </a:p>
        </p:txBody>
      </p:sp>
      <p:sp>
        <p:nvSpPr>
          <p:cNvPr id="24" name="Ellipse 23">
            <a:extLst>
              <a:ext uri="{FF2B5EF4-FFF2-40B4-BE49-F238E27FC236}">
                <a16:creationId xmlns:a16="http://schemas.microsoft.com/office/drawing/2014/main" id="{2648362B-67AD-9019-711D-DA1DD4833D7A}"/>
              </a:ext>
            </a:extLst>
          </p:cNvPr>
          <p:cNvSpPr/>
          <p:nvPr/>
        </p:nvSpPr>
        <p:spPr>
          <a:xfrm>
            <a:off x="8712200" y="2692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5" name="ZoneTexte 24">
            <a:extLst>
              <a:ext uri="{FF2B5EF4-FFF2-40B4-BE49-F238E27FC236}">
                <a16:creationId xmlns:a16="http://schemas.microsoft.com/office/drawing/2014/main" id="{4A43C71F-3933-DE8A-1C6F-8B2FA37E8400}"/>
              </a:ext>
            </a:extLst>
          </p:cNvPr>
          <p:cNvSpPr txBox="1"/>
          <p:nvPr/>
        </p:nvSpPr>
        <p:spPr>
          <a:xfrm>
            <a:off x="9118600" y="27051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par type d'événement</a:t>
            </a:r>
          </a:p>
        </p:txBody>
      </p:sp>
      <p:sp>
        <p:nvSpPr>
          <p:cNvPr id="26" name="Ellipse 25">
            <a:extLst>
              <a:ext uri="{FF2B5EF4-FFF2-40B4-BE49-F238E27FC236}">
                <a16:creationId xmlns:a16="http://schemas.microsoft.com/office/drawing/2014/main" id="{6AE07274-EBCF-DA9B-08D2-FDE15F05A06C}"/>
              </a:ext>
            </a:extLst>
          </p:cNvPr>
          <p:cNvSpPr/>
          <p:nvPr/>
        </p:nvSpPr>
        <p:spPr>
          <a:xfrm>
            <a:off x="8712200" y="3251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7" name="ZoneTexte 26">
            <a:extLst>
              <a:ext uri="{FF2B5EF4-FFF2-40B4-BE49-F238E27FC236}">
                <a16:creationId xmlns:a16="http://schemas.microsoft.com/office/drawing/2014/main" id="{9CCB616F-A4F5-3BE5-130A-E723F023A620}"/>
              </a:ext>
            </a:extLst>
          </p:cNvPr>
          <p:cNvSpPr txBox="1"/>
          <p:nvPr/>
        </p:nvSpPr>
        <p:spPr>
          <a:xfrm>
            <a:off x="9118600" y="32639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a:t>
            </a:r>
          </a:p>
        </p:txBody>
      </p:sp>
      <p:sp>
        <p:nvSpPr>
          <p:cNvPr id="28" name="Ellipse 27">
            <a:extLst>
              <a:ext uri="{FF2B5EF4-FFF2-40B4-BE49-F238E27FC236}">
                <a16:creationId xmlns:a16="http://schemas.microsoft.com/office/drawing/2014/main" id="{0AA15419-AB44-6130-E41D-E0186C66EE91}"/>
              </a:ext>
            </a:extLst>
          </p:cNvPr>
          <p:cNvSpPr/>
          <p:nvPr/>
        </p:nvSpPr>
        <p:spPr>
          <a:xfrm>
            <a:off x="87122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29" name="ZoneTexte 28">
            <a:extLst>
              <a:ext uri="{FF2B5EF4-FFF2-40B4-BE49-F238E27FC236}">
                <a16:creationId xmlns:a16="http://schemas.microsoft.com/office/drawing/2014/main" id="{54ABFA9D-921E-6F83-E075-E4584B6B8FFB}"/>
              </a:ext>
            </a:extLst>
          </p:cNvPr>
          <p:cNvSpPr txBox="1"/>
          <p:nvPr/>
        </p:nvSpPr>
        <p:spPr>
          <a:xfrm>
            <a:off x="9118600" y="38227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Regroupement par jour</a:t>
            </a:r>
          </a:p>
        </p:txBody>
      </p:sp>
      <p:sp>
        <p:nvSpPr>
          <p:cNvPr id="30" name="Ellipse 29">
            <a:extLst>
              <a:ext uri="{FF2B5EF4-FFF2-40B4-BE49-F238E27FC236}">
                <a16:creationId xmlns:a16="http://schemas.microsoft.com/office/drawing/2014/main" id="{C0A39B43-FBEF-EE93-02E1-7B6D41B2ACC1}"/>
              </a:ext>
            </a:extLst>
          </p:cNvPr>
          <p:cNvSpPr/>
          <p:nvPr/>
        </p:nvSpPr>
        <p:spPr>
          <a:xfrm>
            <a:off x="8712200" y="4368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1" name="ZoneTexte 30">
            <a:extLst>
              <a:ext uri="{FF2B5EF4-FFF2-40B4-BE49-F238E27FC236}">
                <a16:creationId xmlns:a16="http://schemas.microsoft.com/office/drawing/2014/main" id="{8C095F80-2112-9FDA-D2ED-7F19C9A0EF56}"/>
              </a:ext>
            </a:extLst>
          </p:cNvPr>
          <p:cNvSpPr txBox="1"/>
          <p:nvPr/>
        </p:nvSpPr>
        <p:spPr>
          <a:xfrm>
            <a:off x="9118600" y="43815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Événement : personne, matériel, heure, auteur</a:t>
            </a:r>
          </a:p>
        </p:txBody>
      </p:sp>
    </p:spTree>
    <p:extLst>
      <p:ext uri="{BB962C8B-B14F-4D97-AF65-F5344CB8AC3E}">
        <p14:creationId xmlns:p14="http://schemas.microsoft.com/office/powerpoint/2010/main" val="37386388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419397-092B-0D13-8292-A26C7676949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Filtrer par période</a:t>
            </a:r>
          </a:p>
        </p:txBody>
      </p:sp>
      <p:sp>
        <p:nvSpPr>
          <p:cNvPr id="3" name="ZoneTexte 2">
            <a:extLst>
              <a:ext uri="{FF2B5EF4-FFF2-40B4-BE49-F238E27FC236}">
                <a16:creationId xmlns:a16="http://schemas.microsoft.com/office/drawing/2014/main" id="{9DAA1FE7-10E4-9AC1-25D7-8F4AE0F912D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262004CB-B80A-8802-7E92-88132F9FAD95}"/>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Sur chaque liste, entre deux dates, deux mois ou deux années</a:t>
            </a:r>
          </a:p>
        </p:txBody>
      </p:sp>
      <p:sp>
        <p:nvSpPr>
          <p:cNvPr id="5" name="ZoneTexte 4">
            <a:extLst>
              <a:ext uri="{FF2B5EF4-FFF2-40B4-BE49-F238E27FC236}">
                <a16:creationId xmlns:a16="http://schemas.microsoft.com/office/drawing/2014/main" id="{AFD7C7A2-6656-0DAF-BCED-AE619E1DBC9A}"/>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3CE1C519-947F-F85F-F9FB-8CEFBD19431A}"/>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3999F395-1FD4-473C-AEEE-3F8F14BE0DA0}" type="slidenum">
              <a:rPr lang="fr-FR" sz="900" smtClean="0">
                <a:solidFill>
                  <a:srgbClr val="586080"/>
                </a:solidFill>
                <a:latin typeface="Calibri" panose="020F0502020204030204" pitchFamily="34" charset="0"/>
              </a:rPr>
              <a:t>23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641BA63-6428-8905-9B61-7C71F8FCDF37}"/>
              </a:ext>
            </a:extLst>
          </p:cNvPr>
          <p:cNvSpPr/>
          <p:nvPr/>
        </p:nvSpPr>
        <p:spPr>
          <a:xfrm>
            <a:off x="609600" y="1600200"/>
            <a:ext cx="10972800" cy="136928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10D4C94-C007-646E-CA30-A0036CC709A1}"/>
              </a:ext>
            </a:extLst>
          </p:cNvPr>
          <p:cNvSpPr/>
          <p:nvPr/>
        </p:nvSpPr>
        <p:spPr>
          <a:xfrm>
            <a:off x="609600" y="1600200"/>
            <a:ext cx="109728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A8E21A8-AE66-C488-4F78-FEC759371EFF}"/>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1B517CE7-A810-F926-1FF1-FB240CEB7A4A}"/>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BC12FB7-F9F1-F125-5980-CEDD0C7A021A}"/>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BF925E18-7174-E12F-67C7-024ABFBE8BBD}"/>
              </a:ext>
            </a:extLst>
          </p:cNvPr>
          <p:cNvSpPr/>
          <p:nvPr/>
        </p:nvSpPr>
        <p:spPr>
          <a:xfrm>
            <a:off x="49530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F16C6F51-AE67-7F27-17B5-BFEC7D88739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10972800" cy="1089880"/>
          </a:xfrm>
          <a:prstGeom prst="rect">
            <a:avLst/>
          </a:prstGeom>
        </p:spPr>
      </p:pic>
      <p:sp>
        <p:nvSpPr>
          <p:cNvPr id="15" name="Rectangle : coins arrondis 14">
            <a:extLst>
              <a:ext uri="{FF2B5EF4-FFF2-40B4-BE49-F238E27FC236}">
                <a16:creationId xmlns:a16="http://schemas.microsoft.com/office/drawing/2014/main" id="{8927D458-C2C5-A80A-1843-55CE3AC9DEA4}"/>
              </a:ext>
            </a:extLst>
          </p:cNvPr>
          <p:cNvSpPr/>
          <p:nvPr/>
        </p:nvSpPr>
        <p:spPr>
          <a:xfrm>
            <a:off x="609600" y="3759200"/>
            <a:ext cx="5334000" cy="2489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C856AA4D-DECE-D31D-22BE-450C5844C0A9}"/>
              </a:ext>
            </a:extLst>
          </p:cNvPr>
          <p:cNvSpPr txBox="1"/>
          <p:nvPr/>
        </p:nvSpPr>
        <p:spPr>
          <a:xfrm>
            <a:off x="863600" y="3911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Quatre modes</a:t>
            </a:r>
          </a:p>
        </p:txBody>
      </p:sp>
      <p:sp>
        <p:nvSpPr>
          <p:cNvPr id="17" name="ZoneTexte 16">
            <a:extLst>
              <a:ext uri="{FF2B5EF4-FFF2-40B4-BE49-F238E27FC236}">
                <a16:creationId xmlns:a16="http://schemas.microsoft.com/office/drawing/2014/main" id="{AB6CE879-7F4F-B143-1149-AD3CE56A543C}"/>
              </a:ext>
            </a:extLst>
          </p:cNvPr>
          <p:cNvSpPr txBox="1"/>
          <p:nvPr/>
        </p:nvSpPr>
        <p:spPr>
          <a:xfrm>
            <a:off x="863600" y="4292600"/>
            <a:ext cx="4876800" cy="1905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Toutes les dates (par défaut)</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Entre deux dates : du … au …</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De mois à mois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D'année à année</a:t>
            </a:r>
          </a:p>
        </p:txBody>
      </p:sp>
      <p:sp>
        <p:nvSpPr>
          <p:cNvPr id="18" name="Rectangle : coins arrondis 17">
            <a:extLst>
              <a:ext uri="{FF2B5EF4-FFF2-40B4-BE49-F238E27FC236}">
                <a16:creationId xmlns:a16="http://schemas.microsoft.com/office/drawing/2014/main" id="{DF208E2F-75CD-FC7C-85A9-21A51EE416D3}"/>
              </a:ext>
            </a:extLst>
          </p:cNvPr>
          <p:cNvSpPr/>
          <p:nvPr/>
        </p:nvSpPr>
        <p:spPr>
          <a:xfrm>
            <a:off x="6248400" y="3759200"/>
            <a:ext cx="5334000" cy="2489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7BE68E05-B642-4A54-7011-D9E15B6309C2}"/>
              </a:ext>
            </a:extLst>
          </p:cNvPr>
          <p:cNvSpPr txBox="1"/>
          <p:nvPr/>
        </p:nvSpPr>
        <p:spPr>
          <a:xfrm>
            <a:off x="6502400" y="3911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Date utilisée selon l'onglet</a:t>
            </a:r>
          </a:p>
        </p:txBody>
      </p:sp>
      <p:sp>
        <p:nvSpPr>
          <p:cNvPr id="20" name="ZoneTexte 19">
            <a:extLst>
              <a:ext uri="{FF2B5EF4-FFF2-40B4-BE49-F238E27FC236}">
                <a16:creationId xmlns:a16="http://schemas.microsoft.com/office/drawing/2014/main" id="{244A8966-3CB1-F92D-A1B9-799B66A6C1FA}"/>
              </a:ext>
            </a:extLst>
          </p:cNvPr>
          <p:cNvSpPr txBox="1"/>
          <p:nvPr/>
        </p:nvSpPr>
        <p:spPr>
          <a:xfrm>
            <a:off x="6502400" y="4292600"/>
            <a:ext cx="4876800" cy="1905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Emprunter : date de remise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Restituer, Matériel perdu : retour ou déclaration</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Attestations : date d'envoi</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Archives PDF : date de signature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Activités : date de l'événement</a:t>
            </a:r>
          </a:p>
        </p:txBody>
      </p:sp>
    </p:spTree>
    <p:extLst>
      <p:ext uri="{BB962C8B-B14F-4D97-AF65-F5344CB8AC3E}">
        <p14:creationId xmlns:p14="http://schemas.microsoft.com/office/powerpoint/2010/main" val="1667861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A58E7A-A03D-5A09-B57A-D3BF60A4219A}"/>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Codes QR et scanner</a:t>
            </a:r>
          </a:p>
        </p:txBody>
      </p:sp>
      <p:sp>
        <p:nvSpPr>
          <p:cNvPr id="3" name="ZoneTexte 2">
            <a:extLst>
              <a:ext uri="{FF2B5EF4-FFF2-40B4-BE49-F238E27FC236}">
                <a16:creationId xmlns:a16="http://schemas.microsoft.com/office/drawing/2014/main" id="{3DF8E661-741F-5D8A-BBA7-A61AABEB1799}"/>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3A88947F-5DD1-F910-74BE-0DC1CC4D112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Identifier un équipement en quelques secondes</a:t>
            </a:r>
          </a:p>
        </p:txBody>
      </p:sp>
      <p:sp>
        <p:nvSpPr>
          <p:cNvPr id="5" name="ZoneTexte 4">
            <a:extLst>
              <a:ext uri="{FF2B5EF4-FFF2-40B4-BE49-F238E27FC236}">
                <a16:creationId xmlns:a16="http://schemas.microsoft.com/office/drawing/2014/main" id="{1C333BFB-D359-07FA-940A-DC943D9C713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17E9B749-09D2-0349-5624-ADD4071490D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FC7EDF7F-0670-4E02-9B3F-A3FB2D8B9809}" type="slidenum">
              <a:rPr lang="fr-FR" sz="900" smtClean="0">
                <a:solidFill>
                  <a:srgbClr val="586080"/>
                </a:solidFill>
                <a:latin typeface="Calibri" panose="020F0502020204030204" pitchFamily="34" charset="0"/>
              </a:rPr>
              <a:t>24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8670B147-3CE8-B5A3-1DD4-B2B236188DA4}"/>
              </a:ext>
            </a:extLst>
          </p:cNvPr>
          <p:cNvSpPr/>
          <p:nvPr/>
        </p:nvSpPr>
        <p:spPr>
          <a:xfrm>
            <a:off x="609600" y="1600200"/>
            <a:ext cx="3429000" cy="411988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3C312B1-0286-4FE7-6C02-AC1B8398C38A}"/>
              </a:ext>
            </a:extLst>
          </p:cNvPr>
          <p:cNvSpPr/>
          <p:nvPr/>
        </p:nvSpPr>
        <p:spPr>
          <a:xfrm>
            <a:off x="609600" y="1600200"/>
            <a:ext cx="342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2BF50F1-85D5-60ED-7137-098692024019}"/>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326E7B6-4A0F-C146-C11C-91787075F2B7}"/>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4929926-C77C-D87D-B527-634A13F6E3BA}"/>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F8364037-6B4A-9FBD-A025-70233D46513B}"/>
              </a:ext>
            </a:extLst>
          </p:cNvPr>
          <p:cNvSpPr/>
          <p:nvPr/>
        </p:nvSpPr>
        <p:spPr>
          <a:xfrm>
            <a:off x="1181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20EF8259-89FC-6866-D0D1-6CB7F7341D5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429000" cy="3840480"/>
          </a:xfrm>
          <a:prstGeom prst="rect">
            <a:avLst/>
          </a:prstGeom>
        </p:spPr>
      </p:pic>
      <p:sp>
        <p:nvSpPr>
          <p:cNvPr id="15" name="Rectangle : coins arrondis 14">
            <a:extLst>
              <a:ext uri="{FF2B5EF4-FFF2-40B4-BE49-F238E27FC236}">
                <a16:creationId xmlns:a16="http://schemas.microsoft.com/office/drawing/2014/main" id="{8279DDB4-93F3-61FC-27E3-0C88A371E459}"/>
              </a:ext>
            </a:extLst>
          </p:cNvPr>
          <p:cNvSpPr/>
          <p:nvPr/>
        </p:nvSpPr>
        <p:spPr>
          <a:xfrm>
            <a:off x="5486400" y="1600200"/>
            <a:ext cx="6096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7CD711E1-D021-38A0-38CE-328D102299AB}"/>
              </a:ext>
            </a:extLst>
          </p:cNvPr>
          <p:cNvSpPr txBox="1"/>
          <p:nvPr/>
        </p:nvSpPr>
        <p:spPr>
          <a:xfrm>
            <a:off x="5715000" y="1752600"/>
            <a:ext cx="5588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Étiquettes QR (PDF)</a:t>
            </a:r>
          </a:p>
        </p:txBody>
      </p:sp>
      <p:sp>
        <p:nvSpPr>
          <p:cNvPr id="17" name="ZoneTexte 16">
            <a:extLst>
              <a:ext uri="{FF2B5EF4-FFF2-40B4-BE49-F238E27FC236}">
                <a16:creationId xmlns:a16="http://schemas.microsoft.com/office/drawing/2014/main" id="{758BAE5F-916A-D06D-F5A8-2AAE10E17BBF}"/>
              </a:ext>
            </a:extLst>
          </p:cNvPr>
          <p:cNvSpPr txBox="1"/>
          <p:nvPr/>
        </p:nvSpPr>
        <p:spPr>
          <a:xfrm>
            <a:off x="5715000" y="2133600"/>
            <a:ext cx="5638800" cy="1600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Bouton dans la fiche d'une personne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24 étiquettes par page A4 (3 × 8)</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Chaque étiquette : QR, libellé, code, personne, date</a:t>
            </a:r>
          </a:p>
        </p:txBody>
      </p:sp>
      <p:sp>
        <p:nvSpPr>
          <p:cNvPr id="18" name="Rectangle : coins arrondis 17">
            <a:extLst>
              <a:ext uri="{FF2B5EF4-FFF2-40B4-BE49-F238E27FC236}">
                <a16:creationId xmlns:a16="http://schemas.microsoft.com/office/drawing/2014/main" id="{EE279D6B-F5F9-5282-FD8A-A341B043AE91}"/>
              </a:ext>
            </a:extLst>
          </p:cNvPr>
          <p:cNvSpPr/>
          <p:nvPr/>
        </p:nvSpPr>
        <p:spPr>
          <a:xfrm>
            <a:off x="5486400" y="3937000"/>
            <a:ext cx="6096000" cy="231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09DD172C-E343-D726-AFC1-35D934B3D4AF}"/>
              </a:ext>
            </a:extLst>
          </p:cNvPr>
          <p:cNvSpPr txBox="1"/>
          <p:nvPr/>
        </p:nvSpPr>
        <p:spPr>
          <a:xfrm>
            <a:off x="5715000" y="4089400"/>
            <a:ext cx="5588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Scanner un QR</a:t>
            </a:r>
          </a:p>
        </p:txBody>
      </p:sp>
      <p:sp>
        <p:nvSpPr>
          <p:cNvPr id="20" name="ZoneTexte 19">
            <a:extLst>
              <a:ext uri="{FF2B5EF4-FFF2-40B4-BE49-F238E27FC236}">
                <a16:creationId xmlns:a16="http://schemas.microsoft.com/office/drawing/2014/main" id="{91A7C649-887D-272D-9DE8-D611DDC94498}"/>
              </a:ext>
            </a:extLst>
          </p:cNvPr>
          <p:cNvSpPr txBox="1"/>
          <p:nvPr/>
        </p:nvSpPr>
        <p:spPr>
          <a:xfrm>
            <a:off x="5715000" y="4470400"/>
            <a:ext cx="5638800" cy="1727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Caméra, photo du QR ou saisie du code (ex. AP-1)</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Résultat : équipement, personne et état (disponible, emprunté, en attente, perdu)</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Prêter maintenant, Restituer ce matériel ou ouvrir la fiche (scan rapide)</a:t>
            </a:r>
          </a:p>
        </p:txBody>
      </p:sp>
    </p:spTree>
    <p:extLst>
      <p:ext uri="{BB962C8B-B14F-4D97-AF65-F5344CB8AC3E}">
        <p14:creationId xmlns:p14="http://schemas.microsoft.com/office/powerpoint/2010/main" val="4130344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B80C10-91CC-0577-2675-A8C8C204F91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Scan rapide et panneau latéral</a:t>
            </a:r>
          </a:p>
        </p:txBody>
      </p:sp>
      <p:sp>
        <p:nvSpPr>
          <p:cNvPr id="3" name="ZoneTexte 2">
            <a:extLst>
              <a:ext uri="{FF2B5EF4-FFF2-40B4-BE49-F238E27FC236}">
                <a16:creationId xmlns:a16="http://schemas.microsoft.com/office/drawing/2014/main" id="{9D84D5CD-7691-0547-41E5-3B809E7883C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BE5B45E8-98B9-904E-CA6C-C7F6343DA9E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Prêter en un geste, et garder la liste sous les yeux sur grand écran</a:t>
            </a:r>
          </a:p>
        </p:txBody>
      </p:sp>
      <p:sp>
        <p:nvSpPr>
          <p:cNvPr id="5" name="ZoneTexte 4">
            <a:extLst>
              <a:ext uri="{FF2B5EF4-FFF2-40B4-BE49-F238E27FC236}">
                <a16:creationId xmlns:a16="http://schemas.microsoft.com/office/drawing/2014/main" id="{0923D56D-0646-B3F7-D99C-96194AB87A5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3FBE7EB9-A401-BFC4-ED4B-7D0E3D48AE4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F11D00EB-A1F5-4193-A315-94D3933C3FC7}" type="slidenum">
              <a:rPr lang="fr-FR" sz="900" smtClean="0">
                <a:solidFill>
                  <a:srgbClr val="586080"/>
                </a:solidFill>
                <a:latin typeface="Calibri" panose="020F0502020204030204" pitchFamily="34" charset="0"/>
              </a:rPr>
              <a:t>25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2D8BF6F-407D-9656-05FD-B9ED7CB3E0DB}"/>
              </a:ext>
            </a:extLst>
          </p:cNvPr>
          <p:cNvSpPr/>
          <p:nvPr/>
        </p:nvSpPr>
        <p:spPr>
          <a:xfrm>
            <a:off x="609600" y="1600200"/>
            <a:ext cx="3175000" cy="3454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828B5481-7FF7-D736-4620-B6CA7976005E}"/>
              </a:ext>
            </a:extLst>
          </p:cNvPr>
          <p:cNvSpPr/>
          <p:nvPr/>
        </p:nvSpPr>
        <p:spPr>
          <a:xfrm>
            <a:off x="609600" y="1600200"/>
            <a:ext cx="317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847F6CD-CD9E-E632-A4CE-23866D20FBDB}"/>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B4A75FC-BB59-FAA6-582B-A4728CF03429}"/>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66C55EE-0428-5DE1-FCF1-173E1E2849AF}"/>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DEF3490E-6AB9-B593-4364-B7ECFE42D806}"/>
              </a:ext>
            </a:extLst>
          </p:cNvPr>
          <p:cNvSpPr/>
          <p:nvPr/>
        </p:nvSpPr>
        <p:spPr>
          <a:xfrm>
            <a:off x="1054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93C7F69-67D6-0ADA-CFDB-E27DBEB9B32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175000" cy="3175000"/>
          </a:xfrm>
          <a:prstGeom prst="rect">
            <a:avLst/>
          </a:prstGeom>
        </p:spPr>
      </p:pic>
      <p:sp>
        <p:nvSpPr>
          <p:cNvPr id="15" name="Rectangle : coins arrondis 14">
            <a:extLst>
              <a:ext uri="{FF2B5EF4-FFF2-40B4-BE49-F238E27FC236}">
                <a16:creationId xmlns:a16="http://schemas.microsoft.com/office/drawing/2014/main" id="{CA5062E4-DACB-F2B9-8E7E-7B3B0B7C72CF}"/>
              </a:ext>
            </a:extLst>
          </p:cNvPr>
          <p:cNvSpPr/>
          <p:nvPr/>
        </p:nvSpPr>
        <p:spPr>
          <a:xfrm>
            <a:off x="609600" y="5384800"/>
            <a:ext cx="3175000" cy="863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561C55D4-8CAA-D78D-BF64-5255CEC49421}"/>
              </a:ext>
            </a:extLst>
          </p:cNvPr>
          <p:cNvSpPr txBox="1"/>
          <p:nvPr/>
        </p:nvSpPr>
        <p:spPr>
          <a:xfrm>
            <a:off x="762000" y="5461000"/>
            <a:ext cx="2895600" cy="7366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Prêter maintenant : emprunt du jour, Annuler 10 s. Restituer ce matériel : fiche ouverte, équipement coché.</a:t>
            </a:r>
          </a:p>
        </p:txBody>
      </p:sp>
      <p:sp>
        <p:nvSpPr>
          <p:cNvPr id="17" name="Rectangle : coins arrondis 16">
            <a:extLst>
              <a:ext uri="{FF2B5EF4-FFF2-40B4-BE49-F238E27FC236}">
                <a16:creationId xmlns:a16="http://schemas.microsoft.com/office/drawing/2014/main" id="{EBDF27CC-C303-2C7B-99E4-CCAFF8B55AE9}"/>
              </a:ext>
            </a:extLst>
          </p:cNvPr>
          <p:cNvSpPr/>
          <p:nvPr/>
        </p:nvSpPr>
        <p:spPr>
          <a:xfrm>
            <a:off x="4089400" y="1600200"/>
            <a:ext cx="7493000" cy="451074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 coins arrondis 17">
            <a:extLst>
              <a:ext uri="{FF2B5EF4-FFF2-40B4-BE49-F238E27FC236}">
                <a16:creationId xmlns:a16="http://schemas.microsoft.com/office/drawing/2014/main" id="{BF590A3A-E82B-6C3C-1963-47010B3C0FAD}"/>
              </a:ext>
            </a:extLst>
          </p:cNvPr>
          <p:cNvSpPr/>
          <p:nvPr/>
        </p:nvSpPr>
        <p:spPr>
          <a:xfrm>
            <a:off x="4089400" y="1600200"/>
            <a:ext cx="749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9012E258-19B8-D91B-DEB4-0A02B94CAC32}"/>
              </a:ext>
            </a:extLst>
          </p:cNvPr>
          <p:cNvSpPr/>
          <p:nvPr/>
        </p:nvSpPr>
        <p:spPr>
          <a:xfrm>
            <a:off x="4216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2EF88CEA-E721-9E1C-5CB4-3EC1F9A38AFA}"/>
              </a:ext>
            </a:extLst>
          </p:cNvPr>
          <p:cNvSpPr/>
          <p:nvPr/>
        </p:nvSpPr>
        <p:spPr>
          <a:xfrm>
            <a:off x="4381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Ellipse 20">
            <a:extLst>
              <a:ext uri="{FF2B5EF4-FFF2-40B4-BE49-F238E27FC236}">
                <a16:creationId xmlns:a16="http://schemas.microsoft.com/office/drawing/2014/main" id="{6499ADD9-AD28-8D55-6887-D2B7CDAEA090}"/>
              </a:ext>
            </a:extLst>
          </p:cNvPr>
          <p:cNvSpPr/>
          <p:nvPr/>
        </p:nvSpPr>
        <p:spPr>
          <a:xfrm>
            <a:off x="4546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1FCBA21E-CFD5-84E0-C175-83ADA953EEFD}"/>
              </a:ext>
            </a:extLst>
          </p:cNvPr>
          <p:cNvSpPr/>
          <p:nvPr/>
        </p:nvSpPr>
        <p:spPr>
          <a:xfrm>
            <a:off x="66929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4" name="Image 23">
            <a:extLst>
              <a:ext uri="{FF2B5EF4-FFF2-40B4-BE49-F238E27FC236}">
                <a16:creationId xmlns:a16="http://schemas.microsoft.com/office/drawing/2014/main" id="{812F2605-49BB-EBFE-A11E-B0CFE6C950D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089400" y="1879600"/>
            <a:ext cx="7493000" cy="4231341"/>
          </a:xfrm>
          <a:prstGeom prst="rect">
            <a:avLst/>
          </a:prstGeom>
        </p:spPr>
      </p:pic>
      <p:sp>
        <p:nvSpPr>
          <p:cNvPr id="25" name="Rectangle : coins arrondis 24">
            <a:extLst>
              <a:ext uri="{FF2B5EF4-FFF2-40B4-BE49-F238E27FC236}">
                <a16:creationId xmlns:a16="http://schemas.microsoft.com/office/drawing/2014/main" id="{71E4A2A6-EE1D-7FFD-8B7C-16DC7E567902}"/>
              </a:ext>
            </a:extLst>
          </p:cNvPr>
          <p:cNvSpPr/>
          <p:nvPr/>
        </p:nvSpPr>
        <p:spPr>
          <a:xfrm>
            <a:off x="4089400" y="5867400"/>
            <a:ext cx="7493000" cy="38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ZoneTexte 25">
            <a:extLst>
              <a:ext uri="{FF2B5EF4-FFF2-40B4-BE49-F238E27FC236}">
                <a16:creationId xmlns:a16="http://schemas.microsoft.com/office/drawing/2014/main" id="{024ACC8F-064D-705E-0E63-A9BD272F60DC}"/>
              </a:ext>
            </a:extLst>
          </p:cNvPr>
          <p:cNvSpPr txBox="1"/>
          <p:nvPr/>
        </p:nvSpPr>
        <p:spPr>
          <a:xfrm>
            <a:off x="4241800" y="5943600"/>
            <a:ext cx="7213600" cy="254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 1 480 px : fiche à droite, liste cliquable ; en dessous, la fiche reste une fenêtre.</a:t>
            </a:r>
          </a:p>
        </p:txBody>
      </p:sp>
    </p:spTree>
    <p:extLst>
      <p:ext uri="{BB962C8B-B14F-4D97-AF65-F5344CB8AC3E}">
        <p14:creationId xmlns:p14="http://schemas.microsoft.com/office/powerpoint/2010/main" val="30396691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D07551-03B0-7C6F-45D6-4588353EA46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Fiche personne et commentaires</a:t>
            </a:r>
          </a:p>
        </p:txBody>
      </p:sp>
      <p:sp>
        <p:nvSpPr>
          <p:cNvPr id="3" name="ZoneTexte 2">
            <a:extLst>
              <a:ext uri="{FF2B5EF4-FFF2-40B4-BE49-F238E27FC236}">
                <a16:creationId xmlns:a16="http://schemas.microsoft.com/office/drawing/2014/main" id="{4CD9EEC8-6D4D-271B-D19C-A4CB03529D0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FICHE PERSONNE</a:t>
            </a:r>
          </a:p>
        </p:txBody>
      </p:sp>
      <p:sp>
        <p:nvSpPr>
          <p:cNvPr id="4" name="ZoneTexte 3">
            <a:extLst>
              <a:ext uri="{FF2B5EF4-FFF2-40B4-BE49-F238E27FC236}">
                <a16:creationId xmlns:a16="http://schemas.microsoft.com/office/drawing/2014/main" id="{ACFE68A8-F9D0-CEDF-D159-EA99A709888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contexte de chaque personne, au même endroit</a:t>
            </a:r>
          </a:p>
        </p:txBody>
      </p:sp>
      <p:sp>
        <p:nvSpPr>
          <p:cNvPr id="5" name="ZoneTexte 4">
            <a:extLst>
              <a:ext uri="{FF2B5EF4-FFF2-40B4-BE49-F238E27FC236}">
                <a16:creationId xmlns:a16="http://schemas.microsoft.com/office/drawing/2014/main" id="{0827AD1B-77D0-CA4B-AF43-AD5DB6E10B2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43397A7F-0409-C426-15F8-31BD9A1F04E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703F3BB-0D73-4BBA-BAFC-4E5CD9EFAB53}" type="slidenum">
              <a:rPr lang="fr-FR" sz="900" smtClean="0">
                <a:solidFill>
                  <a:srgbClr val="586080"/>
                </a:solidFill>
                <a:latin typeface="Calibri" panose="020F0502020204030204" pitchFamily="34" charset="0"/>
              </a:rPr>
              <a:t>26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3C9D2684-E3DE-5D52-F2AF-C727A0FE87DE}"/>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3CE9C9AC-A463-0B9F-EC1B-CDF99E567CD2}"/>
              </a:ext>
            </a:extLst>
          </p:cNvPr>
          <p:cNvSpPr/>
          <p:nvPr/>
        </p:nvSpPr>
        <p:spPr>
          <a:xfrm>
            <a:off x="863600" y="1828800"/>
            <a:ext cx="508000" cy="5080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967D5DD9-345F-9228-3342-4CD65546F4E8}"/>
              </a:ext>
            </a:extLst>
          </p:cNvPr>
          <p:cNvSpPr txBox="1"/>
          <p:nvPr/>
        </p:nvSpPr>
        <p:spPr>
          <a:xfrm>
            <a:off x="1524000" y="1930400"/>
            <a:ext cx="4191000" cy="3048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La fiche</a:t>
            </a:r>
          </a:p>
        </p:txBody>
      </p:sp>
      <p:sp>
        <p:nvSpPr>
          <p:cNvPr id="10" name="ZoneTexte 9">
            <a:extLst>
              <a:ext uri="{FF2B5EF4-FFF2-40B4-BE49-F238E27FC236}">
                <a16:creationId xmlns:a16="http://schemas.microsoft.com/office/drawing/2014/main" id="{FAC84650-9BB7-9A05-5A9C-BBC3D7697539}"/>
              </a:ext>
            </a:extLst>
          </p:cNvPr>
          <p:cNvSpPr txBox="1"/>
          <p:nvPr/>
        </p:nvSpPr>
        <p:spPr>
          <a:xfrm>
            <a:off x="863600" y="2565400"/>
            <a:ext cx="4826000" cy="3556000"/>
          </a:xfrm>
          <a:prstGeom prst="rect">
            <a:avLst/>
          </a:prstGeom>
          <a:noFill/>
        </p:spPr>
        <p:txBody>
          <a:bodyPr vert="horz" wrap="square" lIns="0" tIns="0" rIns="0" bIns="0" rtlCol="0">
            <a:noAutofit/>
          </a:bodyPr>
          <a:lstStyle/>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S'ouvre dans une fenêtre (ou un panneau à droite sur grand écran) ; croix, Échap ou clic à côté ; flèches précédent / suivant</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Clic sur l'email ou le téléphone : copie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Compteurs : restitués, à signer, perdus</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Historiques (emprunts, attestations, pertes) avec l'auteur de chaque action</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Matériel emprunté et disponible</a:t>
            </a:r>
          </a:p>
        </p:txBody>
      </p:sp>
      <p:sp>
        <p:nvSpPr>
          <p:cNvPr id="11" name="Rectangle : coins arrondis 10">
            <a:extLst>
              <a:ext uri="{FF2B5EF4-FFF2-40B4-BE49-F238E27FC236}">
                <a16:creationId xmlns:a16="http://schemas.microsoft.com/office/drawing/2014/main" id="{D86B7375-2DC7-9502-6477-AE5B56139BC2}"/>
              </a:ext>
            </a:extLst>
          </p:cNvPr>
          <p:cNvSpPr/>
          <p:nvPr/>
        </p:nvSpPr>
        <p:spPr>
          <a:xfrm>
            <a:off x="62484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5C8E5A1E-50DA-4D4E-9287-B4082EE87A30}"/>
              </a:ext>
            </a:extLst>
          </p:cNvPr>
          <p:cNvSpPr/>
          <p:nvPr/>
        </p:nvSpPr>
        <p:spPr>
          <a:xfrm>
            <a:off x="6502400" y="1828800"/>
            <a:ext cx="508000" cy="5080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BEF30E94-2FD0-A555-8C3F-AC3CBCEDDE44}"/>
              </a:ext>
            </a:extLst>
          </p:cNvPr>
          <p:cNvSpPr txBox="1"/>
          <p:nvPr/>
        </p:nvSpPr>
        <p:spPr>
          <a:xfrm>
            <a:off x="7162800" y="1930400"/>
            <a:ext cx="4191000" cy="3048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Les commentaires</a:t>
            </a:r>
          </a:p>
        </p:txBody>
      </p:sp>
      <p:sp>
        <p:nvSpPr>
          <p:cNvPr id="14" name="ZoneTexte 13">
            <a:extLst>
              <a:ext uri="{FF2B5EF4-FFF2-40B4-BE49-F238E27FC236}">
                <a16:creationId xmlns:a16="http://schemas.microsoft.com/office/drawing/2014/main" id="{31F516E3-10C8-9FE2-F174-4F444CA9D27B}"/>
              </a:ext>
            </a:extLst>
          </p:cNvPr>
          <p:cNvSpPr txBox="1"/>
          <p:nvPr/>
        </p:nvSpPr>
        <p:spPr>
          <a:xfrm>
            <a:off x="6502400" y="2565400"/>
            <a:ext cx="4826000" cy="3556000"/>
          </a:xfrm>
          <a:prstGeom prst="rect">
            <a:avLst/>
          </a:prstGeom>
          <a:noFill/>
        </p:spPr>
        <p:txBody>
          <a:bodyPr vert="horz" wrap="square" lIns="0" tIns="0" rIns="0" bIns="0" rtlCol="0">
            <a:noAutofit/>
          </a:bodyPr>
          <a:lstStyle/>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Fil horodaté propre à chaque personne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Auteur, date et heure sur chaque message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Chacun modifie ses propres commentaires</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Un brouillon en cours n'est jamais effacé</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Visibles de tous les utilisateurs : pas d'information sensible</a:t>
            </a:r>
          </a:p>
        </p:txBody>
      </p:sp>
    </p:spTree>
    <p:extLst>
      <p:ext uri="{BB962C8B-B14F-4D97-AF65-F5344CB8AC3E}">
        <p14:creationId xmlns:p14="http://schemas.microsoft.com/office/powerpoint/2010/main" val="533436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3084CF-E1DC-12E0-DE3E-E5E10D09F14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Email et SMS : comment partent les messages</a:t>
            </a:r>
          </a:p>
        </p:txBody>
      </p:sp>
      <p:sp>
        <p:nvSpPr>
          <p:cNvPr id="3" name="ZoneTexte 2">
            <a:extLst>
              <a:ext uri="{FF2B5EF4-FFF2-40B4-BE49-F238E27FC236}">
                <a16:creationId xmlns:a16="http://schemas.microsoft.com/office/drawing/2014/main" id="{E61A0B91-4646-7933-27D9-65335C3C03C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ENVOI</a:t>
            </a:r>
          </a:p>
        </p:txBody>
      </p:sp>
      <p:sp>
        <p:nvSpPr>
          <p:cNvPr id="4" name="ZoneTexte 3">
            <a:extLst>
              <a:ext uri="{FF2B5EF4-FFF2-40B4-BE49-F238E27FC236}">
                <a16:creationId xmlns:a16="http://schemas.microsoft.com/office/drawing/2014/main" id="{0B932E5D-09FF-52FB-6B6F-83BC1F8EBDD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L'application prépare, l'utilisateur envoie</a:t>
            </a:r>
          </a:p>
        </p:txBody>
      </p:sp>
      <p:sp>
        <p:nvSpPr>
          <p:cNvPr id="5" name="ZoneTexte 4">
            <a:extLst>
              <a:ext uri="{FF2B5EF4-FFF2-40B4-BE49-F238E27FC236}">
                <a16:creationId xmlns:a16="http://schemas.microsoft.com/office/drawing/2014/main" id="{FAAED91B-0E47-6543-BF0D-4424B3DD58C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8219B502-CB8D-A6B2-38DD-9E7E731E6D5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71957DA-02DC-400D-83A4-81234640105C}" type="slidenum">
              <a:rPr lang="fr-FR" sz="900" smtClean="0">
                <a:solidFill>
                  <a:srgbClr val="586080"/>
                </a:solidFill>
                <a:latin typeface="Calibri" panose="020F0502020204030204" pitchFamily="34" charset="0"/>
              </a:rPr>
              <a:t>27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4CC796C-F3BD-3321-E7BA-9D62D26DA2A6}"/>
              </a:ext>
            </a:extLst>
          </p:cNvPr>
          <p:cNvSpPr/>
          <p:nvPr/>
        </p:nvSpPr>
        <p:spPr>
          <a:xfrm>
            <a:off x="6096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7D92EA4A-5A85-DBD8-5B75-B06722EA3ED5}"/>
              </a:ext>
            </a:extLst>
          </p:cNvPr>
          <p:cNvSpPr txBox="1"/>
          <p:nvPr/>
        </p:nvSpPr>
        <p:spPr>
          <a:xfrm>
            <a:off x="863600" y="1879600"/>
            <a:ext cx="2946400" cy="635000"/>
          </a:xfrm>
          <a:prstGeom prst="rect">
            <a:avLst/>
          </a:prstGeom>
          <a:noFill/>
        </p:spPr>
        <p:txBody>
          <a:bodyPr vert="horz" wrap="square" lIns="0" tIns="0" rIns="0" bIns="0" rtlCol="0">
            <a:noAutofit/>
          </a:bodyPr>
          <a:lstStyle/>
          <a:p>
            <a:r>
              <a:rPr lang="fr-FR" sz="1700" b="1">
                <a:solidFill>
                  <a:srgbClr val="1B9E6B"/>
                </a:solidFill>
                <a:latin typeface="Calibri" panose="020F0502020204030204" pitchFamily="34" charset="0"/>
              </a:rPr>
              <a:t>Connecteur Microsoft 365 autorisé</a:t>
            </a:r>
          </a:p>
        </p:txBody>
      </p:sp>
      <p:sp>
        <p:nvSpPr>
          <p:cNvPr id="9" name="ZoneTexte 8">
            <a:extLst>
              <a:ext uri="{FF2B5EF4-FFF2-40B4-BE49-F238E27FC236}">
                <a16:creationId xmlns:a16="http://schemas.microsoft.com/office/drawing/2014/main" id="{01357857-D327-527C-74B7-A201B726B16C}"/>
              </a:ext>
            </a:extLst>
          </p:cNvPr>
          <p:cNvSpPr txBox="1"/>
          <p:nvPr/>
        </p:nvSpPr>
        <p:spPr>
          <a:xfrm>
            <a:off x="8636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Brouillon dans Outlook (dossier Brouillons), attestation jointe. La fenêtre « Message prêt à envoyer » propose un fichier .eml à ouvrir dans Outlook. Rien n'est envoyé sans clic.</a:t>
            </a:r>
          </a:p>
        </p:txBody>
      </p:sp>
      <p:sp>
        <p:nvSpPr>
          <p:cNvPr id="10" name="Rectangle : coins arrondis 9">
            <a:extLst>
              <a:ext uri="{FF2B5EF4-FFF2-40B4-BE49-F238E27FC236}">
                <a16:creationId xmlns:a16="http://schemas.microsoft.com/office/drawing/2014/main" id="{7DFD7F0D-EBD2-C1F6-C7A4-9C49AC6CFD9F}"/>
              </a:ext>
            </a:extLst>
          </p:cNvPr>
          <p:cNvSpPr/>
          <p:nvPr/>
        </p:nvSpPr>
        <p:spPr>
          <a:xfrm>
            <a:off x="43815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E7BC94EA-3444-37F8-35CD-33D9BA0A1F65}"/>
              </a:ext>
            </a:extLst>
          </p:cNvPr>
          <p:cNvSpPr txBox="1"/>
          <p:nvPr/>
        </p:nvSpPr>
        <p:spPr>
          <a:xfrm>
            <a:off x="4635500" y="1879600"/>
            <a:ext cx="2946400" cy="635000"/>
          </a:xfrm>
          <a:prstGeom prst="rect">
            <a:avLst/>
          </a:prstGeom>
          <a:noFill/>
        </p:spPr>
        <p:txBody>
          <a:bodyPr vert="horz" wrap="square" lIns="0" tIns="0" rIns="0" bIns="0" rtlCol="0">
            <a:noAutofit/>
          </a:bodyPr>
          <a:lstStyle/>
          <a:p>
            <a:r>
              <a:rPr lang="fr-FR" sz="1700" b="1">
                <a:solidFill>
                  <a:srgbClr val="B67608"/>
                </a:solidFill>
                <a:latin typeface="Calibri" panose="020F0502020204030204" pitchFamily="34" charset="0"/>
              </a:rPr>
              <a:t>Connecteur absent, expiré ou refusé</a:t>
            </a:r>
          </a:p>
        </p:txBody>
      </p:sp>
      <p:sp>
        <p:nvSpPr>
          <p:cNvPr id="12" name="ZoneTexte 11">
            <a:extLst>
              <a:ext uri="{FF2B5EF4-FFF2-40B4-BE49-F238E27FC236}">
                <a16:creationId xmlns:a16="http://schemas.microsoft.com/office/drawing/2014/main" id="{3E723F03-C269-82F2-CF98-493096554AA0}"/>
              </a:ext>
            </a:extLst>
          </p:cNvPr>
          <p:cNvSpPr txBox="1"/>
          <p:nvPr/>
        </p:nvSpPr>
        <p:spPr>
          <a:xfrm>
            <a:off x="46355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Même fenêtre : fichier .eml (message adressé, PDF joint) et raison de l'échec affichée.</a:t>
            </a:r>
          </a:p>
        </p:txBody>
      </p:sp>
      <p:sp>
        <p:nvSpPr>
          <p:cNvPr id="13" name="Rectangle : coins arrondis 12">
            <a:extLst>
              <a:ext uri="{FF2B5EF4-FFF2-40B4-BE49-F238E27FC236}">
                <a16:creationId xmlns:a16="http://schemas.microsoft.com/office/drawing/2014/main" id="{B333406D-FDEB-D025-569F-E7778B646903}"/>
              </a:ext>
            </a:extLst>
          </p:cNvPr>
          <p:cNvSpPr/>
          <p:nvPr/>
        </p:nvSpPr>
        <p:spPr>
          <a:xfrm>
            <a:off x="81534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E24CA4A1-3B92-020A-6F37-062816347E02}"/>
              </a:ext>
            </a:extLst>
          </p:cNvPr>
          <p:cNvSpPr txBox="1"/>
          <p:nvPr/>
        </p:nvSpPr>
        <p:spPr>
          <a:xfrm>
            <a:off x="8407400" y="1879600"/>
            <a:ext cx="2946400" cy="635000"/>
          </a:xfrm>
          <a:prstGeom prst="rect">
            <a:avLst/>
          </a:prstGeom>
          <a:noFill/>
        </p:spPr>
        <p:txBody>
          <a:bodyPr vert="horz" wrap="square" lIns="0" tIns="0" rIns="0" bIns="0" rtlCol="0">
            <a:noAutofit/>
          </a:bodyPr>
          <a:lstStyle/>
          <a:p>
            <a:r>
              <a:rPr lang="fr-FR" sz="1700" b="1">
                <a:solidFill>
                  <a:srgbClr val="2F7DD1"/>
                </a:solidFill>
                <a:latin typeface="Calibri" panose="020F0502020204030204" pitchFamily="34" charset="0"/>
              </a:rPr>
              <a:t>Page ouverte hors de Claude</a:t>
            </a:r>
          </a:p>
        </p:txBody>
      </p:sp>
      <p:sp>
        <p:nvSpPr>
          <p:cNvPr id="15" name="ZoneTexte 14">
            <a:extLst>
              <a:ext uri="{FF2B5EF4-FFF2-40B4-BE49-F238E27FC236}">
                <a16:creationId xmlns:a16="http://schemas.microsoft.com/office/drawing/2014/main" id="{F74ECFEE-535A-8274-27C0-9238C963D764}"/>
              </a:ext>
            </a:extLst>
          </p:cNvPr>
          <p:cNvSpPr txBox="1"/>
          <p:nvPr/>
        </p:nvSpPr>
        <p:spPr>
          <a:xfrm>
            <a:off x="84074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Pas de connecteur : la messagerie par défaut s'ouvre sur le message préparé, PDF téléchargé.</a:t>
            </a:r>
          </a:p>
        </p:txBody>
      </p:sp>
      <p:sp>
        <p:nvSpPr>
          <p:cNvPr id="16" name="Rectangle : coins arrondis 15">
            <a:extLst>
              <a:ext uri="{FF2B5EF4-FFF2-40B4-BE49-F238E27FC236}">
                <a16:creationId xmlns:a16="http://schemas.microsoft.com/office/drawing/2014/main" id="{4F931A7E-3B7C-5283-F0F0-50193CDF1BC9}"/>
              </a:ext>
            </a:extLst>
          </p:cNvPr>
          <p:cNvSpPr/>
          <p:nvPr/>
        </p:nvSpPr>
        <p:spPr>
          <a:xfrm>
            <a:off x="609600" y="4648200"/>
            <a:ext cx="10972800" cy="711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AB5499F7-DDD9-A8F2-642A-E0C878DB10AD}"/>
              </a:ext>
            </a:extLst>
          </p:cNvPr>
          <p:cNvSpPr txBox="1"/>
          <p:nvPr/>
        </p:nvSpPr>
        <p:spPr>
          <a:xfrm>
            <a:off x="863600" y="4800600"/>
            <a:ext cx="10541000" cy="4572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SMS : application de messages, numéro de test 06 95 17 58 74.  Email : destinataire au choix, adresse enregistrée ou saisie à la main (personne sans compte professionnel).</a:t>
            </a:r>
          </a:p>
        </p:txBody>
      </p:sp>
      <p:sp>
        <p:nvSpPr>
          <p:cNvPr id="18" name="Rectangle : coins arrondis 17">
            <a:extLst>
              <a:ext uri="{FF2B5EF4-FFF2-40B4-BE49-F238E27FC236}">
                <a16:creationId xmlns:a16="http://schemas.microsoft.com/office/drawing/2014/main" id="{4D7F2A71-42EE-A3E9-E2FC-877A4CEF2BFE}"/>
              </a:ext>
            </a:extLst>
          </p:cNvPr>
          <p:cNvSpPr/>
          <p:nvPr/>
        </p:nvSpPr>
        <p:spPr>
          <a:xfrm>
            <a:off x="609600" y="5537200"/>
            <a:ext cx="10972800" cy="6858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400">
                <a:solidFill>
                  <a:srgbClr val="12162B"/>
                </a:solidFill>
                <a:latin typeface="Calibri" panose="020F0502020204030204" pitchFamily="34" charset="0"/>
              </a:rPr>
              <a:t>Outlook sur le web ne s'ouvre pas depuis la page (bloqué par le navigateur) : brouillon ou fichier .eml. Premier essai réel à contrôler.</a:t>
            </a:r>
          </a:p>
        </p:txBody>
      </p:sp>
    </p:spTree>
    <p:extLst>
      <p:ext uri="{BB962C8B-B14F-4D97-AF65-F5344CB8AC3E}">
        <p14:creationId xmlns:p14="http://schemas.microsoft.com/office/powerpoint/2010/main" val="1607792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C1746A5-745D-AD63-9340-2F8E8B4644D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Apparence : thèmes et couleurs</a:t>
            </a:r>
          </a:p>
        </p:txBody>
      </p:sp>
      <p:sp>
        <p:nvSpPr>
          <p:cNvPr id="3" name="ZoneTexte 2">
            <a:extLst>
              <a:ext uri="{FF2B5EF4-FFF2-40B4-BE49-F238E27FC236}">
                <a16:creationId xmlns:a16="http://schemas.microsoft.com/office/drawing/2014/main" id="{13D64769-5E8C-9445-3B3C-A7C32002FBD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9D5B7508-79E1-25C5-C6AD-BA0D1483C70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Douze thèmes, sept couleurs d'accent, au choix de chacun</a:t>
            </a:r>
          </a:p>
        </p:txBody>
      </p:sp>
      <p:sp>
        <p:nvSpPr>
          <p:cNvPr id="5" name="ZoneTexte 4">
            <a:extLst>
              <a:ext uri="{FF2B5EF4-FFF2-40B4-BE49-F238E27FC236}">
                <a16:creationId xmlns:a16="http://schemas.microsoft.com/office/drawing/2014/main" id="{EC8344C2-31F7-1968-A9F4-6BB0DE741CBA}"/>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65AD26D3-337D-E7A4-2FFC-E392B81875DA}"/>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FEB3C84B-0C13-44F7-B98F-89DEC5C4A3AC}" type="slidenum">
              <a:rPr lang="fr-FR" sz="900" smtClean="0">
                <a:solidFill>
                  <a:srgbClr val="586080"/>
                </a:solidFill>
                <a:latin typeface="Calibri" panose="020F0502020204030204" pitchFamily="34" charset="0"/>
              </a:rPr>
              <a:t>28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5745CEB-FB11-325E-9E4A-989992F436AD}"/>
              </a:ext>
            </a:extLst>
          </p:cNvPr>
          <p:cNvSpPr/>
          <p:nvPr/>
        </p:nvSpPr>
        <p:spPr>
          <a:xfrm>
            <a:off x="609600" y="1600200"/>
            <a:ext cx="2286000" cy="4875719"/>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6549701-1324-500F-3A73-BA97FC70439A}"/>
              </a:ext>
            </a:extLst>
          </p:cNvPr>
          <p:cNvSpPr/>
          <p:nvPr/>
        </p:nvSpPr>
        <p:spPr>
          <a:xfrm>
            <a:off x="609600" y="1600200"/>
            <a:ext cx="2286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49AD074E-67D5-F0C1-37E5-06FC133E1FB6}"/>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634A5967-E2C5-F958-63E6-E2D55D831E80}"/>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03F9A54B-F680-1192-A3EE-3E8A21468E8C}"/>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B2B6BF9A-BF69-FC69-C786-D7255304AC59}"/>
              </a:ext>
            </a:extLst>
          </p:cNvPr>
          <p:cNvSpPr/>
          <p:nvPr/>
        </p:nvSpPr>
        <p:spPr>
          <a:xfrm>
            <a:off x="609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053E9CDC-E45E-EC3F-298D-A22E3E86262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286000" cy="4596319"/>
          </a:xfrm>
          <a:prstGeom prst="rect">
            <a:avLst/>
          </a:prstGeom>
        </p:spPr>
      </p:pic>
      <p:sp>
        <p:nvSpPr>
          <p:cNvPr id="15" name="Rectangle : coins arrondis 14">
            <a:extLst>
              <a:ext uri="{FF2B5EF4-FFF2-40B4-BE49-F238E27FC236}">
                <a16:creationId xmlns:a16="http://schemas.microsoft.com/office/drawing/2014/main" id="{6F03C87B-1262-1FC5-8176-FDE7626E3FFF}"/>
              </a:ext>
            </a:extLst>
          </p:cNvPr>
          <p:cNvSpPr/>
          <p:nvPr/>
        </p:nvSpPr>
        <p:spPr>
          <a:xfrm>
            <a:off x="4191000" y="1600200"/>
            <a:ext cx="3429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1F4D257E-57C3-01A5-19D8-887D81E002F3}"/>
              </a:ext>
            </a:extLst>
          </p:cNvPr>
          <p:cNvSpPr txBox="1"/>
          <p:nvPr/>
        </p:nvSpPr>
        <p:spPr>
          <a:xfrm>
            <a:off x="4419600" y="1752600"/>
            <a:ext cx="2971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Thèmes</a:t>
            </a:r>
          </a:p>
        </p:txBody>
      </p:sp>
      <p:sp>
        <p:nvSpPr>
          <p:cNvPr id="17" name="ZoneTexte 16">
            <a:extLst>
              <a:ext uri="{FF2B5EF4-FFF2-40B4-BE49-F238E27FC236}">
                <a16:creationId xmlns:a16="http://schemas.microsoft.com/office/drawing/2014/main" id="{E7A8D7AA-DA28-7692-21E5-B1650BFF337D}"/>
              </a:ext>
            </a:extLst>
          </p:cNvPr>
          <p:cNvSpPr txBox="1"/>
          <p:nvPr/>
        </p:nvSpPr>
        <p:spPr>
          <a:xfrm>
            <a:off x="4419600" y="2133600"/>
            <a:ext cx="3022600" cy="4064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Système : suit l'appareil</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Clair et Sombre</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Minuit, Ardoise, Noir (sombres)</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Océan et Forêt (sombres teintés)</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Crème (clair chaud)</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Contraste : noir sur blanc, lecture maximale</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eXalt et eXalt nuit : charte de l'entreprise (Poppins, bleu eXalt, logo)</a:t>
            </a:r>
          </a:p>
        </p:txBody>
      </p:sp>
      <p:sp>
        <p:nvSpPr>
          <p:cNvPr id="18" name="Rectangle : coins arrondis 17">
            <a:extLst>
              <a:ext uri="{FF2B5EF4-FFF2-40B4-BE49-F238E27FC236}">
                <a16:creationId xmlns:a16="http://schemas.microsoft.com/office/drawing/2014/main" id="{BBB8D945-05AE-2D9F-A5CD-1C3605EA3084}"/>
              </a:ext>
            </a:extLst>
          </p:cNvPr>
          <p:cNvSpPr/>
          <p:nvPr/>
        </p:nvSpPr>
        <p:spPr>
          <a:xfrm>
            <a:off x="7899400" y="1600200"/>
            <a:ext cx="3683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4201FBA6-3532-1846-F8EA-60434BF19611}"/>
              </a:ext>
            </a:extLst>
          </p:cNvPr>
          <p:cNvSpPr txBox="1"/>
          <p:nvPr/>
        </p:nvSpPr>
        <p:spPr>
          <a:xfrm>
            <a:off x="8128000" y="1752600"/>
            <a:ext cx="3225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Couleurs d'accent</a:t>
            </a:r>
          </a:p>
        </p:txBody>
      </p:sp>
      <p:sp>
        <p:nvSpPr>
          <p:cNvPr id="20" name="ZoneTexte 19">
            <a:extLst>
              <a:ext uri="{FF2B5EF4-FFF2-40B4-BE49-F238E27FC236}">
                <a16:creationId xmlns:a16="http://schemas.microsoft.com/office/drawing/2014/main" id="{37D24A88-BBC5-D15B-8D11-77AD760D9D29}"/>
              </a:ext>
            </a:extLst>
          </p:cNvPr>
          <p:cNvSpPr txBox="1"/>
          <p:nvPr/>
        </p:nvSpPr>
        <p:spPr>
          <a:xfrm>
            <a:off x="8128000" y="2133600"/>
            <a:ext cx="3251200" cy="1600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Orange (défaut), Bleu, Violet</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Turquoise, Rose, Graphite, eXalt (bleu de la charte)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Boutons, filtres actifs, liens et menu</a:t>
            </a:r>
          </a:p>
        </p:txBody>
      </p:sp>
      <p:sp>
        <p:nvSpPr>
          <p:cNvPr id="21" name="Rectangle : coins arrondis 20">
            <a:extLst>
              <a:ext uri="{FF2B5EF4-FFF2-40B4-BE49-F238E27FC236}">
                <a16:creationId xmlns:a16="http://schemas.microsoft.com/office/drawing/2014/main" id="{058E2B80-EC30-235B-A735-3607826E4791}"/>
              </a:ext>
            </a:extLst>
          </p:cNvPr>
          <p:cNvSpPr/>
          <p:nvPr/>
        </p:nvSpPr>
        <p:spPr>
          <a:xfrm>
            <a:off x="7899400" y="3937000"/>
            <a:ext cx="3683000" cy="2311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27F97A0A-DBDB-0C6A-A95F-39D3C232EB86}"/>
              </a:ext>
            </a:extLst>
          </p:cNvPr>
          <p:cNvSpPr txBox="1"/>
          <p:nvPr/>
        </p:nvSpPr>
        <p:spPr>
          <a:xfrm>
            <a:off x="8128000" y="4089400"/>
            <a:ext cx="32258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Où le choisir</a:t>
            </a:r>
          </a:p>
        </p:txBody>
      </p:sp>
      <p:sp>
        <p:nvSpPr>
          <p:cNvPr id="23" name="ZoneTexte 22">
            <a:extLst>
              <a:ext uri="{FF2B5EF4-FFF2-40B4-BE49-F238E27FC236}">
                <a16:creationId xmlns:a16="http://schemas.microsoft.com/office/drawing/2014/main" id="{E3E51DAE-4A5B-A23A-414A-C788BB88A881}"/>
              </a:ext>
            </a:extLst>
          </p:cNvPr>
          <p:cNvSpPr txBox="1"/>
          <p:nvPr/>
        </p:nvSpPr>
        <p:spPr>
          <a:xfrm>
            <a:off x="8128000" y="4470400"/>
            <a:ext cx="3225800" cy="17018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Bouton « Thème » en bas du menu latéral : un panneau propose les thèmes et les couleurs. 84 combinaisons possibles ; un thème eXalt sélectionne l'accent eXalt.</a:t>
            </a:r>
          </a:p>
        </p:txBody>
      </p:sp>
    </p:spTree>
    <p:extLst>
      <p:ext uri="{BB962C8B-B14F-4D97-AF65-F5344CB8AC3E}">
        <p14:creationId xmlns:p14="http://schemas.microsoft.com/office/powerpoint/2010/main" val="22411151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81BC18-556D-AE7B-3F8B-56EE738A58E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Recherche rapide et raccourcis</a:t>
            </a:r>
          </a:p>
        </p:txBody>
      </p:sp>
      <p:sp>
        <p:nvSpPr>
          <p:cNvPr id="3" name="ZoneTexte 2">
            <a:extLst>
              <a:ext uri="{FF2B5EF4-FFF2-40B4-BE49-F238E27FC236}">
                <a16:creationId xmlns:a16="http://schemas.microsoft.com/office/drawing/2014/main" id="{5B2F351D-36D2-491B-68E2-2ABD9913DB9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AB21F52C-F0AE-BD2A-8593-04A1254D5832}"/>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Trouver une personne, un équipement ou une page en deux touches</a:t>
            </a:r>
          </a:p>
        </p:txBody>
      </p:sp>
      <p:sp>
        <p:nvSpPr>
          <p:cNvPr id="5" name="ZoneTexte 4">
            <a:extLst>
              <a:ext uri="{FF2B5EF4-FFF2-40B4-BE49-F238E27FC236}">
                <a16:creationId xmlns:a16="http://schemas.microsoft.com/office/drawing/2014/main" id="{7D212E5C-08D5-94F2-0B4B-681092CD0D0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5805DAB1-8CF0-C485-C8EB-6932A96ED46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4276E6E-EAFB-40FC-BD03-022A52E2CF43}" type="slidenum">
              <a:rPr lang="fr-FR" sz="900" smtClean="0">
                <a:solidFill>
                  <a:srgbClr val="586080"/>
                </a:solidFill>
                <a:latin typeface="Calibri" panose="020F0502020204030204" pitchFamily="34" charset="0"/>
              </a:rPr>
              <a:t>29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BE50E0D-B667-B7EC-71ED-6E80F74D7300}"/>
              </a:ext>
            </a:extLst>
          </p:cNvPr>
          <p:cNvSpPr/>
          <p:nvPr/>
        </p:nvSpPr>
        <p:spPr>
          <a:xfrm>
            <a:off x="609600" y="1600200"/>
            <a:ext cx="3810000" cy="3327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B3295131-FE3E-4C6D-74E8-41BF298049E9}"/>
              </a:ext>
            </a:extLst>
          </p:cNvPr>
          <p:cNvSpPr/>
          <p:nvPr/>
        </p:nvSpPr>
        <p:spPr>
          <a:xfrm>
            <a:off x="609600" y="1600200"/>
            <a:ext cx="381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42C5049F-4C4F-1D7A-28FD-676846055666}"/>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F38FA88-AEE9-8524-1245-00015609DA7F}"/>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FA242CB-D971-9A6F-DCD4-0307DFE75E8C}"/>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846E789-9E40-883F-7839-0E5D31695A1B}"/>
              </a:ext>
            </a:extLst>
          </p:cNvPr>
          <p:cNvSpPr/>
          <p:nvPr/>
        </p:nvSpPr>
        <p:spPr>
          <a:xfrm>
            <a:off x="1371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3F086009-C209-23C9-ADFA-8C3BFE8C394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810000" cy="3048000"/>
          </a:xfrm>
          <a:prstGeom prst="rect">
            <a:avLst/>
          </a:prstGeom>
        </p:spPr>
      </p:pic>
      <p:sp>
        <p:nvSpPr>
          <p:cNvPr id="15" name="Rectangle : coins arrondis 14">
            <a:extLst>
              <a:ext uri="{FF2B5EF4-FFF2-40B4-BE49-F238E27FC236}">
                <a16:creationId xmlns:a16="http://schemas.microsoft.com/office/drawing/2014/main" id="{A950D27F-30FE-32FA-7BED-6435E0DA4BF5}"/>
              </a:ext>
            </a:extLst>
          </p:cNvPr>
          <p:cNvSpPr/>
          <p:nvPr/>
        </p:nvSpPr>
        <p:spPr>
          <a:xfrm>
            <a:off x="4622800" y="1600200"/>
            <a:ext cx="3810000" cy="2075543"/>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FEFFD12C-5AF1-9C78-50C8-32164CF310AF}"/>
              </a:ext>
            </a:extLst>
          </p:cNvPr>
          <p:cNvSpPr/>
          <p:nvPr/>
        </p:nvSpPr>
        <p:spPr>
          <a:xfrm>
            <a:off x="4622800" y="1600200"/>
            <a:ext cx="381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62E27687-4E02-0FCD-86CF-65207D41A2DA}"/>
              </a:ext>
            </a:extLst>
          </p:cNvPr>
          <p:cNvSpPr/>
          <p:nvPr/>
        </p:nvSpPr>
        <p:spPr>
          <a:xfrm>
            <a:off x="4749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CD95F7F2-8F2E-1FDF-325C-3721F9C415E0}"/>
              </a:ext>
            </a:extLst>
          </p:cNvPr>
          <p:cNvSpPr/>
          <p:nvPr/>
        </p:nvSpPr>
        <p:spPr>
          <a:xfrm>
            <a:off x="4914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93248892-A3F1-1464-831F-A18430C30865}"/>
              </a:ext>
            </a:extLst>
          </p:cNvPr>
          <p:cNvSpPr/>
          <p:nvPr/>
        </p:nvSpPr>
        <p:spPr>
          <a:xfrm>
            <a:off x="5080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E6B42752-0E64-3746-5085-0F7973A8F540}"/>
              </a:ext>
            </a:extLst>
          </p:cNvPr>
          <p:cNvSpPr/>
          <p:nvPr/>
        </p:nvSpPr>
        <p:spPr>
          <a:xfrm>
            <a:off x="5384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08F2F045-C957-B8A2-178D-BBD5D30307D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622800" y="1879600"/>
            <a:ext cx="3810000" cy="1796143"/>
          </a:xfrm>
          <a:prstGeom prst="rect">
            <a:avLst/>
          </a:prstGeom>
        </p:spPr>
      </p:pic>
      <p:sp>
        <p:nvSpPr>
          <p:cNvPr id="23" name="Rectangle : coins arrondis 22">
            <a:extLst>
              <a:ext uri="{FF2B5EF4-FFF2-40B4-BE49-F238E27FC236}">
                <a16:creationId xmlns:a16="http://schemas.microsoft.com/office/drawing/2014/main" id="{C6502DE6-229A-8AF1-ED2A-F21127E2C787}"/>
              </a:ext>
            </a:extLst>
          </p:cNvPr>
          <p:cNvSpPr/>
          <p:nvPr/>
        </p:nvSpPr>
        <p:spPr>
          <a:xfrm>
            <a:off x="4622800" y="3860800"/>
            <a:ext cx="3810000" cy="2387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33B3ED85-46EF-ABEB-211D-7F71132137C6}"/>
              </a:ext>
            </a:extLst>
          </p:cNvPr>
          <p:cNvSpPr txBox="1"/>
          <p:nvPr/>
        </p:nvSpPr>
        <p:spPr>
          <a:xfrm>
            <a:off x="4800600" y="3962400"/>
            <a:ext cx="3454400" cy="2794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Une ligne par personne</a:t>
            </a:r>
          </a:p>
        </p:txBody>
      </p:sp>
      <p:sp>
        <p:nvSpPr>
          <p:cNvPr id="25" name="ZoneTexte 24">
            <a:extLst>
              <a:ext uri="{FF2B5EF4-FFF2-40B4-BE49-F238E27FC236}">
                <a16:creationId xmlns:a16="http://schemas.microsoft.com/office/drawing/2014/main" id="{BDBE4DAA-EB36-8589-E8F5-07E915A76820}"/>
              </a:ext>
            </a:extLst>
          </p:cNvPr>
          <p:cNvSpPr txBox="1"/>
          <p:nvPr/>
        </p:nvSpPr>
        <p:spPr>
          <a:xfrm>
            <a:off x="4800600" y="4267200"/>
            <a:ext cx="3479800" cy="1955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Entrée : l'action la plus utile (Restituer s'il y a du matériel à rendre, sinon Emprunter)</a:t>
            </a:r>
          </a:p>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Maj + Entrée : l'autre action</a:t>
            </a:r>
          </a:p>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Repères : En retard, 8 à rendre, Signature en attente</a:t>
            </a:r>
          </a:p>
        </p:txBody>
      </p:sp>
      <p:sp>
        <p:nvSpPr>
          <p:cNvPr id="26" name="Rectangle : coins arrondis 25">
            <a:extLst>
              <a:ext uri="{FF2B5EF4-FFF2-40B4-BE49-F238E27FC236}">
                <a16:creationId xmlns:a16="http://schemas.microsoft.com/office/drawing/2014/main" id="{32907C49-E3DD-A8D9-DC3B-27D625F138D4}"/>
              </a:ext>
            </a:extLst>
          </p:cNvPr>
          <p:cNvSpPr/>
          <p:nvPr/>
        </p:nvSpPr>
        <p:spPr>
          <a:xfrm>
            <a:off x="8636000" y="1600200"/>
            <a:ext cx="2946400" cy="263652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 coins arrondis 26">
            <a:extLst>
              <a:ext uri="{FF2B5EF4-FFF2-40B4-BE49-F238E27FC236}">
                <a16:creationId xmlns:a16="http://schemas.microsoft.com/office/drawing/2014/main" id="{9431B004-F7FC-8908-DDB5-A1A9F46BFF3E}"/>
              </a:ext>
            </a:extLst>
          </p:cNvPr>
          <p:cNvSpPr/>
          <p:nvPr/>
        </p:nvSpPr>
        <p:spPr>
          <a:xfrm>
            <a:off x="8636000" y="1600200"/>
            <a:ext cx="2946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C9FBFD9A-9ECF-F412-F909-E151E1E0623F}"/>
              </a:ext>
            </a:extLst>
          </p:cNvPr>
          <p:cNvSpPr/>
          <p:nvPr/>
        </p:nvSpPr>
        <p:spPr>
          <a:xfrm>
            <a:off x="87630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Ellipse 28">
            <a:extLst>
              <a:ext uri="{FF2B5EF4-FFF2-40B4-BE49-F238E27FC236}">
                <a16:creationId xmlns:a16="http://schemas.microsoft.com/office/drawing/2014/main" id="{3A0E81B5-77F7-BC57-4F89-F2DE81460972}"/>
              </a:ext>
            </a:extLst>
          </p:cNvPr>
          <p:cNvSpPr/>
          <p:nvPr/>
        </p:nvSpPr>
        <p:spPr>
          <a:xfrm>
            <a:off x="89281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Ellipse 29">
            <a:extLst>
              <a:ext uri="{FF2B5EF4-FFF2-40B4-BE49-F238E27FC236}">
                <a16:creationId xmlns:a16="http://schemas.microsoft.com/office/drawing/2014/main" id="{5F813A52-2EC7-F9E9-B6B9-0F1F11BCE440}"/>
              </a:ext>
            </a:extLst>
          </p:cNvPr>
          <p:cNvSpPr/>
          <p:nvPr/>
        </p:nvSpPr>
        <p:spPr>
          <a:xfrm>
            <a:off x="90932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 coins arrondis 30">
            <a:extLst>
              <a:ext uri="{FF2B5EF4-FFF2-40B4-BE49-F238E27FC236}">
                <a16:creationId xmlns:a16="http://schemas.microsoft.com/office/drawing/2014/main" id="{E7F1C23A-639C-4567-76C8-D9A29E4B3C35}"/>
              </a:ext>
            </a:extLst>
          </p:cNvPr>
          <p:cNvSpPr/>
          <p:nvPr/>
        </p:nvSpPr>
        <p:spPr>
          <a:xfrm>
            <a:off x="89662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33" name="Image 32">
            <a:extLst>
              <a:ext uri="{FF2B5EF4-FFF2-40B4-BE49-F238E27FC236}">
                <a16:creationId xmlns:a16="http://schemas.microsoft.com/office/drawing/2014/main" id="{A56288FC-EFFD-A9E2-15FC-3C7D834B003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8636000" y="1879600"/>
            <a:ext cx="2946400" cy="2357120"/>
          </a:xfrm>
          <a:prstGeom prst="rect">
            <a:avLst/>
          </a:prstGeom>
        </p:spPr>
      </p:pic>
      <p:sp>
        <p:nvSpPr>
          <p:cNvPr id="34" name="ZoneTexte 33">
            <a:extLst>
              <a:ext uri="{FF2B5EF4-FFF2-40B4-BE49-F238E27FC236}">
                <a16:creationId xmlns:a16="http://schemas.microsoft.com/office/drawing/2014/main" id="{E27D39C0-CE6F-7E5A-FF1E-D1C2F50DF8D5}"/>
              </a:ext>
            </a:extLst>
          </p:cNvPr>
          <p:cNvSpPr txBox="1"/>
          <p:nvPr/>
        </p:nvSpPr>
        <p:spPr>
          <a:xfrm>
            <a:off x="8636000" y="4267200"/>
            <a:ext cx="2946400" cy="1981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Liste de départ : À traiter (chiffres), Activité récente, Aller à, Actions. Touche ? : aide clavier. Alt + flèches : personne précédente ou suivante.</a:t>
            </a:r>
          </a:p>
        </p:txBody>
      </p:sp>
      <p:sp>
        <p:nvSpPr>
          <p:cNvPr id="35" name="Rectangle : coins arrondis 34">
            <a:extLst>
              <a:ext uri="{FF2B5EF4-FFF2-40B4-BE49-F238E27FC236}">
                <a16:creationId xmlns:a16="http://schemas.microsoft.com/office/drawing/2014/main" id="{0ACF8A47-527E-875D-59F4-59839AC1CDC1}"/>
              </a:ext>
            </a:extLst>
          </p:cNvPr>
          <p:cNvSpPr/>
          <p:nvPr/>
        </p:nvSpPr>
        <p:spPr>
          <a:xfrm>
            <a:off x="609600" y="5130800"/>
            <a:ext cx="3810000" cy="1117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ZoneTexte 35">
            <a:extLst>
              <a:ext uri="{FF2B5EF4-FFF2-40B4-BE49-F238E27FC236}">
                <a16:creationId xmlns:a16="http://schemas.microsoft.com/office/drawing/2014/main" id="{DAC544D9-9707-5467-A33E-7565E1634FD9}"/>
              </a:ext>
            </a:extLst>
          </p:cNvPr>
          <p:cNvSpPr txBox="1"/>
          <p:nvPr/>
        </p:nvSpPr>
        <p:spPr>
          <a:xfrm>
            <a:off x="762000" y="5207000"/>
            <a:ext cx="3505200" cy="2794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À traiter, en un clic</a:t>
            </a:r>
          </a:p>
        </p:txBody>
      </p:sp>
      <p:sp>
        <p:nvSpPr>
          <p:cNvPr id="37" name="ZoneTexte 36">
            <a:extLst>
              <a:ext uri="{FF2B5EF4-FFF2-40B4-BE49-F238E27FC236}">
                <a16:creationId xmlns:a16="http://schemas.microsoft.com/office/drawing/2014/main" id="{2D2BA9DD-484D-0AF2-79B6-AE0B73AAFA70}"/>
              </a:ext>
            </a:extLst>
          </p:cNvPr>
          <p:cNvSpPr txBox="1"/>
          <p:nvPr/>
        </p:nvSpPr>
        <p:spPr>
          <a:xfrm>
            <a:off x="762000" y="5511800"/>
            <a:ext cx="3505200" cy="711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Retours en retard, attestations à relancer ou en attente, PDF à archiver, matériel à restituer : la page s'ouvre déjà filtrée.</a:t>
            </a:r>
          </a:p>
        </p:txBody>
      </p:sp>
    </p:spTree>
    <p:extLst>
      <p:ext uri="{BB962C8B-B14F-4D97-AF65-F5344CB8AC3E}">
        <p14:creationId xmlns:p14="http://schemas.microsoft.com/office/powerpoint/2010/main" val="14999227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F4C76D-C0F2-D2A6-EE1A-D8B8320E04D4}"/>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Rapports PDF et Excel</a:t>
            </a:r>
          </a:p>
        </p:txBody>
      </p:sp>
      <p:sp>
        <p:nvSpPr>
          <p:cNvPr id="3" name="ZoneTexte 2">
            <a:extLst>
              <a:ext uri="{FF2B5EF4-FFF2-40B4-BE49-F238E27FC236}">
                <a16:creationId xmlns:a16="http://schemas.microsoft.com/office/drawing/2014/main" id="{A8CA2532-BDAB-3564-546C-7A9595C35DE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AC73925B-B988-CDC3-5E8A-30D02330FF4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état à partager, en un clic, propre à la page où l'on se trouve</a:t>
            </a:r>
          </a:p>
        </p:txBody>
      </p:sp>
      <p:sp>
        <p:nvSpPr>
          <p:cNvPr id="5" name="ZoneTexte 4">
            <a:extLst>
              <a:ext uri="{FF2B5EF4-FFF2-40B4-BE49-F238E27FC236}">
                <a16:creationId xmlns:a16="http://schemas.microsoft.com/office/drawing/2014/main" id="{49871598-706A-2AEA-E0B5-975B238F23F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F30A9FEA-7046-7053-D3C9-526F0C65FD5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EE41467-B2FE-45F1-BD60-8FA3FCBFEBCE}" type="slidenum">
              <a:rPr lang="fr-FR" sz="900" smtClean="0">
                <a:solidFill>
                  <a:srgbClr val="586080"/>
                </a:solidFill>
                <a:latin typeface="Calibri" panose="020F0502020204030204" pitchFamily="34" charset="0"/>
              </a:rPr>
              <a:t>30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0E40038-E703-C185-D613-6BBAFB2A825B}"/>
              </a:ext>
            </a:extLst>
          </p:cNvPr>
          <p:cNvSpPr/>
          <p:nvPr/>
        </p:nvSpPr>
        <p:spPr>
          <a:xfrm>
            <a:off x="609600" y="1600200"/>
            <a:ext cx="2413000" cy="404368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B1B66F8C-4B40-73E1-7DD5-37F710AB5BDE}"/>
              </a:ext>
            </a:extLst>
          </p:cNvPr>
          <p:cNvSpPr/>
          <p:nvPr/>
        </p:nvSpPr>
        <p:spPr>
          <a:xfrm>
            <a:off x="609600" y="1600200"/>
            <a:ext cx="241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6BD7955-EBC0-B362-1983-804D74EF6F32}"/>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6AB8905-BBA0-80F5-99A2-3B59FFD543C0}"/>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4EC40FA-4BCA-9251-926D-22D76D5C0321}"/>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6ED6A91-02C1-3C3F-CCF7-9879C7F01FC7}"/>
              </a:ext>
            </a:extLst>
          </p:cNvPr>
          <p:cNvSpPr/>
          <p:nvPr/>
        </p:nvSpPr>
        <p:spPr>
          <a:xfrm>
            <a:off x="673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4AEF1F1F-9B3A-FF04-9519-10AADFDB22F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413000" cy="3764280"/>
          </a:xfrm>
          <a:prstGeom prst="rect">
            <a:avLst/>
          </a:prstGeom>
        </p:spPr>
      </p:pic>
      <p:sp>
        <p:nvSpPr>
          <p:cNvPr id="15" name="Rectangle : coins arrondis 14">
            <a:extLst>
              <a:ext uri="{FF2B5EF4-FFF2-40B4-BE49-F238E27FC236}">
                <a16:creationId xmlns:a16="http://schemas.microsoft.com/office/drawing/2014/main" id="{3C177C08-96FD-DFCB-3825-CCCCE2E19851}"/>
              </a:ext>
            </a:extLst>
          </p:cNvPr>
          <p:cNvSpPr/>
          <p:nvPr/>
        </p:nvSpPr>
        <p:spPr>
          <a:xfrm>
            <a:off x="3225800" y="1600200"/>
            <a:ext cx="2946400" cy="444790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B9D1DEE2-E8B9-7DEB-AFE3-70A42B9C054E}"/>
              </a:ext>
            </a:extLst>
          </p:cNvPr>
          <p:cNvSpPr/>
          <p:nvPr/>
        </p:nvSpPr>
        <p:spPr>
          <a:xfrm>
            <a:off x="3225800" y="1600200"/>
            <a:ext cx="2946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26D98749-35D4-0693-CC70-B795F813C8B3}"/>
              </a:ext>
            </a:extLst>
          </p:cNvPr>
          <p:cNvSpPr/>
          <p:nvPr/>
        </p:nvSpPr>
        <p:spPr>
          <a:xfrm>
            <a:off x="3352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B5324FBC-9857-EFCE-E1AD-60114632A9D4}"/>
              </a:ext>
            </a:extLst>
          </p:cNvPr>
          <p:cNvSpPr/>
          <p:nvPr/>
        </p:nvSpPr>
        <p:spPr>
          <a:xfrm>
            <a:off x="3517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E0DAF73C-E92E-1356-536F-FD0B57E83525}"/>
              </a:ext>
            </a:extLst>
          </p:cNvPr>
          <p:cNvSpPr/>
          <p:nvPr/>
        </p:nvSpPr>
        <p:spPr>
          <a:xfrm>
            <a:off x="3683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8DD6472C-C022-092F-EB4A-F8E8C3A6F363}"/>
              </a:ext>
            </a:extLst>
          </p:cNvPr>
          <p:cNvSpPr/>
          <p:nvPr/>
        </p:nvSpPr>
        <p:spPr>
          <a:xfrm>
            <a:off x="35560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1C918FB4-F43A-1647-B36D-4544F058349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25800" y="1879600"/>
            <a:ext cx="2946400" cy="4168501"/>
          </a:xfrm>
          <a:prstGeom prst="rect">
            <a:avLst/>
          </a:prstGeom>
        </p:spPr>
      </p:pic>
      <p:sp>
        <p:nvSpPr>
          <p:cNvPr id="23" name="Rectangle : coins arrondis 22">
            <a:extLst>
              <a:ext uri="{FF2B5EF4-FFF2-40B4-BE49-F238E27FC236}">
                <a16:creationId xmlns:a16="http://schemas.microsoft.com/office/drawing/2014/main" id="{8600E70B-68DA-D7D7-EF34-EDE38EAF887A}"/>
              </a:ext>
            </a:extLst>
          </p:cNvPr>
          <p:cNvSpPr/>
          <p:nvPr/>
        </p:nvSpPr>
        <p:spPr>
          <a:xfrm>
            <a:off x="6426200" y="1600200"/>
            <a:ext cx="51562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93FECF03-A1FB-D98E-889D-44967763F99B}"/>
              </a:ext>
            </a:extLst>
          </p:cNvPr>
          <p:cNvSpPr txBox="1"/>
          <p:nvPr/>
        </p:nvSpPr>
        <p:spPr>
          <a:xfrm>
            <a:off x="6654800" y="1752600"/>
            <a:ext cx="4699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Quatre clics</a:t>
            </a:r>
          </a:p>
        </p:txBody>
      </p:sp>
      <p:sp>
        <p:nvSpPr>
          <p:cNvPr id="25" name="ZoneTexte 24">
            <a:extLst>
              <a:ext uri="{FF2B5EF4-FFF2-40B4-BE49-F238E27FC236}">
                <a16:creationId xmlns:a16="http://schemas.microsoft.com/office/drawing/2014/main" id="{1F2C9EF3-D9C0-4BED-72D5-630041C59D0F}"/>
              </a:ext>
            </a:extLst>
          </p:cNvPr>
          <p:cNvSpPr txBox="1"/>
          <p:nvPr/>
        </p:nvSpPr>
        <p:spPr>
          <a:xfrm>
            <a:off x="6654800" y="2133600"/>
            <a:ext cx="4724400" cy="1574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Bouton Rapport, en haut à droite de chaque page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Choisir la période d'activité et le format : PDF ou Excel</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Générer le rapport, puis confirmer le téléchargement, ou « Envoyer par email »</a:t>
            </a:r>
          </a:p>
        </p:txBody>
      </p:sp>
      <p:sp>
        <p:nvSpPr>
          <p:cNvPr id="26" name="Rectangle : coins arrondis 25">
            <a:extLst>
              <a:ext uri="{FF2B5EF4-FFF2-40B4-BE49-F238E27FC236}">
                <a16:creationId xmlns:a16="http://schemas.microsoft.com/office/drawing/2014/main" id="{0115D887-47A3-CC44-3E2F-1F75DCB35622}"/>
              </a:ext>
            </a:extLst>
          </p:cNvPr>
          <p:cNvSpPr/>
          <p:nvPr/>
        </p:nvSpPr>
        <p:spPr>
          <a:xfrm>
            <a:off x="6426200" y="3937000"/>
            <a:ext cx="5156200" cy="2311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6B5B7DA5-DEF0-7F7B-E692-E9B02BCE1EAB}"/>
              </a:ext>
            </a:extLst>
          </p:cNvPr>
          <p:cNvSpPr txBox="1"/>
          <p:nvPr/>
        </p:nvSpPr>
        <p:spPr>
          <a:xfrm>
            <a:off x="6654800" y="4089400"/>
            <a:ext cx="46990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Contenu</a:t>
            </a:r>
          </a:p>
        </p:txBody>
      </p:sp>
      <p:sp>
        <p:nvSpPr>
          <p:cNvPr id="28" name="ZoneTexte 27">
            <a:extLst>
              <a:ext uri="{FF2B5EF4-FFF2-40B4-BE49-F238E27FC236}">
                <a16:creationId xmlns:a16="http://schemas.microsoft.com/office/drawing/2014/main" id="{EFA2D8A9-1819-6F49-6FB1-8EA4BF356FB1}"/>
              </a:ext>
            </a:extLst>
          </p:cNvPr>
          <p:cNvSpPr txBox="1"/>
          <p:nvPr/>
        </p:nvSpPr>
        <p:spPr>
          <a:xfrm>
            <a:off x="6654800" y="4470400"/>
            <a:ext cx="4724400" cy="17526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PDF : indicateurs, parc par type, attestations à traiter, signatures, pertes, emprunts, situation par personne ; logo eXalt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Excel : 8 feuilles, filtres et première ligne figée</a:t>
            </a:r>
          </a:p>
        </p:txBody>
      </p:sp>
    </p:spTree>
    <p:extLst>
      <p:ext uri="{BB962C8B-B14F-4D97-AF65-F5344CB8AC3E}">
        <p14:creationId xmlns:p14="http://schemas.microsoft.com/office/powerpoint/2010/main" val="36523814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C25B72-0FA8-4B5F-5C94-E735BEE8237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Un rapport propre à chaque page</a:t>
            </a:r>
          </a:p>
        </p:txBody>
      </p:sp>
      <p:sp>
        <p:nvSpPr>
          <p:cNvPr id="3" name="ZoneTexte 2">
            <a:extLst>
              <a:ext uri="{FF2B5EF4-FFF2-40B4-BE49-F238E27FC236}">
                <a16:creationId xmlns:a16="http://schemas.microsoft.com/office/drawing/2014/main" id="{402C9A70-5C6F-626A-76DC-D945C1A4B82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6E106A55-C4C0-D91F-679D-4259CA8A217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contenu, le titre et le nom du fichier suivent la page choisie</a:t>
            </a:r>
          </a:p>
        </p:txBody>
      </p:sp>
      <p:sp>
        <p:nvSpPr>
          <p:cNvPr id="5" name="ZoneTexte 4">
            <a:extLst>
              <a:ext uri="{FF2B5EF4-FFF2-40B4-BE49-F238E27FC236}">
                <a16:creationId xmlns:a16="http://schemas.microsoft.com/office/drawing/2014/main" id="{6B453620-FFAD-91A9-D3D7-C307E52FD33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BA206C67-AA14-39E3-F858-8E298D1333A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186DF0A8-6F8B-4E90-A5A4-AC3FF0C3B801}" type="slidenum">
              <a:rPr lang="fr-FR" sz="900" smtClean="0">
                <a:solidFill>
                  <a:srgbClr val="586080"/>
                </a:solidFill>
                <a:latin typeface="Calibri" panose="020F0502020204030204" pitchFamily="34" charset="0"/>
              </a:rPr>
              <a:t>31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3124773-C2AC-EBDA-2361-C74D16F76065}"/>
              </a:ext>
            </a:extLst>
          </p:cNvPr>
          <p:cNvSpPr/>
          <p:nvPr/>
        </p:nvSpPr>
        <p:spPr>
          <a:xfrm>
            <a:off x="609600" y="1600200"/>
            <a:ext cx="2286000" cy="384556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F9F73686-B32A-C91E-A4C4-94458621D8DC}"/>
              </a:ext>
            </a:extLst>
          </p:cNvPr>
          <p:cNvSpPr/>
          <p:nvPr/>
        </p:nvSpPr>
        <p:spPr>
          <a:xfrm>
            <a:off x="609600" y="1600200"/>
            <a:ext cx="2286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9A15D55-AFA0-BCE0-7AF6-39218B2D936E}"/>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17D89DE-02D8-DFEB-9B68-BCC254EC2B1F}"/>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4BA88AB-EB00-0ABD-CA93-201E0490DB24}"/>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1B6F75CE-A86B-F938-E90D-C9CA6744808A}"/>
              </a:ext>
            </a:extLst>
          </p:cNvPr>
          <p:cNvSpPr/>
          <p:nvPr/>
        </p:nvSpPr>
        <p:spPr>
          <a:xfrm>
            <a:off x="609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49B43BF7-DD2E-DC29-118F-4C79D30CF4B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286000" cy="3566160"/>
          </a:xfrm>
          <a:prstGeom prst="rect">
            <a:avLst/>
          </a:prstGeom>
        </p:spPr>
      </p:pic>
      <p:sp>
        <p:nvSpPr>
          <p:cNvPr id="15" name="Rectangle : coins arrondis 14">
            <a:extLst>
              <a:ext uri="{FF2B5EF4-FFF2-40B4-BE49-F238E27FC236}">
                <a16:creationId xmlns:a16="http://schemas.microsoft.com/office/drawing/2014/main" id="{BD2B8A0A-DC7D-73A1-9DCB-991F3AF43268}"/>
              </a:ext>
            </a:extLst>
          </p:cNvPr>
          <p:cNvSpPr/>
          <p:nvPr/>
        </p:nvSpPr>
        <p:spPr>
          <a:xfrm>
            <a:off x="3098800" y="1600200"/>
            <a:ext cx="2794000" cy="4232288"/>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5233C1C0-0EA5-6E59-21BF-E15777A05C5A}"/>
              </a:ext>
            </a:extLst>
          </p:cNvPr>
          <p:cNvSpPr/>
          <p:nvPr/>
        </p:nvSpPr>
        <p:spPr>
          <a:xfrm>
            <a:off x="3098800" y="1600200"/>
            <a:ext cx="279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DAD18B27-6CE1-239E-9D94-6ACB8F8C594F}"/>
              </a:ext>
            </a:extLst>
          </p:cNvPr>
          <p:cNvSpPr/>
          <p:nvPr/>
        </p:nvSpPr>
        <p:spPr>
          <a:xfrm>
            <a:off x="3225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3D77FE65-3DC9-0A6E-B7CA-AECA95DBD4AD}"/>
              </a:ext>
            </a:extLst>
          </p:cNvPr>
          <p:cNvSpPr/>
          <p:nvPr/>
        </p:nvSpPr>
        <p:spPr>
          <a:xfrm>
            <a:off x="3390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946AEE74-F500-B001-3783-8152AE1F3B1A}"/>
              </a:ext>
            </a:extLst>
          </p:cNvPr>
          <p:cNvSpPr/>
          <p:nvPr/>
        </p:nvSpPr>
        <p:spPr>
          <a:xfrm>
            <a:off x="3556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41D11965-46FC-430C-58E3-FD6ED8F02876}"/>
              </a:ext>
            </a:extLst>
          </p:cNvPr>
          <p:cNvSpPr/>
          <p:nvPr/>
        </p:nvSpPr>
        <p:spPr>
          <a:xfrm>
            <a:off x="3352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0CF15928-29A8-F9E6-E211-691AA11E2F4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098800" y="1879600"/>
            <a:ext cx="2794000" cy="3952888"/>
          </a:xfrm>
          <a:prstGeom prst="rect">
            <a:avLst/>
          </a:prstGeom>
        </p:spPr>
      </p:pic>
      <p:graphicFrame>
        <p:nvGraphicFramePr>
          <p:cNvPr id="23" name="Tableau 22">
            <a:extLst>
              <a:ext uri="{FF2B5EF4-FFF2-40B4-BE49-F238E27FC236}">
                <a16:creationId xmlns:a16="http://schemas.microsoft.com/office/drawing/2014/main" id="{C98C2B7F-B506-DDC1-1B21-0AA79D65C0E4}"/>
              </a:ext>
            </a:extLst>
          </p:cNvPr>
          <p:cNvGraphicFramePr>
            <a:graphicFrameLocks noGrp="1"/>
          </p:cNvGraphicFramePr>
          <p:nvPr>
            <p:extLst>
              <p:ext uri="{D42A27DB-BD31-4B8C-83A1-F6EECF244321}">
                <p14:modId xmlns:p14="http://schemas.microsoft.com/office/powerpoint/2010/main" val="4016712922"/>
              </p:ext>
            </p:extLst>
          </p:nvPr>
        </p:nvGraphicFramePr>
        <p:xfrm>
          <a:off x="6197600" y="1600200"/>
          <a:ext cx="5384800" cy="4445000"/>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146674874"/>
                    </a:ext>
                  </a:extLst>
                </a:gridCol>
                <a:gridCol w="4064000">
                  <a:extLst>
                    <a:ext uri="{9D8B030D-6E8A-4147-A177-3AD203B41FA5}">
                      <a16:colId xmlns:a16="http://schemas.microsoft.com/office/drawing/2014/main" val="4120137454"/>
                    </a:ext>
                  </a:extLst>
                </a:gridCol>
              </a:tblGrid>
              <a:tr h="635000">
                <a:tc>
                  <a:txBody>
                    <a:bodyPr/>
                    <a:lstStyle/>
                    <a:p>
                      <a:pPr algn="l"/>
                      <a:r>
                        <a:rPr lang="fr-FR" sz="1100" b="1">
                          <a:solidFill>
                            <a:srgbClr val="FFFFFF"/>
                          </a:solidFill>
                          <a:latin typeface="Calibri" panose="020F0502020204030204" pitchFamily="34" charset="0"/>
                        </a:rPr>
                        <a:t>Page</a:t>
                      </a:r>
                    </a:p>
                  </a:txBody>
                  <a:tcPr marL="127000" marR="127000" marT="38100" marB="38100" anchor="ctr">
                    <a:solidFill>
                      <a:srgbClr val="1E1C8C"/>
                    </a:solidFill>
                  </a:tcPr>
                </a:tc>
                <a:tc>
                  <a:txBody>
                    <a:bodyPr/>
                    <a:lstStyle/>
                    <a:p>
                      <a:pPr algn="l"/>
                      <a:r>
                        <a:rPr lang="fr-FR" sz="1100" b="1">
                          <a:solidFill>
                            <a:srgbClr val="FFFFFF"/>
                          </a:solidFill>
                          <a:latin typeface="Calibri" panose="020F0502020204030204" pitchFamily="34" charset="0"/>
                        </a:rPr>
                        <a:t>Contenu du rapport</a:t>
                      </a:r>
                    </a:p>
                  </a:txBody>
                  <a:tcPr marL="127000" marR="127000" marT="38100" marB="38100" anchor="ctr">
                    <a:solidFill>
                      <a:srgbClr val="1E1C8C"/>
                    </a:solidFill>
                  </a:tcPr>
                </a:tc>
                <a:extLst>
                  <a:ext uri="{0D108BD9-81ED-4DB2-BD59-A6C34878D82A}">
                    <a16:rowId xmlns:a16="http://schemas.microsoft.com/office/drawing/2014/main" val="1991296902"/>
                  </a:ext>
                </a:extLst>
              </a:tr>
              <a:tr h="635000">
                <a:tc>
                  <a:txBody>
                    <a:bodyPr/>
                    <a:lstStyle/>
                    <a:p>
                      <a:pPr algn="l"/>
                      <a:r>
                        <a:rPr lang="fr-FR" sz="1100" b="1">
                          <a:solidFill>
                            <a:srgbClr val="12162B"/>
                          </a:solidFill>
                          <a:latin typeface="Calibri" panose="020F0502020204030204" pitchFamily="34" charset="0"/>
                        </a:rPr>
                        <a:t>Accueil</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Rapport complet : parc par type, attestations, signatures, pertes, emprunts, personnes</a:t>
                      </a:r>
                    </a:p>
                  </a:txBody>
                  <a:tcPr marL="127000" marR="127000" marT="38100" marB="38100" anchor="ctr">
                    <a:solidFill>
                      <a:srgbClr val="FFFFFF"/>
                    </a:solidFill>
                  </a:tcPr>
                </a:tc>
                <a:extLst>
                  <a:ext uri="{0D108BD9-81ED-4DB2-BD59-A6C34878D82A}">
                    <a16:rowId xmlns:a16="http://schemas.microsoft.com/office/drawing/2014/main" val="370862676"/>
                  </a:ext>
                </a:extLst>
              </a:tr>
              <a:tr h="635000">
                <a:tc>
                  <a:txBody>
                    <a:bodyPr/>
                    <a:lstStyle/>
                    <a:p>
                      <a:pPr algn="l"/>
                      <a:r>
                        <a:rPr lang="fr-FR" sz="1100" b="1">
                          <a:solidFill>
                            <a:srgbClr val="12162B"/>
                          </a:solidFill>
                          <a:latin typeface="Calibri" panose="020F0502020204030204" pitchFamily="34" charset="0"/>
                        </a:rPr>
                        <a:t>Emprunter</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Emprunts de la période avec retour prévu et état ; matériel à remettre</a:t>
                      </a:r>
                    </a:p>
                  </a:txBody>
                  <a:tcPr marL="127000" marR="127000" marT="38100" marB="38100" anchor="ctr">
                    <a:solidFill>
                      <a:srgbClr val="F0F2FA"/>
                    </a:solidFill>
                  </a:tcPr>
                </a:tc>
                <a:extLst>
                  <a:ext uri="{0D108BD9-81ED-4DB2-BD59-A6C34878D82A}">
                    <a16:rowId xmlns:a16="http://schemas.microsoft.com/office/drawing/2014/main" val="2718942921"/>
                  </a:ext>
                </a:extLst>
              </a:tr>
              <a:tr h="635000">
                <a:tc>
                  <a:txBody>
                    <a:bodyPr/>
                    <a:lstStyle/>
                    <a:p>
                      <a:pPr algn="l"/>
                      <a:r>
                        <a:rPr lang="fr-FR" sz="1100" b="1">
                          <a:solidFill>
                            <a:srgbClr val="12162B"/>
                          </a:solidFill>
                          <a:latin typeface="Calibri" panose="020F0502020204030204" pitchFamily="34" charset="0"/>
                        </a:rPr>
                        <a:t>Restituer</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Retours en retard, retours prévus, parc par type, situation par personne</a:t>
                      </a:r>
                    </a:p>
                  </a:txBody>
                  <a:tcPr marL="127000" marR="127000" marT="38100" marB="38100" anchor="ctr">
                    <a:solidFill>
                      <a:srgbClr val="FFFFFF"/>
                    </a:solidFill>
                  </a:tcPr>
                </a:tc>
                <a:extLst>
                  <a:ext uri="{0D108BD9-81ED-4DB2-BD59-A6C34878D82A}">
                    <a16:rowId xmlns:a16="http://schemas.microsoft.com/office/drawing/2014/main" val="2270925571"/>
                  </a:ext>
                </a:extLst>
              </a:tr>
              <a:tr h="635000">
                <a:tc>
                  <a:txBody>
                    <a:bodyPr/>
                    <a:lstStyle/>
                    <a:p>
                      <a:pPr algn="l"/>
                      <a:r>
                        <a:rPr lang="fr-FR" sz="1100" b="1">
                          <a:solidFill>
                            <a:srgbClr val="12162B"/>
                          </a:solidFill>
                          <a:latin typeface="Calibri" panose="020F0502020204030204" pitchFamily="34" charset="0"/>
                        </a:rPr>
                        <a:t>Attestations</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À traiter, envoyées et signées de la période</a:t>
                      </a:r>
                    </a:p>
                  </a:txBody>
                  <a:tcPr marL="127000" marR="127000" marT="38100" marB="38100" anchor="ctr">
                    <a:solidFill>
                      <a:srgbClr val="F0F2FA"/>
                    </a:solidFill>
                  </a:tcPr>
                </a:tc>
                <a:extLst>
                  <a:ext uri="{0D108BD9-81ED-4DB2-BD59-A6C34878D82A}">
                    <a16:rowId xmlns:a16="http://schemas.microsoft.com/office/drawing/2014/main" val="2795323504"/>
                  </a:ext>
                </a:extLst>
              </a:tr>
              <a:tr h="635000">
                <a:tc>
                  <a:txBody>
                    <a:bodyPr/>
                    <a:lstStyle/>
                    <a:p>
                      <a:pPr algn="l"/>
                      <a:r>
                        <a:rPr lang="fr-FR" sz="1100" b="1">
                          <a:solidFill>
                            <a:srgbClr val="12162B"/>
                          </a:solidFill>
                          <a:latin typeface="Calibri" panose="020F0502020204030204" pitchFamily="34" charset="0"/>
                        </a:rPr>
                        <a:t>Archives PDF</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PDF à archiver ; signatures avec l'état de l'archive</a:t>
                      </a:r>
                    </a:p>
                  </a:txBody>
                  <a:tcPr marL="127000" marR="127000" marT="38100" marB="38100" anchor="ctr">
                    <a:solidFill>
                      <a:srgbClr val="FFFFFF"/>
                    </a:solidFill>
                  </a:tcPr>
                </a:tc>
                <a:extLst>
                  <a:ext uri="{0D108BD9-81ED-4DB2-BD59-A6C34878D82A}">
                    <a16:rowId xmlns:a16="http://schemas.microsoft.com/office/drawing/2014/main" val="1684762652"/>
                  </a:ext>
                </a:extLst>
              </a:tr>
              <a:tr h="635000">
                <a:tc>
                  <a:txBody>
                    <a:bodyPr/>
                    <a:lstStyle/>
                    <a:p>
                      <a:pPr algn="l"/>
                      <a:r>
                        <a:rPr lang="fr-FR" sz="1100" b="1">
                          <a:solidFill>
                            <a:srgbClr val="12162B"/>
                          </a:solidFill>
                          <a:latin typeface="Calibri" panose="020F0502020204030204" pitchFamily="34" charset="0"/>
                        </a:rPr>
                        <a:t>Matériel perdu</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Pertes par type et déclarations de la période</a:t>
                      </a:r>
                    </a:p>
                  </a:txBody>
                  <a:tcPr marL="127000" marR="127000" marT="38100" marB="38100" anchor="ctr">
                    <a:solidFill>
                      <a:srgbClr val="F0F2FA"/>
                    </a:solidFill>
                  </a:tcPr>
                </a:tc>
                <a:extLst>
                  <a:ext uri="{0D108BD9-81ED-4DB2-BD59-A6C34878D82A}">
                    <a16:rowId xmlns:a16="http://schemas.microsoft.com/office/drawing/2014/main" val="1217487664"/>
                  </a:ext>
                </a:extLst>
              </a:tr>
            </a:tbl>
          </a:graphicData>
        </a:graphic>
      </p:graphicFrame>
    </p:spTree>
    <p:extLst>
      <p:ext uri="{BB962C8B-B14F-4D97-AF65-F5344CB8AC3E}">
        <p14:creationId xmlns:p14="http://schemas.microsoft.com/office/powerpoint/2010/main" val="42425729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A75BB80-2FA9-2B87-3F4F-503C7A1DACD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Envoyer le rapport par email</a:t>
            </a:r>
          </a:p>
        </p:txBody>
      </p:sp>
      <p:sp>
        <p:nvSpPr>
          <p:cNvPr id="3" name="ZoneTexte 2">
            <a:extLst>
              <a:ext uri="{FF2B5EF4-FFF2-40B4-BE49-F238E27FC236}">
                <a16:creationId xmlns:a16="http://schemas.microsoft.com/office/drawing/2014/main" id="{70FEBCA2-0408-F22D-D393-1F3CF305845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608C4168-6E24-1296-5D95-D7EC08636A9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Destinataire saisi à la main avec suggestions : rien ne part sans clic</a:t>
            </a:r>
          </a:p>
        </p:txBody>
      </p:sp>
      <p:sp>
        <p:nvSpPr>
          <p:cNvPr id="5" name="ZoneTexte 4">
            <a:extLst>
              <a:ext uri="{FF2B5EF4-FFF2-40B4-BE49-F238E27FC236}">
                <a16:creationId xmlns:a16="http://schemas.microsoft.com/office/drawing/2014/main" id="{B767DD9D-AA7C-54D6-4AB2-C28BF1C4DC6A}"/>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B16FBEE5-548B-F4D4-735F-6338C432CF8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E5ECBC8-E2D5-42EC-85B1-12369BB859D6}" type="slidenum">
              <a:rPr lang="fr-FR" sz="900" smtClean="0">
                <a:solidFill>
                  <a:srgbClr val="586080"/>
                </a:solidFill>
                <a:latin typeface="Calibri" panose="020F0502020204030204" pitchFamily="34" charset="0"/>
              </a:rPr>
              <a:t>32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A09F2551-3576-BD2D-A4A0-190F10350459}"/>
              </a:ext>
            </a:extLst>
          </p:cNvPr>
          <p:cNvSpPr/>
          <p:nvPr/>
        </p:nvSpPr>
        <p:spPr>
          <a:xfrm>
            <a:off x="609600" y="1600200"/>
            <a:ext cx="2921000" cy="451956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EEAF21B7-E8BC-31A9-29EA-0358E81C299B}"/>
              </a:ext>
            </a:extLst>
          </p:cNvPr>
          <p:cNvSpPr/>
          <p:nvPr/>
        </p:nvSpPr>
        <p:spPr>
          <a:xfrm>
            <a:off x="609600" y="1600200"/>
            <a:ext cx="292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049ADAD-E731-AFC6-C641-2F7107FBA172}"/>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19439CB-DFF8-A75A-37CB-C57442C7FEB6}"/>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3402355-D296-4F24-BB63-E8163E49FE38}"/>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E148666D-77CD-53EC-00F5-41AE09F3F91A}"/>
              </a:ext>
            </a:extLst>
          </p:cNvPr>
          <p:cNvSpPr/>
          <p:nvPr/>
        </p:nvSpPr>
        <p:spPr>
          <a:xfrm>
            <a:off x="927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5FEA483-9563-A27C-145C-62C147D24E2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921000" cy="4240161"/>
          </a:xfrm>
          <a:prstGeom prst="rect">
            <a:avLst/>
          </a:prstGeom>
        </p:spPr>
      </p:pic>
      <p:sp>
        <p:nvSpPr>
          <p:cNvPr id="15" name="Rectangle : coins arrondis 14">
            <a:extLst>
              <a:ext uri="{FF2B5EF4-FFF2-40B4-BE49-F238E27FC236}">
                <a16:creationId xmlns:a16="http://schemas.microsoft.com/office/drawing/2014/main" id="{B43D1111-5F72-75F8-EC2B-F8063A2824A1}"/>
              </a:ext>
            </a:extLst>
          </p:cNvPr>
          <p:cNvSpPr/>
          <p:nvPr/>
        </p:nvSpPr>
        <p:spPr>
          <a:xfrm>
            <a:off x="3810000" y="1600200"/>
            <a:ext cx="77724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DC45A3F7-95B8-6DF9-0098-7186584CDB9A}"/>
              </a:ext>
            </a:extLst>
          </p:cNvPr>
          <p:cNvSpPr txBox="1"/>
          <p:nvPr/>
        </p:nvSpPr>
        <p:spPr>
          <a:xfrm>
            <a:off x="4038600" y="1752600"/>
            <a:ext cx="73152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Dans la fenêtre</a:t>
            </a:r>
          </a:p>
        </p:txBody>
      </p:sp>
      <p:sp>
        <p:nvSpPr>
          <p:cNvPr id="17" name="ZoneTexte 16">
            <a:extLst>
              <a:ext uri="{FF2B5EF4-FFF2-40B4-BE49-F238E27FC236}">
                <a16:creationId xmlns:a16="http://schemas.microsoft.com/office/drawing/2014/main" id="{5BA78A56-493C-79C2-E1B0-54DD2BBB0354}"/>
              </a:ext>
            </a:extLst>
          </p:cNvPr>
          <p:cNvSpPr txBox="1"/>
          <p:nvPr/>
        </p:nvSpPr>
        <p:spPr>
          <a:xfrm>
            <a:off x="4038600" y="2133600"/>
            <a:ext cx="7315200" cy="15748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Destinataire(s) : saisie à la main, suggestions dès 2 lettres (personnes de GPIEXALT, puis annuaire Microsoft 365)</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Objet et message préremplis (titre de la page, date, format, période, expéditeur), modifiables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Pièce jointe : rapport_gpiexalt_AAAA-MM-JJ.pdf ou .xlsx</a:t>
            </a:r>
          </a:p>
        </p:txBody>
      </p:sp>
      <p:sp>
        <p:nvSpPr>
          <p:cNvPr id="18" name="Rectangle : coins arrondis 17">
            <a:extLst>
              <a:ext uri="{FF2B5EF4-FFF2-40B4-BE49-F238E27FC236}">
                <a16:creationId xmlns:a16="http://schemas.microsoft.com/office/drawing/2014/main" id="{996491FC-1F5E-391B-F36F-85D2C524B7DF}"/>
              </a:ext>
            </a:extLst>
          </p:cNvPr>
          <p:cNvSpPr/>
          <p:nvPr/>
        </p:nvSpPr>
        <p:spPr>
          <a:xfrm>
            <a:off x="3810000" y="3937000"/>
            <a:ext cx="7772400" cy="23114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5E35B70A-DAB4-8E66-AD19-709E977A7894}"/>
              </a:ext>
            </a:extLst>
          </p:cNvPr>
          <p:cNvSpPr txBox="1"/>
          <p:nvPr/>
        </p:nvSpPr>
        <p:spPr>
          <a:xfrm>
            <a:off x="4038600" y="4089400"/>
            <a:ext cx="7315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Quatre boutons, rien sans clic</a:t>
            </a:r>
          </a:p>
        </p:txBody>
      </p:sp>
      <p:sp>
        <p:nvSpPr>
          <p:cNvPr id="20" name="ZoneTexte 19">
            <a:extLst>
              <a:ext uri="{FF2B5EF4-FFF2-40B4-BE49-F238E27FC236}">
                <a16:creationId xmlns:a16="http://schemas.microsoft.com/office/drawing/2014/main" id="{DCC87BEF-7866-6835-07B0-004263EBEAC4}"/>
              </a:ext>
            </a:extLst>
          </p:cNvPr>
          <p:cNvSpPr txBox="1"/>
          <p:nvPr/>
        </p:nvSpPr>
        <p:spPr>
          <a:xfrm>
            <a:off x="4038600" y="4470400"/>
            <a:ext cx="7315200" cy="1727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Envoyer maintenant : part de votre boîte Outlook, copie dans les éléments envoyés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Créer un brouillon : dossier Brouillons d'Outlook</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Télécharger le message : fichier .eml à ouvrir dans Outlook</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Annuler : retour à la fenêtre du rapport</a:t>
            </a:r>
          </a:p>
        </p:txBody>
      </p:sp>
    </p:spTree>
    <p:extLst>
      <p:ext uri="{BB962C8B-B14F-4D97-AF65-F5344CB8AC3E}">
        <p14:creationId xmlns:p14="http://schemas.microsoft.com/office/powerpoint/2010/main" val="3950388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6A5E54-BAD4-86D5-80AF-AE0844F16C5A}"/>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Cinq rôles, du collaborateur à l'administrateur</a:t>
            </a:r>
          </a:p>
        </p:txBody>
      </p:sp>
      <p:sp>
        <p:nvSpPr>
          <p:cNvPr id="3" name="ZoneTexte 2">
            <a:extLst>
              <a:ext uri="{FF2B5EF4-FFF2-40B4-BE49-F238E27FC236}">
                <a16:creationId xmlns:a16="http://schemas.microsoft.com/office/drawing/2014/main" id="{69B50AF5-43BB-2300-0A54-CFDBF4CA164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3E3223BC-C573-474A-39AD-414685264A90}"/>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partage de la page fixe la limite ; le rôle précise ce que chacun voit et fait</a:t>
            </a:r>
          </a:p>
        </p:txBody>
      </p:sp>
      <p:sp>
        <p:nvSpPr>
          <p:cNvPr id="5" name="ZoneTexte 4">
            <a:extLst>
              <a:ext uri="{FF2B5EF4-FFF2-40B4-BE49-F238E27FC236}">
                <a16:creationId xmlns:a16="http://schemas.microsoft.com/office/drawing/2014/main" id="{E0D13571-B2E8-21B3-7968-4B9947A04E8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CE20A196-C8CC-5150-2087-E390952CFA45}"/>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F01E2E0-0EA0-4152-8DE5-4725C499EEF2}" type="slidenum">
              <a:rPr lang="fr-FR" sz="900" smtClean="0">
                <a:solidFill>
                  <a:srgbClr val="586080"/>
                </a:solidFill>
                <a:latin typeface="Calibri" panose="020F0502020204030204" pitchFamily="34" charset="0"/>
              </a:rPr>
              <a:t>33</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D1883984-5A50-9D89-2B74-ECA301A9F007}"/>
              </a:ext>
            </a:extLst>
          </p:cNvPr>
          <p:cNvGraphicFramePr>
            <a:graphicFrameLocks noGrp="1"/>
          </p:cNvGraphicFramePr>
          <p:nvPr>
            <p:extLst>
              <p:ext uri="{D42A27DB-BD31-4B8C-83A1-F6EECF244321}">
                <p14:modId xmlns:p14="http://schemas.microsoft.com/office/powerpoint/2010/main" val="3398211543"/>
              </p:ext>
            </p:extLst>
          </p:nvPr>
        </p:nvGraphicFramePr>
        <p:xfrm>
          <a:off x="609600" y="1600200"/>
          <a:ext cx="7874000" cy="3200400"/>
        </p:xfrm>
        <a:graphic>
          <a:graphicData uri="http://schemas.openxmlformats.org/drawingml/2006/table">
            <a:tbl>
              <a:tblPr firstRow="1" bandRow="1">
                <a:tableStyleId>{2D5ABB26-0587-4C30-8999-92F81FD0307C}</a:tableStyleId>
              </a:tblPr>
              <a:tblGrid>
                <a:gridCol w="1651000">
                  <a:extLst>
                    <a:ext uri="{9D8B030D-6E8A-4147-A177-3AD203B41FA5}">
                      <a16:colId xmlns:a16="http://schemas.microsoft.com/office/drawing/2014/main" val="1739440568"/>
                    </a:ext>
                  </a:extLst>
                </a:gridCol>
                <a:gridCol w="3683000">
                  <a:extLst>
                    <a:ext uri="{9D8B030D-6E8A-4147-A177-3AD203B41FA5}">
                      <a16:colId xmlns:a16="http://schemas.microsoft.com/office/drawing/2014/main" val="2749261211"/>
                    </a:ext>
                  </a:extLst>
                </a:gridCol>
                <a:gridCol w="1397000">
                  <a:extLst>
                    <a:ext uri="{9D8B030D-6E8A-4147-A177-3AD203B41FA5}">
                      <a16:colId xmlns:a16="http://schemas.microsoft.com/office/drawing/2014/main" val="2108565472"/>
                    </a:ext>
                  </a:extLst>
                </a:gridCol>
                <a:gridCol w="1143000">
                  <a:extLst>
                    <a:ext uri="{9D8B030D-6E8A-4147-A177-3AD203B41FA5}">
                      <a16:colId xmlns:a16="http://schemas.microsoft.com/office/drawing/2014/main" val="2392107650"/>
                    </a:ext>
                  </a:extLst>
                </a:gridCol>
              </a:tblGrid>
              <a:tr h="533400">
                <a:tc>
                  <a:txBody>
                    <a:bodyPr/>
                    <a:lstStyle/>
                    <a:p>
                      <a:pPr algn="l"/>
                      <a:r>
                        <a:rPr lang="fr-FR" sz="1200" b="1">
                          <a:solidFill>
                            <a:srgbClr val="FFFFFF"/>
                          </a:solidFill>
                          <a:latin typeface="Calibri" panose="020F0502020204030204" pitchFamily="34" charset="0"/>
                        </a:rPr>
                        <a:t>Rôle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Ce que la personne voit et fait</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Partage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Garantie</a:t>
                      </a:r>
                    </a:p>
                  </a:txBody>
                  <a:tcPr marL="127000" marR="127000" marT="38100" marB="38100" anchor="ctr">
                    <a:solidFill>
                      <a:srgbClr val="1E1C8C"/>
                    </a:solidFill>
                  </a:tcPr>
                </a:tc>
                <a:extLst>
                  <a:ext uri="{0D108BD9-81ED-4DB2-BD59-A6C34878D82A}">
                    <a16:rowId xmlns:a16="http://schemas.microsoft.com/office/drawing/2014/main" val="2670234030"/>
                  </a:ext>
                </a:extLst>
              </a:tr>
              <a:tr h="533400">
                <a:tc>
                  <a:txBody>
                    <a:bodyPr/>
                    <a:lstStyle/>
                    <a:p>
                      <a:pPr algn="l"/>
                      <a:r>
                        <a:rPr lang="fr-FR" sz="1200" b="1">
                          <a:solidFill>
                            <a:srgbClr val="12162B"/>
                          </a:solidFill>
                          <a:latin typeface="Calibri" panose="020F0502020204030204" pitchFamily="34" charset="0"/>
                        </a:rPr>
                        <a:t>Administrateur full</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Tout, y compris Rôles et accès</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Modifier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Plateforme</a:t>
                      </a:r>
                    </a:p>
                  </a:txBody>
                  <a:tcPr marL="127000" marR="127000" marT="38100" marB="38100" anchor="ctr">
                    <a:solidFill>
                      <a:srgbClr val="FFFFFF"/>
                    </a:solidFill>
                  </a:tcPr>
                </a:tc>
                <a:extLst>
                  <a:ext uri="{0D108BD9-81ED-4DB2-BD59-A6C34878D82A}">
                    <a16:rowId xmlns:a16="http://schemas.microsoft.com/office/drawing/2014/main" val="2475351030"/>
                  </a:ext>
                </a:extLst>
              </a:tr>
              <a:tr h="533400">
                <a:tc>
                  <a:txBody>
                    <a:bodyPr/>
                    <a:lstStyle/>
                    <a:p>
                      <a:pPr algn="l"/>
                      <a:r>
                        <a:rPr lang="fr-FR" sz="1200" b="1">
                          <a:solidFill>
                            <a:srgbClr val="12162B"/>
                          </a:solidFill>
                          <a:latin typeface="Calibri" panose="020F0502020204030204" pitchFamily="34" charset="0"/>
                        </a:rPr>
                        <a:t>Super utilisateur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Toutes les opérations, rapports et exports (rôle par défaut)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0F2FA"/>
                    </a:solidFill>
                  </a:tcPr>
                </a:tc>
                <a:extLst>
                  <a:ext uri="{0D108BD9-81ED-4DB2-BD59-A6C34878D82A}">
                    <a16:rowId xmlns:a16="http://schemas.microsoft.com/office/drawing/2014/main" val="580836888"/>
                  </a:ext>
                </a:extLst>
              </a:tr>
              <a:tr h="533400">
                <a:tc>
                  <a:txBody>
                    <a:bodyPr/>
                    <a:lstStyle/>
                    <a:p>
                      <a:pPr algn="l"/>
                      <a:r>
                        <a:rPr lang="fr-FR" sz="1200" b="1">
                          <a:solidFill>
                            <a:srgbClr val="12162B"/>
                          </a:solidFill>
                          <a:latin typeface="Calibri" panose="020F0502020204030204" pitchFamily="34" charset="0"/>
                        </a:rPr>
                        <a:t>Agent IT</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Prêts, restitutions, attestations, signatures ; ni pertes ni rapports</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FFFFF"/>
                    </a:solidFill>
                  </a:tcPr>
                </a:tc>
                <a:extLst>
                  <a:ext uri="{0D108BD9-81ED-4DB2-BD59-A6C34878D82A}">
                    <a16:rowId xmlns:a16="http://schemas.microsoft.com/office/drawing/2014/main" val="3109893615"/>
                  </a:ext>
                </a:extLst>
              </a:tr>
              <a:tr h="533400">
                <a:tc>
                  <a:txBody>
                    <a:bodyPr/>
                    <a:lstStyle/>
                    <a:p>
                      <a:pPr algn="l"/>
                      <a:r>
                        <a:rPr lang="fr-FR" sz="1200" b="1">
                          <a:solidFill>
                            <a:srgbClr val="12162B"/>
                          </a:solidFill>
                          <a:latin typeface="Calibri" panose="020F0502020204030204" pitchFamily="34" charset="0"/>
                        </a:rPr>
                        <a:t>Lecteur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Tous les écrans et les rapports, sans saisie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0F2FA"/>
                    </a:solidFill>
                  </a:tcPr>
                </a:tc>
                <a:extLst>
                  <a:ext uri="{0D108BD9-81ED-4DB2-BD59-A6C34878D82A}">
                    <a16:rowId xmlns:a16="http://schemas.microsoft.com/office/drawing/2014/main" val="4017149053"/>
                  </a:ext>
                </a:extLst>
              </a:tr>
              <a:tr h="533400">
                <a:tc>
                  <a:txBody>
                    <a:bodyPr/>
                    <a:lstStyle/>
                    <a:p>
                      <a:pPr algn="l"/>
                      <a:r>
                        <a:rPr lang="fr-FR" sz="1200" b="1">
                          <a:solidFill>
                            <a:srgbClr val="12162B"/>
                          </a:solidFill>
                          <a:latin typeface="Calibri" panose="020F0502020204030204" pitchFamily="34" charset="0"/>
                        </a:rPr>
                        <a:t>Collaborateur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Uniquement Mon matériel, en consultation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Consulter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Plateforme</a:t>
                      </a:r>
                    </a:p>
                  </a:txBody>
                  <a:tcPr marL="127000" marR="127000" marT="38100" marB="38100" anchor="ctr">
                    <a:solidFill>
                      <a:srgbClr val="FFFFFF"/>
                    </a:solidFill>
                  </a:tcPr>
                </a:tc>
                <a:extLst>
                  <a:ext uri="{0D108BD9-81ED-4DB2-BD59-A6C34878D82A}">
                    <a16:rowId xmlns:a16="http://schemas.microsoft.com/office/drawing/2014/main" val="2055730451"/>
                  </a:ext>
                </a:extLst>
              </a:tr>
            </a:tbl>
          </a:graphicData>
        </a:graphic>
      </p:graphicFrame>
      <p:sp>
        <p:nvSpPr>
          <p:cNvPr id="8" name="Rectangle : coins arrondis 7">
            <a:extLst>
              <a:ext uri="{FF2B5EF4-FFF2-40B4-BE49-F238E27FC236}">
                <a16:creationId xmlns:a16="http://schemas.microsoft.com/office/drawing/2014/main" id="{1CAFFB38-5FD2-A978-A206-FC7BA223A782}"/>
              </a:ext>
            </a:extLst>
          </p:cNvPr>
          <p:cNvSpPr/>
          <p:nvPr/>
        </p:nvSpPr>
        <p:spPr>
          <a:xfrm>
            <a:off x="609600" y="5029200"/>
            <a:ext cx="7874000" cy="1219200"/>
          </a:xfrm>
          <a:prstGeom prst="roundRect">
            <a:avLst>
              <a:gd name="adj" fmla="val 6000"/>
            </a:avLst>
          </a:prstGeom>
          <a:solidFill>
            <a:srgbClr val="E4EEFA"/>
          </a:solidFill>
          <a:ln w="12700">
            <a:solidFill>
              <a:srgbClr val="2F7DD1"/>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300">
                <a:solidFill>
                  <a:srgbClr val="12162B"/>
                </a:solidFill>
                <a:latin typeface="Calibri" panose="020F0502020204030204" pitchFamily="34" charset="0"/>
              </a:rPr>
              <a:t>Recherche par prénom et nom (début de mots accepté, nom complet affiché). Tous les utilisateurs : rattache chaque fiche au compte correspondant, sans toucher aux rôles attribués à la main ; un bilan liste les fiches sans compte trouvé.</a:t>
            </a:r>
          </a:p>
        </p:txBody>
      </p:sp>
      <p:sp>
        <p:nvSpPr>
          <p:cNvPr id="9" name="Rectangle : coins arrondis 8">
            <a:extLst>
              <a:ext uri="{FF2B5EF4-FFF2-40B4-BE49-F238E27FC236}">
                <a16:creationId xmlns:a16="http://schemas.microsoft.com/office/drawing/2014/main" id="{6FBC8701-EC7C-1E57-8FC8-FFD4BE2A2AFD}"/>
              </a:ext>
            </a:extLst>
          </p:cNvPr>
          <p:cNvSpPr/>
          <p:nvPr/>
        </p:nvSpPr>
        <p:spPr>
          <a:xfrm>
            <a:off x="8788400" y="1600200"/>
            <a:ext cx="2794000" cy="265121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 coins arrondis 9">
            <a:extLst>
              <a:ext uri="{FF2B5EF4-FFF2-40B4-BE49-F238E27FC236}">
                <a16:creationId xmlns:a16="http://schemas.microsoft.com/office/drawing/2014/main" id="{90AE90BA-97EC-FC2A-7D87-69235B25CDB0}"/>
              </a:ext>
            </a:extLst>
          </p:cNvPr>
          <p:cNvSpPr/>
          <p:nvPr/>
        </p:nvSpPr>
        <p:spPr>
          <a:xfrm>
            <a:off x="8788400" y="1600200"/>
            <a:ext cx="279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C3805A4-7949-9D54-6724-705289B4E39C}"/>
              </a:ext>
            </a:extLst>
          </p:cNvPr>
          <p:cNvSpPr/>
          <p:nvPr/>
        </p:nvSpPr>
        <p:spPr>
          <a:xfrm>
            <a:off x="8915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80E1C2BE-C0F7-609F-0B31-F7F6CBB9A1EF}"/>
              </a:ext>
            </a:extLst>
          </p:cNvPr>
          <p:cNvSpPr/>
          <p:nvPr/>
        </p:nvSpPr>
        <p:spPr>
          <a:xfrm>
            <a:off x="9080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DEEC0C62-E46C-32B1-F0B3-60C656AEF86F}"/>
              </a:ext>
            </a:extLst>
          </p:cNvPr>
          <p:cNvSpPr/>
          <p:nvPr/>
        </p:nvSpPr>
        <p:spPr>
          <a:xfrm>
            <a:off x="9245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 coins arrondis 13">
            <a:extLst>
              <a:ext uri="{FF2B5EF4-FFF2-40B4-BE49-F238E27FC236}">
                <a16:creationId xmlns:a16="http://schemas.microsoft.com/office/drawing/2014/main" id="{979D5F0E-6808-B607-7044-EB9E443C8A06}"/>
              </a:ext>
            </a:extLst>
          </p:cNvPr>
          <p:cNvSpPr/>
          <p:nvPr/>
        </p:nvSpPr>
        <p:spPr>
          <a:xfrm>
            <a:off x="90424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6" name="Image 15">
            <a:extLst>
              <a:ext uri="{FF2B5EF4-FFF2-40B4-BE49-F238E27FC236}">
                <a16:creationId xmlns:a16="http://schemas.microsoft.com/office/drawing/2014/main" id="{9B902E39-B134-0171-C0A1-C76843D7F4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788400" y="1879600"/>
            <a:ext cx="2794000" cy="2371817"/>
          </a:xfrm>
          <a:prstGeom prst="rect">
            <a:avLst/>
          </a:prstGeom>
        </p:spPr>
      </p:pic>
    </p:spTree>
    <p:extLst>
      <p:ext uri="{BB962C8B-B14F-4D97-AF65-F5344CB8AC3E}">
        <p14:creationId xmlns:p14="http://schemas.microsoft.com/office/powerpoint/2010/main" val="3074912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C975BB-08D5-3319-214D-4C10B3D7636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Mon matériel : la vue du collaborateur</a:t>
            </a:r>
          </a:p>
        </p:txBody>
      </p:sp>
      <p:sp>
        <p:nvSpPr>
          <p:cNvPr id="3" name="ZoneTexte 2">
            <a:extLst>
              <a:ext uri="{FF2B5EF4-FFF2-40B4-BE49-F238E27FC236}">
                <a16:creationId xmlns:a16="http://schemas.microsoft.com/office/drawing/2014/main" id="{77F3182A-9B8D-46A3-D0EB-6525BA34B74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FB7A89A4-7820-832D-3BBE-5D618101E790}"/>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Chaque collaborateur consulte son propre matériel, sans pouvoir modifier</a:t>
            </a:r>
          </a:p>
        </p:txBody>
      </p:sp>
      <p:sp>
        <p:nvSpPr>
          <p:cNvPr id="5" name="ZoneTexte 4">
            <a:extLst>
              <a:ext uri="{FF2B5EF4-FFF2-40B4-BE49-F238E27FC236}">
                <a16:creationId xmlns:a16="http://schemas.microsoft.com/office/drawing/2014/main" id="{B13BE948-DE3D-E9F3-E51D-DDAFDF46C50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DBD1A3B2-3646-A42B-58FA-6CC00DD9504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3945BBB4-D2F3-4FB1-8158-4A3EC68FCAE8}" type="slidenum">
              <a:rPr lang="fr-FR" sz="900" smtClean="0">
                <a:solidFill>
                  <a:srgbClr val="586080"/>
                </a:solidFill>
                <a:latin typeface="Calibri" panose="020F0502020204030204" pitchFamily="34" charset="0"/>
              </a:rPr>
              <a:t>34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1CB5127-52D9-A0AB-DAC1-F1EDE5E45B62}"/>
              </a:ext>
            </a:extLst>
          </p:cNvPr>
          <p:cNvSpPr/>
          <p:nvPr/>
        </p:nvSpPr>
        <p:spPr>
          <a:xfrm>
            <a:off x="609600" y="1600200"/>
            <a:ext cx="4191000" cy="4192898"/>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B1A2A026-CC7C-A023-4213-0359F909C381}"/>
              </a:ext>
            </a:extLst>
          </p:cNvPr>
          <p:cNvSpPr/>
          <p:nvPr/>
        </p:nvSpPr>
        <p:spPr>
          <a:xfrm>
            <a:off x="6096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015768AF-AA83-D838-37D4-97ACE7AE2DDA}"/>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E278467B-B8FF-68E2-75DA-660CC9C3816C}"/>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4F576C7-E8F5-64C1-380D-A09D35B71674}"/>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0711713-4CDA-E559-09A6-3C6A4FD20879}"/>
              </a:ext>
            </a:extLst>
          </p:cNvPr>
          <p:cNvSpPr/>
          <p:nvPr/>
        </p:nvSpPr>
        <p:spPr>
          <a:xfrm>
            <a:off x="1562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CCFBCEFD-E2D2-D450-6A3B-039B56CCE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191000" cy="3913498"/>
          </a:xfrm>
          <a:prstGeom prst="rect">
            <a:avLst/>
          </a:prstGeom>
        </p:spPr>
      </p:pic>
      <p:sp>
        <p:nvSpPr>
          <p:cNvPr id="15" name="Rectangle : coins arrondis 14">
            <a:extLst>
              <a:ext uri="{FF2B5EF4-FFF2-40B4-BE49-F238E27FC236}">
                <a16:creationId xmlns:a16="http://schemas.microsoft.com/office/drawing/2014/main" id="{3CBCEAD3-6504-C095-075C-79F552D0B2E7}"/>
              </a:ext>
            </a:extLst>
          </p:cNvPr>
          <p:cNvSpPr/>
          <p:nvPr/>
        </p:nvSpPr>
        <p:spPr>
          <a:xfrm>
            <a:off x="5207000" y="1600200"/>
            <a:ext cx="6375400" cy="2413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2F45BD99-C150-D7AF-03D5-5ACD4C1706BD}"/>
              </a:ext>
            </a:extLst>
          </p:cNvPr>
          <p:cNvSpPr txBox="1"/>
          <p:nvPr/>
        </p:nvSpPr>
        <p:spPr>
          <a:xfrm>
            <a:off x="5435600" y="1752600"/>
            <a:ext cx="59182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Ce que voit le collaborateur</a:t>
            </a:r>
          </a:p>
        </p:txBody>
      </p:sp>
      <p:sp>
        <p:nvSpPr>
          <p:cNvPr id="17" name="ZoneTexte 16">
            <a:extLst>
              <a:ext uri="{FF2B5EF4-FFF2-40B4-BE49-F238E27FC236}">
                <a16:creationId xmlns:a16="http://schemas.microsoft.com/office/drawing/2014/main" id="{ABB02ED5-1892-A1E3-7FD0-FFD0030E40D1}"/>
              </a:ext>
            </a:extLst>
          </p:cNvPr>
          <p:cNvSpPr txBox="1"/>
          <p:nvPr/>
        </p:nvSpPr>
        <p:spPr>
          <a:xfrm>
            <a:off x="5435600" y="2133600"/>
            <a:ext cx="5918200" cy="1828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Quatre indicateurs : chez moi, en attente de signature, restitués et signés, perdu volé ou abîmé</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Son matériel avec l'état de chaque équipement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Ses attestations, ses prêts et ses pertes déclarées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Aucune saisie ni signature</a:t>
            </a:r>
          </a:p>
        </p:txBody>
      </p:sp>
      <p:sp>
        <p:nvSpPr>
          <p:cNvPr id="18" name="Rectangle : coins arrondis 17">
            <a:extLst>
              <a:ext uri="{FF2B5EF4-FFF2-40B4-BE49-F238E27FC236}">
                <a16:creationId xmlns:a16="http://schemas.microsoft.com/office/drawing/2014/main" id="{CBB24701-CABF-6657-734B-5324A7F373D8}"/>
              </a:ext>
            </a:extLst>
          </p:cNvPr>
          <p:cNvSpPr/>
          <p:nvPr/>
        </p:nvSpPr>
        <p:spPr>
          <a:xfrm>
            <a:off x="5207000" y="4191000"/>
            <a:ext cx="6375400" cy="20574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D28BB5F1-DFB8-25D3-2105-8FD0B37D32C5}"/>
              </a:ext>
            </a:extLst>
          </p:cNvPr>
          <p:cNvSpPr txBox="1"/>
          <p:nvPr/>
        </p:nvSpPr>
        <p:spPr>
          <a:xfrm>
            <a:off x="5435600" y="4343400"/>
            <a:ext cx="5918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Protection des données</a:t>
            </a:r>
          </a:p>
        </p:txBody>
      </p:sp>
      <p:sp>
        <p:nvSpPr>
          <p:cNvPr id="20" name="ZoneTexte 19">
            <a:extLst>
              <a:ext uri="{FF2B5EF4-FFF2-40B4-BE49-F238E27FC236}">
                <a16:creationId xmlns:a16="http://schemas.microsoft.com/office/drawing/2014/main" id="{2BF9B312-76C1-4696-9297-25BBD2683B5D}"/>
              </a:ext>
            </a:extLst>
          </p:cNvPr>
          <p:cNvSpPr txBox="1"/>
          <p:nvPr/>
        </p:nvSpPr>
        <p:spPr>
          <a:xfrm>
            <a:off x="5435600" y="4724400"/>
            <a:ext cx="5918200" cy="14732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Résumé personnel tenu à jour à chaque action sur sa fiche (mine/compte)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La base refuse l'accès aux fiches des autres collaborateurs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Rattachement automatique par le nom, ou par l'identifiant du compte</a:t>
            </a:r>
          </a:p>
        </p:txBody>
      </p:sp>
    </p:spTree>
    <p:extLst>
      <p:ext uri="{BB962C8B-B14F-4D97-AF65-F5344CB8AC3E}">
        <p14:creationId xmlns:p14="http://schemas.microsoft.com/office/powerpoint/2010/main" val="36125840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E35798-FEAF-6A25-E590-97796930416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Annuaire Microsoft 365 : importer les utilisateurs</a:t>
            </a:r>
          </a:p>
        </p:txBody>
      </p:sp>
      <p:sp>
        <p:nvSpPr>
          <p:cNvPr id="3" name="ZoneTexte 2">
            <a:extLst>
              <a:ext uri="{FF2B5EF4-FFF2-40B4-BE49-F238E27FC236}">
                <a16:creationId xmlns:a16="http://schemas.microsoft.com/office/drawing/2014/main" id="{FE5425E4-CDC4-9169-5971-EED0677FD25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C4A120F7-1444-10AE-74D4-4FE3BA5AFA0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vrais collaborateurs dans Emprunter et Restituer, sans rien écrire dans Entra ID</a:t>
            </a:r>
          </a:p>
        </p:txBody>
      </p:sp>
      <p:sp>
        <p:nvSpPr>
          <p:cNvPr id="5" name="ZoneTexte 4">
            <a:extLst>
              <a:ext uri="{FF2B5EF4-FFF2-40B4-BE49-F238E27FC236}">
                <a16:creationId xmlns:a16="http://schemas.microsoft.com/office/drawing/2014/main" id="{AF8AAF33-183A-B930-2ADF-93F8338A36D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F2551B44-4726-5079-C8E3-167F409086F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E89983F-14F2-43DA-A581-B2C81E7C9A98}" type="slidenum">
              <a:rPr lang="fr-FR" sz="900" smtClean="0">
                <a:solidFill>
                  <a:srgbClr val="586080"/>
                </a:solidFill>
                <a:latin typeface="Calibri" panose="020F0502020204030204" pitchFamily="34" charset="0"/>
              </a:rPr>
              <a:t>35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4921449A-608D-DF99-D694-9D74D512120E}"/>
              </a:ext>
            </a:extLst>
          </p:cNvPr>
          <p:cNvSpPr/>
          <p:nvPr/>
        </p:nvSpPr>
        <p:spPr>
          <a:xfrm>
            <a:off x="609600" y="1600200"/>
            <a:ext cx="6858000" cy="277471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9566A045-041C-06FA-E4AD-83FB94181C6F}"/>
              </a:ext>
            </a:extLst>
          </p:cNvPr>
          <p:cNvSpPr/>
          <p:nvPr/>
        </p:nvSpPr>
        <p:spPr>
          <a:xfrm>
            <a:off x="609600" y="1600200"/>
            <a:ext cx="6858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0CE1298F-FB20-A93E-82A7-AE230C97B771}"/>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5D344532-B584-3EAA-E9CC-1CBB5781024E}"/>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BE01B9B-14B7-B4DE-3290-EC985D2E4269}"/>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2EAA40D4-412C-505F-37FB-6C5AE65A30BD}"/>
              </a:ext>
            </a:extLst>
          </p:cNvPr>
          <p:cNvSpPr/>
          <p:nvPr/>
        </p:nvSpPr>
        <p:spPr>
          <a:xfrm>
            <a:off x="2895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BA3E0AF-A893-C033-19AB-6CFA995216E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6858000" cy="2495311"/>
          </a:xfrm>
          <a:prstGeom prst="rect">
            <a:avLst/>
          </a:prstGeom>
        </p:spPr>
      </p:pic>
      <p:sp>
        <p:nvSpPr>
          <p:cNvPr id="15" name="Rectangle : coins arrondis 14">
            <a:extLst>
              <a:ext uri="{FF2B5EF4-FFF2-40B4-BE49-F238E27FC236}">
                <a16:creationId xmlns:a16="http://schemas.microsoft.com/office/drawing/2014/main" id="{8E5D456C-9948-A95E-D573-13D0AF608DD5}"/>
              </a:ext>
            </a:extLst>
          </p:cNvPr>
          <p:cNvSpPr/>
          <p:nvPr/>
        </p:nvSpPr>
        <p:spPr>
          <a:xfrm>
            <a:off x="609600" y="4648200"/>
            <a:ext cx="6858000" cy="1600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E58FF77E-B54C-12E1-EB65-3409D9F88DB4}"/>
              </a:ext>
            </a:extLst>
          </p:cNvPr>
          <p:cNvSpPr txBox="1"/>
          <p:nvPr/>
        </p:nvSpPr>
        <p:spPr>
          <a:xfrm>
            <a:off x="838200" y="4775200"/>
            <a:ext cx="64008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Trois façons d'importer</a:t>
            </a:r>
          </a:p>
        </p:txBody>
      </p:sp>
      <p:sp>
        <p:nvSpPr>
          <p:cNvPr id="17" name="ZoneTexte 16">
            <a:extLst>
              <a:ext uri="{FF2B5EF4-FFF2-40B4-BE49-F238E27FC236}">
                <a16:creationId xmlns:a16="http://schemas.microsoft.com/office/drawing/2014/main" id="{0F6DCAE9-7303-80DE-B8DD-D4D395C06A48}"/>
              </a:ext>
            </a:extLst>
          </p:cNvPr>
          <p:cNvSpPr txBox="1"/>
          <p:nvPr/>
        </p:nvSpPr>
        <p:spPr>
          <a:xfrm>
            <a:off x="838200" y="5105400"/>
            <a:ext cx="6400800" cy="11176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Tout l'annuaire : comptes actifs, membres, avec email</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Quelques personnes : recherche par nom, pour un essai</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Un groupe Entra ID : moins de 999 membres</a:t>
            </a:r>
          </a:p>
        </p:txBody>
      </p:sp>
      <p:sp>
        <p:nvSpPr>
          <p:cNvPr id="18" name="Rectangle : coins arrondis 17">
            <a:extLst>
              <a:ext uri="{FF2B5EF4-FFF2-40B4-BE49-F238E27FC236}">
                <a16:creationId xmlns:a16="http://schemas.microsoft.com/office/drawing/2014/main" id="{7877F11D-7A01-6EF0-2CC6-65DD858D80F4}"/>
              </a:ext>
            </a:extLst>
          </p:cNvPr>
          <p:cNvSpPr/>
          <p:nvPr/>
        </p:nvSpPr>
        <p:spPr>
          <a:xfrm>
            <a:off x="7772400" y="1600200"/>
            <a:ext cx="3810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EB186522-DF2F-1047-8159-1AAA4697A905}"/>
              </a:ext>
            </a:extLst>
          </p:cNvPr>
          <p:cNvSpPr txBox="1"/>
          <p:nvPr/>
        </p:nvSpPr>
        <p:spPr>
          <a:xfrm>
            <a:off x="8001000" y="1752600"/>
            <a:ext cx="3352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Après l'import</a:t>
            </a:r>
          </a:p>
        </p:txBody>
      </p:sp>
      <p:sp>
        <p:nvSpPr>
          <p:cNvPr id="20" name="ZoneTexte 19">
            <a:extLst>
              <a:ext uri="{FF2B5EF4-FFF2-40B4-BE49-F238E27FC236}">
                <a16:creationId xmlns:a16="http://schemas.microsoft.com/office/drawing/2014/main" id="{9C701939-2789-BB75-A3DD-C2A4A1B36E15}"/>
              </a:ext>
            </a:extLst>
          </p:cNvPr>
          <p:cNvSpPr txBox="1"/>
          <p:nvPr/>
        </p:nvSpPr>
        <p:spPr>
          <a:xfrm>
            <a:off x="8001000" y="2133600"/>
            <a:ext cx="3378200" cy="4064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Copiés : nom, fonction, email, mobile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Kit standard de 9 équipements par personne, sans emprunt</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Synchroniser à nouveau : arrivées ajoutées, emprunts conservés</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Un compte retiré reste listé pour restituer le matériel</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 Tous les utilisateurs » est trop grand (plus de 999)</a:t>
            </a:r>
          </a:p>
        </p:txBody>
      </p:sp>
    </p:spTree>
    <p:extLst>
      <p:ext uri="{BB962C8B-B14F-4D97-AF65-F5344CB8AC3E}">
        <p14:creationId xmlns:p14="http://schemas.microsoft.com/office/powerpoint/2010/main" val="30162808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D85EAB-6E6E-40AC-B1A0-B1D425956E6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Confort d'utilisation</a:t>
            </a:r>
          </a:p>
        </p:txBody>
      </p:sp>
      <p:sp>
        <p:nvSpPr>
          <p:cNvPr id="3" name="ZoneTexte 2">
            <a:extLst>
              <a:ext uri="{FF2B5EF4-FFF2-40B4-BE49-F238E27FC236}">
                <a16:creationId xmlns:a16="http://schemas.microsoft.com/office/drawing/2014/main" id="{67A95A9F-0EE4-F592-7201-ECA0867F6A8E}"/>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B95BA242-0911-7823-C02E-DC295DE6441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Des détails qui font gagner du temps au quotidien</a:t>
            </a:r>
          </a:p>
        </p:txBody>
      </p:sp>
      <p:sp>
        <p:nvSpPr>
          <p:cNvPr id="5" name="ZoneTexte 4">
            <a:extLst>
              <a:ext uri="{FF2B5EF4-FFF2-40B4-BE49-F238E27FC236}">
                <a16:creationId xmlns:a16="http://schemas.microsoft.com/office/drawing/2014/main" id="{DF1CFBBE-082C-229F-0DB9-4D540876147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0338F10C-80F6-2C65-3790-8F5F0A6ECF4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EE9C65C-FB99-4384-BAD6-3044BEDBF25E}" type="slidenum">
              <a:rPr lang="fr-FR" sz="900" smtClean="0">
                <a:solidFill>
                  <a:srgbClr val="586080"/>
                </a:solidFill>
                <a:latin typeface="Calibri" panose="020F0502020204030204" pitchFamily="34" charset="0"/>
              </a:rPr>
              <a:t>36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8A15F703-A507-F250-0D32-C9EFB1A8D012}"/>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7C9A8F3D-316F-38C1-DF9E-9C810FDC5741}"/>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A8C45576-457B-D7E2-03EC-F615405494C5}"/>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Recherche collante</a:t>
            </a:r>
          </a:p>
        </p:txBody>
      </p:sp>
      <p:sp>
        <p:nvSpPr>
          <p:cNvPr id="10" name="ZoneTexte 9">
            <a:extLst>
              <a:ext uri="{FF2B5EF4-FFF2-40B4-BE49-F238E27FC236}">
                <a16:creationId xmlns:a16="http://schemas.microsoft.com/office/drawing/2014/main" id="{9090CB7F-BE6F-C7EB-28BB-68868750EF4C}"/>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La barre de recherche reste en haut pendant le défilement ; filtres actifs en pastille avec Réinitialiser.</a:t>
            </a:r>
          </a:p>
        </p:txBody>
      </p:sp>
      <p:sp>
        <p:nvSpPr>
          <p:cNvPr id="11" name="Rectangle : coins arrondis 10">
            <a:extLst>
              <a:ext uri="{FF2B5EF4-FFF2-40B4-BE49-F238E27FC236}">
                <a16:creationId xmlns:a16="http://schemas.microsoft.com/office/drawing/2014/main" id="{FEEE5347-53BC-DC09-CB2E-BE8D6617CDDA}"/>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818CE863-E9E4-493B-A0FC-9C1548F244D9}"/>
              </a:ext>
            </a:extLst>
          </p:cNvPr>
          <p:cNvSpPr/>
          <p:nvPr/>
        </p:nvSpPr>
        <p:spPr>
          <a:xfrm>
            <a:off x="4610100" y="1854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C951DC96-B4DE-E144-1F9A-83785AA88BA7}"/>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Fiche et recherche</a:t>
            </a:r>
          </a:p>
        </p:txBody>
      </p:sp>
      <p:sp>
        <p:nvSpPr>
          <p:cNvPr id="14" name="ZoneTexte 13">
            <a:extLst>
              <a:ext uri="{FF2B5EF4-FFF2-40B4-BE49-F238E27FC236}">
                <a16:creationId xmlns:a16="http://schemas.microsoft.com/office/drawing/2014/main" id="{42A40E7C-BAAC-8963-DA37-E662945163FB}"/>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Champ de recherche pour changer de personne, flèches précédent et suivant, Alt + flèches.</a:t>
            </a:r>
          </a:p>
        </p:txBody>
      </p:sp>
      <p:sp>
        <p:nvSpPr>
          <p:cNvPr id="15" name="Rectangle : coins arrondis 14">
            <a:extLst>
              <a:ext uri="{FF2B5EF4-FFF2-40B4-BE49-F238E27FC236}">
                <a16:creationId xmlns:a16="http://schemas.microsoft.com/office/drawing/2014/main" id="{2639C7EA-8650-A78B-C3DB-3760D722208D}"/>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6140C65C-73F1-A62A-6D22-51148B0F8CCE}"/>
              </a:ext>
            </a:extLst>
          </p:cNvPr>
          <p:cNvSpPr/>
          <p:nvPr/>
        </p:nvSpPr>
        <p:spPr>
          <a:xfrm>
            <a:off x="8382000" y="1854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9F13154A-5CB9-F79B-DC46-1EAE0AD99FFB}"/>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Dates rapides</a:t>
            </a:r>
          </a:p>
        </p:txBody>
      </p:sp>
      <p:sp>
        <p:nvSpPr>
          <p:cNvPr id="18" name="ZoneTexte 17">
            <a:extLst>
              <a:ext uri="{FF2B5EF4-FFF2-40B4-BE49-F238E27FC236}">
                <a16:creationId xmlns:a16="http://schemas.microsoft.com/office/drawing/2014/main" id="{519888E8-F74C-FF0D-1739-F5B391BA3FA1}"/>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Aujourd'hui et Hier sous les champs de date ; confirmation si du matériel coché n'est pas enregistré.</a:t>
            </a:r>
          </a:p>
        </p:txBody>
      </p:sp>
      <p:sp>
        <p:nvSpPr>
          <p:cNvPr id="19" name="Rectangle : coins arrondis 18">
            <a:extLst>
              <a:ext uri="{FF2B5EF4-FFF2-40B4-BE49-F238E27FC236}">
                <a16:creationId xmlns:a16="http://schemas.microsoft.com/office/drawing/2014/main" id="{2DF407DA-CA43-F622-450D-30CFC91DBEBF}"/>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A3752785-65D9-58E6-7F60-1459A460C750}"/>
              </a:ext>
            </a:extLst>
          </p:cNvPr>
          <p:cNvSpPr/>
          <p:nvPr/>
        </p:nvSpPr>
        <p:spPr>
          <a:xfrm>
            <a:off x="838200" y="4267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CAFE284D-DB63-2A8F-FFFD-9AD201C4C976}"/>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Tris</a:t>
            </a:r>
          </a:p>
        </p:txBody>
      </p:sp>
      <p:sp>
        <p:nvSpPr>
          <p:cNvPr id="22" name="ZoneTexte 21">
            <a:extLst>
              <a:ext uri="{FF2B5EF4-FFF2-40B4-BE49-F238E27FC236}">
                <a16:creationId xmlns:a16="http://schemas.microsoft.com/office/drawing/2014/main" id="{0846A0DA-C606-88B0-5CF1-A47234FE8F1E}"/>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Attestations et archives : en attente d'abord, plus récentes, plus anciennes, nom A à Z.</a:t>
            </a:r>
          </a:p>
        </p:txBody>
      </p:sp>
      <p:sp>
        <p:nvSpPr>
          <p:cNvPr id="23" name="Rectangle : coins arrondis 22">
            <a:extLst>
              <a:ext uri="{FF2B5EF4-FFF2-40B4-BE49-F238E27FC236}">
                <a16:creationId xmlns:a16="http://schemas.microsoft.com/office/drawing/2014/main" id="{0098EACA-1239-A184-599C-C09B6CC210FD}"/>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B9EDDE7E-DD25-4733-633D-7EFE96054FBA}"/>
              </a:ext>
            </a:extLst>
          </p:cNvPr>
          <p:cNvSpPr/>
          <p:nvPr/>
        </p:nvSpPr>
        <p:spPr>
          <a:xfrm>
            <a:off x="4610100" y="4267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FDE70C41-0455-279B-EE0F-E4585E53F0E8}"/>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Densité et thèmes</a:t>
            </a:r>
          </a:p>
        </p:txBody>
      </p:sp>
      <p:sp>
        <p:nvSpPr>
          <p:cNvPr id="26" name="ZoneTexte 25">
            <a:extLst>
              <a:ext uri="{FF2B5EF4-FFF2-40B4-BE49-F238E27FC236}">
                <a16:creationId xmlns:a16="http://schemas.microsoft.com/office/drawing/2014/main" id="{09F507F4-7DEB-49B9-DB72-D6A97843B209}"/>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Confortable ou compacte ; douze thèmes (dont eXalt) et sept couleurs, avec un fondu doux au changement.</a:t>
            </a:r>
          </a:p>
        </p:txBody>
      </p:sp>
      <p:sp>
        <p:nvSpPr>
          <p:cNvPr id="27" name="Rectangle : coins arrondis 26">
            <a:extLst>
              <a:ext uri="{FF2B5EF4-FFF2-40B4-BE49-F238E27FC236}">
                <a16:creationId xmlns:a16="http://schemas.microsoft.com/office/drawing/2014/main" id="{3E7A84C6-C884-41A8-95DD-CA11B7CE14F2}"/>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DBF48221-BB19-778D-CE9C-968436D5544A}"/>
              </a:ext>
            </a:extLst>
          </p:cNvPr>
          <p:cNvSpPr/>
          <p:nvPr/>
        </p:nvSpPr>
        <p:spPr>
          <a:xfrm>
            <a:off x="8382000" y="4267200"/>
            <a:ext cx="203200" cy="2032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11EBA16A-D293-6A64-12BD-5DCB887D4035}"/>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Visite guidée</a:t>
            </a:r>
          </a:p>
        </p:txBody>
      </p:sp>
      <p:sp>
        <p:nvSpPr>
          <p:cNvPr id="30" name="ZoneTexte 29">
            <a:extLst>
              <a:ext uri="{FF2B5EF4-FFF2-40B4-BE49-F238E27FC236}">
                <a16:creationId xmlns:a16="http://schemas.microsoft.com/office/drawing/2014/main" id="{91E1E1E1-C370-5443-5EDF-9B63C1C321D7}"/>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Six étapes à la première ouverture, relançable depuis l'aide (?) ou la recherche rapide.</a:t>
            </a:r>
          </a:p>
        </p:txBody>
      </p:sp>
    </p:spTree>
    <p:extLst>
      <p:ext uri="{BB962C8B-B14F-4D97-AF65-F5344CB8AC3E}">
        <p14:creationId xmlns:p14="http://schemas.microsoft.com/office/powerpoint/2010/main" val="4253946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F942B7-C2E3-7ADF-DE16-62F2A3C0969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Téléphone et tablette</a:t>
            </a:r>
          </a:p>
        </p:txBody>
      </p:sp>
      <p:sp>
        <p:nvSpPr>
          <p:cNvPr id="3" name="ZoneTexte 2">
            <a:extLst>
              <a:ext uri="{FF2B5EF4-FFF2-40B4-BE49-F238E27FC236}">
                <a16:creationId xmlns:a16="http://schemas.microsoft.com/office/drawing/2014/main" id="{D7B1A987-492E-255E-2EBA-FA4226464EA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COMPATIBILITÉ</a:t>
            </a:r>
          </a:p>
        </p:txBody>
      </p:sp>
      <p:sp>
        <p:nvSpPr>
          <p:cNvPr id="4" name="ZoneTexte 3">
            <a:extLst>
              <a:ext uri="{FF2B5EF4-FFF2-40B4-BE49-F238E27FC236}">
                <a16:creationId xmlns:a16="http://schemas.microsoft.com/office/drawing/2014/main" id="{11BC6BBD-97EC-C4A3-2A6F-095C7E8040A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La même application, adaptée à chaque écran</a:t>
            </a:r>
          </a:p>
        </p:txBody>
      </p:sp>
      <p:sp>
        <p:nvSpPr>
          <p:cNvPr id="5" name="ZoneTexte 4">
            <a:extLst>
              <a:ext uri="{FF2B5EF4-FFF2-40B4-BE49-F238E27FC236}">
                <a16:creationId xmlns:a16="http://schemas.microsoft.com/office/drawing/2014/main" id="{AEE43834-69A2-3584-AB35-7695933FA83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42DDF895-1D35-6F66-814D-DBAF6D861EF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D6093AC-2FF5-490D-8AC9-C1ABA232D54C}" type="slidenum">
              <a:rPr lang="fr-FR" sz="900" smtClean="0">
                <a:solidFill>
                  <a:srgbClr val="586080"/>
                </a:solidFill>
                <a:latin typeface="Calibri" panose="020F0502020204030204" pitchFamily="34" charset="0"/>
              </a:rPr>
              <a:t>37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2CE18AC-06B6-AB90-CC35-655B4C99DA4F}"/>
              </a:ext>
            </a:extLst>
          </p:cNvPr>
          <p:cNvSpPr/>
          <p:nvPr/>
        </p:nvSpPr>
        <p:spPr>
          <a:xfrm>
            <a:off x="1143000" y="1524000"/>
            <a:ext cx="2717800" cy="4876800"/>
          </a:xfrm>
          <a:prstGeom prst="roundRect">
            <a:avLst>
              <a:gd name="adj" fmla="val 12000"/>
            </a:avLst>
          </a:prstGeom>
          <a:solidFill>
            <a:srgbClr val="14183A"/>
          </a:solidFill>
          <a:ln w="19050" cap="flat" cmpd="sng" algn="ctr">
            <a:noFill/>
            <a:prstDash val="solid"/>
            <a:miter lim="800000"/>
          </a:ln>
          <a:effectLst>
            <a:outerShdw blurRad="254000" dist="76200" dir="5400000" rotWithShape="0">
              <a:srgbClr val="1E1C8C">
                <a:alpha val="30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a:extLst>
              <a:ext uri="{FF2B5EF4-FFF2-40B4-BE49-F238E27FC236}">
                <a16:creationId xmlns:a16="http://schemas.microsoft.com/office/drawing/2014/main" id="{2AD7BE3D-5BE7-4CD4-E604-538C9CE7E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84300" y="1676400"/>
            <a:ext cx="2235200" cy="4572000"/>
          </a:xfrm>
          <a:prstGeom prst="rect">
            <a:avLst/>
          </a:prstGeom>
        </p:spPr>
      </p:pic>
      <p:sp>
        <p:nvSpPr>
          <p:cNvPr id="10" name="Rectangle : coins arrondis 9">
            <a:extLst>
              <a:ext uri="{FF2B5EF4-FFF2-40B4-BE49-F238E27FC236}">
                <a16:creationId xmlns:a16="http://schemas.microsoft.com/office/drawing/2014/main" id="{66C34272-9ED8-9E6E-29F3-FEE81F94CCE6}"/>
              </a:ext>
            </a:extLst>
          </p:cNvPr>
          <p:cNvSpPr/>
          <p:nvPr/>
        </p:nvSpPr>
        <p:spPr>
          <a:xfrm>
            <a:off x="4318000" y="1600200"/>
            <a:ext cx="72644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47F8BC2A-2CD7-7870-9FBC-822A6AC90CE1}"/>
              </a:ext>
            </a:extLst>
          </p:cNvPr>
          <p:cNvSpPr txBox="1"/>
          <p:nvPr/>
        </p:nvSpPr>
        <p:spPr>
          <a:xfrm>
            <a:off x="4572000" y="1752600"/>
            <a:ext cx="6604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Téléphone</a:t>
            </a:r>
          </a:p>
        </p:txBody>
      </p:sp>
      <p:sp>
        <p:nvSpPr>
          <p:cNvPr id="12" name="ZoneTexte 11">
            <a:extLst>
              <a:ext uri="{FF2B5EF4-FFF2-40B4-BE49-F238E27FC236}">
                <a16:creationId xmlns:a16="http://schemas.microsoft.com/office/drawing/2014/main" id="{373AAA5B-B816-F0E6-9AD6-E13CA885F687}"/>
              </a:ext>
            </a:extLst>
          </p:cNvPr>
          <p:cNvSpPr txBox="1"/>
          <p:nvPr/>
        </p:nvSpPr>
        <p:spPr>
          <a:xfrm>
            <a:off x="4572000" y="2133600"/>
            <a:ext cx="6731000" cy="1600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Barre d'onglets fixée en bas, à portée du pouce, avec les compteurs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Boutons de 42 px minimum ; champs à 16 px (pas de zoom automatique sur iPhone)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Les boutons email et SMS ouvrent les applications de l'appareil</a:t>
            </a:r>
          </a:p>
        </p:txBody>
      </p:sp>
      <p:sp>
        <p:nvSpPr>
          <p:cNvPr id="13" name="Rectangle : coins arrondis 12">
            <a:extLst>
              <a:ext uri="{FF2B5EF4-FFF2-40B4-BE49-F238E27FC236}">
                <a16:creationId xmlns:a16="http://schemas.microsoft.com/office/drawing/2014/main" id="{74E8F170-B088-EDAC-7E83-1666F26E9D25}"/>
              </a:ext>
            </a:extLst>
          </p:cNvPr>
          <p:cNvSpPr/>
          <p:nvPr/>
        </p:nvSpPr>
        <p:spPr>
          <a:xfrm>
            <a:off x="4318000" y="3987800"/>
            <a:ext cx="7264400" cy="2260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E79F52CA-EC08-5EB4-B765-674F0D345789}"/>
              </a:ext>
            </a:extLst>
          </p:cNvPr>
          <p:cNvSpPr txBox="1"/>
          <p:nvPr/>
        </p:nvSpPr>
        <p:spPr>
          <a:xfrm>
            <a:off x="4572000" y="4140200"/>
            <a:ext cx="6604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Tablette et PC</a:t>
            </a:r>
          </a:p>
        </p:txBody>
      </p:sp>
      <p:sp>
        <p:nvSpPr>
          <p:cNvPr id="15" name="ZoneTexte 14">
            <a:extLst>
              <a:ext uri="{FF2B5EF4-FFF2-40B4-BE49-F238E27FC236}">
                <a16:creationId xmlns:a16="http://schemas.microsoft.com/office/drawing/2014/main" id="{84CD32ED-D05C-F51A-0F5C-D77E51341FE2}"/>
              </a:ext>
            </a:extLst>
          </p:cNvPr>
          <p:cNvSpPr txBox="1"/>
          <p:nvPr/>
        </p:nvSpPr>
        <p:spPr>
          <a:xfrm>
            <a:off x="4572000" y="4521200"/>
            <a:ext cx="6731000" cy="1651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Tablette en paysage et PC : menu latéral, repliable en icônes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Tablette en portrait : barre d'onglets en bas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PC : raccourcis 1 à 7, Ctrl K pour rechercher</a:t>
            </a:r>
          </a:p>
        </p:txBody>
      </p:sp>
    </p:spTree>
    <p:extLst>
      <p:ext uri="{BB962C8B-B14F-4D97-AF65-F5344CB8AC3E}">
        <p14:creationId xmlns:p14="http://schemas.microsoft.com/office/powerpoint/2010/main" val="18050904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9935EF-0714-DD46-D4EA-FD2AD00092E4}"/>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Gouvernance</a:t>
            </a:r>
          </a:p>
        </p:txBody>
      </p:sp>
      <p:sp>
        <p:nvSpPr>
          <p:cNvPr id="3" name="ZoneTexte 2">
            <a:extLst>
              <a:ext uri="{FF2B5EF4-FFF2-40B4-BE49-F238E27FC236}">
                <a16:creationId xmlns:a16="http://schemas.microsoft.com/office/drawing/2014/main" id="{5546FA1F-225C-AA5C-6FC7-5FB893BA408B}"/>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03</a:t>
            </a:r>
          </a:p>
        </p:txBody>
      </p:sp>
      <p:sp>
        <p:nvSpPr>
          <p:cNvPr id="4" name="ZoneTexte 3">
            <a:extLst>
              <a:ext uri="{FF2B5EF4-FFF2-40B4-BE49-F238E27FC236}">
                <a16:creationId xmlns:a16="http://schemas.microsoft.com/office/drawing/2014/main" id="{7DF4FAA9-25F1-D1FA-8BCE-57ED4633C8EB}"/>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Rôles, responsabilités et règles de gestion</a:t>
            </a:r>
          </a:p>
        </p:txBody>
      </p:sp>
      <p:pic>
        <p:nvPicPr>
          <p:cNvPr id="6" name="Image 5">
            <a:extLst>
              <a:ext uri="{FF2B5EF4-FFF2-40B4-BE49-F238E27FC236}">
                <a16:creationId xmlns:a16="http://schemas.microsoft.com/office/drawing/2014/main" id="{F6EF766A-8142-A333-AE46-C27096FFD0D1}"/>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3C8379A4-5A72-0C7A-7C61-B6B0E0F2D46C}"/>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7.0</a:t>
            </a:r>
          </a:p>
        </p:txBody>
      </p:sp>
    </p:spTree>
    <p:extLst>
      <p:ext uri="{BB962C8B-B14F-4D97-AF65-F5344CB8AC3E}">
        <p14:creationId xmlns:p14="http://schemas.microsoft.com/office/powerpoint/2010/main" val="19499923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C777D-08E7-98E2-4E82-7220953E714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Rôles et responsabilités</a:t>
            </a:r>
          </a:p>
        </p:txBody>
      </p:sp>
      <p:sp>
        <p:nvSpPr>
          <p:cNvPr id="3" name="ZoneTexte 2">
            <a:extLst>
              <a:ext uri="{FF2B5EF4-FFF2-40B4-BE49-F238E27FC236}">
                <a16:creationId xmlns:a16="http://schemas.microsoft.com/office/drawing/2014/main" id="{1031D19D-6543-6693-A27A-D7CB32F56BC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B7A7BCA9-3EA3-630D-6AFA-79B84DD9CE9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Matrice proposée, à valider par la DSI</a:t>
            </a:r>
          </a:p>
        </p:txBody>
      </p:sp>
      <p:sp>
        <p:nvSpPr>
          <p:cNvPr id="5" name="ZoneTexte 4">
            <a:extLst>
              <a:ext uri="{FF2B5EF4-FFF2-40B4-BE49-F238E27FC236}">
                <a16:creationId xmlns:a16="http://schemas.microsoft.com/office/drawing/2014/main" id="{D8D054EC-07E3-308B-6BF6-5E54F70DE85A}"/>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F4EBC4A1-3F4E-0EC9-E77F-26CF0160EF3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C6B4559-75C4-4D95-AA7B-CD4D2D28BADA}" type="slidenum">
              <a:rPr lang="fr-FR" sz="900" smtClean="0">
                <a:solidFill>
                  <a:srgbClr val="586080"/>
                </a:solidFill>
                <a:latin typeface="Calibri" panose="020F0502020204030204" pitchFamily="34" charset="0"/>
              </a:rPr>
              <a:t>39</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5F00FCDB-4812-E900-8329-9BA34D0AC150}"/>
              </a:ext>
            </a:extLst>
          </p:cNvPr>
          <p:cNvGraphicFramePr>
            <a:graphicFrameLocks noGrp="1"/>
          </p:cNvGraphicFramePr>
          <p:nvPr>
            <p:extLst>
              <p:ext uri="{D42A27DB-BD31-4B8C-83A1-F6EECF244321}">
                <p14:modId xmlns:p14="http://schemas.microsoft.com/office/powerpoint/2010/main" val="2334113914"/>
              </p:ext>
            </p:extLst>
          </p:nvPr>
        </p:nvGraphicFramePr>
        <p:xfrm>
          <a:off x="609600" y="1600200"/>
          <a:ext cx="10972800" cy="3937000"/>
        </p:xfrm>
        <a:graphic>
          <a:graphicData uri="http://schemas.openxmlformats.org/drawingml/2006/table">
            <a:tbl>
              <a:tblPr firstRow="1" bandRow="1">
                <a:tableStyleId>{2D5ABB26-0587-4C30-8999-92F81FD0307C}</a:tableStyleId>
              </a:tblPr>
              <a:tblGrid>
                <a:gridCol w="5257800">
                  <a:extLst>
                    <a:ext uri="{9D8B030D-6E8A-4147-A177-3AD203B41FA5}">
                      <a16:colId xmlns:a16="http://schemas.microsoft.com/office/drawing/2014/main" val="663863041"/>
                    </a:ext>
                  </a:extLst>
                </a:gridCol>
                <a:gridCol w="1422400">
                  <a:extLst>
                    <a:ext uri="{9D8B030D-6E8A-4147-A177-3AD203B41FA5}">
                      <a16:colId xmlns:a16="http://schemas.microsoft.com/office/drawing/2014/main" val="1282410816"/>
                    </a:ext>
                  </a:extLst>
                </a:gridCol>
                <a:gridCol w="1422400">
                  <a:extLst>
                    <a:ext uri="{9D8B030D-6E8A-4147-A177-3AD203B41FA5}">
                      <a16:colId xmlns:a16="http://schemas.microsoft.com/office/drawing/2014/main" val="2332131104"/>
                    </a:ext>
                  </a:extLst>
                </a:gridCol>
                <a:gridCol w="1447800">
                  <a:extLst>
                    <a:ext uri="{9D8B030D-6E8A-4147-A177-3AD203B41FA5}">
                      <a16:colId xmlns:a16="http://schemas.microsoft.com/office/drawing/2014/main" val="3609020307"/>
                    </a:ext>
                  </a:extLst>
                </a:gridCol>
                <a:gridCol w="1422400">
                  <a:extLst>
                    <a:ext uri="{9D8B030D-6E8A-4147-A177-3AD203B41FA5}">
                      <a16:colId xmlns:a16="http://schemas.microsoft.com/office/drawing/2014/main" val="3348414570"/>
                    </a:ext>
                  </a:extLst>
                </a:gridCol>
              </a:tblGrid>
              <a:tr h="393700">
                <a:tc>
                  <a:txBody>
                    <a:bodyPr/>
                    <a:lstStyle/>
                    <a:p>
                      <a:pPr algn="l"/>
                      <a:r>
                        <a:rPr lang="fr-FR" sz="1300" b="1">
                          <a:solidFill>
                            <a:srgbClr val="FFFFFF"/>
                          </a:solidFill>
                          <a:latin typeface="Calibri" panose="020F0502020204030204" pitchFamily="34" charset="0"/>
                        </a:rPr>
                        <a:t>Activité</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Agent IT</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DSI</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Admin. appli</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Collaborateur</a:t>
                      </a:r>
                    </a:p>
                  </a:txBody>
                  <a:tcPr marL="127000" marR="127000" marT="38100" marB="38100" anchor="ctr">
                    <a:solidFill>
                      <a:srgbClr val="1E1C8C"/>
                    </a:solidFill>
                  </a:tcPr>
                </a:tc>
                <a:extLst>
                  <a:ext uri="{0D108BD9-81ED-4DB2-BD59-A6C34878D82A}">
                    <a16:rowId xmlns:a16="http://schemas.microsoft.com/office/drawing/2014/main" val="3222946783"/>
                  </a:ext>
                </a:extLst>
              </a:tr>
              <a:tr h="393700">
                <a:tc>
                  <a:txBody>
                    <a:bodyPr/>
                    <a:lstStyle/>
                    <a:p>
                      <a:pPr algn="l"/>
                      <a:r>
                        <a:rPr lang="fr-FR" sz="1300" b="1">
                          <a:solidFill>
                            <a:srgbClr val="12162B"/>
                          </a:solidFill>
                          <a:latin typeface="Calibri" panose="020F0502020204030204" pitchFamily="34" charset="0"/>
                        </a:rPr>
                        <a:t>Enregistrer un prêt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extLst>
                  <a:ext uri="{0D108BD9-81ED-4DB2-BD59-A6C34878D82A}">
                    <a16:rowId xmlns:a16="http://schemas.microsoft.com/office/drawing/2014/main" val="3678837951"/>
                  </a:ext>
                </a:extLst>
              </a:tr>
              <a:tr h="393700">
                <a:tc>
                  <a:txBody>
                    <a:bodyPr/>
                    <a:lstStyle/>
                    <a:p>
                      <a:pPr algn="l"/>
                      <a:r>
                        <a:rPr lang="fr-FR" sz="1300" b="1">
                          <a:solidFill>
                            <a:srgbClr val="12162B"/>
                          </a:solidFill>
                          <a:latin typeface="Calibri" panose="020F0502020204030204" pitchFamily="34" charset="0"/>
                        </a:rPr>
                        <a:t>Enregistrer une restitution et envoyer l'attestation</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0F2FA"/>
                    </a:solidFill>
                  </a:tcPr>
                </a:tc>
                <a:extLst>
                  <a:ext uri="{0D108BD9-81ED-4DB2-BD59-A6C34878D82A}">
                    <a16:rowId xmlns:a16="http://schemas.microsoft.com/office/drawing/2014/main" val="509985654"/>
                  </a:ext>
                </a:extLst>
              </a:tr>
              <a:tr h="393700">
                <a:tc>
                  <a:txBody>
                    <a:bodyPr/>
                    <a:lstStyle/>
                    <a:p>
                      <a:pPr algn="l"/>
                      <a:r>
                        <a:rPr lang="fr-FR" sz="1300" b="1">
                          <a:solidFill>
                            <a:srgbClr val="12162B"/>
                          </a:solidFill>
                          <a:latin typeface="Calibri" panose="020F0502020204030204" pitchFamily="34" charset="0"/>
                        </a:rPr>
                        <a:t>Relancer une attestation non signée</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extLst>
                  <a:ext uri="{0D108BD9-81ED-4DB2-BD59-A6C34878D82A}">
                    <a16:rowId xmlns:a16="http://schemas.microsoft.com/office/drawing/2014/main" val="2231511722"/>
                  </a:ext>
                </a:extLst>
              </a:tr>
              <a:tr h="393700">
                <a:tc>
                  <a:txBody>
                    <a:bodyPr/>
                    <a:lstStyle/>
                    <a:p>
                      <a:pPr algn="l"/>
                      <a:r>
                        <a:rPr lang="fr-FR" sz="1300" b="1">
                          <a:solidFill>
                            <a:srgbClr val="12162B"/>
                          </a:solidFill>
                          <a:latin typeface="Calibri" panose="020F0502020204030204" pitchFamily="34" charset="0"/>
                        </a:rPr>
                        <a:t>Marquer comme signée et archiver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0F2FA"/>
                    </a:solidFill>
                  </a:tcPr>
                </a:tc>
                <a:extLst>
                  <a:ext uri="{0D108BD9-81ED-4DB2-BD59-A6C34878D82A}">
                    <a16:rowId xmlns:a16="http://schemas.microsoft.com/office/drawing/2014/main" val="1281886591"/>
                  </a:ext>
                </a:extLst>
              </a:tr>
              <a:tr h="393700">
                <a:tc>
                  <a:txBody>
                    <a:bodyPr/>
                    <a:lstStyle/>
                    <a:p>
                      <a:pPr algn="l"/>
                      <a:r>
                        <a:rPr lang="fr-FR" sz="1300" b="1">
                          <a:solidFill>
                            <a:srgbClr val="12162B"/>
                          </a:solidFill>
                          <a:latin typeface="Calibri" panose="020F0502020204030204" pitchFamily="34" charset="0"/>
                        </a:rPr>
                        <a:t>Déclarer un matériel perdu, volé ou abîmé</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extLst>
                  <a:ext uri="{0D108BD9-81ED-4DB2-BD59-A6C34878D82A}">
                    <a16:rowId xmlns:a16="http://schemas.microsoft.com/office/drawing/2014/main" val="2945666332"/>
                  </a:ext>
                </a:extLst>
              </a:tr>
              <a:tr h="393700">
                <a:tc>
                  <a:txBody>
                    <a:bodyPr/>
                    <a:lstStyle/>
                    <a:p>
                      <a:pPr algn="l"/>
                      <a:r>
                        <a:rPr lang="fr-FR" sz="1300" b="1">
                          <a:solidFill>
                            <a:srgbClr val="12162B"/>
                          </a:solidFill>
                          <a:latin typeface="Calibri" panose="020F0502020204030204" pitchFamily="34" charset="0"/>
                        </a:rPr>
                        <a:t>Fournir un PDF signé (audit, litige)</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extLst>
                  <a:ext uri="{0D108BD9-81ED-4DB2-BD59-A6C34878D82A}">
                    <a16:rowId xmlns:a16="http://schemas.microsoft.com/office/drawing/2014/main" val="691614013"/>
                  </a:ext>
                </a:extLst>
              </a:tr>
              <a:tr h="393700">
                <a:tc>
                  <a:txBody>
                    <a:bodyPr/>
                    <a:lstStyle/>
                    <a:p>
                      <a:pPr algn="l"/>
                      <a:r>
                        <a:rPr lang="fr-FR" sz="1300" b="1">
                          <a:solidFill>
                            <a:srgbClr val="12162B"/>
                          </a:solidFill>
                          <a:latin typeface="Calibri" panose="020F0502020204030204" pitchFamily="34" charset="0"/>
                        </a:rPr>
                        <a:t>Publier une nouvelle version de l'application</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extLst>
                  <a:ext uri="{0D108BD9-81ED-4DB2-BD59-A6C34878D82A}">
                    <a16:rowId xmlns:a16="http://schemas.microsoft.com/office/drawing/2014/main" val="3369713714"/>
                  </a:ext>
                </a:extLst>
              </a:tr>
              <a:tr h="393700">
                <a:tc>
                  <a:txBody>
                    <a:bodyPr/>
                    <a:lstStyle/>
                    <a:p>
                      <a:pPr algn="l"/>
                      <a:r>
                        <a:rPr lang="fr-FR" sz="1300" b="1">
                          <a:solidFill>
                            <a:srgbClr val="12162B"/>
                          </a:solidFill>
                          <a:latin typeface="Calibri" panose="020F0502020204030204" pitchFamily="34" charset="0"/>
                        </a:rPr>
                        <a:t>Gérer les accès (partage, connecteurs)</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extLst>
                  <a:ext uri="{0D108BD9-81ED-4DB2-BD59-A6C34878D82A}">
                    <a16:rowId xmlns:a16="http://schemas.microsoft.com/office/drawing/2014/main" val="3016909990"/>
                  </a:ext>
                </a:extLst>
              </a:tr>
              <a:tr h="393700">
                <a:tc>
                  <a:txBody>
                    <a:bodyPr/>
                    <a:lstStyle/>
                    <a:p>
                      <a:pPr algn="l"/>
                      <a:r>
                        <a:rPr lang="fr-FR" sz="1300" b="1">
                          <a:solidFill>
                            <a:srgbClr val="12162B"/>
                          </a:solidFill>
                          <a:latin typeface="Calibri" panose="020F0502020204030204" pitchFamily="34" charset="0"/>
                        </a:rPr>
                        <a:t>Tenir la documentation à jour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extLst>
                  <a:ext uri="{0D108BD9-81ED-4DB2-BD59-A6C34878D82A}">
                    <a16:rowId xmlns:a16="http://schemas.microsoft.com/office/drawing/2014/main" val="2535904426"/>
                  </a:ext>
                </a:extLst>
              </a:tr>
            </a:tbl>
          </a:graphicData>
        </a:graphic>
      </p:graphicFrame>
      <p:sp>
        <p:nvSpPr>
          <p:cNvPr id="8" name="ZoneTexte 7">
            <a:extLst>
              <a:ext uri="{FF2B5EF4-FFF2-40B4-BE49-F238E27FC236}">
                <a16:creationId xmlns:a16="http://schemas.microsoft.com/office/drawing/2014/main" id="{B12C80A5-D441-35EC-53CF-4EEA95D7EBE3}"/>
              </a:ext>
            </a:extLst>
          </p:cNvPr>
          <p:cNvSpPr txBox="1"/>
          <p:nvPr/>
        </p:nvSpPr>
        <p:spPr>
          <a:xfrm>
            <a:off x="609600" y="5689600"/>
            <a:ext cx="109728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R = réalise  ·  A = approuve  ·  C = consulté  ·  I = informé.   Cinq rôles dans l'application ; le partage de la page reste la limite réelle.</a:t>
            </a:r>
          </a:p>
        </p:txBody>
      </p:sp>
    </p:spTree>
    <p:extLst>
      <p:ext uri="{BB962C8B-B14F-4D97-AF65-F5344CB8AC3E}">
        <p14:creationId xmlns:p14="http://schemas.microsoft.com/office/powerpoint/2010/main" val="3268578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A40CEF-AC18-28D3-622F-37F6197C40C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Règles de gestion appliquées</a:t>
            </a:r>
          </a:p>
        </p:txBody>
      </p:sp>
      <p:sp>
        <p:nvSpPr>
          <p:cNvPr id="3" name="ZoneTexte 2">
            <a:extLst>
              <a:ext uri="{FF2B5EF4-FFF2-40B4-BE49-F238E27FC236}">
                <a16:creationId xmlns:a16="http://schemas.microsoft.com/office/drawing/2014/main" id="{2B7D4F5E-E835-FC63-6530-9CEE60B2858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FDFD1AB4-0FBD-AC47-513B-0F0BF324C56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Trente règles dans le dossier PDF ; les six essentielles ici</a:t>
            </a:r>
          </a:p>
        </p:txBody>
      </p:sp>
      <p:sp>
        <p:nvSpPr>
          <p:cNvPr id="5" name="ZoneTexte 4">
            <a:extLst>
              <a:ext uri="{FF2B5EF4-FFF2-40B4-BE49-F238E27FC236}">
                <a16:creationId xmlns:a16="http://schemas.microsoft.com/office/drawing/2014/main" id="{CD9FF94A-7B22-347E-B953-80B8F267776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CB4CB65D-00DD-7A4C-5600-308E802429C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8490283-A4F5-41B7-93E4-A41392E6F209}" type="slidenum">
              <a:rPr lang="fr-FR" sz="900" smtClean="0">
                <a:solidFill>
                  <a:srgbClr val="586080"/>
                </a:solidFill>
                <a:latin typeface="Calibri" panose="020F0502020204030204" pitchFamily="34" charset="0"/>
              </a:rPr>
              <a:t>40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7DA830B-9EF9-4E53-EEF3-EB2FEB1C05BB}"/>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F8C0675C-E088-8687-8CBC-7138A62A1095}"/>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091C7E00-1F3D-03F2-B4B9-726D99F5F318}"/>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RG-01 · Disponibilité</a:t>
            </a:r>
          </a:p>
        </p:txBody>
      </p:sp>
      <p:sp>
        <p:nvSpPr>
          <p:cNvPr id="10" name="ZoneTexte 9">
            <a:extLst>
              <a:ext uri="{FF2B5EF4-FFF2-40B4-BE49-F238E27FC236}">
                <a16:creationId xmlns:a16="http://schemas.microsoft.com/office/drawing/2014/main" id="{05E29A36-5378-25A3-2B6C-0E00E2DEFB9C}"/>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Un équipement ne peut être emprunté que s'il est disponible : jamais emprunté, ou redevenu libre.</a:t>
            </a:r>
          </a:p>
        </p:txBody>
      </p:sp>
      <p:sp>
        <p:nvSpPr>
          <p:cNvPr id="11" name="Rectangle : coins arrondis 10">
            <a:extLst>
              <a:ext uri="{FF2B5EF4-FFF2-40B4-BE49-F238E27FC236}">
                <a16:creationId xmlns:a16="http://schemas.microsoft.com/office/drawing/2014/main" id="{24856886-83D4-26D7-EBAB-539F198BAB78}"/>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39269860-65E9-8421-EFC8-E8AD93DFDEBB}"/>
              </a:ext>
            </a:extLst>
          </p:cNvPr>
          <p:cNvSpPr/>
          <p:nvPr/>
        </p:nvSpPr>
        <p:spPr>
          <a:xfrm>
            <a:off x="4610100" y="1854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2727033A-EC69-8AAC-B38A-BC244B3A723B}"/>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RG-03 · Signature</a:t>
            </a:r>
          </a:p>
        </p:txBody>
      </p:sp>
      <p:sp>
        <p:nvSpPr>
          <p:cNvPr id="14" name="ZoneTexte 13">
            <a:extLst>
              <a:ext uri="{FF2B5EF4-FFF2-40B4-BE49-F238E27FC236}">
                <a16:creationId xmlns:a16="http://schemas.microsoft.com/office/drawing/2014/main" id="{97689018-0E8E-AAD7-4E34-91DD5B0E2146}"/>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Une attestation ne passe à « Signée » que par l'action « Marquer comme signée ».</a:t>
            </a:r>
          </a:p>
        </p:txBody>
      </p:sp>
      <p:sp>
        <p:nvSpPr>
          <p:cNvPr id="15" name="Rectangle : coins arrondis 14">
            <a:extLst>
              <a:ext uri="{FF2B5EF4-FFF2-40B4-BE49-F238E27FC236}">
                <a16:creationId xmlns:a16="http://schemas.microsoft.com/office/drawing/2014/main" id="{1DCE9D05-2B9A-122F-30BB-9303764E4B34}"/>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59457572-8F83-2721-E2EC-328057953BE1}"/>
              </a:ext>
            </a:extLst>
          </p:cNvPr>
          <p:cNvSpPr/>
          <p:nvPr/>
        </p:nvSpPr>
        <p:spPr>
          <a:xfrm>
            <a:off x="8382000" y="1854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77054989-E477-5C78-6053-CF4477178051}"/>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RG-04 · Restitution</a:t>
            </a:r>
          </a:p>
        </p:txBody>
      </p:sp>
      <p:sp>
        <p:nvSpPr>
          <p:cNvPr id="18" name="ZoneTexte 17">
            <a:extLst>
              <a:ext uri="{FF2B5EF4-FFF2-40B4-BE49-F238E27FC236}">
                <a16:creationId xmlns:a16="http://schemas.microsoft.com/office/drawing/2014/main" id="{D84B341E-9D8E-445C-F8ED-027C729314ED}"/>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Le matériel d'une attestation signée est restitué et redevient disponible.</a:t>
            </a:r>
          </a:p>
        </p:txBody>
      </p:sp>
      <p:sp>
        <p:nvSpPr>
          <p:cNvPr id="19" name="Rectangle : coins arrondis 18">
            <a:extLst>
              <a:ext uri="{FF2B5EF4-FFF2-40B4-BE49-F238E27FC236}">
                <a16:creationId xmlns:a16="http://schemas.microsoft.com/office/drawing/2014/main" id="{8A44A51F-0705-1B2C-2D61-CB610C08EB49}"/>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61F75E1A-98E1-5561-6542-56608DCCFA7B}"/>
              </a:ext>
            </a:extLst>
          </p:cNvPr>
          <p:cNvSpPr/>
          <p:nvPr/>
        </p:nvSpPr>
        <p:spPr>
          <a:xfrm>
            <a:off x="838200" y="4267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244B9390-9BB7-E5BC-B41C-0F9681F2A53F}"/>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RG-17 et 18 · Rôles</a:t>
            </a:r>
          </a:p>
        </p:txBody>
      </p:sp>
      <p:sp>
        <p:nvSpPr>
          <p:cNvPr id="22" name="ZoneTexte 21">
            <a:extLst>
              <a:ext uri="{FF2B5EF4-FFF2-40B4-BE49-F238E27FC236}">
                <a16:creationId xmlns:a16="http://schemas.microsoft.com/office/drawing/2014/main" id="{ABB63122-322F-FEC6-15ED-E1B392986E49}"/>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Cinq rôles ; un collaborateur ne voit que sa propre fiche, en consultation seule.</a:t>
            </a:r>
          </a:p>
        </p:txBody>
      </p:sp>
      <p:sp>
        <p:nvSpPr>
          <p:cNvPr id="23" name="Rectangle : coins arrondis 22">
            <a:extLst>
              <a:ext uri="{FF2B5EF4-FFF2-40B4-BE49-F238E27FC236}">
                <a16:creationId xmlns:a16="http://schemas.microsoft.com/office/drawing/2014/main" id="{5EC27769-36CA-2096-01D0-4EE2BCF3CEC0}"/>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2B7B500E-5BEE-02D6-F1A9-97E8065023CD}"/>
              </a:ext>
            </a:extLst>
          </p:cNvPr>
          <p:cNvSpPr/>
          <p:nvPr/>
        </p:nvSpPr>
        <p:spPr>
          <a:xfrm>
            <a:off x="4610100" y="4267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0814124C-5687-156C-C311-70CA421871F3}"/>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RG-06, 25 et 26 · Retards</a:t>
            </a:r>
          </a:p>
        </p:txBody>
      </p:sp>
      <p:sp>
        <p:nvSpPr>
          <p:cNvPr id="26" name="ZoneTexte 25">
            <a:extLst>
              <a:ext uri="{FF2B5EF4-FFF2-40B4-BE49-F238E27FC236}">
                <a16:creationId xmlns:a16="http://schemas.microsoft.com/office/drawing/2014/main" id="{9AC4AF6B-03D3-EEE7-4BF9-4DB309914619}"/>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À relancer dès 3 jours ; retour prévu dépassé : alerte (fenêtre, carte, pastilles, filtre).</a:t>
            </a:r>
          </a:p>
        </p:txBody>
      </p:sp>
      <p:sp>
        <p:nvSpPr>
          <p:cNvPr id="27" name="Rectangle : coins arrondis 26">
            <a:extLst>
              <a:ext uri="{FF2B5EF4-FFF2-40B4-BE49-F238E27FC236}">
                <a16:creationId xmlns:a16="http://schemas.microsoft.com/office/drawing/2014/main" id="{6F57B790-462D-0B69-45FE-26B6A5142F90}"/>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F1796B27-7141-4200-9A87-C248F1DBCB9E}"/>
              </a:ext>
            </a:extLst>
          </p:cNvPr>
          <p:cNvSpPr/>
          <p:nvPr/>
        </p:nvSpPr>
        <p:spPr>
          <a:xfrm>
            <a:off x="8382000" y="4267200"/>
            <a:ext cx="203200" cy="2032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AFA80314-8F1A-829B-99A6-A9A73E42E2F5}"/>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RG-08 et 13 · Annulation</a:t>
            </a:r>
          </a:p>
        </p:txBody>
      </p:sp>
      <p:sp>
        <p:nvSpPr>
          <p:cNvPr id="30" name="ZoneTexte 29">
            <a:extLst>
              <a:ext uri="{FF2B5EF4-FFF2-40B4-BE49-F238E27FC236}">
                <a16:creationId xmlns:a16="http://schemas.microsoft.com/office/drawing/2014/main" id="{F92E675F-4A1C-2E24-5276-033F41CD9ED7}"/>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Perte irréversible ; un emprunt ou une signature s'annule par le bouton Annuler (10 secondes).</a:t>
            </a:r>
          </a:p>
        </p:txBody>
      </p:sp>
    </p:spTree>
    <p:extLst>
      <p:ext uri="{BB962C8B-B14F-4D97-AF65-F5344CB8AC3E}">
        <p14:creationId xmlns:p14="http://schemas.microsoft.com/office/powerpoint/2010/main" val="24202019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B5A2A0-2D37-2B91-87A2-F749169459BA}"/>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Architecture et sécurité</a:t>
            </a:r>
          </a:p>
        </p:txBody>
      </p:sp>
      <p:sp>
        <p:nvSpPr>
          <p:cNvPr id="3" name="ZoneTexte 2">
            <a:extLst>
              <a:ext uri="{FF2B5EF4-FFF2-40B4-BE49-F238E27FC236}">
                <a16:creationId xmlns:a16="http://schemas.microsoft.com/office/drawing/2014/main" id="{B5414732-858F-375D-36DC-2C5211F24F03}"/>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04</a:t>
            </a:r>
          </a:p>
        </p:txBody>
      </p:sp>
      <p:sp>
        <p:nvSpPr>
          <p:cNvPr id="4" name="ZoneTexte 3">
            <a:extLst>
              <a:ext uri="{FF2B5EF4-FFF2-40B4-BE49-F238E27FC236}">
                <a16:creationId xmlns:a16="http://schemas.microsoft.com/office/drawing/2014/main" id="{39885D62-CDD5-38FC-F32E-E43B1DB4F9FF}"/>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Composants, accès, traçabilité et données personnelles</a:t>
            </a:r>
          </a:p>
        </p:txBody>
      </p:sp>
      <p:pic>
        <p:nvPicPr>
          <p:cNvPr id="6" name="Image 5">
            <a:extLst>
              <a:ext uri="{FF2B5EF4-FFF2-40B4-BE49-F238E27FC236}">
                <a16:creationId xmlns:a16="http://schemas.microsoft.com/office/drawing/2014/main" id="{CBAAA36F-3B1D-CD33-54FC-E22D513699B3}"/>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DA1BD962-2AEF-4F16-63F9-EE25055FB780}"/>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7.0</a:t>
            </a:r>
          </a:p>
        </p:txBody>
      </p:sp>
    </p:spTree>
    <p:extLst>
      <p:ext uri="{BB962C8B-B14F-4D97-AF65-F5344CB8AC3E}">
        <p14:creationId xmlns:p14="http://schemas.microsoft.com/office/powerpoint/2010/main" val="12228409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3D3DF9-CE14-0AB7-4492-EE3917F9D7B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Architecture et dépendances</a:t>
            </a:r>
          </a:p>
        </p:txBody>
      </p:sp>
      <p:sp>
        <p:nvSpPr>
          <p:cNvPr id="3" name="ZoneTexte 2">
            <a:extLst>
              <a:ext uri="{FF2B5EF4-FFF2-40B4-BE49-F238E27FC236}">
                <a16:creationId xmlns:a16="http://schemas.microsoft.com/office/drawing/2014/main" id="{14982DD1-52D6-ABA4-9FEF-A0F23524BE2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ARCHITECTURE ET SÉCURITÉ</a:t>
            </a:r>
          </a:p>
        </p:txBody>
      </p:sp>
      <p:sp>
        <p:nvSpPr>
          <p:cNvPr id="4" name="ZoneTexte 3">
            <a:extLst>
              <a:ext uri="{FF2B5EF4-FFF2-40B4-BE49-F238E27FC236}">
                <a16:creationId xmlns:a16="http://schemas.microsoft.com/office/drawing/2014/main" id="{6428E5D2-47FF-725D-E5F7-CDEC8B18707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page web, une base, un connecteur</a:t>
            </a:r>
          </a:p>
        </p:txBody>
      </p:sp>
      <p:sp>
        <p:nvSpPr>
          <p:cNvPr id="5" name="ZoneTexte 4">
            <a:extLst>
              <a:ext uri="{FF2B5EF4-FFF2-40B4-BE49-F238E27FC236}">
                <a16:creationId xmlns:a16="http://schemas.microsoft.com/office/drawing/2014/main" id="{26DC2D60-E803-CDCB-BB3B-20AC51C2CC0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42908D61-CA8C-216F-E8F5-97F055E4E9A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59F0BF67-7B40-4CE3-B418-B74DA5CDBE2D}" type="slidenum">
              <a:rPr lang="fr-FR" sz="900" smtClean="0">
                <a:solidFill>
                  <a:srgbClr val="586080"/>
                </a:solidFill>
                <a:latin typeface="Calibri" panose="020F0502020204030204" pitchFamily="34" charset="0"/>
              </a:rPr>
              <a:t>42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2F22402C-3620-6078-83FB-9439B10370B4}"/>
              </a:ext>
            </a:extLst>
          </p:cNvPr>
          <p:cNvSpPr/>
          <p:nvPr/>
        </p:nvSpPr>
        <p:spPr>
          <a:xfrm>
            <a:off x="609600" y="2159000"/>
            <a:ext cx="2540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E98EA5B-D00C-936D-5670-3F28B7A77BEB}"/>
              </a:ext>
            </a:extLst>
          </p:cNvPr>
          <p:cNvSpPr txBox="1"/>
          <p:nvPr/>
        </p:nvSpPr>
        <p:spPr>
          <a:xfrm>
            <a:off x="838200" y="2336800"/>
            <a:ext cx="21082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Navigateur</a:t>
            </a:r>
          </a:p>
        </p:txBody>
      </p:sp>
      <p:sp>
        <p:nvSpPr>
          <p:cNvPr id="9" name="ZoneTexte 8">
            <a:extLst>
              <a:ext uri="{FF2B5EF4-FFF2-40B4-BE49-F238E27FC236}">
                <a16:creationId xmlns:a16="http://schemas.microsoft.com/office/drawing/2014/main" id="{29AB021C-88EE-43AC-1F19-03ED52C924A7}"/>
              </a:ext>
            </a:extLst>
          </p:cNvPr>
          <p:cNvSpPr txBox="1"/>
          <p:nvPr/>
        </p:nvSpPr>
        <p:spPr>
          <a:xfrm>
            <a:off x="838200" y="2717800"/>
            <a:ext cx="2133600" cy="152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PC, tablette, téléphone</a:t>
            </a:r>
          </a:p>
          <a:p>
            <a:r>
              <a:rPr lang="fr-FR" sz="1300">
                <a:solidFill>
                  <a:srgbClr val="586080"/>
                </a:solidFill>
                <a:latin typeface="Calibri" panose="020F0502020204030204" pitchFamily="34" charset="0"/>
              </a:rPr>
              <a:t>Page unique HTML / JavaScript</a:t>
            </a:r>
          </a:p>
          <a:p>
            <a:r>
              <a:rPr lang="fr-FR" sz="1300">
                <a:solidFill>
                  <a:srgbClr val="586080"/>
                </a:solidFill>
                <a:latin typeface="Calibri" panose="020F0502020204030204" pitchFamily="34" charset="0"/>
              </a:rPr>
              <a:t>PDF (jsPDF), rapports (ExcelJS)</a:t>
            </a:r>
          </a:p>
        </p:txBody>
      </p:sp>
      <p:sp>
        <p:nvSpPr>
          <p:cNvPr id="10" name="Rectangle : coins arrondis 9">
            <a:extLst>
              <a:ext uri="{FF2B5EF4-FFF2-40B4-BE49-F238E27FC236}">
                <a16:creationId xmlns:a16="http://schemas.microsoft.com/office/drawing/2014/main" id="{987A16A3-2A24-0E19-96B4-99E7743E9288}"/>
              </a:ext>
            </a:extLst>
          </p:cNvPr>
          <p:cNvSpPr/>
          <p:nvPr/>
        </p:nvSpPr>
        <p:spPr>
          <a:xfrm>
            <a:off x="4318000" y="1600200"/>
            <a:ext cx="3429000" cy="1422400"/>
          </a:xfrm>
          <a:prstGeom prst="roundRect">
            <a:avLst>
              <a:gd name="adj" fmla="val 6000"/>
            </a:avLst>
          </a:prstGeom>
          <a:solidFill>
            <a:srgbClr val="1E1C8C"/>
          </a:solidFill>
          <a:ln w="19050" cap="flat" cmpd="sng" algn="ctr">
            <a:noFill/>
            <a:prstDash val="solid"/>
            <a:miter lim="800000"/>
          </a:ln>
          <a:effectLst>
            <a:outerShdw blurRad="177800" dist="50800" dir="5400000" rotWithShape="0">
              <a:srgbClr val="1E1C8C">
                <a:alpha val="16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D2920F8E-C21F-35E6-2A07-C24426B51AC5}"/>
              </a:ext>
            </a:extLst>
          </p:cNvPr>
          <p:cNvSpPr txBox="1"/>
          <p:nvPr/>
        </p:nvSpPr>
        <p:spPr>
          <a:xfrm>
            <a:off x="4546600" y="1752600"/>
            <a:ext cx="2971800" cy="304800"/>
          </a:xfrm>
          <a:prstGeom prst="rect">
            <a:avLst/>
          </a:prstGeom>
          <a:noFill/>
        </p:spPr>
        <p:txBody>
          <a:bodyPr vert="horz" wrap="square" lIns="0" tIns="0" rIns="0" bIns="0" rtlCol="0">
            <a:noAutofit/>
          </a:bodyPr>
          <a:lstStyle/>
          <a:p>
            <a:r>
              <a:rPr lang="fr-FR" sz="1700" b="1">
                <a:solidFill>
                  <a:srgbClr val="FFFFFF"/>
                </a:solidFill>
                <a:latin typeface="Calibri" panose="020F0502020204030204" pitchFamily="34" charset="0"/>
              </a:rPr>
              <a:t>Base de l'application</a:t>
            </a:r>
          </a:p>
        </p:txBody>
      </p:sp>
      <p:sp>
        <p:nvSpPr>
          <p:cNvPr id="12" name="ZoneTexte 11">
            <a:extLst>
              <a:ext uri="{FF2B5EF4-FFF2-40B4-BE49-F238E27FC236}">
                <a16:creationId xmlns:a16="http://schemas.microsoft.com/office/drawing/2014/main" id="{07526929-B96F-3AA9-16BD-7D73AFE63BE7}"/>
              </a:ext>
            </a:extLst>
          </p:cNvPr>
          <p:cNvSpPr txBox="1"/>
          <p:nvPr/>
        </p:nvSpPr>
        <p:spPr>
          <a:xfrm>
            <a:off x="4546600" y="2108200"/>
            <a:ext cx="2997200" cy="863600"/>
          </a:xfrm>
          <a:prstGeom prst="rect">
            <a:avLst/>
          </a:prstGeom>
          <a:noFill/>
        </p:spPr>
        <p:txBody>
          <a:bodyPr vert="horz" wrap="square" lIns="0" tIns="0" rIns="0" bIns="0" rtlCol="0">
            <a:noAutofit/>
          </a:bodyPr>
          <a:lstStyle/>
          <a:p>
            <a:r>
              <a:rPr lang="fr-FR" sz="1300">
                <a:solidFill>
                  <a:srgbClr val="CADCFC"/>
                </a:solidFill>
                <a:latin typeface="Calibri" panose="020F0502020204030204" pitchFamily="34" charset="0"/>
              </a:rPr>
              <a:t>people : prêts, attestations, pertes, commentaires</a:t>
            </a:r>
          </a:p>
          <a:p>
            <a:r>
              <a:rPr lang="fr-FR" sz="1300">
                <a:solidFill>
                  <a:srgbClr val="CADCFC"/>
                </a:solidFill>
                <a:latin typeface="Calibri" panose="020F0502020204030204" pitchFamily="34" charset="0"/>
              </a:rPr>
              <a:t>documents : PDF signés</a:t>
            </a:r>
          </a:p>
          <a:p>
            <a:r>
              <a:rPr lang="fr-FR" sz="1300">
                <a:solidFill>
                  <a:srgbClr val="CADCFC"/>
                </a:solidFill>
                <a:latin typeface="Calibri" panose="020F0502020204030204" pitchFamily="34" charset="0"/>
              </a:rPr>
              <a:t>directory, roles, links, mine</a:t>
            </a:r>
          </a:p>
        </p:txBody>
      </p:sp>
      <p:sp>
        <p:nvSpPr>
          <p:cNvPr id="13" name="Rectangle : coins arrondis 12">
            <a:extLst>
              <a:ext uri="{FF2B5EF4-FFF2-40B4-BE49-F238E27FC236}">
                <a16:creationId xmlns:a16="http://schemas.microsoft.com/office/drawing/2014/main" id="{2010A717-6281-CFD6-72D7-54E6684EA26F}"/>
              </a:ext>
            </a:extLst>
          </p:cNvPr>
          <p:cNvSpPr/>
          <p:nvPr/>
        </p:nvSpPr>
        <p:spPr>
          <a:xfrm>
            <a:off x="4318000" y="3200400"/>
            <a:ext cx="3429000" cy="1066800"/>
          </a:xfrm>
          <a:prstGeom prst="roundRect">
            <a:avLst>
              <a:gd name="adj" fmla="val 6000"/>
            </a:avLst>
          </a:prstGeom>
          <a:solidFill>
            <a:srgbClr val="E4EEFA"/>
          </a:solidFill>
          <a:ln w="12700">
            <a:solidFill>
              <a:srgbClr val="2F7DD1"/>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500" b="1">
                <a:solidFill>
                  <a:srgbClr val="12162B"/>
                </a:solidFill>
                <a:latin typeface="Calibri" panose="020F0502020204030204" pitchFamily="34" charset="0"/>
              </a:rPr>
              <a:t>Connecteur Microsoft 365</a:t>
            </a:r>
          </a:p>
          <a:p>
            <a:pPr algn="ctr"/>
            <a:r>
              <a:rPr lang="fr-FR" sz="1500" b="1">
                <a:solidFill>
                  <a:srgbClr val="12162B"/>
                </a:solidFill>
                <a:latin typeface="Calibri" panose="020F0502020204030204" pitchFamily="34" charset="0"/>
              </a:rPr>
              <a:t>Brouillon Outlook + pièce jointe</a:t>
            </a:r>
          </a:p>
        </p:txBody>
      </p:sp>
      <p:sp>
        <p:nvSpPr>
          <p:cNvPr id="14" name="Rectangle : coins arrondis 13">
            <a:extLst>
              <a:ext uri="{FF2B5EF4-FFF2-40B4-BE49-F238E27FC236}">
                <a16:creationId xmlns:a16="http://schemas.microsoft.com/office/drawing/2014/main" id="{255F06A3-6940-40F8-39B6-7201398383E3}"/>
              </a:ext>
            </a:extLst>
          </p:cNvPr>
          <p:cNvSpPr/>
          <p:nvPr/>
        </p:nvSpPr>
        <p:spPr>
          <a:xfrm>
            <a:off x="4318000" y="4445000"/>
            <a:ext cx="3429000" cy="1066800"/>
          </a:xfrm>
          <a:prstGeom prst="roundRect">
            <a:avLst>
              <a:gd name="adj" fmla="val 6000"/>
            </a:avLst>
          </a:prstGeom>
          <a:solidFill>
            <a:srgbClr val="FDF0D5"/>
          </a:solidFill>
          <a:ln w="12700">
            <a:solidFill>
              <a:srgbClr val="B67608"/>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400" b="1">
                <a:solidFill>
                  <a:srgbClr val="12162B"/>
                </a:solidFill>
                <a:latin typeface="Calibri" panose="020F0502020204030204" pitchFamily="34" charset="0"/>
              </a:rPr>
              <a:t>cdnjs · jsDelivr · Google Fonts</a:t>
            </a:r>
          </a:p>
          <a:p>
            <a:pPr algn="ctr"/>
            <a:r>
              <a:rPr lang="fr-FR" sz="1400" b="1">
                <a:solidFill>
                  <a:srgbClr val="12162B"/>
                </a:solidFill>
                <a:latin typeface="Calibri" panose="020F0502020204030204" pitchFamily="34" charset="0"/>
              </a:rPr>
              <a:t>jsPDF, pdf.js, QR, ExcelJS, Poppins</a:t>
            </a:r>
          </a:p>
        </p:txBody>
      </p:sp>
      <p:sp>
        <p:nvSpPr>
          <p:cNvPr id="15" name="Rectangle : coins arrondis 14">
            <a:extLst>
              <a:ext uri="{FF2B5EF4-FFF2-40B4-BE49-F238E27FC236}">
                <a16:creationId xmlns:a16="http://schemas.microsoft.com/office/drawing/2014/main" id="{EC519CA3-7372-A693-EC2B-DCC1AE25AD3C}"/>
              </a:ext>
            </a:extLst>
          </p:cNvPr>
          <p:cNvSpPr/>
          <p:nvPr/>
        </p:nvSpPr>
        <p:spPr>
          <a:xfrm>
            <a:off x="8890000" y="2159000"/>
            <a:ext cx="2692400" cy="2159000"/>
          </a:xfrm>
          <a:prstGeom prst="roundRect">
            <a:avLst>
              <a:gd name="adj" fmla="val 4500"/>
            </a:avLst>
          </a:prstGeom>
          <a:solidFill>
            <a:srgbClr val="E3F5E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6CA5C9C7-F5F1-B08A-D71F-918659265151}"/>
              </a:ext>
            </a:extLst>
          </p:cNvPr>
          <p:cNvSpPr txBox="1"/>
          <p:nvPr/>
        </p:nvSpPr>
        <p:spPr>
          <a:xfrm>
            <a:off x="9093200" y="2336800"/>
            <a:ext cx="2311400" cy="5588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Applications de l'appareil</a:t>
            </a:r>
          </a:p>
        </p:txBody>
      </p:sp>
      <p:sp>
        <p:nvSpPr>
          <p:cNvPr id="17" name="ZoneTexte 16">
            <a:extLst>
              <a:ext uri="{FF2B5EF4-FFF2-40B4-BE49-F238E27FC236}">
                <a16:creationId xmlns:a16="http://schemas.microsoft.com/office/drawing/2014/main" id="{A9160B7C-5D0C-86A4-5504-98C987972411}"/>
              </a:ext>
            </a:extLst>
          </p:cNvPr>
          <p:cNvSpPr txBox="1"/>
          <p:nvPr/>
        </p:nvSpPr>
        <p:spPr>
          <a:xfrm>
            <a:off x="9093200" y="2997200"/>
            <a:ext cx="2311400" cy="1143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Messagerie (mailto)</a:t>
            </a:r>
          </a:p>
          <a:p>
            <a:r>
              <a:rPr lang="fr-FR" sz="1400">
                <a:solidFill>
                  <a:srgbClr val="586080"/>
                </a:solidFill>
                <a:latin typeface="Calibri" panose="020F0502020204030204" pitchFamily="34" charset="0"/>
              </a:rPr>
              <a:t>SMS (sms:)</a:t>
            </a:r>
          </a:p>
        </p:txBody>
      </p:sp>
      <p:cxnSp>
        <p:nvCxnSpPr>
          <p:cNvPr id="18" name="Connecteur droit 17">
            <a:extLst>
              <a:ext uri="{FF2B5EF4-FFF2-40B4-BE49-F238E27FC236}">
                <a16:creationId xmlns:a16="http://schemas.microsoft.com/office/drawing/2014/main" id="{CF7CFCF7-6B28-143D-1A2B-FD68092706F9}"/>
              </a:ext>
            </a:extLst>
          </p:cNvPr>
          <p:cNvCxnSpPr/>
          <p:nvPr/>
        </p:nvCxnSpPr>
        <p:spPr>
          <a:xfrm flipV="1">
            <a:off x="3200400" y="2260600"/>
            <a:ext cx="1066800" cy="4064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18">
            <a:extLst>
              <a:ext uri="{FF2B5EF4-FFF2-40B4-BE49-F238E27FC236}">
                <a16:creationId xmlns:a16="http://schemas.microsoft.com/office/drawing/2014/main" id="{EF17386D-4FD5-8299-EFB8-FBE30B504F52}"/>
              </a:ext>
            </a:extLst>
          </p:cNvPr>
          <p:cNvCxnSpPr/>
          <p:nvPr/>
        </p:nvCxnSpPr>
        <p:spPr>
          <a:xfrm>
            <a:off x="3200400" y="3327400"/>
            <a:ext cx="1066800" cy="3810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19">
            <a:extLst>
              <a:ext uri="{FF2B5EF4-FFF2-40B4-BE49-F238E27FC236}">
                <a16:creationId xmlns:a16="http://schemas.microsoft.com/office/drawing/2014/main" id="{58C6B1E7-7D81-1F04-753C-E212AFE00B56}"/>
              </a:ext>
            </a:extLst>
          </p:cNvPr>
          <p:cNvCxnSpPr/>
          <p:nvPr/>
        </p:nvCxnSpPr>
        <p:spPr>
          <a:xfrm>
            <a:off x="3200400" y="4064000"/>
            <a:ext cx="1066800" cy="8890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20">
            <a:extLst>
              <a:ext uri="{FF2B5EF4-FFF2-40B4-BE49-F238E27FC236}">
                <a16:creationId xmlns:a16="http://schemas.microsoft.com/office/drawing/2014/main" id="{1357E23D-DF05-C333-5CC3-EA3D4C0F5236}"/>
              </a:ext>
            </a:extLst>
          </p:cNvPr>
          <p:cNvCxnSpPr/>
          <p:nvPr/>
        </p:nvCxnSpPr>
        <p:spPr>
          <a:xfrm>
            <a:off x="3200400" y="3111500"/>
            <a:ext cx="5638800" cy="0"/>
          </a:xfrm>
          <a:prstGeom prst="line">
            <a:avLst/>
          </a:prstGeom>
          <a:ln w="25400">
            <a:solidFill>
              <a:srgbClr val="5860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 name="ZoneTexte 21">
            <a:extLst>
              <a:ext uri="{FF2B5EF4-FFF2-40B4-BE49-F238E27FC236}">
                <a16:creationId xmlns:a16="http://schemas.microsoft.com/office/drawing/2014/main" id="{726B9B28-9187-5C44-3269-E5D494DAE41A}"/>
              </a:ext>
            </a:extLst>
          </p:cNvPr>
          <p:cNvSpPr txBox="1"/>
          <p:nvPr/>
        </p:nvSpPr>
        <p:spPr>
          <a:xfrm>
            <a:off x="609600" y="5715000"/>
            <a:ext cx="10972800" cy="508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Chaque modification crée une version numérotée à la même adresse ; la base conserve les données d'une version à l'autre.</a:t>
            </a:r>
          </a:p>
        </p:txBody>
      </p:sp>
    </p:spTree>
    <p:extLst>
      <p:ext uri="{BB962C8B-B14F-4D97-AF65-F5344CB8AC3E}">
        <p14:creationId xmlns:p14="http://schemas.microsoft.com/office/powerpoint/2010/main" val="12951543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D14EF5-AC4E-2B1B-3BBB-90073CDD8AF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Accès, traçabilité et données personnelles</a:t>
            </a:r>
          </a:p>
        </p:txBody>
      </p:sp>
      <p:sp>
        <p:nvSpPr>
          <p:cNvPr id="3" name="ZoneTexte 2">
            <a:extLst>
              <a:ext uri="{FF2B5EF4-FFF2-40B4-BE49-F238E27FC236}">
                <a16:creationId xmlns:a16="http://schemas.microsoft.com/office/drawing/2014/main" id="{217D349C-74A6-0115-56FA-503B2E64C77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ARCHITECTURE ET SÉCURITÉ</a:t>
            </a:r>
          </a:p>
        </p:txBody>
      </p:sp>
      <p:sp>
        <p:nvSpPr>
          <p:cNvPr id="4" name="ZoneTexte 3">
            <a:extLst>
              <a:ext uri="{FF2B5EF4-FFF2-40B4-BE49-F238E27FC236}">
                <a16:creationId xmlns:a16="http://schemas.microsoft.com/office/drawing/2014/main" id="{EC6419DB-E1FC-617E-C92F-C4C21C168092}"/>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points à valider relèvent du DPO et du RSSI</a:t>
            </a:r>
          </a:p>
        </p:txBody>
      </p:sp>
      <p:sp>
        <p:nvSpPr>
          <p:cNvPr id="5" name="ZoneTexte 4">
            <a:extLst>
              <a:ext uri="{FF2B5EF4-FFF2-40B4-BE49-F238E27FC236}">
                <a16:creationId xmlns:a16="http://schemas.microsoft.com/office/drawing/2014/main" id="{042F56C8-F25D-DFE4-C8A9-24112B8CCCC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71AB9C7C-2C03-B837-D815-00A17C2C961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1D41277-5E3A-492A-A035-8292F67E1B93}" type="slidenum">
              <a:rPr lang="fr-FR" sz="900" smtClean="0">
                <a:solidFill>
                  <a:srgbClr val="586080"/>
                </a:solidFill>
                <a:latin typeface="Calibri" panose="020F0502020204030204" pitchFamily="34" charset="0"/>
              </a:rPr>
              <a:t>43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BC4A9ED-C091-177F-1789-CD3DF2C8D146}"/>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637CDCD1-3D6A-248E-7832-A38EA991F3AA}"/>
              </a:ext>
            </a:extLst>
          </p:cNvPr>
          <p:cNvSpPr txBox="1"/>
          <p:nvPr/>
        </p:nvSpPr>
        <p:spPr>
          <a:xfrm>
            <a:off x="889000" y="1778000"/>
            <a:ext cx="4826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Accès et traçabilité</a:t>
            </a:r>
          </a:p>
        </p:txBody>
      </p:sp>
      <p:sp>
        <p:nvSpPr>
          <p:cNvPr id="9" name="ZoneTexte 8">
            <a:extLst>
              <a:ext uri="{FF2B5EF4-FFF2-40B4-BE49-F238E27FC236}">
                <a16:creationId xmlns:a16="http://schemas.microsoft.com/office/drawing/2014/main" id="{AE0571F0-B532-851E-7645-47718DDBA61B}"/>
              </a:ext>
            </a:extLst>
          </p:cNvPr>
          <p:cNvSpPr txBox="1"/>
          <p:nvPr/>
        </p:nvSpPr>
        <p:spPr>
          <a:xfrm>
            <a:off x="889000" y="2235200"/>
            <a:ext cx="4800600" cy="3937000"/>
          </a:xfrm>
          <a:prstGeom prst="rect">
            <a:avLst/>
          </a:prstGeom>
          <a:noFill/>
        </p:spPr>
        <p:txBody>
          <a:bodyPr vert="horz" wrap="square" lIns="0" tIns="0" rIns="0" bIns="0" rtlCol="0">
            <a:noAutofit/>
          </a:bodyPr>
          <a:lstStyle/>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Accès réservé aux personnes avec lesquelles l'application est partagée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Cinq rôles ; un collaborateur ne voit que sa fiche (Mon matériel)</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Chaque événement garde son auteur et sa date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PDF signés conservés tels que produits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Connecteur Microsoft 365 : consentement de chaque utilisateur, jetons jamais visibles de la page</a:t>
            </a:r>
          </a:p>
        </p:txBody>
      </p:sp>
      <p:sp>
        <p:nvSpPr>
          <p:cNvPr id="10" name="Rectangle : coins arrondis 9">
            <a:extLst>
              <a:ext uri="{FF2B5EF4-FFF2-40B4-BE49-F238E27FC236}">
                <a16:creationId xmlns:a16="http://schemas.microsoft.com/office/drawing/2014/main" id="{1D840F66-3A22-398C-8276-D9B66F96FB7A}"/>
              </a:ext>
            </a:extLst>
          </p:cNvPr>
          <p:cNvSpPr/>
          <p:nvPr/>
        </p:nvSpPr>
        <p:spPr>
          <a:xfrm>
            <a:off x="6248400" y="1600200"/>
            <a:ext cx="5334000" cy="4648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B72D8C6C-27DF-CE1E-1AEF-DD524E4716DF}"/>
              </a:ext>
            </a:extLst>
          </p:cNvPr>
          <p:cNvSpPr txBox="1"/>
          <p:nvPr/>
        </p:nvSpPr>
        <p:spPr>
          <a:xfrm>
            <a:off x="6527800" y="1778000"/>
            <a:ext cx="4826000" cy="330200"/>
          </a:xfrm>
          <a:prstGeom prst="rect">
            <a:avLst/>
          </a:prstGeom>
          <a:noFill/>
        </p:spPr>
        <p:txBody>
          <a:bodyPr vert="horz" wrap="square" lIns="0" tIns="0" rIns="0" bIns="0" rtlCol="0">
            <a:noAutofit/>
          </a:bodyPr>
          <a:lstStyle/>
          <a:p>
            <a:r>
              <a:rPr lang="fr-FR" sz="2000" b="1">
                <a:solidFill>
                  <a:srgbClr val="B67608"/>
                </a:solidFill>
                <a:latin typeface="Calibri" panose="020F0502020204030204" pitchFamily="34" charset="0"/>
              </a:rPr>
              <a:t>Données personnelles</a:t>
            </a:r>
          </a:p>
        </p:txBody>
      </p:sp>
      <p:sp>
        <p:nvSpPr>
          <p:cNvPr id="12" name="ZoneTexte 11">
            <a:extLst>
              <a:ext uri="{FF2B5EF4-FFF2-40B4-BE49-F238E27FC236}">
                <a16:creationId xmlns:a16="http://schemas.microsoft.com/office/drawing/2014/main" id="{941A0E59-8271-1B38-B3B7-BC34CE63CD7F}"/>
              </a:ext>
            </a:extLst>
          </p:cNvPr>
          <p:cNvSpPr txBox="1"/>
          <p:nvPr/>
        </p:nvSpPr>
        <p:spPr>
          <a:xfrm>
            <a:off x="6527800" y="2235200"/>
            <a:ext cx="4800600" cy="3937000"/>
          </a:xfrm>
          <a:prstGeom prst="rect">
            <a:avLst/>
          </a:prstGeom>
          <a:noFill/>
        </p:spPr>
        <p:txBody>
          <a:bodyPr vert="horz" wrap="square" lIns="0" tIns="0" rIns="0" bIns="0" rtlCol="0">
            <a:noAutofit/>
          </a:bodyPr>
          <a:lstStyle/>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Données : nom, fonction, email, mobile (annuaire Entra ID), adresse saisie à la main, matériel, dates, signatures déclarées, commentaires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Finalité : gestion du parc, preuve de restitution, suivi des pertes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Base légale : à renseigner par le DPO</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Durée de conservation : à définir (aucune purge automatique)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Hébergement : plateforme Claude, localisation à confirmer</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Aucune donnée sensible au sens du RGPD</a:t>
            </a:r>
          </a:p>
        </p:txBody>
      </p:sp>
    </p:spTree>
    <p:extLst>
      <p:ext uri="{BB962C8B-B14F-4D97-AF65-F5344CB8AC3E}">
        <p14:creationId xmlns:p14="http://schemas.microsoft.com/office/powerpoint/2010/main" val="39079146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08AC391-6560-B445-F899-6EF72A5036AD}"/>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Sauvegarde</a:t>
            </a:r>
          </a:p>
        </p:txBody>
      </p:sp>
      <p:sp>
        <p:nvSpPr>
          <p:cNvPr id="3" name="ZoneTexte 2">
            <a:extLst>
              <a:ext uri="{FF2B5EF4-FFF2-40B4-BE49-F238E27FC236}">
                <a16:creationId xmlns:a16="http://schemas.microsoft.com/office/drawing/2014/main" id="{399F0C33-D8E2-C0B0-AF26-1C043034A1F1}"/>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05</a:t>
            </a:r>
          </a:p>
        </p:txBody>
      </p:sp>
      <p:sp>
        <p:nvSpPr>
          <p:cNvPr id="4" name="ZoneTexte 3">
            <a:extLst>
              <a:ext uri="{FF2B5EF4-FFF2-40B4-BE49-F238E27FC236}">
                <a16:creationId xmlns:a16="http://schemas.microsoft.com/office/drawing/2014/main" id="{53FA991B-4C37-CD19-A237-C79C2B517606}"/>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Où sont les données, comment elles sont protégées</a:t>
            </a:r>
          </a:p>
        </p:txBody>
      </p:sp>
      <p:pic>
        <p:nvPicPr>
          <p:cNvPr id="6" name="Image 5">
            <a:extLst>
              <a:ext uri="{FF2B5EF4-FFF2-40B4-BE49-F238E27FC236}">
                <a16:creationId xmlns:a16="http://schemas.microsoft.com/office/drawing/2014/main" id="{A55CDEA2-221E-C0C0-F167-CBA6EAD67FE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7FC4B208-7AEA-1975-3880-B6F78B1D9784}"/>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7.0</a:t>
            </a:r>
          </a:p>
        </p:txBody>
      </p:sp>
    </p:spTree>
    <p:extLst>
      <p:ext uri="{BB962C8B-B14F-4D97-AF65-F5344CB8AC3E}">
        <p14:creationId xmlns:p14="http://schemas.microsoft.com/office/powerpoint/2010/main" val="25548426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995E33-28B6-7C97-A1E8-F517300481B2}"/>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Où sont enregistrées les données</a:t>
            </a:r>
          </a:p>
        </p:txBody>
      </p:sp>
      <p:sp>
        <p:nvSpPr>
          <p:cNvPr id="3" name="ZoneTexte 2">
            <a:extLst>
              <a:ext uri="{FF2B5EF4-FFF2-40B4-BE49-F238E27FC236}">
                <a16:creationId xmlns:a16="http://schemas.microsoft.com/office/drawing/2014/main" id="{6AEA011B-219E-6128-8FBD-6948EE2C072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SAUVEGARDE</a:t>
            </a:r>
          </a:p>
        </p:txBody>
      </p:sp>
      <p:sp>
        <p:nvSpPr>
          <p:cNvPr id="4" name="ZoneTexte 3">
            <a:extLst>
              <a:ext uri="{FF2B5EF4-FFF2-40B4-BE49-F238E27FC236}">
                <a16:creationId xmlns:a16="http://schemas.microsoft.com/office/drawing/2014/main" id="{56A7E001-2591-9E2C-2E2C-21727FFA189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Dans la base de l'application, jamais sur le poste</a:t>
            </a:r>
          </a:p>
        </p:txBody>
      </p:sp>
      <p:sp>
        <p:nvSpPr>
          <p:cNvPr id="5" name="ZoneTexte 4">
            <a:extLst>
              <a:ext uri="{FF2B5EF4-FFF2-40B4-BE49-F238E27FC236}">
                <a16:creationId xmlns:a16="http://schemas.microsoft.com/office/drawing/2014/main" id="{770BDE9E-BB86-52BC-C87F-EEC504BB4C8E}"/>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F0170FF3-CCC2-CF42-9DBA-7AFE232A7FF4}"/>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723D611-094D-421E-9ED6-0DEC828AE9AC}" type="slidenum">
              <a:rPr lang="fr-FR" sz="900" smtClean="0">
                <a:solidFill>
                  <a:srgbClr val="586080"/>
                </a:solidFill>
                <a:latin typeface="Calibri" panose="020F0502020204030204" pitchFamily="34" charset="0"/>
              </a:rPr>
              <a:t>45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0E7552F-6538-AF5A-563D-93B46D31AE5A}"/>
              </a:ext>
            </a:extLst>
          </p:cNvPr>
          <p:cNvSpPr/>
          <p:nvPr/>
        </p:nvSpPr>
        <p:spPr>
          <a:xfrm>
            <a:off x="609600" y="1905000"/>
            <a:ext cx="2540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99439A78-957E-E659-89FC-8A31727A259E}"/>
              </a:ext>
            </a:extLst>
          </p:cNvPr>
          <p:cNvSpPr txBox="1"/>
          <p:nvPr/>
        </p:nvSpPr>
        <p:spPr>
          <a:xfrm>
            <a:off x="838200" y="2082800"/>
            <a:ext cx="21082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Application</a:t>
            </a:r>
          </a:p>
        </p:txBody>
      </p:sp>
      <p:sp>
        <p:nvSpPr>
          <p:cNvPr id="9" name="ZoneTexte 8">
            <a:extLst>
              <a:ext uri="{FF2B5EF4-FFF2-40B4-BE49-F238E27FC236}">
                <a16:creationId xmlns:a16="http://schemas.microsoft.com/office/drawing/2014/main" id="{AE515D4A-6D8F-81A3-C0B5-5AD9F847A9AA}"/>
              </a:ext>
            </a:extLst>
          </p:cNvPr>
          <p:cNvSpPr txBox="1"/>
          <p:nvPr/>
        </p:nvSpPr>
        <p:spPr>
          <a:xfrm>
            <a:off x="838200" y="2463800"/>
            <a:ext cx="2108200" cy="1016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Navigateur : PC, tablette ou téléphone</a:t>
            </a:r>
          </a:p>
        </p:txBody>
      </p:sp>
      <p:cxnSp>
        <p:nvCxnSpPr>
          <p:cNvPr id="10" name="Connecteur droit 9">
            <a:extLst>
              <a:ext uri="{FF2B5EF4-FFF2-40B4-BE49-F238E27FC236}">
                <a16:creationId xmlns:a16="http://schemas.microsoft.com/office/drawing/2014/main" id="{F88C8AA0-64FB-4686-AB64-EBBE6156F59D}"/>
              </a:ext>
            </a:extLst>
          </p:cNvPr>
          <p:cNvCxnSpPr/>
          <p:nvPr/>
        </p:nvCxnSpPr>
        <p:spPr>
          <a:xfrm>
            <a:off x="3225800" y="2730500"/>
            <a:ext cx="914400" cy="0"/>
          </a:xfrm>
          <a:prstGeom prst="line">
            <a:avLst/>
          </a:prstGeom>
          <a:ln w="25400">
            <a:solidFill>
              <a:srgbClr val="5853FF"/>
            </a:solidFill>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95BAB309-D777-0AA8-7796-E24F9132C76D}"/>
              </a:ext>
            </a:extLst>
          </p:cNvPr>
          <p:cNvSpPr txBox="1"/>
          <p:nvPr/>
        </p:nvSpPr>
        <p:spPr>
          <a:xfrm>
            <a:off x="3175000" y="2286000"/>
            <a:ext cx="1016000" cy="355600"/>
          </a:xfrm>
          <a:prstGeom prst="rect">
            <a:avLst/>
          </a:prstGeom>
          <a:noFill/>
        </p:spPr>
        <p:txBody>
          <a:bodyPr vert="horz" wrap="square" lIns="0" tIns="0" rIns="0" bIns="0" rtlCol="0">
            <a:noAutofit/>
          </a:bodyPr>
          <a:lstStyle/>
          <a:p>
            <a:pPr algn="ctr"/>
            <a:r>
              <a:rPr lang="fr-FR" sz="1100">
                <a:solidFill>
                  <a:srgbClr val="586080"/>
                </a:solidFill>
                <a:latin typeface="Calibri" panose="020F0502020204030204" pitchFamily="34" charset="0"/>
              </a:rPr>
              <a:t>à chaque action</a:t>
            </a:r>
          </a:p>
        </p:txBody>
      </p:sp>
      <p:sp>
        <p:nvSpPr>
          <p:cNvPr id="12" name="Rectangle : coins arrondis 11">
            <a:extLst>
              <a:ext uri="{FF2B5EF4-FFF2-40B4-BE49-F238E27FC236}">
                <a16:creationId xmlns:a16="http://schemas.microsoft.com/office/drawing/2014/main" id="{313758EB-3827-7A9A-A4E3-7A6DDD7AC6D9}"/>
              </a:ext>
            </a:extLst>
          </p:cNvPr>
          <p:cNvSpPr/>
          <p:nvPr/>
        </p:nvSpPr>
        <p:spPr>
          <a:xfrm>
            <a:off x="4216400" y="1600200"/>
            <a:ext cx="7366000" cy="2921000"/>
          </a:xfrm>
          <a:prstGeom prst="roundRect">
            <a:avLst>
              <a:gd name="adj" fmla="val 6000"/>
            </a:avLst>
          </a:prstGeom>
          <a:solidFill>
            <a:srgbClr val="1E1C8C"/>
          </a:solidFill>
          <a:ln w="19050" cap="flat" cmpd="sng" algn="ctr">
            <a:noFill/>
            <a:prstDash val="solid"/>
            <a:miter lim="800000"/>
          </a:ln>
          <a:effectLst>
            <a:outerShdw blurRad="177800" dist="50800" dir="5400000" rotWithShape="0">
              <a:srgbClr val="1E1C8C">
                <a:alpha val="16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5E1511B7-131B-6CD4-F195-A059AD89842F}"/>
              </a:ext>
            </a:extLst>
          </p:cNvPr>
          <p:cNvSpPr txBox="1"/>
          <p:nvPr/>
        </p:nvSpPr>
        <p:spPr>
          <a:xfrm>
            <a:off x="4495800" y="1778000"/>
            <a:ext cx="6858000" cy="330200"/>
          </a:xfrm>
          <a:prstGeom prst="rect">
            <a:avLst/>
          </a:prstGeom>
          <a:noFill/>
        </p:spPr>
        <p:txBody>
          <a:bodyPr vert="horz" wrap="square" lIns="0" tIns="0" rIns="0" bIns="0" rtlCol="0">
            <a:noAutofit/>
          </a:bodyPr>
          <a:lstStyle/>
          <a:p>
            <a:r>
              <a:rPr lang="fr-FR" b="1">
                <a:solidFill>
                  <a:srgbClr val="FFFFFF"/>
                </a:solidFill>
                <a:latin typeface="Calibri" panose="020F0502020204030204" pitchFamily="34" charset="0"/>
              </a:rPr>
              <a:t>Base de l'application (hébergée par Claude)</a:t>
            </a:r>
          </a:p>
        </p:txBody>
      </p:sp>
      <p:sp>
        <p:nvSpPr>
          <p:cNvPr id="14" name="Rectangle : coins arrondis 13">
            <a:extLst>
              <a:ext uri="{FF2B5EF4-FFF2-40B4-BE49-F238E27FC236}">
                <a16:creationId xmlns:a16="http://schemas.microsoft.com/office/drawing/2014/main" id="{B0EA40F3-7216-D385-15A4-6EA73215FC9F}"/>
              </a:ext>
            </a:extLst>
          </p:cNvPr>
          <p:cNvSpPr/>
          <p:nvPr/>
        </p:nvSpPr>
        <p:spPr>
          <a:xfrm>
            <a:off x="4495800" y="2235200"/>
            <a:ext cx="3327400" cy="2082800"/>
          </a:xfrm>
          <a:prstGeom prst="roundRect">
            <a:avLst>
              <a:gd name="adj" fmla="val 6000"/>
            </a:avLst>
          </a:prstGeom>
          <a:solidFill>
            <a:srgbClr val="2F2F9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3B192FCD-29CC-CED4-C214-CC15E7CAF0A6}"/>
              </a:ext>
            </a:extLst>
          </p:cNvPr>
          <p:cNvSpPr txBox="1"/>
          <p:nvPr/>
        </p:nvSpPr>
        <p:spPr>
          <a:xfrm>
            <a:off x="4699000" y="2387600"/>
            <a:ext cx="2921000" cy="304800"/>
          </a:xfrm>
          <a:prstGeom prst="rect">
            <a:avLst/>
          </a:prstGeom>
          <a:noFill/>
        </p:spPr>
        <p:txBody>
          <a:bodyPr vert="horz" wrap="square" lIns="0" tIns="0" rIns="0" bIns="0" rtlCol="0">
            <a:noAutofit/>
          </a:bodyPr>
          <a:lstStyle/>
          <a:p>
            <a:r>
              <a:rPr lang="fr-FR" sz="1900" b="1">
                <a:solidFill>
                  <a:srgbClr val="B9B6FF"/>
                </a:solidFill>
                <a:latin typeface="Calibri" panose="020F0502020204030204" pitchFamily="34" charset="0"/>
              </a:rPr>
              <a:t>people</a:t>
            </a:r>
          </a:p>
        </p:txBody>
      </p:sp>
      <p:sp>
        <p:nvSpPr>
          <p:cNvPr id="16" name="ZoneTexte 15">
            <a:extLst>
              <a:ext uri="{FF2B5EF4-FFF2-40B4-BE49-F238E27FC236}">
                <a16:creationId xmlns:a16="http://schemas.microsoft.com/office/drawing/2014/main" id="{9C8FCD61-414E-2963-0872-E1EBD5C68BCF}"/>
              </a:ext>
            </a:extLst>
          </p:cNvPr>
          <p:cNvSpPr txBox="1"/>
          <p:nvPr/>
        </p:nvSpPr>
        <p:spPr>
          <a:xfrm>
            <a:off x="4699000" y="2768600"/>
            <a:ext cx="2921000" cy="14986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Un document par personne touchée : prêts, attestations (envois, signatures, relances), pertes, commentaires.</a:t>
            </a:r>
          </a:p>
        </p:txBody>
      </p:sp>
      <p:sp>
        <p:nvSpPr>
          <p:cNvPr id="17" name="Rectangle : coins arrondis 16">
            <a:extLst>
              <a:ext uri="{FF2B5EF4-FFF2-40B4-BE49-F238E27FC236}">
                <a16:creationId xmlns:a16="http://schemas.microsoft.com/office/drawing/2014/main" id="{7701653D-F5C7-62DB-757A-62B3297362E3}"/>
              </a:ext>
            </a:extLst>
          </p:cNvPr>
          <p:cNvSpPr/>
          <p:nvPr/>
        </p:nvSpPr>
        <p:spPr>
          <a:xfrm>
            <a:off x="8026400" y="2235200"/>
            <a:ext cx="3327400" cy="2082800"/>
          </a:xfrm>
          <a:prstGeom prst="roundRect">
            <a:avLst>
              <a:gd name="adj" fmla="val 6000"/>
            </a:avLst>
          </a:prstGeom>
          <a:solidFill>
            <a:srgbClr val="2F2F9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ZoneTexte 17">
            <a:extLst>
              <a:ext uri="{FF2B5EF4-FFF2-40B4-BE49-F238E27FC236}">
                <a16:creationId xmlns:a16="http://schemas.microsoft.com/office/drawing/2014/main" id="{23A33115-99E3-F185-B4BC-E61EC031F353}"/>
              </a:ext>
            </a:extLst>
          </p:cNvPr>
          <p:cNvSpPr txBox="1"/>
          <p:nvPr/>
        </p:nvSpPr>
        <p:spPr>
          <a:xfrm>
            <a:off x="8229600" y="2387600"/>
            <a:ext cx="2921000" cy="304800"/>
          </a:xfrm>
          <a:prstGeom prst="rect">
            <a:avLst/>
          </a:prstGeom>
          <a:noFill/>
        </p:spPr>
        <p:txBody>
          <a:bodyPr vert="horz" wrap="square" lIns="0" tIns="0" rIns="0" bIns="0" rtlCol="0">
            <a:noAutofit/>
          </a:bodyPr>
          <a:lstStyle/>
          <a:p>
            <a:r>
              <a:rPr lang="fr-FR" sz="1900" b="1">
                <a:solidFill>
                  <a:srgbClr val="B9B6FF"/>
                </a:solidFill>
                <a:latin typeface="Calibri" panose="020F0502020204030204" pitchFamily="34" charset="0"/>
              </a:rPr>
              <a:t>documents</a:t>
            </a:r>
          </a:p>
        </p:txBody>
      </p:sp>
      <p:sp>
        <p:nvSpPr>
          <p:cNvPr id="19" name="ZoneTexte 18">
            <a:extLst>
              <a:ext uri="{FF2B5EF4-FFF2-40B4-BE49-F238E27FC236}">
                <a16:creationId xmlns:a16="http://schemas.microsoft.com/office/drawing/2014/main" id="{0892F21E-0235-98EC-DEC5-755449EE96AF}"/>
              </a:ext>
            </a:extLst>
          </p:cNvPr>
          <p:cNvSpPr txBox="1"/>
          <p:nvPr/>
        </p:nvSpPr>
        <p:spPr>
          <a:xfrm>
            <a:off x="8229600" y="2768600"/>
            <a:ext cx="2921000" cy="14986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Un document par attestation signée : le PDF signé, son nom, la date et l'auteur. Environ 18 Ko chacun.</a:t>
            </a:r>
          </a:p>
        </p:txBody>
      </p:sp>
      <p:sp>
        <p:nvSpPr>
          <p:cNvPr id="20" name="Rectangle : coins arrondis 19">
            <a:extLst>
              <a:ext uri="{FF2B5EF4-FFF2-40B4-BE49-F238E27FC236}">
                <a16:creationId xmlns:a16="http://schemas.microsoft.com/office/drawing/2014/main" id="{CD5E0B0C-EA2B-DA94-61ED-42BB7D6A304C}"/>
              </a:ext>
            </a:extLst>
          </p:cNvPr>
          <p:cNvSpPr/>
          <p:nvPr/>
        </p:nvSpPr>
        <p:spPr>
          <a:xfrm>
            <a:off x="609600" y="4800600"/>
            <a:ext cx="10972800" cy="1422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E3440F06-32FA-4194-80BC-6A028F37521C}"/>
              </a:ext>
            </a:extLst>
          </p:cNvPr>
          <p:cNvSpPr txBox="1"/>
          <p:nvPr/>
        </p:nvSpPr>
        <p:spPr>
          <a:xfrm>
            <a:off x="863600" y="4978400"/>
            <a:ext cx="10490200" cy="1219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Rien n'est stocké sur le poste ni dans OneDrive : toutes les personnes ayant accès voient les mêmes données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Une personne n'apparaît dans la base qu'à sa première action ; l'ouverture de l'application n'écrit rien</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Limite de la base : 256 Ko par document ; collections directory (annuaire), roles, links et mine</a:t>
            </a:r>
          </a:p>
        </p:txBody>
      </p:sp>
    </p:spTree>
    <p:extLst>
      <p:ext uri="{BB962C8B-B14F-4D97-AF65-F5344CB8AC3E}">
        <p14:creationId xmlns:p14="http://schemas.microsoft.com/office/powerpoint/2010/main" val="1280132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46502A7-F474-6371-8F41-364F7967E6A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Comment c'est enregistré et protégé</a:t>
            </a:r>
          </a:p>
        </p:txBody>
      </p:sp>
      <p:sp>
        <p:nvSpPr>
          <p:cNvPr id="3" name="ZoneTexte 2">
            <a:extLst>
              <a:ext uri="{FF2B5EF4-FFF2-40B4-BE49-F238E27FC236}">
                <a16:creationId xmlns:a16="http://schemas.microsoft.com/office/drawing/2014/main" id="{51F0F623-A2D1-AE86-E23C-8857E31567F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SAUVEGARDE</a:t>
            </a:r>
          </a:p>
        </p:txBody>
      </p:sp>
      <p:sp>
        <p:nvSpPr>
          <p:cNvPr id="4" name="ZoneTexte 3">
            <a:extLst>
              <a:ext uri="{FF2B5EF4-FFF2-40B4-BE49-F238E27FC236}">
                <a16:creationId xmlns:a16="http://schemas.microsoft.com/office/drawing/2014/main" id="{096B1374-48FF-D8BA-0F37-200C3A2085E8}"/>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Relire, appliquer, enregistrer : pas d'écrasement entre collègues</a:t>
            </a:r>
          </a:p>
        </p:txBody>
      </p:sp>
      <p:sp>
        <p:nvSpPr>
          <p:cNvPr id="5" name="ZoneTexte 4">
            <a:extLst>
              <a:ext uri="{FF2B5EF4-FFF2-40B4-BE49-F238E27FC236}">
                <a16:creationId xmlns:a16="http://schemas.microsoft.com/office/drawing/2014/main" id="{AC56CAB8-C32B-3D3D-596A-4DCF18DE88E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C8E30431-0833-9FB7-FE7A-2B499BB87DA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FFA6079-5431-4192-8B20-89B8477DB101}" type="slidenum">
              <a:rPr lang="fr-FR" sz="900" smtClean="0">
                <a:solidFill>
                  <a:srgbClr val="586080"/>
                </a:solidFill>
                <a:latin typeface="Calibri" panose="020F0502020204030204" pitchFamily="34" charset="0"/>
              </a:rPr>
              <a:t>46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1B408BB-5CD3-1C39-A70C-90D0C2B67A2C}"/>
              </a:ext>
            </a:extLst>
          </p:cNvPr>
          <p:cNvSpPr/>
          <p:nvPr/>
        </p:nvSpPr>
        <p:spPr>
          <a:xfrm>
            <a:off x="6096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0B16182C-F68F-1A67-E4ED-8792DD0B817A}"/>
              </a:ext>
            </a:extLst>
          </p:cNvPr>
          <p:cNvSpPr/>
          <p:nvPr/>
        </p:nvSpPr>
        <p:spPr>
          <a:xfrm>
            <a:off x="8382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B99C1490-05B8-A502-4FA0-1984A2B7BB8F}"/>
              </a:ext>
            </a:extLst>
          </p:cNvPr>
          <p:cNvSpPr txBox="1"/>
          <p:nvPr/>
        </p:nvSpPr>
        <p:spPr>
          <a:xfrm>
            <a:off x="14478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Relire</a:t>
            </a:r>
          </a:p>
        </p:txBody>
      </p:sp>
      <p:sp>
        <p:nvSpPr>
          <p:cNvPr id="10" name="ZoneTexte 9">
            <a:extLst>
              <a:ext uri="{FF2B5EF4-FFF2-40B4-BE49-F238E27FC236}">
                <a16:creationId xmlns:a16="http://schemas.microsoft.com/office/drawing/2014/main" id="{088B8B2C-A6DB-B8DC-3A01-F52F679F8FEC}"/>
              </a:ext>
            </a:extLst>
          </p:cNvPr>
          <p:cNvSpPr txBox="1"/>
          <p:nvPr/>
        </p:nvSpPr>
        <p:spPr>
          <a:xfrm>
            <a:off x="8382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La dernière version de la personne est lue dans la base</a:t>
            </a:r>
          </a:p>
        </p:txBody>
      </p:sp>
      <p:cxnSp>
        <p:nvCxnSpPr>
          <p:cNvPr id="11" name="Connecteur droit 10">
            <a:extLst>
              <a:ext uri="{FF2B5EF4-FFF2-40B4-BE49-F238E27FC236}">
                <a16:creationId xmlns:a16="http://schemas.microsoft.com/office/drawing/2014/main" id="{3E908E9A-8C6D-897D-03AA-F5E386E72959}"/>
              </a:ext>
            </a:extLst>
          </p:cNvPr>
          <p:cNvCxnSpPr/>
          <p:nvPr/>
        </p:nvCxnSpPr>
        <p:spPr>
          <a:xfrm>
            <a:off x="4089400" y="2425700"/>
            <a:ext cx="2413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 coins arrondis 11">
            <a:extLst>
              <a:ext uri="{FF2B5EF4-FFF2-40B4-BE49-F238E27FC236}">
                <a16:creationId xmlns:a16="http://schemas.microsoft.com/office/drawing/2014/main" id="{0E380794-9A31-3303-2D1C-53298B592B99}"/>
              </a:ext>
            </a:extLst>
          </p:cNvPr>
          <p:cNvSpPr/>
          <p:nvPr/>
        </p:nvSpPr>
        <p:spPr>
          <a:xfrm>
            <a:off x="43815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6CC555E5-F727-B15E-6539-E0242E916E45}"/>
              </a:ext>
            </a:extLst>
          </p:cNvPr>
          <p:cNvSpPr/>
          <p:nvPr/>
        </p:nvSpPr>
        <p:spPr>
          <a:xfrm>
            <a:off x="46101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2</a:t>
            </a:r>
          </a:p>
        </p:txBody>
      </p:sp>
      <p:sp>
        <p:nvSpPr>
          <p:cNvPr id="14" name="ZoneTexte 13">
            <a:extLst>
              <a:ext uri="{FF2B5EF4-FFF2-40B4-BE49-F238E27FC236}">
                <a16:creationId xmlns:a16="http://schemas.microsoft.com/office/drawing/2014/main" id="{E48CAA91-03EC-93BD-C850-3162DAF227B2}"/>
              </a:ext>
            </a:extLst>
          </p:cNvPr>
          <p:cNvSpPr txBox="1"/>
          <p:nvPr/>
        </p:nvSpPr>
        <p:spPr>
          <a:xfrm>
            <a:off x="52197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Appliquer</a:t>
            </a:r>
          </a:p>
        </p:txBody>
      </p:sp>
      <p:sp>
        <p:nvSpPr>
          <p:cNvPr id="15" name="ZoneTexte 14">
            <a:extLst>
              <a:ext uri="{FF2B5EF4-FFF2-40B4-BE49-F238E27FC236}">
                <a16:creationId xmlns:a16="http://schemas.microsoft.com/office/drawing/2014/main" id="{71191E7F-19BE-94C4-A28A-19CE1DA6EB5F}"/>
              </a:ext>
            </a:extLst>
          </p:cNvPr>
          <p:cNvSpPr txBox="1"/>
          <p:nvPr/>
        </p:nvSpPr>
        <p:spPr>
          <a:xfrm>
            <a:off x="46101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Votre modification est ajoutée par-dessus</a:t>
            </a:r>
          </a:p>
        </p:txBody>
      </p:sp>
      <p:cxnSp>
        <p:nvCxnSpPr>
          <p:cNvPr id="16" name="Connecteur droit 15">
            <a:extLst>
              <a:ext uri="{FF2B5EF4-FFF2-40B4-BE49-F238E27FC236}">
                <a16:creationId xmlns:a16="http://schemas.microsoft.com/office/drawing/2014/main" id="{ECF0DBF4-EA17-5E90-EB02-B680D9AA7B54}"/>
              </a:ext>
            </a:extLst>
          </p:cNvPr>
          <p:cNvCxnSpPr/>
          <p:nvPr/>
        </p:nvCxnSpPr>
        <p:spPr>
          <a:xfrm>
            <a:off x="7861300" y="2425700"/>
            <a:ext cx="2413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 coins arrondis 16">
            <a:extLst>
              <a:ext uri="{FF2B5EF4-FFF2-40B4-BE49-F238E27FC236}">
                <a16:creationId xmlns:a16="http://schemas.microsoft.com/office/drawing/2014/main" id="{A4A0CE29-51EE-F9D3-71B6-CD9CFAB4ED9A}"/>
              </a:ext>
            </a:extLst>
          </p:cNvPr>
          <p:cNvSpPr/>
          <p:nvPr/>
        </p:nvSpPr>
        <p:spPr>
          <a:xfrm>
            <a:off x="81534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49DC9FF5-68DE-EA81-1C0C-33FDC71AA3B3}"/>
              </a:ext>
            </a:extLst>
          </p:cNvPr>
          <p:cNvSpPr/>
          <p:nvPr/>
        </p:nvSpPr>
        <p:spPr>
          <a:xfrm>
            <a:off x="83820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3</a:t>
            </a:r>
          </a:p>
        </p:txBody>
      </p:sp>
      <p:sp>
        <p:nvSpPr>
          <p:cNvPr id="19" name="ZoneTexte 18">
            <a:extLst>
              <a:ext uri="{FF2B5EF4-FFF2-40B4-BE49-F238E27FC236}">
                <a16:creationId xmlns:a16="http://schemas.microsoft.com/office/drawing/2014/main" id="{E8015A90-77DC-CFDA-E95F-56045D9A76E9}"/>
              </a:ext>
            </a:extLst>
          </p:cNvPr>
          <p:cNvSpPr txBox="1"/>
          <p:nvPr/>
        </p:nvSpPr>
        <p:spPr>
          <a:xfrm>
            <a:off x="89916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Enregistrer</a:t>
            </a:r>
          </a:p>
        </p:txBody>
      </p:sp>
      <p:sp>
        <p:nvSpPr>
          <p:cNvPr id="20" name="ZoneTexte 19">
            <a:extLst>
              <a:ext uri="{FF2B5EF4-FFF2-40B4-BE49-F238E27FC236}">
                <a16:creationId xmlns:a16="http://schemas.microsoft.com/office/drawing/2014/main" id="{C25CBD69-CBF3-FED7-34C0-EF9E5203F40C}"/>
              </a:ext>
            </a:extLst>
          </p:cNvPr>
          <p:cNvSpPr txBox="1"/>
          <p:nvPr/>
        </p:nvSpPr>
        <p:spPr>
          <a:xfrm>
            <a:off x="83820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Le résultat est sauvegardé ; la pastille affiche « Synchronisé »</a:t>
            </a:r>
          </a:p>
        </p:txBody>
      </p:sp>
      <p:sp>
        <p:nvSpPr>
          <p:cNvPr id="21" name="Rectangle : coins arrondis 20">
            <a:extLst>
              <a:ext uri="{FF2B5EF4-FFF2-40B4-BE49-F238E27FC236}">
                <a16:creationId xmlns:a16="http://schemas.microsoft.com/office/drawing/2014/main" id="{957A6F43-5E5F-206B-A4D6-FED8485A2EA6}"/>
              </a:ext>
            </a:extLst>
          </p:cNvPr>
          <p:cNvSpPr/>
          <p:nvPr/>
        </p:nvSpPr>
        <p:spPr>
          <a:xfrm>
            <a:off x="609600" y="3505200"/>
            <a:ext cx="5334000" cy="27178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979E2605-190B-8A7C-7F7F-2DD6D4FB4B07}"/>
              </a:ext>
            </a:extLst>
          </p:cNvPr>
          <p:cNvSpPr txBox="1"/>
          <p:nvPr/>
        </p:nvSpPr>
        <p:spPr>
          <a:xfrm>
            <a:off x="863600" y="3683000"/>
            <a:ext cx="4826000" cy="3048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Si l'enregistrement échoue</a:t>
            </a:r>
          </a:p>
        </p:txBody>
      </p:sp>
      <p:sp>
        <p:nvSpPr>
          <p:cNvPr id="23" name="ZoneTexte 22">
            <a:extLst>
              <a:ext uri="{FF2B5EF4-FFF2-40B4-BE49-F238E27FC236}">
                <a16:creationId xmlns:a16="http://schemas.microsoft.com/office/drawing/2014/main" id="{16F37DA2-66ED-0E48-9515-535D958228BB}"/>
              </a:ext>
            </a:extLst>
          </p:cNvPr>
          <p:cNvSpPr txBox="1"/>
          <p:nvPr/>
        </p:nvSpPr>
        <p:spPr>
          <a:xfrm>
            <a:off x="863600" y="4114800"/>
            <a:ext cx="4851400" cy="2032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Au-delà de 6 secondes, l'action est abandonnée pour ne pas bloquer l'écran</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La pastille passe à « Mode local »</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L'action n'est pas conservée : recharger la page et recommencer</a:t>
            </a:r>
          </a:p>
        </p:txBody>
      </p:sp>
      <p:sp>
        <p:nvSpPr>
          <p:cNvPr id="24" name="Rectangle : coins arrondis 23">
            <a:extLst>
              <a:ext uri="{FF2B5EF4-FFF2-40B4-BE49-F238E27FC236}">
                <a16:creationId xmlns:a16="http://schemas.microsoft.com/office/drawing/2014/main" id="{C0FB3953-F83B-FEFF-82D8-4C749D6827D1}"/>
              </a:ext>
            </a:extLst>
          </p:cNvPr>
          <p:cNvSpPr/>
          <p:nvPr/>
        </p:nvSpPr>
        <p:spPr>
          <a:xfrm>
            <a:off x="6248400" y="3505200"/>
            <a:ext cx="5334000" cy="27178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F03A3D36-0CF3-6BE5-7935-A0FF018DCCFB}"/>
              </a:ext>
            </a:extLst>
          </p:cNvPr>
          <p:cNvSpPr txBox="1"/>
          <p:nvPr/>
        </p:nvSpPr>
        <p:spPr>
          <a:xfrm>
            <a:off x="6502400" y="3683000"/>
            <a:ext cx="4826000" cy="3048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Copies de secours</a:t>
            </a:r>
          </a:p>
        </p:txBody>
      </p:sp>
      <p:sp>
        <p:nvSpPr>
          <p:cNvPr id="26" name="ZoneTexte 25">
            <a:extLst>
              <a:ext uri="{FF2B5EF4-FFF2-40B4-BE49-F238E27FC236}">
                <a16:creationId xmlns:a16="http://schemas.microsoft.com/office/drawing/2014/main" id="{D58F075C-2BA5-089E-EA78-D871574471BA}"/>
              </a:ext>
            </a:extLst>
          </p:cNvPr>
          <p:cNvSpPr txBox="1"/>
          <p:nvPr/>
        </p:nvSpPr>
        <p:spPr>
          <a:xfrm>
            <a:off x="6502400" y="4114800"/>
            <a:ext cx="4851400" cy="2032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Exports CSV : attestations, matériel perdu</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PDF signés téléchargeables un par un</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Pas de sauvegarde automatique hors de l'application : export complet à prévoir</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Fichier gpiexalt.html ouvert en local : aucune sauvegarde</a:t>
            </a:r>
          </a:p>
        </p:txBody>
      </p:sp>
    </p:spTree>
    <p:extLst>
      <p:ext uri="{BB962C8B-B14F-4D97-AF65-F5344CB8AC3E}">
        <p14:creationId xmlns:p14="http://schemas.microsoft.com/office/powerpoint/2010/main" val="30640527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752C47-6F2B-8E30-B924-1EBDDD45E5D4}"/>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Qualité</a:t>
            </a:r>
          </a:p>
        </p:txBody>
      </p:sp>
      <p:sp>
        <p:nvSpPr>
          <p:cNvPr id="3" name="ZoneTexte 2">
            <a:extLst>
              <a:ext uri="{FF2B5EF4-FFF2-40B4-BE49-F238E27FC236}">
                <a16:creationId xmlns:a16="http://schemas.microsoft.com/office/drawing/2014/main" id="{AB921A1D-5946-B2B3-C44D-1EB2896CFE18}"/>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06</a:t>
            </a:r>
          </a:p>
        </p:txBody>
      </p:sp>
      <p:sp>
        <p:nvSpPr>
          <p:cNvPr id="4" name="ZoneTexte 3">
            <a:extLst>
              <a:ext uri="{FF2B5EF4-FFF2-40B4-BE49-F238E27FC236}">
                <a16:creationId xmlns:a16="http://schemas.microsoft.com/office/drawing/2014/main" id="{E8C9A45D-9C7E-75F2-0AF3-391AD74D1A3D}"/>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Plan de recette et registre des risques</a:t>
            </a:r>
          </a:p>
        </p:txBody>
      </p:sp>
      <p:pic>
        <p:nvPicPr>
          <p:cNvPr id="6" name="Image 5">
            <a:extLst>
              <a:ext uri="{FF2B5EF4-FFF2-40B4-BE49-F238E27FC236}">
                <a16:creationId xmlns:a16="http://schemas.microsoft.com/office/drawing/2014/main" id="{87B9B5B3-328C-C79F-6B34-E1065E3D93D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76DE79C7-02ED-6ACE-0A41-37878F3A2290}"/>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7.0</a:t>
            </a:r>
          </a:p>
        </p:txBody>
      </p:sp>
    </p:spTree>
    <p:extLst>
      <p:ext uri="{BB962C8B-B14F-4D97-AF65-F5344CB8AC3E}">
        <p14:creationId xmlns:p14="http://schemas.microsoft.com/office/powerpoint/2010/main" val="25783876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F936867-C8C3-96BF-78DD-CC23532BDD8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Plan de recette : état au 12/10/2026</a:t>
            </a:r>
          </a:p>
        </p:txBody>
      </p:sp>
      <p:sp>
        <p:nvSpPr>
          <p:cNvPr id="3" name="ZoneTexte 2">
            <a:extLst>
              <a:ext uri="{FF2B5EF4-FFF2-40B4-BE49-F238E27FC236}">
                <a16:creationId xmlns:a16="http://schemas.microsoft.com/office/drawing/2014/main" id="{EA0E60AB-EBAB-F1B8-2CCE-644182DA3C1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QUALITÉ</a:t>
            </a:r>
          </a:p>
        </p:txBody>
      </p:sp>
      <p:sp>
        <p:nvSpPr>
          <p:cNvPr id="4" name="ZoneTexte 3">
            <a:extLst>
              <a:ext uri="{FF2B5EF4-FFF2-40B4-BE49-F238E27FC236}">
                <a16:creationId xmlns:a16="http://schemas.microsoft.com/office/drawing/2014/main" id="{1563D833-AE9B-1D17-B8AB-4ED098AC48B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52 cas : 40 réalisés ou simulés en local, 11 prioritaires en production</a:t>
            </a:r>
          </a:p>
        </p:txBody>
      </p:sp>
      <p:sp>
        <p:nvSpPr>
          <p:cNvPr id="5" name="ZoneTexte 4">
            <a:extLst>
              <a:ext uri="{FF2B5EF4-FFF2-40B4-BE49-F238E27FC236}">
                <a16:creationId xmlns:a16="http://schemas.microsoft.com/office/drawing/2014/main" id="{F941EA07-073E-15D9-9494-F93D7A4FCD31}"/>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6369B52F-9557-446B-F105-6687EC3C809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1B2815F-22F7-47E1-9E2A-30B7B49B3D5C}" type="slidenum">
              <a:rPr lang="fr-FR" sz="900" smtClean="0">
                <a:solidFill>
                  <a:srgbClr val="586080"/>
                </a:solidFill>
                <a:latin typeface="Calibri" panose="020F0502020204030204" pitchFamily="34" charset="0"/>
              </a:rPr>
              <a:t>48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4FD6DB5-8BAE-B609-3740-6A513817DB35}"/>
              </a:ext>
            </a:extLst>
          </p:cNvPr>
          <p:cNvSpPr/>
          <p:nvPr/>
        </p:nvSpPr>
        <p:spPr>
          <a:xfrm>
            <a:off x="6096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6DBD4EE6-628F-6070-F4FF-1F9ACD332539}"/>
              </a:ext>
            </a:extLst>
          </p:cNvPr>
          <p:cNvSpPr txBox="1"/>
          <p:nvPr/>
        </p:nvSpPr>
        <p:spPr>
          <a:xfrm>
            <a:off x="889000" y="1625600"/>
            <a:ext cx="1270000" cy="889000"/>
          </a:xfrm>
          <a:prstGeom prst="rect">
            <a:avLst/>
          </a:prstGeom>
          <a:noFill/>
        </p:spPr>
        <p:txBody>
          <a:bodyPr vert="horz" wrap="square" lIns="0" tIns="0" rIns="0" bIns="0" rtlCol="0">
            <a:noAutofit/>
          </a:bodyPr>
          <a:lstStyle/>
          <a:p>
            <a:r>
              <a:rPr lang="fr-FR" sz="4800" b="1">
                <a:solidFill>
                  <a:srgbClr val="1B9E6B"/>
                </a:solidFill>
                <a:latin typeface="Calibri" panose="020F0502020204030204" pitchFamily="34" charset="0"/>
              </a:rPr>
              <a:t>40</a:t>
            </a:r>
          </a:p>
        </p:txBody>
      </p:sp>
      <p:sp>
        <p:nvSpPr>
          <p:cNvPr id="9" name="ZoneTexte 8">
            <a:extLst>
              <a:ext uri="{FF2B5EF4-FFF2-40B4-BE49-F238E27FC236}">
                <a16:creationId xmlns:a16="http://schemas.microsoft.com/office/drawing/2014/main" id="{10631D4E-58B5-7EFF-20C1-DECF76CB9F6A}"/>
              </a:ext>
            </a:extLst>
          </p:cNvPr>
          <p:cNvSpPr txBox="1"/>
          <p:nvPr/>
        </p:nvSpPr>
        <p:spPr>
          <a:xfrm>
            <a:off x="20320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réalisés ou simulés</a:t>
            </a:r>
          </a:p>
        </p:txBody>
      </p:sp>
      <p:sp>
        <p:nvSpPr>
          <p:cNvPr id="10" name="Rectangle : coins arrondis 9">
            <a:extLst>
              <a:ext uri="{FF2B5EF4-FFF2-40B4-BE49-F238E27FC236}">
                <a16:creationId xmlns:a16="http://schemas.microsoft.com/office/drawing/2014/main" id="{99FEC36A-9A0D-9CC3-3543-152A8736B65B}"/>
              </a:ext>
            </a:extLst>
          </p:cNvPr>
          <p:cNvSpPr/>
          <p:nvPr/>
        </p:nvSpPr>
        <p:spPr>
          <a:xfrm>
            <a:off x="43815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66B69354-7EC3-0A83-F6BA-597138E05C79}"/>
              </a:ext>
            </a:extLst>
          </p:cNvPr>
          <p:cNvSpPr txBox="1"/>
          <p:nvPr/>
        </p:nvSpPr>
        <p:spPr>
          <a:xfrm>
            <a:off x="4660900" y="1625600"/>
            <a:ext cx="1270000" cy="889000"/>
          </a:xfrm>
          <a:prstGeom prst="rect">
            <a:avLst/>
          </a:prstGeom>
          <a:noFill/>
        </p:spPr>
        <p:txBody>
          <a:bodyPr vert="horz" wrap="square" lIns="0" tIns="0" rIns="0" bIns="0" rtlCol="0">
            <a:noAutofit/>
          </a:bodyPr>
          <a:lstStyle/>
          <a:p>
            <a:r>
              <a:rPr lang="fr-FR" sz="4800" b="1">
                <a:solidFill>
                  <a:srgbClr val="B67608"/>
                </a:solidFill>
                <a:latin typeface="Calibri" panose="020F0502020204030204" pitchFamily="34" charset="0"/>
              </a:rPr>
              <a:t>9</a:t>
            </a:r>
          </a:p>
        </p:txBody>
      </p:sp>
      <p:sp>
        <p:nvSpPr>
          <p:cNvPr id="12" name="ZoneTexte 11">
            <a:extLst>
              <a:ext uri="{FF2B5EF4-FFF2-40B4-BE49-F238E27FC236}">
                <a16:creationId xmlns:a16="http://schemas.microsoft.com/office/drawing/2014/main" id="{720D77CA-F9FE-87AE-0C61-4EA0063D5E09}"/>
              </a:ext>
            </a:extLst>
          </p:cNvPr>
          <p:cNvSpPr txBox="1"/>
          <p:nvPr/>
        </p:nvSpPr>
        <p:spPr>
          <a:xfrm>
            <a:off x="58039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à réaliser en local</a:t>
            </a:r>
          </a:p>
        </p:txBody>
      </p:sp>
      <p:sp>
        <p:nvSpPr>
          <p:cNvPr id="13" name="Rectangle : coins arrondis 12">
            <a:extLst>
              <a:ext uri="{FF2B5EF4-FFF2-40B4-BE49-F238E27FC236}">
                <a16:creationId xmlns:a16="http://schemas.microsoft.com/office/drawing/2014/main" id="{ECFE291E-92C6-E695-5E65-8B62A7490FC0}"/>
              </a:ext>
            </a:extLst>
          </p:cNvPr>
          <p:cNvSpPr/>
          <p:nvPr/>
        </p:nvSpPr>
        <p:spPr>
          <a:xfrm>
            <a:off x="81534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DBE2786B-0BBF-1366-573D-AE6E2E09CCE6}"/>
              </a:ext>
            </a:extLst>
          </p:cNvPr>
          <p:cNvSpPr txBox="1"/>
          <p:nvPr/>
        </p:nvSpPr>
        <p:spPr>
          <a:xfrm>
            <a:off x="8432800" y="1625600"/>
            <a:ext cx="1270000" cy="889000"/>
          </a:xfrm>
          <a:prstGeom prst="rect">
            <a:avLst/>
          </a:prstGeom>
          <a:noFill/>
        </p:spPr>
        <p:txBody>
          <a:bodyPr vert="horz" wrap="square" lIns="0" tIns="0" rIns="0" bIns="0" rtlCol="0">
            <a:noAutofit/>
          </a:bodyPr>
          <a:lstStyle/>
          <a:p>
            <a:r>
              <a:rPr lang="fr-FR" sz="4800" b="1">
                <a:solidFill>
                  <a:srgbClr val="C43D3D"/>
                </a:solidFill>
                <a:latin typeface="Calibri" panose="020F0502020204030204" pitchFamily="34" charset="0"/>
              </a:rPr>
              <a:t>11</a:t>
            </a:r>
          </a:p>
        </p:txBody>
      </p:sp>
      <p:sp>
        <p:nvSpPr>
          <p:cNvPr id="15" name="ZoneTexte 14">
            <a:extLst>
              <a:ext uri="{FF2B5EF4-FFF2-40B4-BE49-F238E27FC236}">
                <a16:creationId xmlns:a16="http://schemas.microsoft.com/office/drawing/2014/main" id="{61EF3AF1-B43D-1D98-59CB-AF1D7525A02D}"/>
              </a:ext>
            </a:extLst>
          </p:cNvPr>
          <p:cNvSpPr txBox="1"/>
          <p:nvPr/>
        </p:nvSpPr>
        <p:spPr>
          <a:xfrm>
            <a:off x="95758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prioritaires en production</a:t>
            </a:r>
          </a:p>
        </p:txBody>
      </p:sp>
      <p:sp>
        <p:nvSpPr>
          <p:cNvPr id="16" name="ZoneTexte 15">
            <a:extLst>
              <a:ext uri="{FF2B5EF4-FFF2-40B4-BE49-F238E27FC236}">
                <a16:creationId xmlns:a16="http://schemas.microsoft.com/office/drawing/2014/main" id="{8FE98C87-D354-4C8F-E335-CFDBFC27A9D0}"/>
              </a:ext>
            </a:extLst>
          </p:cNvPr>
          <p:cNvSpPr txBox="1"/>
          <p:nvPr/>
        </p:nvSpPr>
        <p:spPr>
          <a:xfrm>
            <a:off x="609600" y="2692400"/>
            <a:ext cx="109728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Cas prioritaires en production</a:t>
            </a:r>
          </a:p>
        </p:txBody>
      </p:sp>
      <p:graphicFrame>
        <p:nvGraphicFramePr>
          <p:cNvPr id="17" name="Tableau 16">
            <a:extLst>
              <a:ext uri="{FF2B5EF4-FFF2-40B4-BE49-F238E27FC236}">
                <a16:creationId xmlns:a16="http://schemas.microsoft.com/office/drawing/2014/main" id="{C27E25CD-92D3-E704-1322-6A04CB3FB1E6}"/>
              </a:ext>
            </a:extLst>
          </p:cNvPr>
          <p:cNvGraphicFramePr>
            <a:graphicFrameLocks noGrp="1"/>
          </p:cNvGraphicFramePr>
          <p:nvPr>
            <p:extLst>
              <p:ext uri="{D42A27DB-BD31-4B8C-83A1-F6EECF244321}">
                <p14:modId xmlns:p14="http://schemas.microsoft.com/office/powerpoint/2010/main" val="4115837980"/>
              </p:ext>
            </p:extLst>
          </p:nvPr>
        </p:nvGraphicFramePr>
        <p:xfrm>
          <a:off x="609600" y="3022600"/>
          <a:ext cx="10972800" cy="3048000"/>
        </p:xfrm>
        <a:graphic>
          <a:graphicData uri="http://schemas.openxmlformats.org/drawingml/2006/table">
            <a:tbl>
              <a:tblPr firstRow="1" bandRow="1">
                <a:tableStyleId>{2D5ABB26-0587-4C30-8999-92F81FD0307C}</a:tableStyleId>
              </a:tblPr>
              <a:tblGrid>
                <a:gridCol w="889000">
                  <a:extLst>
                    <a:ext uri="{9D8B030D-6E8A-4147-A177-3AD203B41FA5}">
                      <a16:colId xmlns:a16="http://schemas.microsoft.com/office/drawing/2014/main" val="1747099434"/>
                    </a:ext>
                  </a:extLst>
                </a:gridCol>
                <a:gridCol w="1587500">
                  <a:extLst>
                    <a:ext uri="{9D8B030D-6E8A-4147-A177-3AD203B41FA5}">
                      <a16:colId xmlns:a16="http://schemas.microsoft.com/office/drawing/2014/main" val="3435841919"/>
                    </a:ext>
                  </a:extLst>
                </a:gridCol>
                <a:gridCol w="5067300">
                  <a:extLst>
                    <a:ext uri="{9D8B030D-6E8A-4147-A177-3AD203B41FA5}">
                      <a16:colId xmlns:a16="http://schemas.microsoft.com/office/drawing/2014/main" val="3890084372"/>
                    </a:ext>
                  </a:extLst>
                </a:gridCol>
                <a:gridCol w="3429000">
                  <a:extLst>
                    <a:ext uri="{9D8B030D-6E8A-4147-A177-3AD203B41FA5}">
                      <a16:colId xmlns:a16="http://schemas.microsoft.com/office/drawing/2014/main" val="2824230800"/>
                    </a:ext>
                  </a:extLst>
                </a:gridCol>
              </a:tblGrid>
              <a:tr h="254000">
                <a:tc>
                  <a:txBody>
                    <a:bodyPr/>
                    <a:lstStyle/>
                    <a:p>
                      <a:pPr algn="l"/>
                      <a:r>
                        <a:rPr lang="fr-FR" sz="1000" b="1">
                          <a:solidFill>
                            <a:srgbClr val="FFFFFF"/>
                          </a:solidFill>
                          <a:latin typeface="Calibri" panose="020F0502020204030204" pitchFamily="34" charset="0"/>
                        </a:rPr>
                        <a:t>Réf.</a:t>
                      </a:r>
                    </a:p>
                  </a:txBody>
                  <a:tcPr marL="127000" marR="127000" marT="38100" marB="38100" anchor="ctr">
                    <a:solidFill>
                      <a:srgbClr val="1E1C8C"/>
                    </a:solidFill>
                  </a:tcPr>
                </a:tc>
                <a:tc>
                  <a:txBody>
                    <a:bodyPr/>
                    <a:lstStyle/>
                    <a:p>
                      <a:pPr algn="l"/>
                      <a:r>
                        <a:rPr lang="fr-FR" sz="1000" b="1">
                          <a:solidFill>
                            <a:srgbClr val="FFFFFF"/>
                          </a:solidFill>
                          <a:latin typeface="Calibri" panose="020F0502020204030204" pitchFamily="34" charset="0"/>
                        </a:rPr>
                        <a:t>Fonction</a:t>
                      </a:r>
                    </a:p>
                  </a:txBody>
                  <a:tcPr marL="127000" marR="127000" marT="38100" marB="38100" anchor="ctr">
                    <a:solidFill>
                      <a:srgbClr val="1E1C8C"/>
                    </a:solidFill>
                  </a:tcPr>
                </a:tc>
                <a:tc>
                  <a:txBody>
                    <a:bodyPr/>
                    <a:lstStyle/>
                    <a:p>
                      <a:pPr algn="l"/>
                      <a:r>
                        <a:rPr lang="fr-FR" sz="1000" b="1">
                          <a:solidFill>
                            <a:srgbClr val="FFFFFF"/>
                          </a:solidFill>
                          <a:latin typeface="Calibri" panose="020F0502020204030204" pitchFamily="34" charset="0"/>
                        </a:rPr>
                        <a:t>Scénario</a:t>
                      </a:r>
                    </a:p>
                  </a:txBody>
                  <a:tcPr marL="127000" marR="127000" marT="38100" marB="38100" anchor="ctr">
                    <a:solidFill>
                      <a:srgbClr val="1E1C8C"/>
                    </a:solidFill>
                  </a:tcPr>
                </a:tc>
                <a:tc>
                  <a:txBody>
                    <a:bodyPr/>
                    <a:lstStyle/>
                    <a:p>
                      <a:pPr algn="l"/>
                      <a:r>
                        <a:rPr lang="fr-FR" sz="1000" b="1">
                          <a:solidFill>
                            <a:srgbClr val="FFFFFF"/>
                          </a:solidFill>
                          <a:latin typeface="Calibri" panose="020F0502020204030204" pitchFamily="34" charset="0"/>
                        </a:rPr>
                        <a:t>Résultat attendu</a:t>
                      </a:r>
                    </a:p>
                  </a:txBody>
                  <a:tcPr marL="127000" marR="127000" marT="38100" marB="38100" anchor="ctr">
                    <a:solidFill>
                      <a:srgbClr val="1E1C8C"/>
                    </a:solidFill>
                  </a:tcPr>
                </a:tc>
                <a:extLst>
                  <a:ext uri="{0D108BD9-81ED-4DB2-BD59-A6C34878D82A}">
                    <a16:rowId xmlns:a16="http://schemas.microsoft.com/office/drawing/2014/main" val="1105700671"/>
                  </a:ext>
                </a:extLst>
              </a:tr>
              <a:tr h="254000">
                <a:tc>
                  <a:txBody>
                    <a:bodyPr/>
                    <a:lstStyle/>
                    <a:p>
                      <a:pPr algn="l"/>
                      <a:r>
                        <a:rPr lang="fr-FR" sz="1000" b="1">
                          <a:solidFill>
                            <a:srgbClr val="12162B"/>
                          </a:solidFill>
                          <a:latin typeface="Calibri" panose="020F0502020204030204" pitchFamily="34" charset="0"/>
                        </a:rPr>
                        <a:t>CR-12</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Outlook</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 Par email » avec le connecteur Microsoft 365 autorisé</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Brouillon, PDF joint, bon destinataire</a:t>
                      </a:r>
                    </a:p>
                  </a:txBody>
                  <a:tcPr marL="127000" marR="127000" marT="38100" marB="38100" anchor="ctr">
                    <a:solidFill>
                      <a:srgbClr val="FFFFFF"/>
                    </a:solidFill>
                  </a:tcPr>
                </a:tc>
                <a:extLst>
                  <a:ext uri="{0D108BD9-81ED-4DB2-BD59-A6C34878D82A}">
                    <a16:rowId xmlns:a16="http://schemas.microsoft.com/office/drawing/2014/main" val="2305720121"/>
                  </a:ext>
                </a:extLst>
              </a:tr>
              <a:tr h="254000">
                <a:tc>
                  <a:txBody>
                    <a:bodyPr/>
                    <a:lstStyle/>
                    <a:p>
                      <a:pPr algn="l"/>
                      <a:r>
                        <a:rPr lang="fr-FR" sz="1000" b="1">
                          <a:solidFill>
                            <a:srgbClr val="12162B"/>
                          </a:solidFill>
                          <a:latin typeface="Calibri" panose="020F0502020204030204" pitchFamily="34" charset="0"/>
                        </a:rPr>
                        <a:t>CR-14</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Sauvegarde</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Enregistrer une action puis recharger la page</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Données conservées, « Synchronisé »</a:t>
                      </a:r>
                    </a:p>
                  </a:txBody>
                  <a:tcPr marL="127000" marR="127000" marT="38100" marB="38100" anchor="ctr">
                    <a:solidFill>
                      <a:srgbClr val="F0F2FA"/>
                    </a:solidFill>
                  </a:tcPr>
                </a:tc>
                <a:extLst>
                  <a:ext uri="{0D108BD9-81ED-4DB2-BD59-A6C34878D82A}">
                    <a16:rowId xmlns:a16="http://schemas.microsoft.com/office/drawing/2014/main" val="2312331596"/>
                  </a:ext>
                </a:extLst>
              </a:tr>
              <a:tr h="254000">
                <a:tc>
                  <a:txBody>
                    <a:bodyPr/>
                    <a:lstStyle/>
                    <a:p>
                      <a:pPr algn="l"/>
                      <a:r>
                        <a:rPr lang="fr-FR" sz="1000" b="1">
                          <a:solidFill>
                            <a:srgbClr val="12162B"/>
                          </a:solidFill>
                          <a:latin typeface="Calibri" panose="020F0502020204030204" pitchFamily="34" charset="0"/>
                        </a:rPr>
                        <a:t>CR-18</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Accès</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Ouvrir le lien avec un compte non autorisé</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Accès refusé</a:t>
                      </a:r>
                    </a:p>
                  </a:txBody>
                  <a:tcPr marL="127000" marR="127000" marT="38100" marB="38100" anchor="ctr">
                    <a:solidFill>
                      <a:srgbClr val="FFFFFF"/>
                    </a:solidFill>
                  </a:tcPr>
                </a:tc>
                <a:extLst>
                  <a:ext uri="{0D108BD9-81ED-4DB2-BD59-A6C34878D82A}">
                    <a16:rowId xmlns:a16="http://schemas.microsoft.com/office/drawing/2014/main" val="1215200496"/>
                  </a:ext>
                </a:extLst>
              </a:tr>
              <a:tr h="254000">
                <a:tc>
                  <a:txBody>
                    <a:bodyPr/>
                    <a:lstStyle/>
                    <a:p>
                      <a:pPr algn="l"/>
                      <a:r>
                        <a:rPr lang="fr-FR" sz="1000" b="1">
                          <a:solidFill>
                            <a:srgbClr val="12162B"/>
                          </a:solidFill>
                          <a:latin typeface="Calibri" panose="020F0502020204030204" pitchFamily="34" charset="0"/>
                        </a:rPr>
                        <a:t>CR-28</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Rôles</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Attribuer le rôle Collaborateur, puis « Tous les utilisateurs »</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Fiches rattachées, bilan des absents</a:t>
                      </a:r>
                    </a:p>
                  </a:txBody>
                  <a:tcPr marL="127000" marR="127000" marT="38100" marB="38100" anchor="ctr">
                    <a:solidFill>
                      <a:srgbClr val="F0F2FA"/>
                    </a:solidFill>
                  </a:tcPr>
                </a:tc>
                <a:extLst>
                  <a:ext uri="{0D108BD9-81ED-4DB2-BD59-A6C34878D82A}">
                    <a16:rowId xmlns:a16="http://schemas.microsoft.com/office/drawing/2014/main" val="3463072441"/>
                  </a:ext>
                </a:extLst>
              </a:tr>
              <a:tr h="254000">
                <a:tc>
                  <a:txBody>
                    <a:bodyPr/>
                    <a:lstStyle/>
                    <a:p>
                      <a:pPr algn="l"/>
                      <a:r>
                        <a:rPr lang="fr-FR" sz="1000" b="1">
                          <a:solidFill>
                            <a:srgbClr val="12162B"/>
                          </a:solidFill>
                          <a:latin typeface="Calibri" panose="020F0502020204030204" pitchFamily="34" charset="0"/>
                        </a:rPr>
                        <a:t>CR-29</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Collaborateur</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Ouvrir avec un compte « Peut consulter » rattaché</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Seule la vue Mon matériel ; autres fiches refusées</a:t>
                      </a:r>
                    </a:p>
                  </a:txBody>
                  <a:tcPr marL="127000" marR="127000" marT="38100" marB="38100" anchor="ctr">
                    <a:solidFill>
                      <a:srgbClr val="FFFFFF"/>
                    </a:solidFill>
                  </a:tcPr>
                </a:tc>
                <a:extLst>
                  <a:ext uri="{0D108BD9-81ED-4DB2-BD59-A6C34878D82A}">
                    <a16:rowId xmlns:a16="http://schemas.microsoft.com/office/drawing/2014/main" val="3085047443"/>
                  </a:ext>
                </a:extLst>
              </a:tr>
              <a:tr h="254000">
                <a:tc>
                  <a:txBody>
                    <a:bodyPr/>
                    <a:lstStyle/>
                    <a:p>
                      <a:pPr algn="l"/>
                      <a:r>
                        <a:rPr lang="fr-FR" sz="1000" b="1">
                          <a:solidFill>
                            <a:srgbClr val="12162B"/>
                          </a:solidFill>
                          <a:latin typeface="Calibri" panose="020F0502020204030204" pitchFamily="34" charset="0"/>
                        </a:rPr>
                        <a:t>CR-33</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Annuaire</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Importer 3 personnes choisies, ouvrir Emprunter</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Seules ces 3 personnes sont proposées</a:t>
                      </a:r>
                    </a:p>
                  </a:txBody>
                  <a:tcPr marL="127000" marR="127000" marT="38100" marB="38100" anchor="ctr">
                    <a:solidFill>
                      <a:srgbClr val="F0F2FA"/>
                    </a:solidFill>
                  </a:tcPr>
                </a:tc>
                <a:extLst>
                  <a:ext uri="{0D108BD9-81ED-4DB2-BD59-A6C34878D82A}">
                    <a16:rowId xmlns:a16="http://schemas.microsoft.com/office/drawing/2014/main" val="3988164207"/>
                  </a:ext>
                </a:extLst>
              </a:tr>
              <a:tr h="254000">
                <a:tc>
                  <a:txBody>
                    <a:bodyPr/>
                    <a:lstStyle/>
                    <a:p>
                      <a:pPr algn="l"/>
                      <a:r>
                        <a:rPr lang="fr-FR" sz="1000" b="1">
                          <a:solidFill>
                            <a:srgbClr val="12162B"/>
                          </a:solidFill>
                          <a:latin typeface="Calibri" panose="020F0502020204030204" pitchFamily="34" charset="0"/>
                        </a:rPr>
                        <a:t>CR-34</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Annuaire</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Importer tout l'annuaire (plus de 999 comptes)</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Tous les comptes actifs membres avec email</a:t>
                      </a:r>
                    </a:p>
                  </a:txBody>
                  <a:tcPr marL="127000" marR="127000" marT="38100" marB="38100" anchor="ctr">
                    <a:solidFill>
                      <a:srgbClr val="FFFFFF"/>
                    </a:solidFill>
                  </a:tcPr>
                </a:tc>
                <a:extLst>
                  <a:ext uri="{0D108BD9-81ED-4DB2-BD59-A6C34878D82A}">
                    <a16:rowId xmlns:a16="http://schemas.microsoft.com/office/drawing/2014/main" val="1254068777"/>
                  </a:ext>
                </a:extLst>
              </a:tr>
              <a:tr h="254000">
                <a:tc>
                  <a:txBody>
                    <a:bodyPr/>
                    <a:lstStyle/>
                    <a:p>
                      <a:pPr algn="l"/>
                      <a:r>
                        <a:rPr lang="fr-FR" sz="1000" b="1">
                          <a:solidFill>
                            <a:srgbClr val="12162B"/>
                          </a:solidFill>
                          <a:latin typeface="Calibri" panose="020F0502020204030204" pitchFamily="34" charset="0"/>
                        </a:rPr>
                        <a:t>CR-37</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Message signé</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Valider la signature, puis Envoyer maintenant</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Message reçu avec le PDF signé joint</a:t>
                      </a:r>
                    </a:p>
                  </a:txBody>
                  <a:tcPr marL="127000" marR="127000" marT="38100" marB="38100" anchor="ctr">
                    <a:solidFill>
                      <a:srgbClr val="F0F2FA"/>
                    </a:solidFill>
                  </a:tcPr>
                </a:tc>
                <a:extLst>
                  <a:ext uri="{0D108BD9-81ED-4DB2-BD59-A6C34878D82A}">
                    <a16:rowId xmlns:a16="http://schemas.microsoft.com/office/drawing/2014/main" val="3986069901"/>
                  </a:ext>
                </a:extLst>
              </a:tr>
              <a:tr h="254000">
                <a:tc>
                  <a:txBody>
                    <a:bodyPr/>
                    <a:lstStyle/>
                    <a:p>
                      <a:pPr algn="l"/>
                      <a:r>
                        <a:rPr lang="fr-FR" sz="1000" b="1">
                          <a:solidFill>
                            <a:srgbClr val="12162B"/>
                          </a:solidFill>
                          <a:latin typeface="Calibri" panose="020F0502020204030204" pitchFamily="34" charset="0"/>
                        </a:rPr>
                        <a:t>CR-47</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Rapport par email</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Saisir un destinataire, puis Envoyer maintenant</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Message reçu avec le rapport joint</a:t>
                      </a:r>
                    </a:p>
                  </a:txBody>
                  <a:tcPr marL="127000" marR="127000" marT="38100" marB="38100" anchor="ctr">
                    <a:solidFill>
                      <a:srgbClr val="FFFFFF"/>
                    </a:solidFill>
                  </a:tcPr>
                </a:tc>
                <a:extLst>
                  <a:ext uri="{0D108BD9-81ED-4DB2-BD59-A6C34878D82A}">
                    <a16:rowId xmlns:a16="http://schemas.microsoft.com/office/drawing/2014/main" val="492490674"/>
                  </a:ext>
                </a:extLst>
              </a:tr>
              <a:tr h="254000">
                <a:tc>
                  <a:txBody>
                    <a:bodyPr/>
                    <a:lstStyle/>
                    <a:p>
                      <a:pPr algn="l"/>
                      <a:r>
                        <a:rPr lang="fr-FR" sz="1000" b="1">
                          <a:solidFill>
                            <a:srgbClr val="12162B"/>
                          </a:solidFill>
                          <a:latin typeface="Calibri" panose="020F0502020204030204" pitchFamily="34" charset="0"/>
                        </a:rPr>
                        <a:t>CR-48</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Destinataire</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Restituer « Par email » avec une adresse saisie à la main</a:t>
                      </a:r>
                    </a:p>
                  </a:txBody>
                  <a:tcPr marL="127000" marR="127000" marT="38100" marB="38100" anchor="ctr">
                    <a:solidFill>
                      <a:srgbClr val="F0F2FA"/>
                    </a:solidFill>
                  </a:tcPr>
                </a:tc>
                <a:tc>
                  <a:txBody>
                    <a:bodyPr/>
                    <a:lstStyle/>
                    <a:p>
                      <a:pPr algn="l"/>
                      <a:r>
                        <a:rPr lang="fr-FR" sz="1000" b="0">
                          <a:solidFill>
                            <a:srgbClr val="12162B"/>
                          </a:solidFill>
                          <a:latin typeface="Calibri" panose="020F0502020204030204" pitchFamily="34" charset="0"/>
                        </a:rPr>
                        <a:t>Brouillon adressé à cette adresse</a:t>
                      </a:r>
                    </a:p>
                  </a:txBody>
                  <a:tcPr marL="127000" marR="127000" marT="38100" marB="38100" anchor="ctr">
                    <a:solidFill>
                      <a:srgbClr val="F0F2FA"/>
                    </a:solidFill>
                  </a:tcPr>
                </a:tc>
                <a:extLst>
                  <a:ext uri="{0D108BD9-81ED-4DB2-BD59-A6C34878D82A}">
                    <a16:rowId xmlns:a16="http://schemas.microsoft.com/office/drawing/2014/main" val="2239735410"/>
                  </a:ext>
                </a:extLst>
              </a:tr>
              <a:tr h="254000">
                <a:tc>
                  <a:txBody>
                    <a:bodyPr/>
                    <a:lstStyle/>
                    <a:p>
                      <a:pPr algn="l"/>
                      <a:r>
                        <a:rPr lang="fr-FR" sz="1000" b="1">
                          <a:solidFill>
                            <a:srgbClr val="12162B"/>
                          </a:solidFill>
                          <a:latin typeface="Calibri" panose="020F0502020204030204" pitchFamily="34" charset="0"/>
                        </a:rPr>
                        <a:t>CR-51</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Rôles</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Chercher « prénom nom » dans Rôles et accès</a:t>
                      </a:r>
                    </a:p>
                  </a:txBody>
                  <a:tcPr marL="127000" marR="127000" marT="38100" marB="38100" anchor="ctr">
                    <a:solidFill>
                      <a:srgbClr val="FFFFFF"/>
                    </a:solidFill>
                  </a:tcPr>
                </a:tc>
                <a:tc>
                  <a:txBody>
                    <a:bodyPr/>
                    <a:lstStyle/>
                    <a:p>
                      <a:pPr algn="l"/>
                      <a:r>
                        <a:rPr lang="fr-FR" sz="1000" b="0">
                          <a:solidFill>
                            <a:srgbClr val="12162B"/>
                          </a:solidFill>
                          <a:latin typeface="Calibri" panose="020F0502020204030204" pitchFamily="34" charset="0"/>
                        </a:rPr>
                        <a:t>Nom complet affiché, personne trouvée</a:t>
                      </a:r>
                    </a:p>
                  </a:txBody>
                  <a:tcPr marL="127000" marR="127000" marT="38100" marB="38100" anchor="ctr">
                    <a:solidFill>
                      <a:srgbClr val="FFFFFF"/>
                    </a:solidFill>
                  </a:tcPr>
                </a:tc>
                <a:extLst>
                  <a:ext uri="{0D108BD9-81ED-4DB2-BD59-A6C34878D82A}">
                    <a16:rowId xmlns:a16="http://schemas.microsoft.com/office/drawing/2014/main" val="3832372424"/>
                  </a:ext>
                </a:extLst>
              </a:tr>
            </a:tbl>
          </a:graphicData>
        </a:graphic>
      </p:graphicFrame>
      <p:sp>
        <p:nvSpPr>
          <p:cNvPr id="18" name="ZoneTexte 17">
            <a:extLst>
              <a:ext uri="{FF2B5EF4-FFF2-40B4-BE49-F238E27FC236}">
                <a16:creationId xmlns:a16="http://schemas.microsoft.com/office/drawing/2014/main" id="{D8A57549-F66D-7BFB-6106-EAC00AF571EA}"/>
              </a:ext>
            </a:extLst>
          </p:cNvPr>
          <p:cNvSpPr txBox="1"/>
          <p:nvPr/>
        </p:nvSpPr>
        <p:spPr>
          <a:xfrm>
            <a:off x="609600" y="6172200"/>
            <a:ext cx="10972800" cy="3048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Les 52 cas couvrent toutes les fonctions : détail au chapitre 10 du dossier PDF.</a:t>
            </a:r>
          </a:p>
        </p:txBody>
      </p:sp>
    </p:spTree>
    <p:extLst>
      <p:ext uri="{BB962C8B-B14F-4D97-AF65-F5344CB8AC3E}">
        <p14:creationId xmlns:p14="http://schemas.microsoft.com/office/powerpoint/2010/main" val="14846189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FF66A6-6DFB-919E-34B5-65C364E607B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Principaux risques</a:t>
            </a:r>
          </a:p>
        </p:txBody>
      </p:sp>
      <p:sp>
        <p:nvSpPr>
          <p:cNvPr id="3" name="ZoneTexte 2">
            <a:extLst>
              <a:ext uri="{FF2B5EF4-FFF2-40B4-BE49-F238E27FC236}">
                <a16:creationId xmlns:a16="http://schemas.microsoft.com/office/drawing/2014/main" id="{81660704-3FC0-7C07-7EC7-A3446655215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QUALITÉ</a:t>
            </a:r>
          </a:p>
        </p:txBody>
      </p:sp>
      <p:sp>
        <p:nvSpPr>
          <p:cNvPr id="4" name="ZoneTexte 3">
            <a:extLst>
              <a:ext uri="{FF2B5EF4-FFF2-40B4-BE49-F238E27FC236}">
                <a16:creationId xmlns:a16="http://schemas.microsoft.com/office/drawing/2014/main" id="{FBAD19A6-6F74-B4AC-986E-EA4534592A9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Vingt-trois risques suivis ; le plus élevé : parc réel non connecté</a:t>
            </a:r>
          </a:p>
        </p:txBody>
      </p:sp>
      <p:sp>
        <p:nvSpPr>
          <p:cNvPr id="5" name="ZoneTexte 4">
            <a:extLst>
              <a:ext uri="{FF2B5EF4-FFF2-40B4-BE49-F238E27FC236}">
                <a16:creationId xmlns:a16="http://schemas.microsoft.com/office/drawing/2014/main" id="{96E84C9F-E42C-A072-AB3C-970A6D9563E5}"/>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B5AFFE6B-8EFA-5CA4-3569-86132BF0855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9F27C67-98C0-4B14-8948-777F7166A6E7}" type="slidenum">
              <a:rPr lang="fr-FR" sz="900" smtClean="0">
                <a:solidFill>
                  <a:srgbClr val="586080"/>
                </a:solidFill>
                <a:latin typeface="Calibri" panose="020F0502020204030204" pitchFamily="34" charset="0"/>
              </a:rPr>
              <a:t>49</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73426F41-801A-86CB-D4E1-6CD57ADC8327}"/>
              </a:ext>
            </a:extLst>
          </p:cNvPr>
          <p:cNvGraphicFramePr>
            <a:graphicFrameLocks noGrp="1"/>
          </p:cNvGraphicFramePr>
          <p:nvPr>
            <p:extLst>
              <p:ext uri="{D42A27DB-BD31-4B8C-83A1-F6EECF244321}">
                <p14:modId xmlns:p14="http://schemas.microsoft.com/office/powerpoint/2010/main" val="1749888076"/>
              </p:ext>
            </p:extLst>
          </p:nvPr>
        </p:nvGraphicFramePr>
        <p:xfrm>
          <a:off x="609600" y="1549400"/>
          <a:ext cx="10972800" cy="4572000"/>
        </p:xfrm>
        <a:graphic>
          <a:graphicData uri="http://schemas.openxmlformats.org/drawingml/2006/table">
            <a:tbl>
              <a:tblPr firstRow="1" bandRow="1">
                <a:tableStyleId>{2D5ABB26-0587-4C30-8999-92F81FD0307C}</a:tableStyleId>
              </a:tblPr>
              <a:tblGrid>
                <a:gridCol w="889000">
                  <a:extLst>
                    <a:ext uri="{9D8B030D-6E8A-4147-A177-3AD203B41FA5}">
                      <a16:colId xmlns:a16="http://schemas.microsoft.com/office/drawing/2014/main" val="1150837420"/>
                    </a:ext>
                  </a:extLst>
                </a:gridCol>
                <a:gridCol w="4191000">
                  <a:extLst>
                    <a:ext uri="{9D8B030D-6E8A-4147-A177-3AD203B41FA5}">
                      <a16:colId xmlns:a16="http://schemas.microsoft.com/office/drawing/2014/main" val="2237409691"/>
                    </a:ext>
                  </a:extLst>
                </a:gridCol>
                <a:gridCol w="1193800">
                  <a:extLst>
                    <a:ext uri="{9D8B030D-6E8A-4147-A177-3AD203B41FA5}">
                      <a16:colId xmlns:a16="http://schemas.microsoft.com/office/drawing/2014/main" val="2182674494"/>
                    </a:ext>
                  </a:extLst>
                </a:gridCol>
                <a:gridCol w="4699000">
                  <a:extLst>
                    <a:ext uri="{9D8B030D-6E8A-4147-A177-3AD203B41FA5}">
                      <a16:colId xmlns:a16="http://schemas.microsoft.com/office/drawing/2014/main" val="2243230991"/>
                    </a:ext>
                  </a:extLst>
                </a:gridCol>
              </a:tblGrid>
              <a:tr h="508000">
                <a:tc>
                  <a:txBody>
                    <a:bodyPr/>
                    <a:lstStyle/>
                    <a:p>
                      <a:pPr algn="l"/>
                      <a:r>
                        <a:rPr lang="fr-FR" sz="1200" b="1">
                          <a:solidFill>
                            <a:srgbClr val="FFFFFF"/>
                          </a:solidFill>
                          <a:latin typeface="Calibri" panose="020F0502020204030204" pitchFamily="34" charset="0"/>
                        </a:rPr>
                        <a:t>Réf.</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Risque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Niveau</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Mesure / état</a:t>
                      </a:r>
                    </a:p>
                  </a:txBody>
                  <a:tcPr marL="127000" marR="127000" marT="38100" marB="38100" anchor="ctr">
                    <a:solidFill>
                      <a:srgbClr val="1E1C8C"/>
                    </a:solidFill>
                  </a:tcPr>
                </a:tc>
                <a:extLst>
                  <a:ext uri="{0D108BD9-81ED-4DB2-BD59-A6C34878D82A}">
                    <a16:rowId xmlns:a16="http://schemas.microsoft.com/office/drawing/2014/main" val="2096342182"/>
                  </a:ext>
                </a:extLst>
              </a:tr>
              <a:tr h="508000">
                <a:tc>
                  <a:txBody>
                    <a:bodyPr/>
                    <a:lstStyle/>
                    <a:p>
                      <a:pPr algn="l"/>
                      <a:r>
                        <a:rPr lang="fr-FR" sz="1200" b="1">
                          <a:solidFill>
                            <a:srgbClr val="12162B"/>
                          </a:solidFill>
                          <a:latin typeface="Calibri" panose="020F0502020204030204" pitchFamily="34" charset="0"/>
                        </a:rPr>
                        <a:t>R-06</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Parc réel non connecté : kit standard de 9 équipements par personne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Élevé</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Choisir la source du parc (Intune, SharePoint, Excel) avant 1 500 collaborateurs</a:t>
                      </a:r>
                    </a:p>
                  </a:txBody>
                  <a:tcPr marL="127000" marR="127000" marT="38100" marB="38100" anchor="ctr">
                    <a:solidFill>
                      <a:srgbClr val="FFFFFF"/>
                    </a:solidFill>
                  </a:tcPr>
                </a:tc>
                <a:extLst>
                  <a:ext uri="{0D108BD9-81ED-4DB2-BD59-A6C34878D82A}">
                    <a16:rowId xmlns:a16="http://schemas.microsoft.com/office/drawing/2014/main" val="2266015235"/>
                  </a:ext>
                </a:extLst>
              </a:tr>
              <a:tr h="508000">
                <a:tc>
                  <a:txBody>
                    <a:bodyPr/>
                    <a:lstStyle/>
                    <a:p>
                      <a:pPr algn="l"/>
                      <a:r>
                        <a:rPr lang="fr-FR" sz="1200" b="1">
                          <a:solidFill>
                            <a:srgbClr val="12162B"/>
                          </a:solidFill>
                          <a:latin typeface="Calibri" panose="020F0502020204030204" pitchFamily="34" charset="0"/>
                        </a:rPr>
                        <a:t>R-01</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Données non conservées si la base est injoignable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Pastille « Mode local », export CSV régulier</a:t>
                      </a:r>
                    </a:p>
                  </a:txBody>
                  <a:tcPr marL="127000" marR="127000" marT="38100" marB="38100" anchor="ctr">
                    <a:solidFill>
                      <a:srgbClr val="F0F2FA"/>
                    </a:solidFill>
                  </a:tcPr>
                </a:tc>
                <a:extLst>
                  <a:ext uri="{0D108BD9-81ED-4DB2-BD59-A6C34878D82A}">
                    <a16:rowId xmlns:a16="http://schemas.microsoft.com/office/drawing/2014/main" val="3755628604"/>
                  </a:ext>
                </a:extLst>
              </a:tr>
              <a:tr h="508000">
                <a:tc>
                  <a:txBody>
                    <a:bodyPr/>
                    <a:lstStyle/>
                    <a:p>
                      <a:pPr algn="l"/>
                      <a:r>
                        <a:rPr lang="fr-FR" sz="1200" b="1">
                          <a:solidFill>
                            <a:srgbClr val="12162B"/>
                          </a:solidFill>
                          <a:latin typeface="Calibri" panose="020F0502020204030204" pitchFamily="34" charset="0"/>
                        </a:rPr>
                        <a:t>R-02</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Signature enregistrée par erreur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Faible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Confirmation de la date ; Annuler pendant 10 s ; sinon administrateur</a:t>
                      </a:r>
                    </a:p>
                  </a:txBody>
                  <a:tcPr marL="127000" marR="127000" marT="38100" marB="38100" anchor="ctr">
                    <a:solidFill>
                      <a:srgbClr val="FFFFFF"/>
                    </a:solidFill>
                  </a:tcPr>
                </a:tc>
                <a:extLst>
                  <a:ext uri="{0D108BD9-81ED-4DB2-BD59-A6C34878D82A}">
                    <a16:rowId xmlns:a16="http://schemas.microsoft.com/office/drawing/2014/main" val="844919704"/>
                  </a:ext>
                </a:extLst>
              </a:tr>
              <a:tr h="508000">
                <a:tc>
                  <a:txBody>
                    <a:bodyPr/>
                    <a:lstStyle/>
                    <a:p>
                      <a:pPr algn="l"/>
                      <a:r>
                        <a:rPr lang="fr-FR" sz="1200" b="1">
                          <a:solidFill>
                            <a:srgbClr val="12162B"/>
                          </a:solidFill>
                          <a:latin typeface="Calibri" panose="020F0502020204030204" pitchFamily="34" charset="0"/>
                        </a:rPr>
                        <a:t>R-04</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Rôles Agent IT et Lecteur appliqués à l'affichage seulement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Seul « Peut consulter » interdit l'écriture ; rôles réels via Entra ID</a:t>
                      </a:r>
                    </a:p>
                  </a:txBody>
                  <a:tcPr marL="127000" marR="127000" marT="38100" marB="38100" anchor="ctr">
                    <a:solidFill>
                      <a:srgbClr val="F0F2FA"/>
                    </a:solidFill>
                  </a:tcPr>
                </a:tc>
                <a:extLst>
                  <a:ext uri="{0D108BD9-81ED-4DB2-BD59-A6C34878D82A}">
                    <a16:rowId xmlns:a16="http://schemas.microsoft.com/office/drawing/2014/main" val="858824752"/>
                  </a:ext>
                </a:extLst>
              </a:tr>
              <a:tr h="508000">
                <a:tc>
                  <a:txBody>
                    <a:bodyPr/>
                    <a:lstStyle/>
                    <a:p>
                      <a:pPr algn="l"/>
                      <a:r>
                        <a:rPr lang="fr-FR" sz="1200" b="1">
                          <a:solidFill>
                            <a:srgbClr val="12162B"/>
                          </a:solidFill>
                          <a:latin typeface="Calibri" panose="020F0502020204030204" pitchFamily="34" charset="0"/>
                        </a:rPr>
                        <a:t>R-15</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Annuaire importé : données personnelles lisibles par tous les utilisateurs de la page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Validation du DPO ; essais sur sélection ou groupe ; lecture réservée aux admins à ajouter</a:t>
                      </a:r>
                    </a:p>
                  </a:txBody>
                  <a:tcPr marL="127000" marR="127000" marT="38100" marB="38100" anchor="ctr">
                    <a:solidFill>
                      <a:srgbClr val="FFFFFF"/>
                    </a:solidFill>
                  </a:tcPr>
                </a:tc>
                <a:extLst>
                  <a:ext uri="{0D108BD9-81ED-4DB2-BD59-A6C34878D82A}">
                    <a16:rowId xmlns:a16="http://schemas.microsoft.com/office/drawing/2014/main" val="1351377463"/>
                  </a:ext>
                </a:extLst>
              </a:tr>
              <a:tr h="508000">
                <a:tc>
                  <a:txBody>
                    <a:bodyPr/>
                    <a:lstStyle/>
                    <a:p>
                      <a:pPr algn="l"/>
                      <a:r>
                        <a:rPr lang="fr-FR" sz="1200" b="1">
                          <a:solidFill>
                            <a:srgbClr val="12162B"/>
                          </a:solidFill>
                          <a:latin typeface="Calibri" panose="020F0502020204030204" pitchFamily="34" charset="0"/>
                        </a:rPr>
                        <a:t>R-19</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Alertes de retard visibles seulement à l'ouverture (pas de notification)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Fenêtre, carte et pastilles rouges ; tâche planifiée à étudier</a:t>
                      </a:r>
                    </a:p>
                  </a:txBody>
                  <a:tcPr marL="127000" marR="127000" marT="38100" marB="38100" anchor="ctr">
                    <a:solidFill>
                      <a:srgbClr val="F0F2FA"/>
                    </a:solidFill>
                  </a:tcPr>
                </a:tc>
                <a:extLst>
                  <a:ext uri="{0D108BD9-81ED-4DB2-BD59-A6C34878D82A}">
                    <a16:rowId xmlns:a16="http://schemas.microsoft.com/office/drawing/2014/main" val="1486876523"/>
                  </a:ext>
                </a:extLst>
              </a:tr>
              <a:tr h="508000">
                <a:tc>
                  <a:txBody>
                    <a:bodyPr/>
                    <a:lstStyle/>
                    <a:p>
                      <a:pPr algn="l"/>
                      <a:r>
                        <a:rPr lang="fr-FR" sz="1200" b="1">
                          <a:solidFill>
                            <a:srgbClr val="12162B"/>
                          </a:solidFill>
                          <a:latin typeface="Calibri" panose="020F0502020204030204" pitchFamily="34" charset="0"/>
                        </a:rPr>
                        <a:t>R-09</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Pas de durée de conservation ni de purge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Durée à définir avec le DPO ; purge à développer</a:t>
                      </a:r>
                    </a:p>
                  </a:txBody>
                  <a:tcPr marL="127000" marR="127000" marT="38100" marB="38100" anchor="ctr">
                    <a:solidFill>
                      <a:srgbClr val="FFFFFF"/>
                    </a:solidFill>
                  </a:tcPr>
                </a:tc>
                <a:extLst>
                  <a:ext uri="{0D108BD9-81ED-4DB2-BD59-A6C34878D82A}">
                    <a16:rowId xmlns:a16="http://schemas.microsoft.com/office/drawing/2014/main" val="1157478137"/>
                  </a:ext>
                </a:extLst>
              </a:tr>
              <a:tr h="508000">
                <a:tc>
                  <a:txBody>
                    <a:bodyPr/>
                    <a:lstStyle/>
                    <a:p>
                      <a:pPr algn="l"/>
                      <a:r>
                        <a:rPr lang="fr-FR" sz="1200" b="1">
                          <a:solidFill>
                            <a:srgbClr val="12162B"/>
                          </a:solidFill>
                          <a:latin typeface="Calibri" panose="020F0502020204030204" pitchFamily="34" charset="0"/>
                        </a:rPr>
                        <a:t>R-10</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Pas de sauvegarde externe automatique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Export complet périodique à mettre en place</a:t>
                      </a:r>
                    </a:p>
                  </a:txBody>
                  <a:tcPr marL="127000" marR="127000" marT="38100" marB="38100" anchor="ctr">
                    <a:solidFill>
                      <a:srgbClr val="F0F2FA"/>
                    </a:solidFill>
                  </a:tcPr>
                </a:tc>
                <a:extLst>
                  <a:ext uri="{0D108BD9-81ED-4DB2-BD59-A6C34878D82A}">
                    <a16:rowId xmlns:a16="http://schemas.microsoft.com/office/drawing/2014/main" val="1896783724"/>
                  </a:ext>
                </a:extLst>
              </a:tr>
            </a:tbl>
          </a:graphicData>
        </a:graphic>
      </p:graphicFrame>
    </p:spTree>
    <p:extLst>
      <p:ext uri="{BB962C8B-B14F-4D97-AF65-F5344CB8AC3E}">
        <p14:creationId xmlns:p14="http://schemas.microsoft.com/office/powerpoint/2010/main" val="3147331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50CFCC-8EA4-6A4E-39F6-7BA46AEE2C2C}"/>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Exploitation</a:t>
            </a:r>
          </a:p>
        </p:txBody>
      </p:sp>
      <p:sp>
        <p:nvSpPr>
          <p:cNvPr id="3" name="ZoneTexte 2">
            <a:extLst>
              <a:ext uri="{FF2B5EF4-FFF2-40B4-BE49-F238E27FC236}">
                <a16:creationId xmlns:a16="http://schemas.microsoft.com/office/drawing/2014/main" id="{E0BE8B25-6060-3721-9065-D009D24200A4}"/>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07</a:t>
            </a:r>
          </a:p>
        </p:txBody>
      </p:sp>
      <p:sp>
        <p:nvSpPr>
          <p:cNvPr id="4" name="ZoneTexte 3">
            <a:extLst>
              <a:ext uri="{FF2B5EF4-FFF2-40B4-BE49-F238E27FC236}">
                <a16:creationId xmlns:a16="http://schemas.microsoft.com/office/drawing/2014/main" id="{12EB8682-BB0E-814E-2538-223868A4F27F}"/>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Mises à jour, limites connues et actions attendues</a:t>
            </a:r>
          </a:p>
        </p:txBody>
      </p:sp>
      <p:pic>
        <p:nvPicPr>
          <p:cNvPr id="6" name="Image 5">
            <a:extLst>
              <a:ext uri="{FF2B5EF4-FFF2-40B4-BE49-F238E27FC236}">
                <a16:creationId xmlns:a16="http://schemas.microsoft.com/office/drawing/2014/main" id="{ADF25EEF-347A-2FCF-88D9-1146B6D988E1}"/>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0CE3BD7D-5A62-03E6-EFB9-452059B8D06D}"/>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7.0</a:t>
            </a:r>
          </a:p>
        </p:txBody>
      </p:sp>
    </p:spTree>
    <p:extLst>
      <p:ext uri="{BB962C8B-B14F-4D97-AF65-F5344CB8AC3E}">
        <p14:creationId xmlns:p14="http://schemas.microsoft.com/office/powerpoint/2010/main" val="12876271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DF65DE-41EB-FE1C-DA5F-773BE814B10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Mises à jour de l'application et de la documentation</a:t>
            </a:r>
          </a:p>
        </p:txBody>
      </p:sp>
      <p:sp>
        <p:nvSpPr>
          <p:cNvPr id="3" name="ZoneTexte 2">
            <a:extLst>
              <a:ext uri="{FF2B5EF4-FFF2-40B4-BE49-F238E27FC236}">
                <a16:creationId xmlns:a16="http://schemas.microsoft.com/office/drawing/2014/main" id="{B6BC9135-6D14-C42E-2A32-0842300C80E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EXPLOITATION</a:t>
            </a:r>
          </a:p>
        </p:txBody>
      </p:sp>
      <p:sp>
        <p:nvSpPr>
          <p:cNvPr id="4" name="ZoneTexte 3">
            <a:extLst>
              <a:ext uri="{FF2B5EF4-FFF2-40B4-BE49-F238E27FC236}">
                <a16:creationId xmlns:a16="http://schemas.microsoft.com/office/drawing/2014/main" id="{96B76DC6-B1F5-265C-2045-78E056FC99BE}"/>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données sont conservées ; la documentation se met à jour sur demande</a:t>
            </a:r>
          </a:p>
        </p:txBody>
      </p:sp>
      <p:sp>
        <p:nvSpPr>
          <p:cNvPr id="5" name="ZoneTexte 4">
            <a:extLst>
              <a:ext uri="{FF2B5EF4-FFF2-40B4-BE49-F238E27FC236}">
                <a16:creationId xmlns:a16="http://schemas.microsoft.com/office/drawing/2014/main" id="{43BC6366-C528-248F-420A-D84F1637E8D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C8FD2FE4-4C64-9F3B-783A-9A142FA86B7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873773E-39FE-428E-96E8-3E17756174B0}" type="slidenum">
              <a:rPr lang="fr-FR" sz="900" smtClean="0">
                <a:solidFill>
                  <a:srgbClr val="586080"/>
                </a:solidFill>
                <a:latin typeface="Calibri" panose="020F0502020204030204" pitchFamily="34" charset="0"/>
              </a:rPr>
              <a:t>51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0EB8108-5F93-0739-875B-3D3A3B8FB883}"/>
              </a:ext>
            </a:extLst>
          </p:cNvPr>
          <p:cNvSpPr/>
          <p:nvPr/>
        </p:nvSpPr>
        <p:spPr>
          <a:xfrm>
            <a:off x="609600" y="1600200"/>
            <a:ext cx="5334000" cy="3327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77FEF019-ECD0-8E05-725C-5742DB752ADC}"/>
              </a:ext>
            </a:extLst>
          </p:cNvPr>
          <p:cNvSpPr txBox="1"/>
          <p:nvPr/>
        </p:nvSpPr>
        <p:spPr>
          <a:xfrm>
            <a:off x="863600" y="1778000"/>
            <a:ext cx="4826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L'application</a:t>
            </a:r>
          </a:p>
        </p:txBody>
      </p:sp>
      <p:sp>
        <p:nvSpPr>
          <p:cNvPr id="9" name="ZoneTexte 8">
            <a:extLst>
              <a:ext uri="{FF2B5EF4-FFF2-40B4-BE49-F238E27FC236}">
                <a16:creationId xmlns:a16="http://schemas.microsoft.com/office/drawing/2014/main" id="{0518C25D-A00D-5C49-664A-416CD1709E02}"/>
              </a:ext>
            </a:extLst>
          </p:cNvPr>
          <p:cNvSpPr txBox="1"/>
          <p:nvPr/>
        </p:nvSpPr>
        <p:spPr>
          <a:xfrm>
            <a:off x="863600" y="2235200"/>
            <a:ext cx="4851400" cy="2616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Chaque modification crée une nouvelle version, à la même adresse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Les données sont conservées d'une version à l'autre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Historique des versions : retour en arrière possible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Dans le code : annuaire de démonstration (avant import), catalogue, textes, relance (3 jours), SMS de test</a:t>
            </a:r>
          </a:p>
        </p:txBody>
      </p:sp>
      <p:sp>
        <p:nvSpPr>
          <p:cNvPr id="10" name="Rectangle : coins arrondis 9">
            <a:extLst>
              <a:ext uri="{FF2B5EF4-FFF2-40B4-BE49-F238E27FC236}">
                <a16:creationId xmlns:a16="http://schemas.microsoft.com/office/drawing/2014/main" id="{1205AAB3-2C99-46F3-0906-B952043C3863}"/>
              </a:ext>
            </a:extLst>
          </p:cNvPr>
          <p:cNvSpPr/>
          <p:nvPr/>
        </p:nvSpPr>
        <p:spPr>
          <a:xfrm>
            <a:off x="6248400" y="1600200"/>
            <a:ext cx="5334000" cy="3327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FD97FD06-9933-3954-FE50-316FA158BDFB}"/>
              </a:ext>
            </a:extLst>
          </p:cNvPr>
          <p:cNvSpPr txBox="1"/>
          <p:nvPr/>
        </p:nvSpPr>
        <p:spPr>
          <a:xfrm>
            <a:off x="6502400" y="1778000"/>
            <a:ext cx="4826000" cy="330200"/>
          </a:xfrm>
          <a:prstGeom prst="rect">
            <a:avLst/>
          </a:prstGeom>
          <a:noFill/>
        </p:spPr>
        <p:txBody>
          <a:bodyPr vert="horz" wrap="square" lIns="0" tIns="0" rIns="0" bIns="0" rtlCol="0">
            <a:noAutofit/>
          </a:bodyPr>
          <a:lstStyle/>
          <a:p>
            <a:r>
              <a:rPr lang="fr-FR" sz="2000" b="1">
                <a:solidFill>
                  <a:srgbClr val="2F7DD1"/>
                </a:solidFill>
                <a:latin typeface="Calibri" panose="020F0502020204030204" pitchFamily="34" charset="0"/>
              </a:rPr>
              <a:t>La documentation</a:t>
            </a:r>
          </a:p>
        </p:txBody>
      </p:sp>
      <p:sp>
        <p:nvSpPr>
          <p:cNvPr id="12" name="ZoneTexte 11">
            <a:extLst>
              <a:ext uri="{FF2B5EF4-FFF2-40B4-BE49-F238E27FC236}">
                <a16:creationId xmlns:a16="http://schemas.microsoft.com/office/drawing/2014/main" id="{B3DF7A09-A723-5494-6509-ED5662833857}"/>
              </a:ext>
            </a:extLst>
          </p:cNvPr>
          <p:cNvSpPr txBox="1"/>
          <p:nvPr/>
        </p:nvSpPr>
        <p:spPr>
          <a:xfrm>
            <a:off x="6502400" y="2235200"/>
            <a:ext cx="4851400" cy="2616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Elle ne se met pas à jour automatiquement</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Après une évolution : « mets à jour la documentation »</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Les sections concernées sont ajustées, la version du document est incrémentée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PDF et PowerPoint sont régénérés</a:t>
            </a:r>
          </a:p>
        </p:txBody>
      </p:sp>
      <p:sp>
        <p:nvSpPr>
          <p:cNvPr id="13" name="Rectangle : coins arrondis 12">
            <a:extLst>
              <a:ext uri="{FF2B5EF4-FFF2-40B4-BE49-F238E27FC236}">
                <a16:creationId xmlns:a16="http://schemas.microsoft.com/office/drawing/2014/main" id="{3A725873-32F0-C940-A0D0-1AA155C310DB}"/>
              </a:ext>
            </a:extLst>
          </p:cNvPr>
          <p:cNvSpPr/>
          <p:nvPr/>
        </p:nvSpPr>
        <p:spPr>
          <a:xfrm>
            <a:off x="609600" y="5181600"/>
            <a:ext cx="10972800" cy="1016000"/>
          </a:xfrm>
          <a:prstGeom prst="roundRect">
            <a:avLst>
              <a:gd name="adj" fmla="val 6000"/>
            </a:avLst>
          </a:prstGeom>
          <a:solidFill>
            <a:srgbClr val="1E1C8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50800" rIns="127000" bIns="50800" rtlCol="0" anchor="ctr"/>
          <a:lstStyle/>
          <a:p>
            <a:r>
              <a:rPr lang="fr-FR" sz="1200">
                <a:solidFill>
                  <a:srgbClr val="FFFFFF"/>
                </a:solidFill>
                <a:latin typeface="Calibri" panose="020F0502020204030204" pitchFamily="34" charset="0"/>
              </a:rPr>
              <a:t>Journal : Doc 1.0 (05/10/2026) première édition  ·  Doc 2.0 / App 81 (05/10/2026) édition entreprise  ·  Doc 3.0 / App 106 (06/10/2026) accueil, période, QR, signature, thèmes  ·  Doc 4.0 / App 128 (07/10/2026) rôles, rapports, recherche  ·  Doc 5.0 / App 147 (08/10/2026) annuaire Entra ID, envoi signé  ·  Doc 6.0 / App 161 (09/10/2026) GPIEXALT, retards, rapport par email  ·  Doc 7.0 / App 167 (12/10/2026) rapport par page</a:t>
            </a:r>
          </a:p>
        </p:txBody>
      </p:sp>
    </p:spTree>
    <p:extLst>
      <p:ext uri="{BB962C8B-B14F-4D97-AF65-F5344CB8AC3E}">
        <p14:creationId xmlns:p14="http://schemas.microsoft.com/office/powerpoint/2010/main" val="30751790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68857CF-532E-0F06-D4AC-4DF3031425A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Limites connues et évolutions prévues</a:t>
            </a:r>
          </a:p>
        </p:txBody>
      </p:sp>
      <p:sp>
        <p:nvSpPr>
          <p:cNvPr id="3" name="ZoneTexte 2">
            <a:extLst>
              <a:ext uri="{FF2B5EF4-FFF2-40B4-BE49-F238E27FC236}">
                <a16:creationId xmlns:a16="http://schemas.microsoft.com/office/drawing/2014/main" id="{C7252B11-19B0-56A6-3B63-7255AB6CC16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EXPLOITATION</a:t>
            </a:r>
          </a:p>
        </p:txBody>
      </p:sp>
      <p:sp>
        <p:nvSpPr>
          <p:cNvPr id="4" name="ZoneTexte 3">
            <a:extLst>
              <a:ext uri="{FF2B5EF4-FFF2-40B4-BE49-F238E27FC236}">
                <a16:creationId xmlns:a16="http://schemas.microsoft.com/office/drawing/2014/main" id="{318099E0-95A6-53CE-E159-A4ED8AB2D79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Ce qui n'est pas encore là, et ce qui est prévu</a:t>
            </a:r>
          </a:p>
        </p:txBody>
      </p:sp>
      <p:sp>
        <p:nvSpPr>
          <p:cNvPr id="5" name="ZoneTexte 4">
            <a:extLst>
              <a:ext uri="{FF2B5EF4-FFF2-40B4-BE49-F238E27FC236}">
                <a16:creationId xmlns:a16="http://schemas.microsoft.com/office/drawing/2014/main" id="{7C29C0A7-A3DE-10D3-8172-681F63D27EA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0366B773-F3ED-A438-83D4-4AC50344B96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C5619DF-84F4-4E13-9365-A931A9B12237}" type="slidenum">
              <a:rPr lang="fr-FR" sz="900" smtClean="0">
                <a:solidFill>
                  <a:srgbClr val="586080"/>
                </a:solidFill>
                <a:latin typeface="Calibri" panose="020F0502020204030204" pitchFamily="34" charset="0"/>
              </a:rPr>
              <a:t>52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AC283AE-DCA5-B8C4-B829-5516254E520E}"/>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C6B00335-712F-42EB-9B82-397BA514CB23}"/>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B8A94AA3-AC97-975E-FB21-08E5B2606D6A}"/>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Annuaire et parc</a:t>
            </a:r>
          </a:p>
        </p:txBody>
      </p:sp>
      <p:sp>
        <p:nvSpPr>
          <p:cNvPr id="10" name="ZoneTexte 9">
            <a:extLst>
              <a:ext uri="{FF2B5EF4-FFF2-40B4-BE49-F238E27FC236}">
                <a16:creationId xmlns:a16="http://schemas.microsoft.com/office/drawing/2014/main" id="{962860D0-36FE-52D3-AE3B-A02BAB6BB977}"/>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Annuaire : importé depuis Entra ID. Parc : kit standard de 9 équipements, source réelle à choisir.</a:t>
            </a:r>
          </a:p>
        </p:txBody>
      </p:sp>
      <p:sp>
        <p:nvSpPr>
          <p:cNvPr id="11" name="Rectangle : coins arrondis 10">
            <a:extLst>
              <a:ext uri="{FF2B5EF4-FFF2-40B4-BE49-F238E27FC236}">
                <a16:creationId xmlns:a16="http://schemas.microsoft.com/office/drawing/2014/main" id="{65411B9E-DBBE-1510-F785-186996B8CC79}"/>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D37803C8-425B-5442-A86C-8197E1834582}"/>
              </a:ext>
            </a:extLst>
          </p:cNvPr>
          <p:cNvSpPr/>
          <p:nvPr/>
        </p:nvSpPr>
        <p:spPr>
          <a:xfrm>
            <a:off x="4610100" y="1854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400ED0E0-CAD4-A45C-117E-DFFDFCA7CDFA}"/>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Envoi</a:t>
            </a:r>
          </a:p>
        </p:txBody>
      </p:sp>
      <p:sp>
        <p:nvSpPr>
          <p:cNvPr id="14" name="ZoneTexte 13">
            <a:extLst>
              <a:ext uri="{FF2B5EF4-FFF2-40B4-BE49-F238E27FC236}">
                <a16:creationId xmlns:a16="http://schemas.microsoft.com/office/drawing/2014/main" id="{03B3E065-80EC-5014-E261-0858C6BEE196}"/>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Attestation signée : envoi après confirmation, ou brouillon. Aucun envoi sans clic.</a:t>
            </a:r>
          </a:p>
        </p:txBody>
      </p:sp>
      <p:sp>
        <p:nvSpPr>
          <p:cNvPr id="15" name="Rectangle : coins arrondis 14">
            <a:extLst>
              <a:ext uri="{FF2B5EF4-FFF2-40B4-BE49-F238E27FC236}">
                <a16:creationId xmlns:a16="http://schemas.microsoft.com/office/drawing/2014/main" id="{9D2A85FB-EFBB-0602-51EE-15CC06E3917A}"/>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F5BA61B6-FC90-C6E9-8AA5-E85328C31B5D}"/>
              </a:ext>
            </a:extLst>
          </p:cNvPr>
          <p:cNvSpPr/>
          <p:nvPr/>
        </p:nvSpPr>
        <p:spPr>
          <a:xfrm>
            <a:off x="8382000" y="1854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275073E2-9BFB-EEB4-8A69-2552C2A70A90}"/>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SMS</a:t>
            </a:r>
          </a:p>
        </p:txBody>
      </p:sp>
      <p:sp>
        <p:nvSpPr>
          <p:cNvPr id="18" name="ZoneTexte 17">
            <a:extLst>
              <a:ext uri="{FF2B5EF4-FFF2-40B4-BE49-F238E27FC236}">
                <a16:creationId xmlns:a16="http://schemas.microsoft.com/office/drawing/2014/main" id="{AF89086F-339A-634D-7813-9B11D399AD46}"/>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Numéro de test, via l'application de messages de l'appareil.</a:t>
            </a:r>
          </a:p>
        </p:txBody>
      </p:sp>
      <p:sp>
        <p:nvSpPr>
          <p:cNvPr id="19" name="Rectangle : coins arrondis 18">
            <a:extLst>
              <a:ext uri="{FF2B5EF4-FFF2-40B4-BE49-F238E27FC236}">
                <a16:creationId xmlns:a16="http://schemas.microsoft.com/office/drawing/2014/main" id="{453194A9-CFD3-4C5C-BEDA-E306E83C8AB6}"/>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B50482E3-6BC5-BE25-B93E-D733EA41AB86}"/>
              </a:ext>
            </a:extLst>
          </p:cNvPr>
          <p:cNvSpPr/>
          <p:nvPr/>
        </p:nvSpPr>
        <p:spPr>
          <a:xfrm>
            <a:off x="838200" y="4267200"/>
            <a:ext cx="203200" cy="2032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E2C20C68-C42D-0EDD-F6B4-3244CA736698}"/>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Droits et rôles</a:t>
            </a:r>
          </a:p>
        </p:txBody>
      </p:sp>
      <p:sp>
        <p:nvSpPr>
          <p:cNvPr id="22" name="ZoneTexte 21">
            <a:extLst>
              <a:ext uri="{FF2B5EF4-FFF2-40B4-BE49-F238E27FC236}">
                <a16:creationId xmlns:a16="http://schemas.microsoft.com/office/drawing/2014/main" id="{BF9148E5-07C2-FC8C-3248-AE6A2D119C58}"/>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Agent IT et Lecteur : affichage seulement. Droits réels via Entra ID à prévoir.</a:t>
            </a:r>
          </a:p>
        </p:txBody>
      </p:sp>
      <p:sp>
        <p:nvSpPr>
          <p:cNvPr id="23" name="Rectangle : coins arrondis 22">
            <a:extLst>
              <a:ext uri="{FF2B5EF4-FFF2-40B4-BE49-F238E27FC236}">
                <a16:creationId xmlns:a16="http://schemas.microsoft.com/office/drawing/2014/main" id="{BA3E77DB-B50D-93EA-63B4-2B67A2B0700E}"/>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1025BCF1-4A02-FC40-4746-8FC6B597AEE4}"/>
              </a:ext>
            </a:extLst>
          </p:cNvPr>
          <p:cNvSpPr/>
          <p:nvPr/>
        </p:nvSpPr>
        <p:spPr>
          <a:xfrm>
            <a:off x="4610100" y="4267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C5D06A67-9925-5ACB-8167-592E73D73D31}"/>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Départs et retards</a:t>
            </a:r>
          </a:p>
        </p:txBody>
      </p:sp>
      <p:sp>
        <p:nvSpPr>
          <p:cNvPr id="26" name="ZoneTexte 25">
            <a:extLst>
              <a:ext uri="{FF2B5EF4-FFF2-40B4-BE49-F238E27FC236}">
                <a16:creationId xmlns:a16="http://schemas.microsoft.com/office/drawing/2014/main" id="{1F7B4E41-40E2-AB50-CBB0-535D5E09D10A}"/>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Date de départ par collaborateur : non réalisé. Alertes de retard visibles à l'ouverture seulement.</a:t>
            </a:r>
          </a:p>
        </p:txBody>
      </p:sp>
      <p:sp>
        <p:nvSpPr>
          <p:cNvPr id="27" name="Rectangle : coins arrondis 26">
            <a:extLst>
              <a:ext uri="{FF2B5EF4-FFF2-40B4-BE49-F238E27FC236}">
                <a16:creationId xmlns:a16="http://schemas.microsoft.com/office/drawing/2014/main" id="{124FFE24-918F-CD4B-71D1-61E22DE3A845}"/>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D134B506-5B63-24E6-CC24-F9CB8BD9F15C}"/>
              </a:ext>
            </a:extLst>
          </p:cNvPr>
          <p:cNvSpPr/>
          <p:nvPr/>
        </p:nvSpPr>
        <p:spPr>
          <a:xfrm>
            <a:off x="8382000" y="4267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04842E81-4C66-70AF-57D9-A805B7CEC21F}"/>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Sauvegarde externe</a:t>
            </a:r>
          </a:p>
        </p:txBody>
      </p:sp>
      <p:sp>
        <p:nvSpPr>
          <p:cNvPr id="30" name="ZoneTexte 29">
            <a:extLst>
              <a:ext uri="{FF2B5EF4-FFF2-40B4-BE49-F238E27FC236}">
                <a16:creationId xmlns:a16="http://schemas.microsoft.com/office/drawing/2014/main" id="{2FDF5B79-8004-FE4A-FBAB-41025305A38E}"/>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Export complet régulier à prévoir avant la mise en production.</a:t>
            </a:r>
          </a:p>
        </p:txBody>
      </p:sp>
    </p:spTree>
    <p:extLst>
      <p:ext uri="{BB962C8B-B14F-4D97-AF65-F5344CB8AC3E}">
        <p14:creationId xmlns:p14="http://schemas.microsoft.com/office/powerpoint/2010/main" val="30063699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23AC5D-EB77-7360-31DC-92D6ABC2E4B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Décisions et actions attendues</a:t>
            </a:r>
          </a:p>
        </p:txBody>
      </p:sp>
      <p:sp>
        <p:nvSpPr>
          <p:cNvPr id="3" name="ZoneTexte 2">
            <a:extLst>
              <a:ext uri="{FF2B5EF4-FFF2-40B4-BE49-F238E27FC236}">
                <a16:creationId xmlns:a16="http://schemas.microsoft.com/office/drawing/2014/main" id="{CBE546E1-8BFF-5DC1-3BA1-A7567D1DC24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PROCHAINES ÉTAPES</a:t>
            </a:r>
          </a:p>
        </p:txBody>
      </p:sp>
      <p:sp>
        <p:nvSpPr>
          <p:cNvPr id="4" name="ZoneTexte 3">
            <a:extLst>
              <a:ext uri="{FF2B5EF4-FFF2-40B4-BE49-F238E27FC236}">
                <a16:creationId xmlns:a16="http://schemas.microsoft.com/office/drawing/2014/main" id="{20F647B7-D6AC-31D3-0E68-90635DA374A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Six actions pour passer à une mise en production encadrée</a:t>
            </a:r>
          </a:p>
        </p:txBody>
      </p:sp>
      <p:sp>
        <p:nvSpPr>
          <p:cNvPr id="5" name="ZoneTexte 4">
            <a:extLst>
              <a:ext uri="{FF2B5EF4-FFF2-40B4-BE49-F238E27FC236}">
                <a16:creationId xmlns:a16="http://schemas.microsoft.com/office/drawing/2014/main" id="{5F45BF52-179A-010A-8B9D-C46FE4A12DD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7.0  ·  12/10/2026  ·  Classification : Interne</a:t>
            </a:r>
          </a:p>
        </p:txBody>
      </p:sp>
      <p:sp>
        <p:nvSpPr>
          <p:cNvPr id="6" name="ZoneTexte 5">
            <a:extLst>
              <a:ext uri="{FF2B5EF4-FFF2-40B4-BE49-F238E27FC236}">
                <a16:creationId xmlns:a16="http://schemas.microsoft.com/office/drawing/2014/main" id="{D798CD2A-E9AC-09ED-7C91-ECA490E60D4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1F9C6DB-0618-45D3-91CA-F590F5A71DD9}" type="slidenum">
              <a:rPr lang="fr-FR" sz="900" smtClean="0">
                <a:solidFill>
                  <a:srgbClr val="586080"/>
                </a:solidFill>
                <a:latin typeface="Calibri" panose="020F0502020204030204" pitchFamily="34" charset="0"/>
              </a:rPr>
              <a:t>53</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98F23E73-E630-A9E9-E6C1-D12E22BF9AAC}"/>
              </a:ext>
            </a:extLst>
          </p:cNvPr>
          <p:cNvGraphicFramePr>
            <a:graphicFrameLocks noGrp="1"/>
          </p:cNvGraphicFramePr>
          <p:nvPr>
            <p:extLst>
              <p:ext uri="{D42A27DB-BD31-4B8C-83A1-F6EECF244321}">
                <p14:modId xmlns:p14="http://schemas.microsoft.com/office/powerpoint/2010/main" val="257919364"/>
              </p:ext>
            </p:extLst>
          </p:nvPr>
        </p:nvGraphicFramePr>
        <p:xfrm>
          <a:off x="609600" y="1600200"/>
          <a:ext cx="10972800" cy="4089400"/>
        </p:xfrm>
        <a:graphic>
          <a:graphicData uri="http://schemas.openxmlformats.org/drawingml/2006/table">
            <a:tbl>
              <a:tblPr firstRow="1" bandRow="1">
                <a:tableStyleId>{2D5ABB26-0587-4C30-8999-92F81FD0307C}</a:tableStyleId>
              </a:tblPr>
              <a:tblGrid>
                <a:gridCol w="584200">
                  <a:extLst>
                    <a:ext uri="{9D8B030D-6E8A-4147-A177-3AD203B41FA5}">
                      <a16:colId xmlns:a16="http://schemas.microsoft.com/office/drawing/2014/main" val="1799813686"/>
                    </a:ext>
                  </a:extLst>
                </a:gridCol>
                <a:gridCol w="5969000">
                  <a:extLst>
                    <a:ext uri="{9D8B030D-6E8A-4147-A177-3AD203B41FA5}">
                      <a16:colId xmlns:a16="http://schemas.microsoft.com/office/drawing/2014/main" val="1110927668"/>
                    </a:ext>
                  </a:extLst>
                </a:gridCol>
                <a:gridCol w="2540000">
                  <a:extLst>
                    <a:ext uri="{9D8B030D-6E8A-4147-A177-3AD203B41FA5}">
                      <a16:colId xmlns:a16="http://schemas.microsoft.com/office/drawing/2014/main" val="126313019"/>
                    </a:ext>
                  </a:extLst>
                </a:gridCol>
                <a:gridCol w="1879600">
                  <a:extLst>
                    <a:ext uri="{9D8B030D-6E8A-4147-A177-3AD203B41FA5}">
                      <a16:colId xmlns:a16="http://schemas.microsoft.com/office/drawing/2014/main" val="2956497879"/>
                    </a:ext>
                  </a:extLst>
                </a:gridCol>
              </a:tblGrid>
              <a:tr h="584200">
                <a:tc>
                  <a:txBody>
                    <a:bodyPr/>
                    <a:lstStyle/>
                    <a:p>
                      <a:pPr algn="l"/>
                      <a:r>
                        <a:rPr lang="fr-FR" sz="1400" b="1">
                          <a:solidFill>
                            <a:srgbClr val="FFFFFF"/>
                          </a:solidFill>
                          <a:latin typeface="Calibri" panose="020F0502020204030204" pitchFamily="34" charset="0"/>
                        </a:rPr>
                        <a:t>N°</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Action</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Responsable proposé</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Échéance</a:t>
                      </a:r>
                    </a:p>
                  </a:txBody>
                  <a:tcPr marL="127000" marR="127000" marT="38100" marB="38100" anchor="ctr">
                    <a:solidFill>
                      <a:srgbClr val="1E1C8C"/>
                    </a:solidFill>
                  </a:tcPr>
                </a:tc>
                <a:extLst>
                  <a:ext uri="{0D108BD9-81ED-4DB2-BD59-A6C34878D82A}">
                    <a16:rowId xmlns:a16="http://schemas.microsoft.com/office/drawing/2014/main" val="1608999361"/>
                  </a:ext>
                </a:extLst>
              </a:tr>
              <a:tr h="584200">
                <a:tc>
                  <a:txBody>
                    <a:bodyPr/>
                    <a:lstStyle/>
                    <a:p>
                      <a:pPr algn="l"/>
                      <a:r>
                        <a:rPr lang="fr-FR" sz="1400" b="1">
                          <a:solidFill>
                            <a:srgbClr val="12162B"/>
                          </a:solidFill>
                          <a:latin typeface="Calibri" panose="020F0502020204030204" pitchFamily="34" charset="0"/>
                        </a:rPr>
                        <a:t>1</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Désigner le vérificateur et l'approbateur du dossier</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3786482911"/>
                  </a:ext>
                </a:extLst>
              </a:tr>
              <a:tr h="584200">
                <a:tc>
                  <a:txBody>
                    <a:bodyPr/>
                    <a:lstStyle/>
                    <a:p>
                      <a:pPr algn="l"/>
                      <a:r>
                        <a:rPr lang="fr-FR" sz="1400" b="1">
                          <a:solidFill>
                            <a:srgbClr val="12162B"/>
                          </a:solidFill>
                          <a:latin typeface="Calibri" panose="020F0502020204030204" pitchFamily="34" charset="0"/>
                        </a:rPr>
                        <a:t>2</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Renseigner les contacts de support (niveaux 1 à 3)</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646421131"/>
                  </a:ext>
                </a:extLst>
              </a:tr>
              <a:tr h="584200">
                <a:tc>
                  <a:txBody>
                    <a:bodyPr/>
                    <a:lstStyle/>
                    <a:p>
                      <a:pPr algn="l"/>
                      <a:r>
                        <a:rPr lang="fr-FR" sz="1400" b="1">
                          <a:solidFill>
                            <a:srgbClr val="12162B"/>
                          </a:solidFill>
                          <a:latin typeface="Calibri" panose="020F0502020204030204" pitchFamily="34" charset="0"/>
                        </a:rPr>
                        <a:t>3</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Fixer la durée de conservation et la base légale</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DPO</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260616376"/>
                  </a:ext>
                </a:extLst>
              </a:tr>
              <a:tr h="584200">
                <a:tc>
                  <a:txBody>
                    <a:bodyPr/>
                    <a:lstStyle/>
                    <a:p>
                      <a:pPr algn="l"/>
                      <a:r>
                        <a:rPr lang="fr-FR" sz="1400" b="1">
                          <a:solidFill>
                            <a:srgbClr val="12162B"/>
                          </a:solidFill>
                          <a:latin typeface="Calibri" panose="020F0502020204030204" pitchFamily="34" charset="0"/>
                        </a:rPr>
                        <a:t>4</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Valider l'hébergement et le chargement des bibliothèques (jsPDF, ExcelJS…)</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RSSI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3581962596"/>
                  </a:ext>
                </a:extLst>
              </a:tr>
              <a:tr h="584200">
                <a:tc>
                  <a:txBody>
                    <a:bodyPr/>
                    <a:lstStyle/>
                    <a:p>
                      <a:pPr algn="l"/>
                      <a:r>
                        <a:rPr lang="fr-FR" sz="1400" b="1">
                          <a:solidFill>
                            <a:srgbClr val="12162B"/>
                          </a:solidFill>
                          <a:latin typeface="Calibri" panose="020F0502020204030204" pitchFamily="34" charset="0"/>
                        </a:rPr>
                        <a:t>5</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Réaliser l'essai réel du brouillon et des envois Outlook (CR-12, CR-37, CR-47, CR-48) et les cas prioritaires</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Administrateur de l'application</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273214361"/>
                  </a:ext>
                </a:extLst>
              </a:tr>
              <a:tr h="584200">
                <a:tc>
                  <a:txBody>
                    <a:bodyPr/>
                    <a:lstStyle/>
                    <a:p>
                      <a:pPr algn="l"/>
                      <a:r>
                        <a:rPr lang="fr-FR" sz="1400" b="1">
                          <a:solidFill>
                            <a:srgbClr val="12162B"/>
                          </a:solidFill>
                          <a:latin typeface="Calibri" panose="020F0502020204030204" pitchFamily="34" charset="0"/>
                        </a:rPr>
                        <a:t>6</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Choisir la source du parc (Intune, SharePoint, Excel), valider l'annuaire avec le DPO</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3795358435"/>
                  </a:ext>
                </a:extLst>
              </a:tr>
            </a:tbl>
          </a:graphicData>
        </a:graphic>
      </p:graphicFrame>
      <p:sp>
        <p:nvSpPr>
          <p:cNvPr id="8" name="Rectangle : coins arrondis 7">
            <a:extLst>
              <a:ext uri="{FF2B5EF4-FFF2-40B4-BE49-F238E27FC236}">
                <a16:creationId xmlns:a16="http://schemas.microsoft.com/office/drawing/2014/main" id="{A39229B3-89B7-CF39-844D-D869D17CED53}"/>
              </a:ext>
            </a:extLst>
          </p:cNvPr>
          <p:cNvSpPr/>
          <p:nvPr/>
        </p:nvSpPr>
        <p:spPr>
          <a:xfrm>
            <a:off x="609600" y="5816600"/>
            <a:ext cx="10972800" cy="482600"/>
          </a:xfrm>
          <a:prstGeom prst="roundRect">
            <a:avLst>
              <a:gd name="adj" fmla="val 6000"/>
            </a:avLst>
          </a:prstGeom>
          <a:solidFill>
            <a:srgbClr val="E4EEFA"/>
          </a:solidFill>
          <a:ln w="12700">
            <a:solidFill>
              <a:srgbClr val="2F7DD1"/>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400">
                <a:solidFill>
                  <a:srgbClr val="12162B"/>
                </a:solidFill>
                <a:latin typeface="Calibri" panose="020F0502020204030204" pitchFamily="34" charset="0"/>
              </a:rPr>
              <a:t>Après décision, la documentation est mise à jour (version 7.1) : demande « mets à jour la documentation ».</a:t>
            </a:r>
          </a:p>
        </p:txBody>
      </p:sp>
    </p:spTree>
    <p:extLst>
      <p:ext uri="{BB962C8B-B14F-4D97-AF65-F5344CB8AC3E}">
        <p14:creationId xmlns:p14="http://schemas.microsoft.com/office/powerpoint/2010/main" val="1836668600"/>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fefccf2-4053-4a09-b4ee-4c1b968a42ca}" enabled="1" method="Standard" siteId="{579bf795-4ac9-46c1-bf48-34980f6ec90c}" contentBits="2" removed="0"/>
</clbl:labelList>
</file>

<file path=docProps/app.xml><?xml version="1.0" encoding="utf-8"?>
<Properties xmlns="http://schemas.openxmlformats.org/officeDocument/2006/extended-properties" xmlns:vt="http://schemas.openxmlformats.org/officeDocument/2006/docPropsVTypes">
  <TotalTime>0</TotalTime>
  <Words>7830</Words>
  <Application>Microsoft Office PowerPoint</Application>
  <PresentationFormat>Personnalisé</PresentationFormat>
  <Paragraphs>1188</Paragraphs>
  <Slides>53</Slides>
  <Notes>46</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53</vt:i4>
      </vt:variant>
    </vt:vector>
  </HeadingPairs>
  <TitlesOfParts>
    <vt:vector size="57" baseType="lpstr">
      <vt:lpstr>Aptos</vt:lpstr>
      <vt:lpstr>Arial</vt:lpstr>
      <vt:lpstr>Calibri</vt:lpstr>
      <vt:lpstr>Thème Office</vt:lpstr>
      <vt:lpstr>GPIEXALT</vt:lpstr>
      <vt:lpstr>Contrôle du document</vt:lpstr>
      <vt:lpstr>Sommaire</vt:lpstr>
      <vt:lpstr>Vue d'ensemble</vt:lpstr>
      <vt:lpstr>À quoi sert GPIEXALT</vt:lpstr>
      <vt:lpstr>Le cycle de vie d'un matériel</vt:lpstr>
      <vt:lpstr>Les sept onglets</vt:lpstr>
      <vt:lpstr>Fonctions</vt:lpstr>
      <vt:lpstr>Accueil : le tableau de bord</vt:lpstr>
      <vt:lpstr>Emprunter : enregistrer un prêt</vt:lpstr>
      <vt:lpstr>Restituer : suivre les retours</vt:lpstr>
      <vt:lpstr>Restituer : trois actions possibles</vt:lpstr>
      <vt:lpstr>Date de retour prévue et alertes de retard</vt:lpstr>
      <vt:lpstr>Attestations : suivi et cycle de vie</vt:lpstr>
      <vt:lpstr>Attestations : actions groupées</vt:lpstr>
      <vt:lpstr>« Marquer comme signée » pas à pas</vt:lpstr>
      <vt:lpstr>Envoyer l'attestation signée par email</vt:lpstr>
      <vt:lpstr>Aperçu du PDF, destinataire et bouton Annuler</vt:lpstr>
      <vt:lpstr>Le PDF d'attestation</vt:lpstr>
      <vt:lpstr>Archives PDF : retrouver une preuve</vt:lpstr>
      <vt:lpstr>Matériel perdu : la synthèse</vt:lpstr>
      <vt:lpstr>Activités récentes : le journal</vt:lpstr>
      <vt:lpstr>Filtrer par période</vt:lpstr>
      <vt:lpstr>Codes QR et scanner</vt:lpstr>
      <vt:lpstr>Scan rapide et panneau latéral</vt:lpstr>
      <vt:lpstr>Fiche personne et commentaires</vt:lpstr>
      <vt:lpstr>Email et SMS : comment partent les messages</vt:lpstr>
      <vt:lpstr>Apparence : thèmes et couleurs</vt:lpstr>
      <vt:lpstr>Recherche rapide et raccourcis</vt:lpstr>
      <vt:lpstr>Rapports PDF et Excel</vt:lpstr>
      <vt:lpstr>Un rapport propre à chaque page</vt:lpstr>
      <vt:lpstr>Envoyer le rapport par email</vt:lpstr>
      <vt:lpstr>Cinq rôles, du collaborateur à l'administrateur</vt:lpstr>
      <vt:lpstr>Mon matériel : la vue du collaborateur</vt:lpstr>
      <vt:lpstr>Annuaire Microsoft 365 : importer les utilisateurs</vt:lpstr>
      <vt:lpstr>Confort d'utilisation</vt:lpstr>
      <vt:lpstr>Téléphone et tablette</vt:lpstr>
      <vt:lpstr>Gouvernance</vt:lpstr>
      <vt:lpstr>Rôles et responsabilités</vt:lpstr>
      <vt:lpstr>Règles de gestion appliquées</vt:lpstr>
      <vt:lpstr>Architecture et sécurité</vt:lpstr>
      <vt:lpstr>Architecture et dépendances</vt:lpstr>
      <vt:lpstr>Accès, traçabilité et données personnelles</vt:lpstr>
      <vt:lpstr>Sauvegarde</vt:lpstr>
      <vt:lpstr>Où sont enregistrées les données</vt:lpstr>
      <vt:lpstr>Comment c'est enregistré et protégé</vt:lpstr>
      <vt:lpstr>Qualité</vt:lpstr>
      <vt:lpstr>Plan de recette : état au 12/10/2026</vt:lpstr>
      <vt:lpstr>Principaux risques</vt:lpstr>
      <vt:lpstr>Exploitation</vt:lpstr>
      <vt:lpstr>Mises à jour de l'application et de la documentation</vt:lpstr>
      <vt:lpstr>Limites connues et évolutions prévues</vt:lpstr>
      <vt:lpstr>Décisions et actions attendues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Tesfamariam YEBIO</dc:creator>
  <cp:lastModifiedBy>Tesfamariam YEBIO</cp:lastModifiedBy>
  <cp:revision>1</cp:revision>
  <dcterms:created xsi:type="dcterms:W3CDTF">2026-10-12T07:56:12Z</dcterms:created>
  <dcterms:modified xsi:type="dcterms:W3CDTF">2026-10-12T07:56:13Z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Thème Office:8</vt:lpwstr>
  </property>
  <property fmtid="{D5CDD505-2E9C-101B-9397-08002B2CF9AE}" pid="3" name="ClassificationContentMarkingFooterText">
    <vt:lpwstr>Confidentialité : INTERNE</vt:lpwstr>
  </property>
</Properties>
</file>